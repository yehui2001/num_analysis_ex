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</p:sldMasterIdLst>
  <p:notesMasterIdLst>
    <p:notesMasterId r:id="rId25"/>
  </p:notesMasterIdLst>
  <p:sldIdLst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96" autoAdjust="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57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374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15464-E5B1-41AF-9885-7EA88E77A7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98239-2466-464F-8FF9-7F31F0422F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9" Type="http://schemas.openxmlformats.org/officeDocument/2006/relationships/tags" Target="../tags/tag144.xml"/><Relationship Id="rId18" Type="http://schemas.openxmlformats.org/officeDocument/2006/relationships/tags" Target="../tags/tag143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0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274671-CE9C-4095-B588-3F84DD23EE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showMasterSp="0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066800" y="1981200"/>
            <a:ext cx="36957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914900" y="1981200"/>
            <a:ext cx="36957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066800" y="4114800"/>
            <a:ext cx="36957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914900" y="4114800"/>
            <a:ext cx="36957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75C32-EA78-4158-B514-DA69F860EE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239" y="-953"/>
            <a:ext cx="9144000" cy="6858953"/>
            <a:chOff x="-318" y="-953"/>
            <a:chExt cx="12192000" cy="6858953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11" name="组合 10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12" name="矩形 11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7500" tIns="35100" rIns="67500" bIns="35100" rtlCol="0" anchor="ctr">
                  <a:norm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endParaRPr lang="zh-CN" altLang="en-US" sz="1350"/>
                </a:p>
              </p:txBody>
            </p:sp>
            <p:sp>
              <p:nvSpPr>
                <p:cNvPr id="13" name="矩形 12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7500" tIns="35100" rIns="67500" bIns="35100" rtlCol="0" anchor="ctr">
                  <a:norm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endParaRPr lang="zh-CN" altLang="en-US" sz="1350"/>
                </a:p>
              </p:txBody>
            </p:sp>
            <p:sp>
              <p:nvSpPr>
                <p:cNvPr id="25" name="菱形 24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7500" tIns="35100" rIns="67500" bIns="35100"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zh-CN" altLang="en-US" sz="1350"/>
                </a:p>
              </p:txBody>
            </p:sp>
            <p:grpSp>
              <p:nvGrpSpPr>
                <p:cNvPr id="19" name="组合 18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20" name="菱形 19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7500" tIns="35100" rIns="67500" bIns="35100" rtlCol="0" anchor="ctr">
                    <a:normAutofit fontScale="32500" lnSpcReduction="20000"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zh-CN" altLang="en-US" sz="1350"/>
                  </a:p>
                </p:txBody>
              </p:sp>
              <p:sp>
                <p:nvSpPr>
                  <p:cNvPr id="21" name="菱形 20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7500" tIns="35100" rIns="67500" bIns="35100" rtlCol="0" anchor="ctr">
                    <a:normAutofit fontScale="32500" lnSpcReduction="20000"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zh-CN" altLang="en-US" sz="1350"/>
                  </a:p>
                </p:txBody>
              </p:sp>
              <p:sp>
                <p:nvSpPr>
                  <p:cNvPr id="22" name="菱形 21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7500" tIns="35100" rIns="67500" bIns="35100" rtlCol="0" anchor="ctr">
                    <a:normAutofit fontScale="32500" lnSpcReduction="20000"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zh-CN" altLang="en-US" sz="1350"/>
                  </a:p>
                </p:txBody>
              </p:sp>
            </p:grpSp>
          </p:grpSp>
          <p:sp>
            <p:nvSpPr>
              <p:cNvPr id="8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7500" tIns="35100" rIns="67500" bIns="35100" rtlCol="0" anchor="ctr">
                <a:normAutofit/>
              </a:bodyPr>
              <a:lstStyle/>
              <a:p>
                <a:pPr algn="ctr">
                  <a:lnSpc>
                    <a:spcPct val="130000"/>
                  </a:lnSpc>
                </a:pPr>
                <a:endParaRPr lang="zh-CN" altLang="en-US" sz="1350"/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500" tIns="35100" rIns="67500" bIns="35100" rtlCol="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1350" dirty="0"/>
            </a:p>
          </p:txBody>
        </p:sp>
        <p:sp>
          <p:nvSpPr>
            <p:cNvPr id="9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500" tIns="35100" rIns="67500" bIns="35100" rtlCol="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1350"/>
            </a:p>
          </p:txBody>
        </p:sp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2496151" y="4344036"/>
            <a:ext cx="1890000" cy="363855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30000"/>
              </a:lnSpc>
              <a:spcAft>
                <a:spcPts val="0"/>
              </a:spcAft>
              <a:buNone/>
              <a:defRPr sz="13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8"/>
            </p:custDataLst>
          </p:nvPr>
        </p:nvSpPr>
        <p:spPr>
          <a:xfrm>
            <a:off x="1944767" y="2317108"/>
            <a:ext cx="5254467" cy="1008358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495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9"/>
            </p:custDataLst>
          </p:nvPr>
        </p:nvSpPr>
        <p:spPr>
          <a:xfrm>
            <a:off x="1944529" y="3614103"/>
            <a:ext cx="5253990" cy="363855"/>
          </a:xfrm>
        </p:spPr>
        <p:txBody>
          <a:bodyPr lIns="90000" tIns="0" rIns="90000" bIns="46800" anchor="t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20"/>
            </p:custDataLst>
          </p:nvPr>
        </p:nvSpPr>
        <p:spPr>
          <a:xfrm>
            <a:off x="4718622" y="4346473"/>
            <a:ext cx="1890000" cy="358980"/>
          </a:xfrm>
        </p:spPr>
        <p:txBody>
          <a:bodyPr lIns="90000" tIns="46800" rIns="90000" bIns="4680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50"/>
            </a:lvl1pPr>
            <a:lvl2pPr marL="3429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220714" y="-27771"/>
            <a:ext cx="8816563" cy="6611091"/>
            <a:chOff x="294286" y="-27771"/>
            <a:chExt cx="11755418" cy="6611091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0" name="菱形 9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" name="菱形 10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9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-239" y="-953"/>
            <a:ext cx="9144000" cy="6858953"/>
            <a:chOff x="-318" y="-953"/>
            <a:chExt cx="12192000" cy="685895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318" y="635"/>
              <a:ext cx="12192000" cy="6857365"/>
              <a:chOff x="0" y="0"/>
              <a:chExt cx="19200" cy="10799"/>
            </a:xfrm>
          </p:grpSpPr>
          <p:sp>
            <p:nvSpPr>
              <p:cNvPr id="12" name="矩形 11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0"/>
                <a:ext cx="19200" cy="43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0" y="9720"/>
                <a:ext cx="19200" cy="10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" name="菱形 13"/>
              <p:cNvSpPr/>
              <p:nvPr userDrawn="1">
                <p:custDataLst>
                  <p:tags r:id="rId6"/>
                </p:custDataLst>
              </p:nvPr>
            </p:nvSpPr>
            <p:spPr>
              <a:xfrm flipH="1">
                <a:off x="420" y="399"/>
                <a:ext cx="474" cy="441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15" name="组合 14"/>
              <p:cNvGrpSpPr/>
              <p:nvPr userDrawn="1">
                <p:custDataLst>
                  <p:tags r:id="rId7"/>
                </p:custDataLst>
              </p:nvPr>
            </p:nvGrpSpPr>
            <p:grpSpPr>
              <a:xfrm>
                <a:off x="16448" y="9574"/>
                <a:ext cx="2074" cy="675"/>
                <a:chOff x="0" y="3633950"/>
                <a:chExt cx="1405715" cy="457699"/>
              </a:xfrm>
            </p:grpSpPr>
            <p:sp>
              <p:nvSpPr>
                <p:cNvPr id="16" name="菱形 15"/>
                <p:cNvSpPr/>
                <p:nvPr userDrawn="1">
                  <p:custDataLst>
                    <p:tags r:id="rId8"/>
                  </p:custDataLst>
                </p:nvPr>
              </p:nvSpPr>
              <p:spPr>
                <a:xfrm>
                  <a:off x="0" y="3633950"/>
                  <a:ext cx="457699" cy="457699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7" name="菱形 16"/>
                <p:cNvSpPr/>
                <p:nvPr userDrawn="1">
                  <p:custDataLst>
                    <p:tags r:id="rId9"/>
                  </p:custDataLst>
                </p:nvPr>
              </p:nvSpPr>
              <p:spPr>
                <a:xfrm>
                  <a:off x="474008" y="3633950"/>
                  <a:ext cx="457699" cy="457699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8" name="菱形 17"/>
                <p:cNvSpPr/>
                <p:nvPr userDrawn="1">
                  <p:custDataLst>
                    <p:tags r:id="rId10"/>
                  </p:custDataLst>
                </p:nvPr>
              </p:nvSpPr>
              <p:spPr>
                <a:xfrm>
                  <a:off x="948016" y="3633950"/>
                  <a:ext cx="457699" cy="457699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7" name="圆角矩形 7"/>
            <p:cNvSpPr/>
            <p:nvPr userDrawn="1">
              <p:custDataLst>
                <p:tags r:id="rId11"/>
              </p:custDataLst>
            </p:nvPr>
          </p:nvSpPr>
          <p:spPr>
            <a:xfrm>
              <a:off x="193040" y="182880"/>
              <a:ext cx="11805285" cy="6491605"/>
            </a:xfrm>
            <a:prstGeom prst="roundRect">
              <a:avLst>
                <a:gd name="adj" fmla="val 172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10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087000" y="2769159"/>
            <a:ext cx="4057175" cy="70437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5"/>
            </p:custDataLst>
          </p:nvPr>
        </p:nvSpPr>
        <p:spPr>
          <a:xfrm>
            <a:off x="3087000" y="3810136"/>
            <a:ext cx="4057175" cy="983160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20714" y="-27771"/>
            <a:ext cx="8816563" cy="6611091"/>
            <a:chOff x="294286" y="-27771"/>
            <a:chExt cx="11755418" cy="6611091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4679158" y="1626121"/>
            <a:ext cx="3962432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20714" y="-27771"/>
            <a:ext cx="8816563" cy="6611091"/>
            <a:chOff x="294286" y="-27771"/>
            <a:chExt cx="11755418" cy="6611091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3" name="菱形 12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" name="菱形 13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" name="菱形 14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12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2"/>
            </p:custDataLst>
          </p:nvPr>
        </p:nvGrpSpPr>
        <p:grpSpPr>
          <a:xfrm>
            <a:off x="-239" y="635"/>
            <a:ext cx="9144000" cy="6857365"/>
            <a:chOff x="-318" y="635"/>
            <a:chExt cx="12192000" cy="6857365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8" name="组合 7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9" name="矩形 8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0" name="矩形 9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1" name="菱形 10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grpSp>
              <p:nvGrpSpPr>
                <p:cNvPr id="12" name="组合 11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13" name="菱形 12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14" name="菱形 13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15" name="菱形 14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</p:grpSp>
          </p:grpSp>
          <p:sp>
            <p:nvSpPr>
              <p:cNvPr id="6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7" name="五边形 6"/>
            <p:cNvSpPr/>
            <p:nvPr userDrawn="1">
              <p:custDataLst>
                <p:tags r:id="rId12"/>
              </p:custDataLst>
            </p:nvPr>
          </p:nvSpPr>
          <p:spPr>
            <a:xfrm rot="16200000" flipV="1">
              <a:off x="5792470" y="566864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20714" y="-27771"/>
            <a:ext cx="8816563" cy="6611091"/>
            <a:chOff x="294286" y="-27771"/>
            <a:chExt cx="11755418" cy="6611091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11598965" y="6433146"/>
              <a:ext cx="450739" cy="150174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7"/>
              </p:custDataLst>
            </p:nvPr>
          </p:nvSpPr>
          <p:spPr>
            <a:xfrm rot="5400000">
              <a:off x="346791" y="-8027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92882" y="284361"/>
            <a:ext cx="8881668" cy="6446131"/>
            <a:chOff x="257176" y="284361"/>
            <a:chExt cx="11842224" cy="6446131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57176" y="285907"/>
              <a:ext cx="11677650" cy="6295867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en-US" altLang="zh-CN" sz="1350" dirty="0">
                <a:sym typeface="+mn-ea"/>
              </a:endParaRPr>
            </a:p>
          </p:txBody>
        </p:sp>
        <p:grpSp>
          <p:nvGrpSpPr>
            <p:cNvPr id="9" name="组合 8"/>
            <p:cNvGrpSpPr/>
            <p:nvPr userDrawn="1">
              <p:custDataLst>
                <p:tags r:id="rId4"/>
              </p:custDataLst>
            </p:nvPr>
          </p:nvGrpSpPr>
          <p:grpSpPr>
            <a:xfrm>
              <a:off x="11148545" y="6413693"/>
              <a:ext cx="950855" cy="316799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8"/>
              </p:custDataLst>
            </p:nvPr>
          </p:nvSpPr>
          <p:spPr>
            <a:xfrm rot="5400000">
              <a:off x="660603" y="23185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9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0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92882" y="284361"/>
            <a:ext cx="8881668" cy="6446131"/>
            <a:chOff x="257176" y="284361"/>
            <a:chExt cx="11842224" cy="6446131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57176" y="285907"/>
              <a:ext cx="11677650" cy="6295867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en-US" altLang="zh-CN" sz="1350" dirty="0">
                <a:sym typeface="+mn-ea"/>
              </a:endParaRPr>
            </a:p>
          </p:txBody>
        </p:sp>
        <p:grpSp>
          <p:nvGrpSpPr>
            <p:cNvPr id="9" name="组合 8"/>
            <p:cNvGrpSpPr/>
            <p:nvPr userDrawn="1">
              <p:custDataLst>
                <p:tags r:id="rId4"/>
              </p:custDataLst>
            </p:nvPr>
          </p:nvGrpSpPr>
          <p:grpSpPr>
            <a:xfrm>
              <a:off x="11148545" y="6413693"/>
              <a:ext cx="950855" cy="316799"/>
              <a:chOff x="0" y="3623101"/>
              <a:chExt cx="1405715" cy="468548"/>
            </a:xfrm>
          </p:grpSpPr>
          <p:sp>
            <p:nvSpPr>
              <p:cNvPr id="11" name="菱形 10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0" y="3633950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" name="菱形 11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474008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菱形 12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948016" y="3623101"/>
                <a:ext cx="457699" cy="457699"/>
              </a:xfrm>
              <a:prstGeom prst="diamond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10" name="五边形 4"/>
            <p:cNvSpPr/>
            <p:nvPr userDrawn="1">
              <p:custDataLst>
                <p:tags r:id="rId8"/>
              </p:custDataLst>
            </p:nvPr>
          </p:nvSpPr>
          <p:spPr>
            <a:xfrm rot="5400000">
              <a:off x="660603" y="231856"/>
              <a:ext cx="438277" cy="543287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2"/>
            </p:custDataLst>
          </p:nvPr>
        </p:nvGrpSpPr>
        <p:grpSpPr>
          <a:xfrm>
            <a:off x="-239" y="-953"/>
            <a:ext cx="9144000" cy="6858953"/>
            <a:chOff x="-318" y="-953"/>
            <a:chExt cx="12192000" cy="6858953"/>
          </a:xfrm>
        </p:grpSpPr>
        <p:grpSp>
          <p:nvGrpSpPr>
            <p:cNvPr id="22" name="组合 21"/>
            <p:cNvGrpSpPr/>
            <p:nvPr userDrawn="1"/>
          </p:nvGrpSpPr>
          <p:grpSpPr>
            <a:xfrm>
              <a:off x="-318" y="635"/>
              <a:ext cx="12192000" cy="6857365"/>
              <a:chOff x="-318" y="635"/>
              <a:chExt cx="12192000" cy="6857365"/>
            </a:xfrm>
          </p:grpSpPr>
          <p:grpSp>
            <p:nvGrpSpPr>
              <p:cNvPr id="25" name="组合 24"/>
              <p:cNvGrpSpPr/>
              <p:nvPr userDrawn="1">
                <p:custDataLst>
                  <p:tags r:id="rId3"/>
                </p:custDataLst>
              </p:nvPr>
            </p:nvGrpSpPr>
            <p:grpSpPr>
              <a:xfrm>
                <a:off x="-318" y="635"/>
                <a:ext cx="12192000" cy="6857365"/>
                <a:chOff x="0" y="0"/>
                <a:chExt cx="19200" cy="10799"/>
              </a:xfrm>
            </p:grpSpPr>
            <p:sp>
              <p:nvSpPr>
                <p:cNvPr id="27" name="矩形 26"/>
                <p:cNvSpPr/>
                <p:nvPr userDrawn="1">
                  <p:custDataLst>
                    <p:tags r:id="rId4"/>
                  </p:custDataLst>
                </p:nvPr>
              </p:nvSpPr>
              <p:spPr>
                <a:xfrm>
                  <a:off x="0" y="0"/>
                  <a:ext cx="19200" cy="43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28" name="矩形 27"/>
                <p:cNvSpPr/>
                <p:nvPr userDrawn="1">
                  <p:custDataLst>
                    <p:tags r:id="rId5"/>
                  </p:custDataLst>
                </p:nvPr>
              </p:nvSpPr>
              <p:spPr>
                <a:xfrm>
                  <a:off x="0" y="9720"/>
                  <a:ext cx="19200" cy="107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29" name="菱形 28"/>
                <p:cNvSpPr/>
                <p:nvPr userDrawn="1">
                  <p:custDataLst>
                    <p:tags r:id="rId6"/>
                  </p:custDataLst>
                </p:nvPr>
              </p:nvSpPr>
              <p:spPr>
                <a:xfrm flipH="1">
                  <a:off x="420" y="399"/>
                  <a:ext cx="474" cy="441"/>
                </a:xfrm>
                <a:prstGeom prst="diamond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grpSp>
              <p:nvGrpSpPr>
                <p:cNvPr id="30" name="组合 29"/>
                <p:cNvGrpSpPr/>
                <p:nvPr userDrawn="1">
                  <p:custDataLst>
                    <p:tags r:id="rId7"/>
                  </p:custDataLst>
                </p:nvPr>
              </p:nvGrpSpPr>
              <p:grpSpPr>
                <a:xfrm>
                  <a:off x="16448" y="9574"/>
                  <a:ext cx="2074" cy="675"/>
                  <a:chOff x="0" y="3633950"/>
                  <a:chExt cx="1405715" cy="457699"/>
                </a:xfrm>
              </p:grpSpPr>
              <p:sp>
                <p:nvSpPr>
                  <p:cNvPr id="31" name="菱形 30"/>
                  <p:cNvSpPr/>
                  <p:nvPr userDrawn="1">
                    <p:custDataLst>
                      <p:tags r:id="rId8"/>
                    </p:custDataLst>
                  </p:nvPr>
                </p:nvSpPr>
                <p:spPr>
                  <a:xfrm>
                    <a:off x="0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32" name="菱形 31"/>
                  <p:cNvSpPr/>
                  <p:nvPr userDrawn="1">
                    <p:custDataLst>
                      <p:tags r:id="rId9"/>
                    </p:custDataLst>
                  </p:nvPr>
                </p:nvSpPr>
                <p:spPr>
                  <a:xfrm>
                    <a:off x="474008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33" name="菱形 32"/>
                  <p:cNvSpPr/>
                  <p:nvPr userDrawn="1">
                    <p:custDataLst>
                      <p:tags r:id="rId10"/>
                    </p:custDataLst>
                  </p:nvPr>
                </p:nvSpPr>
                <p:spPr>
                  <a:xfrm>
                    <a:off x="948016" y="3633950"/>
                    <a:ext cx="457699" cy="457699"/>
                  </a:xfrm>
                  <a:prstGeom prst="diamond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</p:grpSp>
          </p:grpSp>
          <p:sp>
            <p:nvSpPr>
              <p:cNvPr id="26" name="圆角矩形 7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93040" y="182880"/>
                <a:ext cx="11805285" cy="6491605"/>
              </a:xfrm>
              <a:prstGeom prst="roundRect">
                <a:avLst>
                  <a:gd name="adj" fmla="val 1724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23" name="五边形 4"/>
            <p:cNvSpPr/>
            <p:nvPr userDrawn="1">
              <p:custDataLst>
                <p:tags r:id="rId12"/>
              </p:custDataLst>
            </p:nvPr>
          </p:nvSpPr>
          <p:spPr>
            <a:xfrm rot="5400000">
              <a:off x="5432425" y="-160020"/>
              <a:ext cx="1327785" cy="1645920"/>
            </a:xfrm>
            <a:prstGeom prst="homePlate">
              <a:avLst>
                <a:gd name="adj" fmla="val 35759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4" name="五边形 6"/>
            <p:cNvSpPr/>
            <p:nvPr userDrawn="1">
              <p:custDataLst>
                <p:tags r:id="rId13"/>
              </p:custDataLst>
            </p:nvPr>
          </p:nvSpPr>
          <p:spPr>
            <a:xfrm rot="16200000" flipV="1">
              <a:off x="5792470" y="5658485"/>
              <a:ext cx="607060" cy="1645920"/>
            </a:xfrm>
            <a:prstGeom prst="homePlate">
              <a:avLst>
                <a:gd name="adj" fmla="val 80230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1944767" y="2186667"/>
            <a:ext cx="5254466" cy="1118496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3734865" y="4140051"/>
            <a:ext cx="1674270" cy="360937"/>
          </a:xfrm>
        </p:spPr>
        <p:txBody>
          <a:bodyPr lIns="90000" tIns="0" rIns="90000" bIns="46800" anchor="ctr" anchorCtr="0">
            <a:normAutofit/>
          </a:bodyPr>
          <a:lstStyle>
            <a:lvl1pPr marL="0" indent="0" algn="ctr">
              <a:buNone/>
              <a:defRPr sz="1500" baseline="0">
                <a:latin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  <p:custDataLst>
              <p:tags r:id="rId19"/>
            </p:custDataLst>
          </p:nvPr>
        </p:nvSpPr>
        <p:spPr>
          <a:xfrm>
            <a:off x="1944767" y="3599697"/>
            <a:ext cx="5254466" cy="360937"/>
          </a:xfrm>
        </p:spPr>
        <p:txBody>
          <a:bodyPr lIns="90000" tIns="0" rIns="90000" bIns="46800" anchor="t" anchorCtr="0">
            <a:normAutofit/>
          </a:bodyPr>
          <a:lstStyle>
            <a:lvl1pPr marL="0" indent="0" algn="ctr">
              <a:buNone/>
              <a:defRPr sz="1800" baseline="0">
                <a:latin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2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3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菱形 19"/>
            <p:cNvSpPr/>
            <p:nvPr userDrawn="1">
              <p:custDataLst>
                <p:tags r:id="rId4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菱形 20"/>
            <p:cNvSpPr/>
            <p:nvPr userDrawn="1">
              <p:custDataLst>
                <p:tags r:id="rId5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五边形 4"/>
          <p:cNvSpPr/>
          <p:nvPr userDrawn="1">
            <p:custDataLst>
              <p:tags r:id="rId6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02411" y="498476"/>
            <a:ext cx="8139178" cy="33147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>
            <p:custDataLst>
              <p:tags r:id="rId2"/>
            </p:custDataLst>
          </p:nvPr>
        </p:nvSpPr>
        <p:spPr>
          <a:xfrm>
            <a:off x="192881" y="285750"/>
            <a:ext cx="8758238" cy="62960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en-US" altLang="zh-CN" sz="1350" dirty="0">
              <a:sym typeface="+mn-ea"/>
            </a:endParaRPr>
          </a:p>
        </p:txBody>
      </p:sp>
      <p:grpSp>
        <p:nvGrpSpPr>
          <p:cNvPr id="25" name="组合 24"/>
          <p:cNvGrpSpPr/>
          <p:nvPr userDrawn="1">
            <p:custDataLst>
              <p:tags r:id="rId3"/>
            </p:custDataLst>
          </p:nvPr>
        </p:nvGrpSpPr>
        <p:grpSpPr>
          <a:xfrm rot="0">
            <a:off x="8361521" y="6453108"/>
            <a:ext cx="712946" cy="237649"/>
            <a:chOff x="0" y="3623101"/>
            <a:chExt cx="1405715" cy="468548"/>
          </a:xfrm>
        </p:grpSpPr>
        <p:sp>
          <p:nvSpPr>
            <p:cNvPr id="27" name="菱形 26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8" name="菱形 27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9" name="菱形 28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455771" y="339249"/>
            <a:ext cx="328613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961200" y="1339650"/>
            <a:ext cx="7219800" cy="542700"/>
          </a:xfrm>
        </p:spPr>
        <p:txBody>
          <a:bodyPr lIns="90000" tIns="46800" rIns="90000" bIns="4680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9"/>
            </p:custDataLst>
          </p:nvPr>
        </p:nvSpPr>
        <p:spPr>
          <a:xfrm>
            <a:off x="960835" y="2594250"/>
            <a:ext cx="7219950" cy="25839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361759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6" name="组合 15"/>
          <p:cNvGrpSpPr/>
          <p:nvPr userDrawn="1">
            <p:custDataLst>
              <p:tags r:id="rId3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8" name="菱形 17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9" name="菱形 18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菱形 21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437400" y="757730"/>
            <a:ext cx="2970000" cy="766860"/>
          </a:xfrm>
        </p:spPr>
        <p:txBody>
          <a:bodyPr lIns="90000" tIns="46800" rIns="90000" bIns="4680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2"/>
            </p:custDataLst>
          </p:nvPr>
        </p:nvSpPr>
        <p:spPr>
          <a:xfrm>
            <a:off x="440100" y="2275650"/>
            <a:ext cx="2967300" cy="30699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3"/>
            </p:custDataLst>
          </p:nvPr>
        </p:nvSpPr>
        <p:spPr>
          <a:xfrm>
            <a:off x="3825900" y="1405930"/>
            <a:ext cx="4860000" cy="381595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3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25" name="菱形 24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菱形 25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菱形 26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4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9000" y="779191"/>
            <a:ext cx="8232300" cy="53863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459000" y="1763100"/>
            <a:ext cx="8231981" cy="621000"/>
          </a:xfrm>
        </p:spPr>
        <p:txBody>
          <a:bodyPr lIns="90000" tIns="46800" rIns="90000" bIns="46800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459581" y="3236850"/>
            <a:ext cx="8224200" cy="25731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21" name="组合 20"/>
          <p:cNvGrpSpPr/>
          <p:nvPr userDrawn="1">
            <p:custDataLst>
              <p:tags r:id="rId3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25" name="菱形 24"/>
            <p:cNvSpPr/>
            <p:nvPr userDrawn="1">
              <p:custDataLst>
                <p:tags r:id="rId4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菱形 25"/>
            <p:cNvSpPr/>
            <p:nvPr userDrawn="1">
              <p:custDataLst>
                <p:tags r:id="rId5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菱形 26"/>
            <p:cNvSpPr/>
            <p:nvPr userDrawn="1">
              <p:custDataLst>
                <p:tags r:id="rId6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2" name="五边形 4"/>
          <p:cNvSpPr/>
          <p:nvPr userDrawn="1">
            <p:custDataLst>
              <p:tags r:id="rId7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3600" y="661080"/>
            <a:ext cx="8232300" cy="49176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453628" y="2082600"/>
            <a:ext cx="8243100" cy="24084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3"/>
            </p:custDataLst>
          </p:nvPr>
        </p:nvSpPr>
        <p:spPr>
          <a:xfrm>
            <a:off x="445500" y="5306850"/>
            <a:ext cx="8251200" cy="758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92846"/>
            <a:ext cx="8278200" cy="331473"/>
          </a:xfrm>
        </p:spPr>
        <p:txBody>
          <a:bodyPr lIns="90000" tIns="46800" rIns="90000" bIns="46800">
            <a:normAutofit/>
          </a:bodyPr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2025000"/>
            <a:ext cx="4025700" cy="21708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914450"/>
            <a:ext cx="4006800" cy="5859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910850"/>
            <a:ext cx="4025700" cy="5859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9" name="组合 18"/>
          <p:cNvGrpSpPr/>
          <p:nvPr userDrawn="1">
            <p:custDataLst>
              <p:tags r:id="rId11"/>
            </p:custDataLst>
          </p:nvPr>
        </p:nvGrpSpPr>
        <p:grpSpPr>
          <a:xfrm flipH="1">
            <a:off x="8346782" y="355626"/>
            <a:ext cx="732236" cy="230863"/>
            <a:chOff x="7177184" y="4307561"/>
            <a:chExt cx="976314" cy="307818"/>
          </a:xfrm>
        </p:grpSpPr>
        <p:sp>
          <p:nvSpPr>
            <p:cNvPr id="6" name="等腰三角形 5"/>
            <p:cNvSpPr/>
            <p:nvPr userDrawn="1">
              <p:custDataLst>
                <p:tags r:id="rId12"/>
              </p:custDataLst>
            </p:nvPr>
          </p:nvSpPr>
          <p:spPr>
            <a:xfrm rot="5400000" flipH="1">
              <a:off x="7887012" y="4348893"/>
              <a:ext cx="307818" cy="225154"/>
            </a:xfrm>
            <a:custGeom>
              <a:avLst/>
              <a:gdLst>
                <a:gd name="connsiteX0" fmla="*/ 0 w 482721"/>
                <a:gd name="connsiteY0" fmla="*/ 353086 h 353086"/>
                <a:gd name="connsiteX1" fmla="*/ 241361 w 482721"/>
                <a:gd name="connsiteY1" fmla="*/ 0 h 353086"/>
                <a:gd name="connsiteX2" fmla="*/ 482721 w 482721"/>
                <a:gd name="connsiteY2" fmla="*/ 353086 h 353086"/>
                <a:gd name="connsiteX3" fmla="*/ 0 w 482721"/>
                <a:gd name="connsiteY3" fmla="*/ 353086 h 353086"/>
                <a:gd name="connsiteX0-1" fmla="*/ 0 w 482721"/>
                <a:gd name="connsiteY0-2" fmla="*/ 353086 h 353086"/>
                <a:gd name="connsiteX1-3" fmla="*/ 241361 w 482721"/>
                <a:gd name="connsiteY1-4" fmla="*/ 0 h 353086"/>
                <a:gd name="connsiteX2-5" fmla="*/ 482721 w 482721"/>
                <a:gd name="connsiteY2-6" fmla="*/ 353086 h 353086"/>
                <a:gd name="connsiteX3-7" fmla="*/ 235390 w 482721"/>
                <a:gd name="connsiteY3-8" fmla="*/ 353086 h 353086"/>
                <a:gd name="connsiteX4" fmla="*/ 0 w 482721"/>
                <a:gd name="connsiteY4" fmla="*/ 353086 h 353086"/>
                <a:gd name="connsiteX0-9" fmla="*/ 0 w 482721"/>
                <a:gd name="connsiteY0-10" fmla="*/ 353086 h 353086"/>
                <a:gd name="connsiteX1-11" fmla="*/ 241361 w 482721"/>
                <a:gd name="connsiteY1-12" fmla="*/ 0 h 353086"/>
                <a:gd name="connsiteX2-13" fmla="*/ 482721 w 482721"/>
                <a:gd name="connsiteY2-14" fmla="*/ 353086 h 353086"/>
                <a:gd name="connsiteX3-15" fmla="*/ 217283 w 482721"/>
                <a:gd name="connsiteY3-16" fmla="*/ 226338 h 353086"/>
                <a:gd name="connsiteX4-17" fmla="*/ 0 w 482721"/>
                <a:gd name="connsiteY4-18" fmla="*/ 353086 h 353086"/>
                <a:gd name="connsiteX0-19" fmla="*/ 0 w 482721"/>
                <a:gd name="connsiteY0-20" fmla="*/ 353086 h 353086"/>
                <a:gd name="connsiteX1-21" fmla="*/ 241361 w 482721"/>
                <a:gd name="connsiteY1-22" fmla="*/ 0 h 353086"/>
                <a:gd name="connsiteX2-23" fmla="*/ 482721 w 482721"/>
                <a:gd name="connsiteY2-24" fmla="*/ 353086 h 353086"/>
                <a:gd name="connsiteX3-25" fmla="*/ 244443 w 482721"/>
                <a:gd name="connsiteY3-26" fmla="*/ 226338 h 353086"/>
                <a:gd name="connsiteX4-27" fmla="*/ 0 w 482721"/>
                <a:gd name="connsiteY4-28" fmla="*/ 353086 h 353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482721" h="353086">
                  <a:moveTo>
                    <a:pt x="0" y="353086"/>
                  </a:moveTo>
                  <a:lnTo>
                    <a:pt x="241361" y="0"/>
                  </a:lnTo>
                  <a:lnTo>
                    <a:pt x="482721" y="353086"/>
                  </a:lnTo>
                  <a:lnTo>
                    <a:pt x="244443" y="226338"/>
                  </a:lnTo>
                  <a:lnTo>
                    <a:pt x="0" y="35308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2" name="等腰三角形 5"/>
            <p:cNvSpPr/>
            <p:nvPr userDrawn="1">
              <p:custDataLst>
                <p:tags r:id="rId13"/>
              </p:custDataLst>
            </p:nvPr>
          </p:nvSpPr>
          <p:spPr>
            <a:xfrm rot="5400000" flipH="1">
              <a:off x="7511432" y="4348893"/>
              <a:ext cx="307818" cy="225154"/>
            </a:xfrm>
            <a:custGeom>
              <a:avLst/>
              <a:gdLst>
                <a:gd name="connsiteX0" fmla="*/ 0 w 482721"/>
                <a:gd name="connsiteY0" fmla="*/ 353086 h 353086"/>
                <a:gd name="connsiteX1" fmla="*/ 241361 w 482721"/>
                <a:gd name="connsiteY1" fmla="*/ 0 h 353086"/>
                <a:gd name="connsiteX2" fmla="*/ 482721 w 482721"/>
                <a:gd name="connsiteY2" fmla="*/ 353086 h 353086"/>
                <a:gd name="connsiteX3" fmla="*/ 0 w 482721"/>
                <a:gd name="connsiteY3" fmla="*/ 353086 h 353086"/>
                <a:gd name="connsiteX0-1" fmla="*/ 0 w 482721"/>
                <a:gd name="connsiteY0-2" fmla="*/ 353086 h 353086"/>
                <a:gd name="connsiteX1-3" fmla="*/ 241361 w 482721"/>
                <a:gd name="connsiteY1-4" fmla="*/ 0 h 353086"/>
                <a:gd name="connsiteX2-5" fmla="*/ 482721 w 482721"/>
                <a:gd name="connsiteY2-6" fmla="*/ 353086 h 353086"/>
                <a:gd name="connsiteX3-7" fmla="*/ 235390 w 482721"/>
                <a:gd name="connsiteY3-8" fmla="*/ 353086 h 353086"/>
                <a:gd name="connsiteX4" fmla="*/ 0 w 482721"/>
                <a:gd name="connsiteY4" fmla="*/ 353086 h 353086"/>
                <a:gd name="connsiteX0-9" fmla="*/ 0 w 482721"/>
                <a:gd name="connsiteY0-10" fmla="*/ 353086 h 353086"/>
                <a:gd name="connsiteX1-11" fmla="*/ 241361 w 482721"/>
                <a:gd name="connsiteY1-12" fmla="*/ 0 h 353086"/>
                <a:gd name="connsiteX2-13" fmla="*/ 482721 w 482721"/>
                <a:gd name="connsiteY2-14" fmla="*/ 353086 h 353086"/>
                <a:gd name="connsiteX3-15" fmla="*/ 217283 w 482721"/>
                <a:gd name="connsiteY3-16" fmla="*/ 226338 h 353086"/>
                <a:gd name="connsiteX4-17" fmla="*/ 0 w 482721"/>
                <a:gd name="connsiteY4-18" fmla="*/ 353086 h 353086"/>
                <a:gd name="connsiteX0-19" fmla="*/ 0 w 482721"/>
                <a:gd name="connsiteY0-20" fmla="*/ 353086 h 353086"/>
                <a:gd name="connsiteX1-21" fmla="*/ 241361 w 482721"/>
                <a:gd name="connsiteY1-22" fmla="*/ 0 h 353086"/>
                <a:gd name="connsiteX2-23" fmla="*/ 482721 w 482721"/>
                <a:gd name="connsiteY2-24" fmla="*/ 353086 h 353086"/>
                <a:gd name="connsiteX3-25" fmla="*/ 244443 w 482721"/>
                <a:gd name="connsiteY3-26" fmla="*/ 226338 h 353086"/>
                <a:gd name="connsiteX4-27" fmla="*/ 0 w 482721"/>
                <a:gd name="connsiteY4-28" fmla="*/ 353086 h 353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482721" h="353086">
                  <a:moveTo>
                    <a:pt x="0" y="353086"/>
                  </a:moveTo>
                  <a:lnTo>
                    <a:pt x="241361" y="0"/>
                  </a:lnTo>
                  <a:lnTo>
                    <a:pt x="482721" y="353086"/>
                  </a:lnTo>
                  <a:lnTo>
                    <a:pt x="244443" y="226338"/>
                  </a:lnTo>
                  <a:lnTo>
                    <a:pt x="0" y="35308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4" name="等腰三角形 5"/>
            <p:cNvSpPr/>
            <p:nvPr userDrawn="1">
              <p:custDataLst>
                <p:tags r:id="rId14"/>
              </p:custDataLst>
            </p:nvPr>
          </p:nvSpPr>
          <p:spPr>
            <a:xfrm rot="5400000" flipH="1">
              <a:off x="7135852" y="4348893"/>
              <a:ext cx="307818" cy="225154"/>
            </a:xfrm>
            <a:custGeom>
              <a:avLst/>
              <a:gdLst>
                <a:gd name="connsiteX0" fmla="*/ 0 w 482721"/>
                <a:gd name="connsiteY0" fmla="*/ 353086 h 353086"/>
                <a:gd name="connsiteX1" fmla="*/ 241361 w 482721"/>
                <a:gd name="connsiteY1" fmla="*/ 0 h 353086"/>
                <a:gd name="connsiteX2" fmla="*/ 482721 w 482721"/>
                <a:gd name="connsiteY2" fmla="*/ 353086 h 353086"/>
                <a:gd name="connsiteX3" fmla="*/ 0 w 482721"/>
                <a:gd name="connsiteY3" fmla="*/ 353086 h 353086"/>
                <a:gd name="connsiteX0-1" fmla="*/ 0 w 482721"/>
                <a:gd name="connsiteY0-2" fmla="*/ 353086 h 353086"/>
                <a:gd name="connsiteX1-3" fmla="*/ 241361 w 482721"/>
                <a:gd name="connsiteY1-4" fmla="*/ 0 h 353086"/>
                <a:gd name="connsiteX2-5" fmla="*/ 482721 w 482721"/>
                <a:gd name="connsiteY2-6" fmla="*/ 353086 h 353086"/>
                <a:gd name="connsiteX3-7" fmla="*/ 235390 w 482721"/>
                <a:gd name="connsiteY3-8" fmla="*/ 353086 h 353086"/>
                <a:gd name="connsiteX4" fmla="*/ 0 w 482721"/>
                <a:gd name="connsiteY4" fmla="*/ 353086 h 353086"/>
                <a:gd name="connsiteX0-9" fmla="*/ 0 w 482721"/>
                <a:gd name="connsiteY0-10" fmla="*/ 353086 h 353086"/>
                <a:gd name="connsiteX1-11" fmla="*/ 241361 w 482721"/>
                <a:gd name="connsiteY1-12" fmla="*/ 0 h 353086"/>
                <a:gd name="connsiteX2-13" fmla="*/ 482721 w 482721"/>
                <a:gd name="connsiteY2-14" fmla="*/ 353086 h 353086"/>
                <a:gd name="connsiteX3-15" fmla="*/ 217283 w 482721"/>
                <a:gd name="connsiteY3-16" fmla="*/ 226338 h 353086"/>
                <a:gd name="connsiteX4-17" fmla="*/ 0 w 482721"/>
                <a:gd name="connsiteY4-18" fmla="*/ 353086 h 353086"/>
                <a:gd name="connsiteX0-19" fmla="*/ 0 w 482721"/>
                <a:gd name="connsiteY0-20" fmla="*/ 353086 h 353086"/>
                <a:gd name="connsiteX1-21" fmla="*/ 241361 w 482721"/>
                <a:gd name="connsiteY1-22" fmla="*/ 0 h 353086"/>
                <a:gd name="connsiteX2-23" fmla="*/ 482721 w 482721"/>
                <a:gd name="connsiteY2-24" fmla="*/ 353086 h 353086"/>
                <a:gd name="connsiteX3-25" fmla="*/ 244443 w 482721"/>
                <a:gd name="connsiteY3-26" fmla="*/ 226338 h 353086"/>
                <a:gd name="connsiteX4-27" fmla="*/ 0 w 482721"/>
                <a:gd name="connsiteY4-28" fmla="*/ 353086 h 353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482721" h="353086">
                  <a:moveTo>
                    <a:pt x="0" y="353086"/>
                  </a:moveTo>
                  <a:lnTo>
                    <a:pt x="241361" y="0"/>
                  </a:lnTo>
                  <a:lnTo>
                    <a:pt x="482721" y="353086"/>
                  </a:lnTo>
                  <a:lnTo>
                    <a:pt x="244443" y="226338"/>
                  </a:lnTo>
                  <a:lnTo>
                    <a:pt x="0" y="35308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7"/>
          <p:cNvSpPr/>
          <p:nvPr userDrawn="1">
            <p:custDataLst>
              <p:tags r:id="rId2"/>
            </p:custDataLst>
          </p:nvPr>
        </p:nvSpPr>
        <p:spPr>
          <a:xfrm>
            <a:off x="144780" y="182880"/>
            <a:ext cx="8853964" cy="6491605"/>
          </a:xfrm>
          <a:prstGeom prst="roundRect">
            <a:avLst>
              <a:gd name="adj" fmla="val 17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160382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五边形 4"/>
          <p:cNvSpPr/>
          <p:nvPr userDrawn="1">
            <p:custDataLst>
              <p:tags r:id="rId4"/>
            </p:custDataLst>
          </p:nvPr>
        </p:nvSpPr>
        <p:spPr>
          <a:xfrm rot="5400000">
            <a:off x="3955018" y="-953"/>
            <a:ext cx="1327785" cy="123444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13" name="五边形 6"/>
          <p:cNvSpPr/>
          <p:nvPr userDrawn="1">
            <p:custDataLst>
              <p:tags r:id="rId5"/>
            </p:custDataLst>
          </p:nvPr>
        </p:nvSpPr>
        <p:spPr>
          <a:xfrm rot="16200000" flipV="1">
            <a:off x="3954780" y="6250940"/>
            <a:ext cx="607060" cy="1234440"/>
          </a:xfrm>
          <a:prstGeom prst="homePlate">
            <a:avLst>
              <a:gd name="adj" fmla="val 80230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142100" y="2057060"/>
            <a:ext cx="6858000" cy="1430520"/>
          </a:xfrm>
        </p:spPr>
        <p:txBody>
          <a:bodyPr lIns="90000" tIns="46800" rIns="90000" bIns="46800"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1141810" y="4069800"/>
            <a:ext cx="6858000" cy="12420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5" Type="http://schemas.openxmlformats.org/officeDocument/2006/relationships/theme" Target="../theme/theme2.xml"/><Relationship Id="rId24" Type="http://schemas.openxmlformats.org/officeDocument/2006/relationships/tags" Target="../tags/tag228.xml"/><Relationship Id="rId23" Type="http://schemas.openxmlformats.org/officeDocument/2006/relationships/tags" Target="../tags/tag227.xml"/><Relationship Id="rId22" Type="http://schemas.openxmlformats.org/officeDocument/2006/relationships/tags" Target="../tags/tag226.xml"/><Relationship Id="rId21" Type="http://schemas.openxmlformats.org/officeDocument/2006/relationships/tags" Target="../tags/tag225.xml"/><Relationship Id="rId20" Type="http://schemas.openxmlformats.org/officeDocument/2006/relationships/tags" Target="../tags/tag224.xml"/><Relationship Id="rId2" Type="http://schemas.openxmlformats.org/officeDocument/2006/relationships/slideLayout" Target="../slideLayouts/slideLayout21.xml"/><Relationship Id="rId19" Type="http://schemas.openxmlformats.org/officeDocument/2006/relationships/tags" Target="../tags/tag223.xml"/><Relationship Id="rId18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2.xml"/><Relationship Id="rId6" Type="http://schemas.openxmlformats.org/officeDocument/2006/relationships/tags" Target="../tags/tag238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3.png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2.bin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26.xml"/><Relationship Id="rId1" Type="http://schemas.openxmlformats.org/officeDocument/2006/relationships/tags" Target="../tags/tag23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image" Target="../media/image6.wmf"/><Relationship Id="rId6" Type="http://schemas.openxmlformats.org/officeDocument/2006/relationships/oleObject" Target="../embeddings/oleObject3.bin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6.xml"/><Relationship Id="rId1" Type="http://schemas.openxmlformats.org/officeDocument/2006/relationships/tags" Target="../tags/tag25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tags" Target="../tags/tag26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5" Type="http://schemas.openxmlformats.org/officeDocument/2006/relationships/vmlDrawing" Target="../drawings/vmlDrawing4.v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280.xml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tags" Target="../tags/tag27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6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7.bin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26.xml"/><Relationship Id="rId11" Type="http://schemas.openxmlformats.org/officeDocument/2006/relationships/tags" Target="../tags/tag307.xml"/><Relationship Id="rId10" Type="http://schemas.openxmlformats.org/officeDocument/2006/relationships/image" Target="../media/image11.wmf"/><Relationship Id="rId1" Type="http://schemas.openxmlformats.org/officeDocument/2006/relationships/tags" Target="../tags/tag30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9.bin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26.xml"/><Relationship Id="rId11" Type="http://schemas.openxmlformats.org/officeDocument/2006/relationships/tags" Target="../tags/tag314.xml"/><Relationship Id="rId10" Type="http://schemas.openxmlformats.org/officeDocument/2006/relationships/image" Target="../media/image12.wmf"/><Relationship Id="rId1" Type="http://schemas.openxmlformats.org/officeDocument/2006/relationships/tags" Target="../tags/tag30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image" Target="../media/image13.wmf"/><Relationship Id="rId6" Type="http://schemas.openxmlformats.org/officeDocument/2006/relationships/oleObject" Target="../embeddings/oleObject11.bin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26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tags" Target="../tags/tag33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1600" y="980728"/>
            <a:ext cx="7429499" cy="1478570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TW" sz="2800" b="1" dirty="0">
                <a:solidFill>
                  <a:schemeClr val="accent1"/>
                </a:solidFill>
                <a:latin typeface="汉仪旗黑-85S" charset="0"/>
                <a:ea typeface="黑体" panose="02010609060101010101" pitchFamily="49" charset="-122"/>
                <a:cs typeface="汉仪旗黑-85S" charset="0"/>
                <a:sym typeface="+mn-ea"/>
              </a:rPr>
              <a:t>NaIve Bayes</a:t>
            </a:r>
            <a:r>
              <a:rPr lang="en-US" altLang="zh-TW" sz="2800" b="1" dirty="0">
                <a:solidFill>
                  <a:schemeClr val="accent1"/>
                </a:solidFill>
                <a:latin typeface="汉仪旗黑-85S" charset="0"/>
                <a:ea typeface="黑体" panose="02010609060101010101" pitchFamily="49" charset="-122"/>
                <a:cs typeface="汉仪旗黑-85S" charset="0"/>
                <a:sym typeface="+mn-ea"/>
              </a:rPr>
              <a:t>算法</a:t>
            </a:r>
            <a:endParaRPr lang="en-US" altLang="zh-TW" sz="2800" b="1" dirty="0">
              <a:solidFill>
                <a:schemeClr val="accent1"/>
              </a:solidFill>
              <a:latin typeface="汉仪旗黑-85S" charset="0"/>
              <a:ea typeface="黑体" panose="02010609060101010101" pitchFamily="49" charset="-122"/>
              <a:cs typeface="汉仪旗黑-85S" charset="0"/>
              <a:sym typeface="+mn-ea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4294967295"/>
            <p:custDataLst>
              <p:tags r:id="rId6"/>
            </p:custDataLst>
          </p:nvPr>
        </p:nvSpPr>
        <p:spPr>
          <a:xfrm>
            <a:off x="1259632" y="2060848"/>
            <a:ext cx="6956300" cy="354171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朴素贝叶斯分类算法</a:t>
            </a:r>
            <a:endParaRPr lang="zh-CN" altLang="en-US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87000" y="2769159"/>
            <a:ext cx="4057175" cy="70437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dirty="0">
                <a:solidFill>
                  <a:schemeClr val="accent1"/>
                </a:solidFill>
              </a:rPr>
              <a:t>贝叶斯公式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93369" y="431006"/>
            <a:ext cx="957263" cy="319088"/>
          </a:xfrm>
          <a:prstGeom prst="rect">
            <a:avLst/>
          </a:prstGeom>
        </p:spPr>
      </p:pic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395605" y="4004945"/>
          <a:ext cx="886333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4" imgW="2159000" imgH="419100" progId="Equation.3">
                  <p:embed/>
                </p:oleObj>
              </mc:Choice>
              <mc:Fallback>
                <p:oleObj name="公式" r:id="rId4" imgW="2159000" imgH="4191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" y="4004945"/>
                        <a:ext cx="886333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17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62806" y="1484784"/>
            <a:ext cx="7669213" cy="1938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例子：已知某种疾病的发病率为</a:t>
            </a:r>
            <a:r>
              <a:rPr kumimoji="1"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0.1%, </a:t>
            </a:r>
            <a:r>
              <a:rPr kumimoji="1"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该种疾病患者一个月以内的死亡率为</a:t>
            </a:r>
            <a:r>
              <a:rPr kumimoji="1"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90%</a:t>
            </a:r>
            <a:r>
              <a:rPr kumimoji="1"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；且知未患该种疾病的人一个月以内的死亡率为</a:t>
            </a:r>
            <a:r>
              <a:rPr kumimoji="1"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0.1%</a:t>
            </a:r>
            <a:r>
              <a:rPr kumimoji="1"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；现从人群中任意抽取一人，问此人在一个月内死亡的概率是多少？若已知此人在一个月内死亡，则此人是因该种疾病致死的概率为多少？</a:t>
            </a:r>
            <a:endParaRPr kumimoji="1" lang="zh-CN" altLang="en-US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1103190" y="3832979"/>
          <a:ext cx="7298055" cy="1548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89" name="公式" r:id="rId7" imgW="3733800" imgH="774065" progId="Equation.3">
                  <p:embed/>
                </p:oleObj>
              </mc:Choice>
              <mc:Fallback>
                <p:oleObj name="公式" r:id="rId7" imgW="3733800" imgH="7740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190" y="3832979"/>
                        <a:ext cx="7298055" cy="1548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7"/>
          <p:cNvSpPr txBox="1">
            <a:spLocks noChangeArrowheads="1"/>
          </p:cNvSpPr>
          <p:nvPr/>
        </p:nvSpPr>
        <p:spPr bwMode="auto">
          <a:xfrm>
            <a:off x="1116013" y="692696"/>
            <a:ext cx="267208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609600" indent="-609600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贝叶斯公式回顾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66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14400" y="1988840"/>
            <a:ext cx="7543800" cy="323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贝叶斯公式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给出了‘结果’事件</a:t>
            </a:r>
            <a:r>
              <a:rPr kumimoji="1" lang="en-US" altLang="zh-CN" sz="24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已发生的条件下，‘原因’属于事件</a:t>
            </a:r>
            <a:r>
              <a:rPr kumimoji="1" lang="en-US" altLang="zh-CN" sz="24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的条件概率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</a:t>
            </a:r>
            <a:endParaRPr kumimoji="1"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en-US" altLang="zh-CN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altLang="en-US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这个意义上讲，它是一个“执果索因”的条件概率计算公式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相对于事件</a:t>
            </a:r>
            <a:r>
              <a:rPr kumimoji="1" lang="en-US" altLang="zh-CN" sz="24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而言 ，概率论中把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P(A)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称为先验概率（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 Probability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），而把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kumimoji="1"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A|B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称为后验概率 （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Posterior Probability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），这是在已有附加信息（即事件</a:t>
            </a:r>
            <a:r>
              <a:rPr kumimoji="1" lang="en-US" altLang="zh-CN" sz="24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已发生）之后对事件发生的可能性做出的重新认识，体现了已有信息带来的知识更新</a:t>
            </a:r>
            <a:r>
              <a:rPr kumimoji="1"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</a:t>
            </a:r>
            <a:endParaRPr kumimoji="1"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867" name="Text Box 7"/>
          <p:cNvSpPr txBox="1">
            <a:spLocks noChangeArrowheads="1"/>
          </p:cNvSpPr>
          <p:nvPr/>
        </p:nvSpPr>
        <p:spPr bwMode="auto">
          <a:xfrm>
            <a:off x="914400" y="1196752"/>
            <a:ext cx="267208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609600" indent="-609600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贝叶斯公式回顾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76250" y="615280"/>
            <a:ext cx="8229600" cy="603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分类问题１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992150" y="4991100"/>
          <a:ext cx="7483549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13" name="Equation" r:id="rId6" imgW="4483100" imgH="215900" progId="">
                  <p:embed/>
                </p:oleObj>
              </mc:Choice>
              <mc:Fallback>
                <p:oleObj name="Equation" r:id="rId6" imgW="4483100" imgH="2159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50" y="4991100"/>
                        <a:ext cx="7483549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6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81407" y="5377490"/>
            <a:ext cx="41148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这个人会不会逃税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?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800225" y="1219200"/>
          <a:ext cx="5867400" cy="36576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23913"/>
                <a:gridCol w="1338262"/>
                <a:gridCol w="1338263"/>
                <a:gridCol w="1646237"/>
                <a:gridCol w="720725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税号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去年退税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婚姻状况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可征税收入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逃税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125k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100k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离婚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95k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离婚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220k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85k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75k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90k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</a:tbl>
          </a:graphicData>
        </a:graphic>
      </p:graphicFrame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342900" y="192087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分类问题２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115616" y="761999"/>
          <a:ext cx="7010400" cy="524897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98600"/>
                <a:gridCol w="608013"/>
                <a:gridCol w="1060450"/>
                <a:gridCol w="1420812"/>
                <a:gridCol w="1062038"/>
                <a:gridCol w="1360487"/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胎生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会飞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水中生活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有腿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Human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python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salmon</a:t>
                      </a: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鲑鱼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whale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frog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komodo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bat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pigeon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cat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leopard_shark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turtle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penguin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porcupine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eel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salamander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gila_monster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platypus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owl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dolphin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eagle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487759" y="6096000"/>
          <a:ext cx="6324601" cy="60960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125183"/>
                <a:gridCol w="1125182"/>
                <a:gridCol w="1506601"/>
                <a:gridCol w="1125182"/>
                <a:gridCol w="1442453"/>
              </a:tblGrid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胎生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会飞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水中生活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有腿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？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825706" y="1268760"/>
            <a:ext cx="3610744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贝叶斯分类方法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939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0464" y="1988840"/>
            <a:ext cx="7871792" cy="5105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92100" indent="-292100"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把每一个属性（输入） 和分类变量（输出）都看作随机变量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0" indent="-292100"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对于具有属性值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的观测记录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目标是预测类别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特别地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我们想找能够最大化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P(C|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0" indent="-292100"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能否从直接数据中估计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P(C|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,…,A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)?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63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55290" y="1268760"/>
            <a:ext cx="7738219" cy="518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92100" indent="-2921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使用贝叶斯定理对于分类变量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的所有值计算后验概率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P(C |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A=A1*A2*...*An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使得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P(C |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</a:t>
            </a:r>
            <a:b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等价于选择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使得 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|C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P(C)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0" indent="-2921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如何估计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C )?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0964" name="Object 6"/>
          <p:cNvGraphicFramePr>
            <a:graphicFrameLocks noChangeAspect="1"/>
          </p:cNvGraphicFramePr>
          <p:nvPr/>
        </p:nvGraphicFramePr>
        <p:xfrm>
          <a:off x="541020" y="2700338"/>
          <a:ext cx="3327400" cy="645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37" name="Equation" r:id="rId7" imgW="2794000" imgH="444500" progId="Equation.3">
                  <p:embed/>
                </p:oleObj>
              </mc:Choice>
              <mc:Fallback>
                <p:oleObj name="Equation" r:id="rId7" imgW="27940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" y="2700338"/>
                        <a:ext cx="3327400" cy="64579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99592" y="573087"/>
            <a:ext cx="3610744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贝叶斯分类方法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624330" y="6225540"/>
          <a:ext cx="6097905" cy="48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9" imgW="2705100" imgH="228600" progId="Equation.3">
                  <p:embed/>
                </p:oleObj>
              </mc:Choice>
              <mc:Fallback>
                <p:oleObj name="Equation" r:id="rId9" imgW="2705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330" y="6225540"/>
                        <a:ext cx="6097905" cy="48958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4213860" y="2700655"/>
          <a:ext cx="3388360" cy="64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844800" imgH="444500" progId="Equation.3">
                  <p:embed/>
                </p:oleObj>
              </mc:Choice>
              <mc:Fallback>
                <p:oleObj name="Equation" r:id="rId11" imgW="28448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3860" y="2700655"/>
                        <a:ext cx="3388360" cy="645160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86" name="Rectangle 4"/>
          <p:cNvSpPr>
            <a:spLocks noChangeArrowheads="1"/>
          </p:cNvSpPr>
          <p:nvPr/>
        </p:nvSpPr>
        <p:spPr bwMode="auto">
          <a:xfrm>
            <a:off x="899592" y="1271571"/>
            <a:ext cx="2026568" cy="5588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朴素贝叶斯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1987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71600" y="1844824"/>
            <a:ext cx="735516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92100" indent="-292100"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假设在给定的类别上属性变量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相互独立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  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|C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)… 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对所有的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).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</a:pP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如果对某一个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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P(A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最大，新的数据点就被分类到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0" indent="-292100">
              <a:spcBef>
                <a:spcPct val="20000"/>
              </a:spcBef>
            </a:pP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57200" y="1268760"/>
          <a:ext cx="4114800" cy="459867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77850"/>
                <a:gridCol w="641350"/>
                <a:gridCol w="1235075"/>
                <a:gridCol w="974725"/>
                <a:gridCol w="685800"/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税号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去年退税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婚姻状况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可征税收入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逃税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离婚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离婚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220k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</a:tbl>
          </a:graphicData>
        </a:graphic>
      </p:graphicFrame>
      <p:sp>
        <p:nvSpPr>
          <p:cNvPr id="43072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72000" y="1268760"/>
            <a:ext cx="4261048" cy="44547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92100" indent="-2921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P(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0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baseline="-20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/N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 P(C=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7/10, </a:t>
            </a:r>
            <a:b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  </a:t>
            </a:r>
            <a:r>
              <a:rPr lang="en-US" altLang="zh-CN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P(C=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3/10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 dirty="0" err="1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baseline="-20000" dirty="0" err="1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C=C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k.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的数量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0" indent="-2921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对离散属性</a:t>
            </a:r>
            <a:r>
              <a:rPr lang="en-US" altLang="zh-CN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b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</a:t>
            </a:r>
            <a:r>
              <a:rPr lang="en-US" altLang="zh-CN" sz="2400" baseline="-250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|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ik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|/ 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400" baseline="-20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ik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是属性值为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且属于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的记录数量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</a:t>
            </a:r>
            <a:r>
              <a:rPr lang="en-US" altLang="zh-CN" sz="24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P(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婚姻状况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婚姻中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4/7</a:t>
            </a:r>
            <a:br>
              <a:rPr lang="en-US" altLang="zh-CN" sz="2400" baseline="-25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去年退税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)=0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34" name="Rectangle 4"/>
          <p:cNvSpPr>
            <a:spLocks noChangeArrowheads="1"/>
          </p:cNvSpPr>
          <p:nvPr/>
        </p:nvSpPr>
        <p:spPr bwMode="auto">
          <a:xfrm>
            <a:off x="1218456" y="1628800"/>
            <a:ext cx="6707088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92100" indent="-2921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对于连续属性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sqlserver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不能处理连续型属性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离散化 把属性的范围划分为许多段：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每一段设定一个有序值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这样会违反独立性假设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估计概率密度 假定属性服从正态分布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估计该属性分布的参数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均值和标准差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在得到概率密度之后，我们可以使用它估计条件概率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|c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7200" y="692696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81000" y="1219200"/>
          <a:ext cx="4114800" cy="437166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77850"/>
                <a:gridCol w="641350"/>
                <a:gridCol w="1235075"/>
                <a:gridCol w="974725"/>
                <a:gridCol w="685800"/>
              </a:tblGrid>
              <a:tr h="5826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税号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去年退税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婚姻状况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可征税收入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逃税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离婚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离婚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220k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婚姻中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75k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单身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90k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b" horzOverflow="overflow"/>
                </a:tc>
              </a:tr>
            </a:tbl>
          </a:graphicData>
        </a:graphic>
      </p:graphicFrame>
      <p:sp>
        <p:nvSpPr>
          <p:cNvPr id="5" name="Rectangl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495800" y="1066800"/>
            <a:ext cx="4419600" cy="518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92100" lvl="1" indent="-2921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每一对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,c</a:t>
            </a:r>
            <a:r>
              <a:rPr lang="en-US" altLang="zh-CN" sz="2400" baseline="-250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的正态分布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  <a:defRPr/>
            </a:pP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spcBef>
                <a:spcPct val="20000"/>
              </a:spcBef>
              <a:defRPr/>
            </a:pP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2100" indent="-2921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例如对于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–"/>
              <a:defRPr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在逃税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否的情况下，可征税收入的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spcBef>
                <a:spcPct val="20000"/>
              </a:spcBef>
              <a:buFontTx/>
              <a:buChar char="•"/>
              <a:defRPr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样本均值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110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spcBef>
                <a:spcPct val="20000"/>
              </a:spcBef>
              <a:buFontTx/>
              <a:buChar char="•"/>
              <a:defRPr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样本方差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2975</a:t>
            </a: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121" name="Object 6"/>
          <p:cNvGraphicFramePr>
            <a:graphicFrameLocks noChangeAspect="1"/>
          </p:cNvGraphicFramePr>
          <p:nvPr/>
        </p:nvGraphicFramePr>
        <p:xfrm>
          <a:off x="4953000" y="1676400"/>
          <a:ext cx="3810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0" name="Equation" r:id="rId7" imgW="2971800" imgH="838200" progId="Equation.3">
                  <p:embed/>
                </p:oleObj>
              </mc:Choice>
              <mc:Fallback>
                <p:oleObj name="Equation" r:id="rId7" imgW="2971800" imgH="838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76400"/>
                        <a:ext cx="3810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2" name="Object 7"/>
          <p:cNvGraphicFramePr>
            <a:graphicFrameLocks noChangeAspect="1"/>
          </p:cNvGraphicFramePr>
          <p:nvPr/>
        </p:nvGraphicFramePr>
        <p:xfrm>
          <a:off x="2378869" y="5775325"/>
          <a:ext cx="514826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1" name="Equation" r:id="rId9" imgW="3276600" imgH="495300" progId="">
                  <p:embed/>
                </p:oleObj>
              </mc:Choice>
              <mc:Fallback>
                <p:oleObj name="Equation" r:id="rId9" imgW="3276600" imgH="4953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869" y="5775325"/>
                        <a:ext cx="5148262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09550" y="2284730"/>
            <a:ext cx="8477250" cy="536448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488" tIns="44450" rIns="90488" bIns="44450"/>
          <a:lstStyle/>
          <a:p>
            <a:pPr marL="342900" indent="-342900" eaLnBrk="0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思路：看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p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X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是否大于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p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X</a:t>
            </a:r>
            <a:r>
              <a:rPr lang="zh-CN" altLang="en-US" sz="2400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X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=p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否）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p(X</a:t>
            </a:r>
            <a:r>
              <a:rPr lang="en-US" altLang="zh-CN" sz="2400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X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=p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是）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p(X</a:t>
            </a:r>
            <a:r>
              <a:rPr lang="en-US" altLang="zh-CN" sz="2400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去年退税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  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婚姻中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=120K|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是）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去年退税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	                 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婚姻中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	                 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=120K|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539750" y="980728"/>
          <a:ext cx="794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8" name="Equation" r:id="rId7" imgW="4483100" imgH="215900" progId="">
                  <p:embed/>
                </p:oleObj>
              </mc:Choice>
              <mc:Fallback>
                <p:oleObj name="Equation" r:id="rId7" imgW="4483100" imgH="2159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80728"/>
                        <a:ext cx="79438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2943193" y="1412924"/>
          <a:ext cx="275336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69" name="公式" r:id="rId9" imgW="1587500" imgH="419100" progId="Equation.3">
                  <p:embed/>
                </p:oleObj>
              </mc:Choice>
              <mc:Fallback>
                <p:oleObj name="公式" r:id="rId9" imgW="1587500" imgH="4191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193" y="1412924"/>
                        <a:ext cx="2753360" cy="822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48" name="Rectangl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15616" y="1196752"/>
            <a:ext cx="8208963" cy="4154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去年退税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婚姻中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=120K|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          = 4/7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 4/7  0.0072 = </a:t>
            </a:r>
            <a:r>
              <a:rPr lang="en-US" altLang="zh-CN" sz="2400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0.0024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去年退税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	                 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婚姻中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	                 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=120K|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逃税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           = 1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 0  1.2  10-9 = </a:t>
            </a:r>
            <a:r>
              <a:rPr lang="en-US" altLang="zh-CN" sz="2400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0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因为：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&gt; P(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){  0.0024*0.3 &gt;0*0.7 }</a:t>
            </a:r>
            <a:endParaRPr lang="en-US" altLang="zh-CN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所以：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&gt; P(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en-US" altLang="zh-CN" sz="2400" i="1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b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=&gt;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逃税 </a:t>
            </a:r>
            <a:r>
              <a:rPr lang="en-US" altLang="zh-CN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= </a:t>
            </a:r>
            <a:r>
              <a:rPr lang="zh-CN" alt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否</a:t>
            </a:r>
            <a:endParaRPr lang="zh-CN" altLang="en-US" sz="2400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130" name="Object 7"/>
          <p:cNvGraphicFramePr>
            <a:graphicFrameLocks noChangeAspect="1"/>
          </p:cNvGraphicFramePr>
          <p:nvPr/>
        </p:nvGraphicFramePr>
        <p:xfrm>
          <a:off x="5114515" y="2857445"/>
          <a:ext cx="3847009" cy="2353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34" name="公式" r:id="rId6" imgW="65836800" imgH="40233600" progId="Equation.3">
                  <p:embed/>
                </p:oleObj>
              </mc:Choice>
              <mc:Fallback>
                <p:oleObj name="公式" r:id="rId6" imgW="65836800" imgH="4023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515" y="2857445"/>
                        <a:ext cx="3847009" cy="23538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004048" y="1072341"/>
            <a:ext cx="4067944" cy="178371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（胎生＝是，会飞＝否，</a:t>
            </a:r>
            <a:endParaRPr lang="en-US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sz="2000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中生活＝是，有腿＝否）</a:t>
            </a:r>
            <a:endParaRPr lang="en-US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哺乳动物</a:t>
            </a:r>
            <a:endParaRPr lang="en-US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i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非哺乳动物</a:t>
            </a:r>
            <a:endParaRPr lang="zh-CN" altLang="en-US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7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92266" y="5211261"/>
            <a:ext cx="3368165" cy="86042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P(A|M)P(M) &gt; P(A|N)P(N)</a:t>
            </a:r>
            <a:endParaRPr lang="en-US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哺乳动物</a:t>
            </a:r>
            <a:endParaRPr lang="zh-CN" altLang="en-US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133" name="Rectangle 2"/>
          <p:cNvSpPr>
            <a:spLocks noChangeArrowheads="1"/>
          </p:cNvSpPr>
          <p:nvPr/>
        </p:nvSpPr>
        <p:spPr bwMode="auto">
          <a:xfrm>
            <a:off x="323528" y="451653"/>
            <a:ext cx="8229600" cy="620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分类问题２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98091" y="1219200"/>
          <a:ext cx="4571999" cy="388619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016000"/>
                <a:gridCol w="392266"/>
                <a:gridCol w="684162"/>
                <a:gridCol w="916653"/>
                <a:gridCol w="685185"/>
                <a:gridCol w="877733"/>
              </a:tblGrid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胎生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会飞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水中生活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有腿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Human</a:t>
                      </a:r>
                      <a:endParaRPr kumimoji="0" lang="en-US" altLang="zh-CN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python</a:t>
                      </a:r>
                      <a:endParaRPr kumimoji="0" lang="en-US" altLang="zh-CN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salmon</a:t>
                      </a:r>
                      <a:endParaRPr kumimoji="0" lang="en-US" altLang="zh-CN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whale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frog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komodo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bat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pigeon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cat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leopard_shark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turtle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penguin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porcupine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eel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salamander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有时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gila_monster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platypus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owl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dolphin</a:t>
                      </a:r>
                      <a:endParaRPr kumimoji="0" lang="en-US" altLang="zh-CN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哺乳动物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  <a:tr h="18505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eagle</a:t>
                      </a:r>
                      <a:endParaRPr kumimoji="0" lang="en-US" altLang="zh-CN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非哺乳动物</a:t>
                      </a:r>
                      <a:endParaRPr kumimoji="0" lang="zh-CN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6111" marR="6111" marT="6111" marB="0" anchor="ctr" horzOverflow="overflow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09600" y="5562600"/>
          <a:ext cx="3505200" cy="60960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23595"/>
                <a:gridCol w="623594"/>
                <a:gridCol w="834985"/>
                <a:gridCol w="623594"/>
                <a:gridCol w="799432"/>
              </a:tblGrid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胎生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会飞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水中生活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有腿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是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？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 horzOverflow="overflow"/>
                </a:tc>
              </a:tr>
            </a:tbl>
          </a:graphicData>
        </a:graphic>
      </p:graphicFrame>
      <p:sp>
        <p:nvSpPr>
          <p:cNvPr id="2" name="Text Box 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49860" y="6302375"/>
            <a:ext cx="4409440" cy="39878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P(M|A)=(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P(A|M)P(M))/P(A)</a:t>
            </a:r>
            <a:endParaRPr lang="en-US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114491" y="6302191"/>
            <a:ext cx="3368165" cy="39878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p>
            <a:pPr eaLnBrk="0" hangingPunct="0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P(N|A)=(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P(A|N)P(N))/P(A)</a:t>
            </a:r>
            <a:endParaRPr lang="en-US" altLang="zh-CN" sz="2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  <p:custDataLst>
              <p:tags r:id="rId6"/>
            </p:custDataLst>
          </p:nvPr>
        </p:nvSpPr>
        <p:spPr>
          <a:xfrm>
            <a:off x="899592" y="1484784"/>
            <a:ext cx="7429499" cy="3541714"/>
          </a:xfr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90000"/>
              </a:lnSpc>
              <a:buClrTx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这个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算法之所以称为“朴素”，是因为所有属性的重要性是一样的，没有谁高谁低一说。它是一种运用算术原则来理解数据的方法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90000"/>
              </a:lnSpc>
              <a:buClrTx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对此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算法的另一个理解就是：所有属性都是独立的，互不相关的。从字面来看，该算法只是计算所有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属性之间的关联。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90000"/>
              </a:lnSpc>
              <a:buClrTx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虽然该算法既可用于预测也可用于分组，但最常用于模型构建的早期阶段，更常用于分组而不是预测某个具体的值。通常要将所有属性标记为简单输入或者既是输入又是可预测的，因为这就可以要求算法在执行的时候考虑到所有属性 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4294967295"/>
            <p:custDataLst>
              <p:tags r:id="rId6"/>
            </p:custDataLst>
          </p:nvPr>
        </p:nvSpPr>
        <p:spPr>
          <a:xfrm>
            <a:off x="856060" y="2249487"/>
            <a:ext cx="7429499" cy="354171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很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常见的一种情况是，在输入中包含大量属性，然后处理模型再评估结果，如果结果看起来没什么意义，我们经常减少包含的属性数量，以便更好地理解关联最紧密的关系。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54953" y="188640"/>
            <a:ext cx="7429499" cy="1478570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b="1" dirty="0">
                <a:solidFill>
                  <a:schemeClr val="accent1"/>
                </a:solidFill>
                <a:latin typeface="汉仪旗黑-85S" charset="0"/>
                <a:ea typeface="汉仪旗黑-85S" charset="0"/>
                <a:sym typeface="+mn-ea"/>
              </a:rPr>
              <a:t>贝叶斯方法的不足</a:t>
            </a:r>
            <a:endParaRPr lang="zh-CN" altLang="en-US" sz="2800" b="1" dirty="0">
              <a:solidFill>
                <a:schemeClr val="accent1"/>
              </a:solidFill>
              <a:latin typeface="汉仪旗黑-85S" charset="0"/>
              <a:ea typeface="汉仪旗黑-85S" charset="0"/>
              <a:sym typeface="+mn-ea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4294967295"/>
            <p:custDataLst>
              <p:tags r:id="rId6"/>
            </p:custDataLst>
          </p:nvPr>
        </p:nvSpPr>
        <p:spPr>
          <a:xfrm>
            <a:off x="827584" y="1340768"/>
            <a:ext cx="7817569" cy="3541714"/>
          </a:xfr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algn="l">
              <a:lnSpc>
                <a:spcPct val="90000"/>
              </a:lnSpc>
              <a:buClrTx/>
              <a:buFont typeface="+mj-lt"/>
              <a:buAutoNum type="arabicPeriod"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贝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叶斯方法最有争议之处就是先验信息的使用。先验信息来源于经验或者以前的实验结论，没有确定的理论依据作支持，因此在很多方面颇有争议。由于很多工作都是基于先验信息的，如果先验信息不正确，或者存在误差，那么最后导致的结论就会是不可想象的。尤其是在数据挖掘中，挖掘出的知识也是不可预知的，就是说不知道挖掘出的知识是有用的还是无用的，甚至是错误的。虽然知识发现中有一步是进行知识评估，但是这种评估并不能总是知识的可用性和有效性，特别不能确定先验信息是否正确时，这种评估更带有不确定性。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lvl="0" indent="-457200" algn="l">
              <a:lnSpc>
                <a:spcPct val="90000"/>
              </a:lnSpc>
              <a:buClrTx/>
              <a:buFont typeface="+mj-lt"/>
              <a:buAutoNum type="arabicPeriod"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数据复杂性高，因此时间和空间消耗也比较大。贝叶斯方法要进行后验概率的计算、区间估计、假设检验等，大量的计算是不可避免的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-1934210" y="1463675"/>
            <a:ext cx="13052425" cy="837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en-US" altLang="zh-CN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</a:t>
            </a:r>
            <a:r>
              <a:rPr lang="zh-CN" altLang="en-US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我们拥有大量的数据，而且对数据的了解又很少，这时候可以使用朴素贝叶斯算法。</a:t>
            </a:r>
            <a:endParaRPr lang="zh-CN" altLang="en-US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</a:t>
            </a:r>
            <a:r>
              <a:rPr lang="zh-CN" altLang="en-US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：公司可能由于兼并了一家竞争对手而获得了大量的销售数据，在处理这些数据的时候，可以用朴素贝叶斯算法作为起点。</a:t>
            </a:r>
            <a:endParaRPr lang="zh-CN" altLang="en-US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dirty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dirty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  <p:custDataLst>
              <p:tags r:id="rId6"/>
            </p:custDataLst>
          </p:nvPr>
        </p:nvSpPr>
        <p:spPr>
          <a:xfrm>
            <a:off x="899592" y="1844824"/>
            <a:ext cx="7429499" cy="354171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90000"/>
              </a:lnSpc>
              <a:buClrTx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聚类分析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基本思想是在样品之间定义距离，在变量之间定义相似系数，距离或相似系数代表样品或变量之间的相似程度，按相似程度的大小，将样品或变量逐一归类，关系密切的类聚集到一个小的分类单位，然后逐步扩大，使得关系疏远的聚合到一个大的分类单位，直到所有的样品或变量都聚集完毕，形成一个表示亲属关系的谱系图，依次按照某些要求对某些样品或变量进行分类。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 rot="0">
            <a:off x="8699182" y="6451918"/>
            <a:ext cx="338138" cy="112395"/>
            <a:chOff x="0" y="3623101"/>
            <a:chExt cx="1405715" cy="468548"/>
          </a:xfrm>
        </p:grpSpPr>
        <p:sp>
          <p:nvSpPr>
            <p:cNvPr id="19" name="菱形 18"/>
            <p:cNvSpPr/>
            <p:nvPr userDrawn="1">
              <p:custDataLst>
                <p:tags r:id="rId2"/>
              </p:custDataLst>
            </p:nvPr>
          </p:nvSpPr>
          <p:spPr>
            <a:xfrm>
              <a:off x="0" y="3633950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菱形 19"/>
            <p:cNvSpPr/>
            <p:nvPr userDrawn="1">
              <p:custDataLst>
                <p:tags r:id="rId3"/>
              </p:custDataLst>
            </p:nvPr>
          </p:nvSpPr>
          <p:spPr>
            <a:xfrm>
              <a:off x="474008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菱形 20"/>
            <p:cNvSpPr/>
            <p:nvPr userDrawn="1">
              <p:custDataLst>
                <p:tags r:id="rId4"/>
              </p:custDataLst>
            </p:nvPr>
          </p:nvSpPr>
          <p:spPr>
            <a:xfrm>
              <a:off x="948016" y="3623101"/>
              <a:ext cx="457699" cy="457699"/>
            </a:xfrm>
            <a:prstGeom prst="diamond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5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五边形 4"/>
          <p:cNvSpPr/>
          <p:nvPr userDrawn="1">
            <p:custDataLst>
              <p:tags r:id="rId5"/>
            </p:custDataLst>
          </p:nvPr>
        </p:nvSpPr>
        <p:spPr>
          <a:xfrm rot="5400000">
            <a:off x="220504" y="-27305"/>
            <a:ext cx="438150" cy="407670"/>
          </a:xfrm>
          <a:prstGeom prst="homePlate">
            <a:avLst>
              <a:gd name="adj" fmla="val 3575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4294967295"/>
            <p:custDataLst>
              <p:tags r:id="rId6"/>
            </p:custDataLst>
          </p:nvPr>
        </p:nvSpPr>
        <p:spPr>
          <a:xfrm>
            <a:off x="856060" y="2249487"/>
            <a:ext cx="7429499" cy="354171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</a:pP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聚类和</a:t>
            </a:r>
            <a:r>
              <a:rPr lang="zh-CN" altLang="en-US" dirty="0" smtClean="0">
                <a:solidFill>
                  <a:schemeClr val="l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分类的主要区别是，在进行聚类分析以前，对总体到底有几种类型并不知道，对已知数据分几类需在聚类的过程中探索调整，   而分类是在事前已知道分为哪些类。</a:t>
            </a:r>
            <a:endParaRPr lang="zh-CN" altLang="en-US" dirty="0" smtClean="0">
              <a:solidFill>
                <a:schemeClr val="l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2*i*8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2*i*9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2*i*10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5*i*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5*i*9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5*i*10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8*i*8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8*i*9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8*i*10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9*i*8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9*i*9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9*i*10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0*i*8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0*i*9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0*i*10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frame"/>
  <p:tag name="KSO_WM_SLIDE_BK_DARK_LIGHT" val="2"/>
</p:tagLst>
</file>

<file path=ppt/tags/tag1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3*i*8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3*i*9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3*i*10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4*i*8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4*i*9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4*i*10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5*i*8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5*i*9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5*i*10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6*i*8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6*i*9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6*i*10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7*i*5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7*i*6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7*i*7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8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8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TEMPLATE_SUBCATEGORY" val="0"/>
  <p:tag name="KSO_WM_TEMPLATE_COLOR_TYPE" val="1"/>
  <p:tag name="KSO_WM_TEMPLATE_THUMBS_INDEX" val="1、2、3、4、5、6、7、8、9、10、11、12、13、15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582"/>
  <p:tag name="KSO_WM_TEMPLATE_MASTER_TYPE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36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82_7*a*1"/>
  <p:tag name="KSO_WM_TEMPLATE_CATEGORY" val="custom"/>
  <p:tag name="KSO_WM_TEMPLATE_INDEX" val="20202582"/>
  <p:tag name="KSO_WM_UNIT_LAYERLEVEL" val="1"/>
  <p:tag name="KSO_WM_TAG_VERSION" val="1.0"/>
  <p:tag name="KSO_WM_BEAUTIFY_FLAG" val="#wm#"/>
  <p:tag name="KSO_WM_UNIT_ISNUMDGMTITLE" val="0"/>
</p:tagLst>
</file>

<file path=ppt/tags/tag237.xml><?xml version="1.0" encoding="utf-8"?>
<p:tagLst xmlns:p="http://schemas.openxmlformats.org/presentationml/2006/main">
  <p:tag name="KSO_WM_UNIT_VALUE" val="118*354"/>
  <p:tag name="KSO_WM_UNIT_HIGHLIGHT" val="0"/>
  <p:tag name="KSO_WM_UNIT_COMPATIBLE" val="0"/>
  <p:tag name="KSO_WM_UNIT_DIAGRAM_ISNUMVISUAL" val="0"/>
  <p:tag name="KSO_WM_UNIT_DIAGRAM_ISREFERUNIT" val="0"/>
  <p:tag name="KSO_WM_UNIT_TYPE" val="j"/>
  <p:tag name="KSO_WM_UNIT_INDEX" val="1"/>
  <p:tag name="KSO_WM_UNIT_ID" val="custom20202582_7*j*1"/>
  <p:tag name="KSO_WM_TEMPLATE_CATEGORY" val="custom"/>
  <p:tag name="KSO_WM_TEMPLATE_INDEX" val="20202582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ID" val="custom20202582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582"/>
  <p:tag name="KSO_WM_SLIDE_LAYOUT" val="a_b_e_j"/>
  <p:tag name="KSO_WM_SLIDE_LAYOUT_CNT" val="1_1_1_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65.xml><?xml version="1.0" encoding="utf-8"?>
<p:tagLst xmlns:p="http://schemas.openxmlformats.org/presentationml/2006/main">
  <p:tag name="KSO_WM_UNIT_TABLE_BEAUTIFY" val="smartTable{872a10b6-ff85-4ee7-982f-655db4d1bdba}"/>
</p:tagLst>
</file>

<file path=ppt/tags/tag26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2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0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1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3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3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5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5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5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5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6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6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DIAGRAM_IS_NEED_ADD_PATH_ANIM" val="0"/>
  <p:tag name="KSO_WM_SLIDE_BACKGROUND_TYPE" val="general"/>
  <p:tag name="KSO_WM_SLIDE_BK_DARK_LIGHT" val="2"/>
  <p:tag name="WM_BEAUTIFY_SHAPE_IDENTITY" val="{abad5788-1c39-4435-b4f2-a06b96fe1d11}"/>
  <p:tag name="KSO_WM_UNIT_TYPE" val="i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2*i*8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2*i*9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2*i*10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80ecd83-acb7-4b2b-b852-2f9e780c98d2}"/>
  <p:tag name="KSO_WM_UNIT_TYPE" val="i"/>
  <p:tag name="KSO_WM_UNIT_FILL_FORE_SCHEMECOLOR_INDEX_BRIGHTNESS" val="0"/>
  <p:tag name="KSO_WM_UNIT_FILL_FORE_SCHEMECOLOR_INDEX" val="5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</p:tagLst>
</file>

<file path=ppt/tags/tag37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7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74.xml><?xml version="1.0" encoding="utf-8"?>
<p:tagLst xmlns:p="http://schemas.openxmlformats.org/presentationml/2006/main">
  <p:tag name="KSO_WPP_MARK_KEY" val="9524994f-22ef-4627-89b0-f974d34be280"/>
  <p:tag name="COMMONDATA" val="eyJoZGlkIjoiYTRlODBlODk1NTcyMzg1M2RlYjA5ZWNkZWUyZGM2Yjg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电路">
  <a:themeElements>
    <a:clrScheme name="电路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电路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电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F2F2F2"/>
      </a:dk2>
      <a:lt2>
        <a:srgbClr val="FFFFFF"/>
      </a:lt2>
      <a:accent1>
        <a:srgbClr val="000000"/>
      </a:accent1>
      <a:accent2>
        <a:srgbClr val="20201E"/>
      </a:accent2>
      <a:accent3>
        <a:srgbClr val="40403C"/>
      </a:accent3>
      <a:accent4>
        <a:srgbClr val="615F59"/>
      </a:accent4>
      <a:accent5>
        <a:srgbClr val="817F77"/>
      </a:accent5>
      <a:accent6>
        <a:srgbClr val="A19F95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电路</Template>
  <TotalTime>0</TotalTime>
  <Words>3910</Words>
  <Application>WPS 演示</Application>
  <PresentationFormat>全屏显示(4:3)</PresentationFormat>
  <Paragraphs>1004</Paragraphs>
  <Slides>21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21</vt:i4>
      </vt:variant>
    </vt:vector>
  </HeadingPairs>
  <TitlesOfParts>
    <vt:vector size="44" baseType="lpstr">
      <vt:lpstr>Arial</vt:lpstr>
      <vt:lpstr>宋体</vt:lpstr>
      <vt:lpstr>Wingdings</vt:lpstr>
      <vt:lpstr>Trebuchet MS</vt:lpstr>
      <vt:lpstr>黑体</vt:lpstr>
      <vt:lpstr>Symbol</vt:lpstr>
      <vt:lpstr>微软雅黑</vt:lpstr>
      <vt:lpstr>Arial Unicode MS</vt:lpstr>
      <vt:lpstr>Tw Cen MT</vt:lpstr>
      <vt:lpstr>Calibri</vt:lpstr>
      <vt:lpstr>Times New Roman</vt:lpstr>
      <vt:lpstr>汉仪旗黑-85S</vt:lpstr>
      <vt:lpstr>汉仪旗黑-85S</vt:lpstr>
      <vt:lpstr>电路</vt:lpstr>
      <vt:lpstr>1_Office 主题​​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NaIve Bayes算法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贝叶斯方法的不足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Zhang</dc:creator>
  <cp:lastModifiedBy>碧海轻潮</cp:lastModifiedBy>
  <cp:revision>103</cp:revision>
  <dcterms:created xsi:type="dcterms:W3CDTF">2015-10-29T09:33:00Z</dcterms:created>
  <dcterms:modified xsi:type="dcterms:W3CDTF">2022-11-01T02:23:05Z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9A799E702EF54ED7A06BC5B9F6674EE9</vt:lpwstr>
  </property>
</Properties>
</file>