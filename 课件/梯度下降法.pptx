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sldIdLst>
    <p:sldId id="296" r:id="rId3"/>
    <p:sldId id="325" r:id="rId4"/>
    <p:sldId id="347" r:id="rId5"/>
    <p:sldId id="300" r:id="rId6"/>
    <p:sldId id="301" r:id="rId7"/>
    <p:sldId id="330" r:id="rId8"/>
    <p:sldId id="297" r:id="rId9"/>
    <p:sldId id="332" r:id="rId10"/>
    <p:sldId id="303" r:id="rId11"/>
    <p:sldId id="299" r:id="rId12"/>
    <p:sldId id="349" r:id="rId13"/>
    <p:sldId id="350" r:id="rId14"/>
    <p:sldId id="335" r:id="rId15"/>
    <p:sldId id="336" r:id="rId16"/>
    <p:sldId id="351" r:id="rId17"/>
    <p:sldId id="339" r:id="rId18"/>
    <p:sldId id="258" r:id="rId19"/>
    <p:sldId id="259" r:id="rId20"/>
    <p:sldId id="260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7" r:id="rId36"/>
    <p:sldId id="278" r:id="rId37"/>
    <p:sldId id="279" r:id="rId38"/>
    <p:sldId id="304" r:id="rId39"/>
    <p:sldId id="313" r:id="rId40"/>
    <p:sldId id="341" r:id="rId41"/>
    <p:sldId id="344" r:id="rId42"/>
    <p:sldId id="306" r:id="rId43"/>
    <p:sldId id="345" r:id="rId44"/>
    <p:sldId id="307" r:id="rId45"/>
    <p:sldId id="308" r:id="rId46"/>
    <p:sldId id="309" r:id="rId47"/>
    <p:sldId id="310" r:id="rId48"/>
    <p:sldId id="311" r:id="rId49"/>
    <p:sldId id="305" r:id="rId50"/>
    <p:sldId id="315" r:id="rId51"/>
    <p:sldId id="316" r:id="rId52"/>
    <p:sldId id="317" r:id="rId53"/>
    <p:sldId id="318" r:id="rId54"/>
    <p:sldId id="286" r:id="rId55"/>
    <p:sldId id="346" r:id="rId56"/>
  </p:sldIdLst>
  <p:sldSz cx="9144000" cy="6858000" type="screen4x3"/>
  <p:notesSz cx="6858000" cy="9144000"/>
  <p:custDataLst>
    <p:tags r:id="rId61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FF"/>
    <a:srgbClr val="CC0099"/>
    <a:srgbClr val="CC00FF"/>
    <a:srgbClr val="33CC33"/>
    <a:srgbClr val="FFFF00"/>
    <a:srgbClr val="FF0000"/>
    <a:srgbClr val="0000FF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6"/>
    <p:restoredTop sz="90928"/>
  </p:normalViewPr>
  <p:slideViewPr>
    <p:cSldViewPr showGuides="1">
      <p:cViewPr varScale="1">
        <p:scale>
          <a:sx n="89" d="100"/>
          <a:sy n="89" d="100"/>
        </p:scale>
        <p:origin x="-29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1" Type="http://schemas.openxmlformats.org/officeDocument/2006/relationships/tags" Target="tags/tag1.xml"/><Relationship Id="rId60" Type="http://schemas.openxmlformats.org/officeDocument/2006/relationships/tableStyles" Target="tableStyles.xml"/><Relationship Id="rId6" Type="http://schemas.openxmlformats.org/officeDocument/2006/relationships/slide" Target="slides/slide4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notesMaster" Target="notesMasters/notesMaster1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530" name="页眉占位符 2252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endParaRPr lang="zh-CN" sz="1200" strike="noStrike" noProof="1" dirty="0"/>
          </a:p>
        </p:txBody>
      </p:sp>
      <p:sp>
        <p:nvSpPr>
          <p:cNvPr id="22531" name="日期占位符 22530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fontAlgn="base"/>
            <a:endParaRPr lang="zh-CN" altLang="en-US" sz="1200" strike="noStrike" noProof="1" dirty="0"/>
          </a:p>
        </p:txBody>
      </p:sp>
      <p:sp>
        <p:nvSpPr>
          <p:cNvPr id="2052" name="幻灯片图像占位符 22531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文本占位符 22532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0"/>
            <a:r>
              <a:rPr lang="zh-CN" altLang="en-US" dirty="0"/>
              <a:t>第二级</a:t>
            </a:r>
            <a:endParaRPr lang="zh-CN" altLang="en-US" dirty="0"/>
          </a:p>
          <a:p>
            <a:pPr lvl="2" indent="0"/>
            <a:r>
              <a:rPr lang="zh-CN" altLang="en-US" dirty="0"/>
              <a:t>第三级</a:t>
            </a:r>
            <a:endParaRPr lang="zh-CN" altLang="en-US" dirty="0"/>
          </a:p>
          <a:p>
            <a:pPr lvl="3" indent="0"/>
            <a:r>
              <a:rPr lang="zh-CN" altLang="en-US" dirty="0"/>
              <a:t>第四级</a:t>
            </a:r>
            <a:endParaRPr lang="zh-CN" altLang="en-US" dirty="0"/>
          </a:p>
          <a:p>
            <a:pPr lvl="4" indent="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34" name="页脚占位符 22533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fontAlgn="base"/>
            <a:endParaRPr lang="zh-CN" sz="1200" strike="noStrike" noProof="1" dirty="0"/>
          </a:p>
        </p:txBody>
      </p:sp>
      <p:sp>
        <p:nvSpPr>
          <p:cNvPr id="22535" name="灯片编号占位符 22534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fontAlgn="base"/>
            <a:fld id="{9A0DB2DC-4C9A-4742-B13C-FB6460FD3503}" type="slidenum">
              <a:rPr lang="zh-CN" sz="1200" strike="noStrike" noProof="1" dirty="0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tx1"/>
          </a:fgClr>
          <a:bgClr>
            <a:srgbClr val="0000FF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 indent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标题 4710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l"/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目标函数曲面</a:t>
            </a:r>
            <a:r>
              <a:rPr lang="en-US" altLang="zh-CN" sz="3600">
                <a:solidFill>
                  <a:schemeClr val="bg1"/>
                </a:solidFill>
                <a:ea typeface="华文新魏" panose="02010800040101010101" pitchFamily="2" charset="-122"/>
              </a:rPr>
              <a:t>J(W)</a:t>
            </a:r>
            <a:endParaRPr lang="en-US" altLang="zh-CN" sz="3600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13314" name="文本占位符 47106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pic>
        <p:nvPicPr>
          <p:cNvPr id="13315" name="图片 471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6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标题 77827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pPr algn="l"/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目标函数曲面</a:t>
            </a:r>
            <a:r>
              <a:rPr lang="en-US" altLang="zh-CN" sz="3600">
                <a:solidFill>
                  <a:schemeClr val="bg1"/>
                </a:solidFill>
                <a:ea typeface="华文新魏" panose="02010800040101010101" pitchFamily="2" charset="-122"/>
              </a:rPr>
              <a:t>J(W)--</a:t>
            </a:r>
            <a:r>
              <a:rPr lang="zh-CN" altLang="en-US" sz="3600" dirty="0">
                <a:solidFill>
                  <a:srgbClr val="FF00FF"/>
                </a:solidFill>
                <a:ea typeface="华文新魏" panose="02010800040101010101" pitchFamily="2" charset="-122"/>
              </a:rPr>
              <a:t>连续</a:t>
            </a:r>
            <a:endParaRPr lang="zh-CN" altLang="en-US" sz="3600">
              <a:solidFill>
                <a:srgbClr val="FF00FF"/>
              </a:solidFill>
              <a:ea typeface="华文新魏" panose="02010800040101010101" pitchFamily="2" charset="-122"/>
            </a:endParaRPr>
          </a:p>
        </p:txBody>
      </p:sp>
      <p:pic>
        <p:nvPicPr>
          <p:cNvPr id="14338" name="图片 778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9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标题 100354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pPr algn="l"/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目标函数曲面</a:t>
            </a:r>
            <a:r>
              <a:rPr lang="en-US" altLang="zh-CN" sz="3600">
                <a:solidFill>
                  <a:schemeClr val="bg1"/>
                </a:solidFill>
                <a:ea typeface="华文新魏" panose="02010800040101010101" pitchFamily="2" charset="-122"/>
              </a:rPr>
              <a:t>J(W) --</a:t>
            </a:r>
            <a:r>
              <a:rPr lang="zh-CN" altLang="en-US" sz="3600" dirty="0">
                <a:solidFill>
                  <a:srgbClr val="FF00FF"/>
                </a:solidFill>
                <a:ea typeface="华文新魏" panose="02010800040101010101" pitchFamily="2" charset="-122"/>
              </a:rPr>
              <a:t>连续、可微</a:t>
            </a:r>
            <a:endParaRPr lang="zh-CN" altLang="en-US" sz="3600">
              <a:solidFill>
                <a:srgbClr val="FF00FF"/>
              </a:solidFill>
              <a:ea typeface="华文新魏" panose="02010800040101010101" pitchFamily="2" charset="-122"/>
            </a:endParaRPr>
          </a:p>
        </p:txBody>
      </p:sp>
      <p:pic>
        <p:nvPicPr>
          <p:cNvPr id="15362" name="图片 1003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3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标题 52231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rgbClr val="FF0000"/>
                </a:solidFill>
                <a:ea typeface="华文新魏" panose="02010800040101010101" pitchFamily="2" charset="-122"/>
              </a:rPr>
              <a:t>全局</a:t>
            </a:r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极小点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16386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标题 5324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>
                <a:solidFill>
                  <a:srgbClr val="FF0000"/>
                </a:solidFill>
                <a:ea typeface="华文新魏" panose="02010800040101010101" pitchFamily="2" charset="-122"/>
              </a:rPr>
              <a:t>全局</a:t>
            </a:r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极小点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grpSp>
        <p:nvGrpSpPr>
          <p:cNvPr id="17410" name="组合 53252"/>
          <p:cNvGrpSpPr/>
          <p:nvPr/>
        </p:nvGrpSpPr>
        <p:grpSpPr>
          <a:xfrm>
            <a:off x="1524000" y="1600200"/>
            <a:ext cx="6096000" cy="4572000"/>
            <a:chOff x="960" y="1008"/>
            <a:chExt cx="3840" cy="2880"/>
          </a:xfrm>
        </p:grpSpPr>
        <p:pic>
          <p:nvPicPr>
            <p:cNvPr id="17411" name="图片 5325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0" y="1008"/>
              <a:ext cx="3840" cy="288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12" name="椭圆 53251"/>
            <p:cNvSpPr/>
            <p:nvPr/>
          </p:nvSpPr>
          <p:spPr>
            <a:xfrm>
              <a:off x="3052" y="2616"/>
              <a:ext cx="68" cy="68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413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标题 82946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rgbClr val="FF00FF"/>
                </a:solidFill>
                <a:ea typeface="华文新魏" panose="02010800040101010101" pitchFamily="2" charset="-122"/>
              </a:rPr>
              <a:t>局部</a:t>
            </a:r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极小点</a:t>
            </a:r>
            <a:r>
              <a:rPr lang="en-US" altLang="zh-CN" sz="3600" dirty="0">
                <a:solidFill>
                  <a:srgbClr val="FF00FF"/>
                </a:solidFill>
                <a:ea typeface="华文新魏" panose="02010800040101010101" pitchFamily="2" charset="-122"/>
              </a:rPr>
              <a:t>1</a:t>
            </a:r>
            <a:endParaRPr lang="en-US" altLang="zh-CN" sz="3600">
              <a:solidFill>
                <a:srgbClr val="FF00FF"/>
              </a:solidFill>
              <a:ea typeface="华文新魏" panose="02010800040101010101" pitchFamily="2" charset="-122"/>
            </a:endParaRPr>
          </a:p>
        </p:txBody>
      </p:sp>
      <p:sp>
        <p:nvSpPr>
          <p:cNvPr id="18434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457" name="组合 49161"/>
          <p:cNvGrpSpPr/>
          <p:nvPr/>
        </p:nvGrpSpPr>
        <p:grpSpPr>
          <a:xfrm>
            <a:off x="1524000" y="1600200"/>
            <a:ext cx="6096000" cy="4572000"/>
            <a:chOff x="960" y="1008"/>
            <a:chExt cx="3840" cy="2880"/>
          </a:xfrm>
        </p:grpSpPr>
        <p:pic>
          <p:nvPicPr>
            <p:cNvPr id="19458" name="图片 4915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0" y="1008"/>
              <a:ext cx="3840" cy="288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59" name="椭圆 49159"/>
            <p:cNvSpPr/>
            <p:nvPr/>
          </p:nvSpPr>
          <p:spPr>
            <a:xfrm>
              <a:off x="3355" y="2100"/>
              <a:ext cx="77" cy="77"/>
            </a:xfrm>
            <a:prstGeom prst="ellipse">
              <a:avLst/>
            </a:prstGeom>
            <a:solidFill>
              <a:srgbClr val="CC00FF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460" name="标题 4916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rgbClr val="FF00FF"/>
                </a:solidFill>
                <a:ea typeface="华文新魏" panose="02010800040101010101" pitchFamily="2" charset="-122"/>
              </a:rPr>
              <a:t>局部</a:t>
            </a:r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极小点</a:t>
            </a:r>
            <a:r>
              <a:rPr lang="en-US" altLang="zh-CN" sz="3600" dirty="0">
                <a:solidFill>
                  <a:srgbClr val="FF00FF"/>
                </a:solidFill>
                <a:ea typeface="华文新魏" panose="02010800040101010101" pitchFamily="2" charset="-122"/>
              </a:rPr>
              <a:t>1</a:t>
            </a:r>
            <a:endParaRPr lang="en-US" altLang="zh-CN" sz="3600">
              <a:solidFill>
                <a:srgbClr val="FF00FF"/>
              </a:solidFill>
              <a:ea typeface="华文新魏" panose="02010800040101010101" pitchFamily="2" charset="-122"/>
            </a:endParaRPr>
          </a:p>
        </p:txBody>
      </p:sp>
      <p:sp>
        <p:nvSpPr>
          <p:cNvPr id="19461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标题 84994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rgbClr val="FF00FF"/>
                </a:solidFill>
                <a:ea typeface="华文新魏" panose="02010800040101010101" pitchFamily="2" charset="-122"/>
              </a:rPr>
              <a:t>局部</a:t>
            </a:r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极小点</a:t>
            </a:r>
            <a:r>
              <a:rPr lang="en-US" altLang="zh-CN" sz="3600" dirty="0">
                <a:solidFill>
                  <a:srgbClr val="FF00FF"/>
                </a:solidFill>
                <a:ea typeface="华文新魏" panose="02010800040101010101" pitchFamily="2" charset="-122"/>
              </a:rPr>
              <a:t>2</a:t>
            </a:r>
            <a:endParaRPr lang="en-US" altLang="zh-CN" sz="3600">
              <a:solidFill>
                <a:srgbClr val="FF00FF"/>
              </a:solidFill>
              <a:ea typeface="华文新魏" panose="02010800040101010101" pitchFamily="2" charset="-122"/>
            </a:endParaRPr>
          </a:p>
        </p:txBody>
      </p:sp>
      <p:sp>
        <p:nvSpPr>
          <p:cNvPr id="20482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505" name="组合 55300"/>
          <p:cNvGrpSpPr/>
          <p:nvPr/>
        </p:nvGrpSpPr>
        <p:grpSpPr>
          <a:xfrm>
            <a:off x="1524000" y="1600200"/>
            <a:ext cx="6096000" cy="4572000"/>
            <a:chOff x="960" y="1008"/>
            <a:chExt cx="3840" cy="2880"/>
          </a:xfrm>
        </p:grpSpPr>
        <p:pic>
          <p:nvPicPr>
            <p:cNvPr id="21506" name="图片 5529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0" y="1008"/>
              <a:ext cx="3840" cy="288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07" name="椭圆 55299"/>
            <p:cNvSpPr/>
            <p:nvPr/>
          </p:nvSpPr>
          <p:spPr>
            <a:xfrm>
              <a:off x="2191" y="2412"/>
              <a:ext cx="77" cy="77"/>
            </a:xfrm>
            <a:prstGeom prst="ellipse">
              <a:avLst/>
            </a:prstGeom>
            <a:solidFill>
              <a:srgbClr val="CC00FF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508" name="标题 55301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rgbClr val="FF00FF"/>
                </a:solidFill>
                <a:ea typeface="华文新魏" panose="02010800040101010101" pitchFamily="2" charset="-122"/>
              </a:rPr>
              <a:t>局部</a:t>
            </a:r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极小点</a:t>
            </a:r>
            <a:r>
              <a:rPr lang="en-US" altLang="zh-CN" sz="3600" dirty="0">
                <a:solidFill>
                  <a:srgbClr val="FF00FF"/>
                </a:solidFill>
                <a:ea typeface="华文新魏" panose="02010800040101010101" pitchFamily="2" charset="-122"/>
              </a:rPr>
              <a:t>2</a:t>
            </a:r>
            <a:endParaRPr lang="en-US" altLang="zh-CN" sz="3600">
              <a:solidFill>
                <a:srgbClr val="FF00FF"/>
              </a:solidFill>
              <a:ea typeface="华文新魏" panose="02010800040101010101" pitchFamily="2" charset="-122"/>
            </a:endParaRPr>
          </a:p>
        </p:txBody>
      </p:sp>
      <p:sp>
        <p:nvSpPr>
          <p:cNvPr id="21509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标题 51204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pPr algn="l"/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目标函数曲面</a:t>
            </a:r>
            <a:r>
              <a:rPr lang="en-US" altLang="zh-CN" sz="3600">
                <a:solidFill>
                  <a:schemeClr val="bg1"/>
                </a:solidFill>
                <a:ea typeface="华文新魏" panose="02010800040101010101" pitchFamily="2" charset="-122"/>
              </a:rPr>
              <a:t>J(W)</a:t>
            </a:r>
            <a:endParaRPr lang="en-US" altLang="zh-CN" sz="3600">
              <a:solidFill>
                <a:srgbClr val="FF00FF"/>
              </a:solidFill>
              <a:ea typeface="华文新魏" panose="02010800040101010101" pitchFamily="2" charset="-122"/>
            </a:endParaRPr>
          </a:p>
        </p:txBody>
      </p:sp>
      <p:pic>
        <p:nvPicPr>
          <p:cNvPr id="22530" name="图片 512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1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标题 10240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pPr algn="l"/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目标函数曲面</a:t>
            </a:r>
            <a:r>
              <a:rPr lang="en-US" altLang="zh-CN" sz="3600">
                <a:solidFill>
                  <a:schemeClr val="bg1"/>
                </a:solidFill>
                <a:ea typeface="华文新魏" panose="02010800040101010101" pitchFamily="2" charset="-122"/>
              </a:rPr>
              <a:t>J(W) --</a:t>
            </a:r>
            <a:r>
              <a:rPr lang="zh-CN" altLang="en-US" sz="3600" dirty="0">
                <a:solidFill>
                  <a:srgbClr val="FF00FF"/>
                </a:solidFill>
                <a:ea typeface="华文新魏" panose="02010800040101010101" pitchFamily="2" charset="-122"/>
              </a:rPr>
              <a:t>连续</a:t>
            </a:r>
            <a:endParaRPr lang="zh-CN" altLang="en-US" sz="3600">
              <a:solidFill>
                <a:srgbClr val="FF00FF"/>
              </a:solidFill>
              <a:ea typeface="华文新魏" panose="02010800040101010101" pitchFamily="2" charset="-122"/>
            </a:endParaRPr>
          </a:p>
        </p:txBody>
      </p:sp>
      <p:pic>
        <p:nvPicPr>
          <p:cNvPr id="23554" name="图片 1024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5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标题 103426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pPr algn="l"/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目标函数曲面</a:t>
            </a:r>
            <a:r>
              <a:rPr lang="en-US" altLang="zh-CN" sz="3600">
                <a:solidFill>
                  <a:schemeClr val="bg1"/>
                </a:solidFill>
                <a:ea typeface="华文新魏" panose="02010800040101010101" pitchFamily="2" charset="-122"/>
              </a:rPr>
              <a:t>J(W) --</a:t>
            </a:r>
            <a:r>
              <a:rPr lang="zh-CN" altLang="en-US" sz="3600" dirty="0">
                <a:solidFill>
                  <a:srgbClr val="FF00FF"/>
                </a:solidFill>
                <a:ea typeface="华文新魏" panose="02010800040101010101" pitchFamily="2" charset="-122"/>
              </a:rPr>
              <a:t>连续、可微</a:t>
            </a:r>
            <a:endParaRPr lang="zh-CN" altLang="en-US" sz="3600">
              <a:solidFill>
                <a:srgbClr val="FF00FF"/>
              </a:solidFill>
              <a:ea typeface="华文新魏" panose="02010800040101010101" pitchFamily="2" charset="-122"/>
            </a:endParaRPr>
          </a:p>
        </p:txBody>
      </p:sp>
      <p:pic>
        <p:nvPicPr>
          <p:cNvPr id="24578" name="图片 1034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79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副标题 88066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t" anchorCtr="0"/>
          <a:p>
            <a:pPr defTabSz="914400">
              <a:buClrTx/>
              <a:buSzTx/>
              <a:buFontTx/>
            </a:pPr>
            <a:endParaRPr sz="3200" kern="12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25602" name="标题 88067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gradFill rotWithShape="0">
            <a:gsLst>
              <a:gs pos="0">
                <a:srgbClr val="66CCFF"/>
              </a:gs>
              <a:gs pos="100000">
                <a:schemeClr val="bg1"/>
              </a:gs>
            </a:gsLst>
            <a:lin ang="5400000" scaled="1"/>
            <a:tileRect/>
          </a:gradFill>
        </p:spPr>
        <p:txBody>
          <a:bodyPr wrap="square" lIns="91440" tIns="45720" rIns="91440" bIns="45720" anchor="ctr" anchorCtr="0"/>
          <a:p>
            <a:pPr defTabSz="914400">
              <a:buClrTx/>
              <a:buSzTx/>
              <a:buFontTx/>
              <a:buNone/>
            </a:pPr>
            <a:r>
              <a:rPr lang="zh-CN" altLang="en-US" sz="4400" kern="1200" baseline="0" dirty="0">
                <a:solidFill>
                  <a:srgbClr val="FF0000"/>
                </a:solidFill>
                <a:latin typeface="+mj-lt"/>
                <a:ea typeface="华文新魏" panose="02010800040101010101" pitchFamily="2" charset="-122"/>
                <a:cs typeface="+mj-cs"/>
              </a:rPr>
              <a:t>由</a:t>
            </a:r>
            <a:r>
              <a:rPr lang="zh-CN" altLang="en-US" sz="4400" kern="1200" baseline="0" dirty="0">
                <a:solidFill>
                  <a:srgbClr val="0000FF"/>
                </a:solidFill>
                <a:latin typeface="+mj-lt"/>
                <a:ea typeface="华文新魏" panose="02010800040101010101" pitchFamily="2" charset="-122"/>
                <a:cs typeface="+mj-cs"/>
              </a:rPr>
              <a:t>初始状态</a:t>
            </a:r>
            <a:r>
              <a:rPr lang="en-US" altLang="zh-CN" sz="3600" kern="1200" baseline="0" dirty="0">
                <a:solidFill>
                  <a:srgbClr val="0000FF"/>
                </a:solidFill>
                <a:latin typeface="+mj-lt"/>
                <a:ea typeface="华文新魏" panose="02010800040101010101" pitchFamily="2" charset="-122"/>
                <a:cs typeface="+mj-cs"/>
              </a:rPr>
              <a:t>1</a:t>
            </a:r>
            <a:r>
              <a:rPr lang="zh-CN" altLang="en-US" sz="4400" kern="1200" baseline="0" dirty="0">
                <a:solidFill>
                  <a:srgbClr val="FF0000"/>
                </a:solidFill>
                <a:latin typeface="+mj-lt"/>
                <a:ea typeface="华文新魏" panose="02010800040101010101" pitchFamily="2" charset="-122"/>
                <a:cs typeface="+mj-cs"/>
              </a:rPr>
              <a:t>起</a:t>
            </a:r>
            <a:endParaRPr lang="zh-CN" altLang="en-US" sz="4400" kern="1200" baseline="0">
              <a:solidFill>
                <a:srgbClr val="FF0000"/>
              </a:solidFill>
              <a:latin typeface="+mj-lt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25603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标题 89091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gradFill rotWithShape="0">
            <a:gsLst>
              <a:gs pos="0">
                <a:srgbClr val="66CCFF"/>
              </a:gs>
              <a:gs pos="100000">
                <a:schemeClr val="bg1"/>
              </a:gs>
            </a:gsLst>
            <a:lin ang="5400000" scaled="1"/>
            <a:tileRect/>
          </a:gradFill>
        </p:spPr>
        <p:txBody>
          <a:bodyPr wrap="square" lIns="91440" tIns="45720" rIns="91440" bIns="45720" anchor="ctr" anchorCtr="0"/>
          <a:p>
            <a:pPr defTabSz="914400">
              <a:buClrTx/>
              <a:buSzTx/>
              <a:buFontTx/>
              <a:buNone/>
            </a:pPr>
            <a:r>
              <a:rPr lang="zh-CN" altLang="en-US" sz="4400" kern="1200" baseline="0" dirty="0">
                <a:solidFill>
                  <a:srgbClr val="FF0000"/>
                </a:solidFill>
                <a:latin typeface="+mj-lt"/>
                <a:ea typeface="华文新魏" panose="02010800040101010101" pitchFamily="2" charset="-122"/>
                <a:cs typeface="+mj-cs"/>
              </a:rPr>
              <a:t>由</a:t>
            </a:r>
            <a:r>
              <a:rPr lang="zh-CN" altLang="en-US" sz="4400" kern="1200" baseline="0" dirty="0">
                <a:solidFill>
                  <a:srgbClr val="0000FF"/>
                </a:solidFill>
                <a:latin typeface="+mj-lt"/>
                <a:ea typeface="华文新魏" panose="02010800040101010101" pitchFamily="2" charset="-122"/>
                <a:cs typeface="+mj-cs"/>
              </a:rPr>
              <a:t>初始状态</a:t>
            </a:r>
            <a:r>
              <a:rPr lang="en-US" altLang="zh-CN" sz="3600" kern="1200" baseline="0" dirty="0">
                <a:solidFill>
                  <a:srgbClr val="0000FF"/>
                </a:solidFill>
                <a:latin typeface="+mj-lt"/>
                <a:ea typeface="华文新魏" panose="02010800040101010101" pitchFamily="2" charset="-122"/>
                <a:cs typeface="+mj-cs"/>
              </a:rPr>
              <a:t>1</a:t>
            </a:r>
            <a:r>
              <a:rPr lang="zh-CN" altLang="en-US" sz="4400" kern="1200" baseline="0" dirty="0">
                <a:solidFill>
                  <a:srgbClr val="FF0000"/>
                </a:solidFill>
                <a:latin typeface="+mj-lt"/>
                <a:ea typeface="华文新魏" panose="02010800040101010101" pitchFamily="2" charset="-122"/>
                <a:cs typeface="+mj-cs"/>
              </a:rPr>
              <a:t>起</a:t>
            </a:r>
            <a:endParaRPr lang="zh-CN" altLang="en-US" sz="4400" kern="1200" baseline="0">
              <a:solidFill>
                <a:srgbClr val="FF0000"/>
              </a:solidFill>
              <a:latin typeface="+mj-lt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26626" name="副标题 8909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 lIns="91440" tIns="45720" rIns="91440" bIns="45720" anchor="t" anchorCtr="0"/>
          <a:p>
            <a:pPr defTabSz="914400">
              <a:buClrTx/>
              <a:buSzTx/>
              <a:buFontTx/>
            </a:pPr>
            <a:r>
              <a:rPr lang="zh-CN" altLang="en-US" sz="4400" kern="1200" baseline="0" dirty="0">
                <a:solidFill>
                  <a:schemeClr val="bg1"/>
                </a:solidFill>
                <a:latin typeface="+mn-lt"/>
                <a:ea typeface="华文新魏" panose="02010800040101010101" pitchFamily="2" charset="-122"/>
                <a:cs typeface="+mn-cs"/>
              </a:rPr>
              <a:t>搜索</a:t>
            </a:r>
            <a:endParaRPr lang="zh-CN" altLang="en-US" sz="4400" kern="1200" baseline="0" dirty="0">
              <a:solidFill>
                <a:schemeClr val="bg1"/>
              </a:solidFill>
              <a:latin typeface="+mn-lt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26627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标题 104451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gradFill rotWithShape="0">
            <a:gsLst>
              <a:gs pos="0">
                <a:srgbClr val="66CCFF"/>
              </a:gs>
              <a:gs pos="100000">
                <a:schemeClr val="bg1"/>
              </a:gs>
            </a:gsLst>
            <a:lin ang="5400000" scaled="1"/>
            <a:tileRect/>
          </a:gradFill>
        </p:spPr>
        <p:txBody>
          <a:bodyPr wrap="square" lIns="91440" tIns="45720" rIns="91440" bIns="45720" anchor="ctr" anchorCtr="0"/>
          <a:p>
            <a:pPr defTabSz="914400">
              <a:buClrTx/>
              <a:buSzTx/>
              <a:buFontTx/>
              <a:buNone/>
            </a:pPr>
            <a:r>
              <a:rPr lang="zh-CN" altLang="en-US" sz="4400" kern="1200" baseline="0" dirty="0">
                <a:solidFill>
                  <a:srgbClr val="FF0000"/>
                </a:solidFill>
                <a:latin typeface="+mj-lt"/>
                <a:ea typeface="华文新魏" panose="02010800040101010101" pitchFamily="2" charset="-122"/>
                <a:cs typeface="+mj-cs"/>
              </a:rPr>
              <a:t>由</a:t>
            </a:r>
            <a:r>
              <a:rPr lang="zh-CN" altLang="en-US" sz="4400" kern="1200" baseline="0" dirty="0">
                <a:solidFill>
                  <a:srgbClr val="0000FF"/>
                </a:solidFill>
                <a:latin typeface="+mj-lt"/>
                <a:ea typeface="华文新魏" panose="02010800040101010101" pitchFamily="2" charset="-122"/>
                <a:cs typeface="+mj-cs"/>
              </a:rPr>
              <a:t>初始状态</a:t>
            </a:r>
            <a:r>
              <a:rPr lang="en-US" altLang="zh-CN" sz="3600" kern="1200" baseline="0" dirty="0">
                <a:solidFill>
                  <a:srgbClr val="0000FF"/>
                </a:solidFill>
                <a:latin typeface="+mj-lt"/>
                <a:ea typeface="华文新魏" panose="02010800040101010101" pitchFamily="2" charset="-122"/>
                <a:cs typeface="+mj-cs"/>
              </a:rPr>
              <a:t>1</a:t>
            </a:r>
            <a:r>
              <a:rPr lang="zh-CN" altLang="en-US" sz="4400" kern="1200" baseline="0" dirty="0">
                <a:solidFill>
                  <a:srgbClr val="FF0000"/>
                </a:solidFill>
                <a:latin typeface="+mj-lt"/>
                <a:ea typeface="华文新魏" panose="02010800040101010101" pitchFamily="2" charset="-122"/>
                <a:cs typeface="+mj-cs"/>
              </a:rPr>
              <a:t>起</a:t>
            </a:r>
            <a:endParaRPr lang="zh-CN" altLang="en-US" sz="4400" kern="1200" baseline="0">
              <a:solidFill>
                <a:srgbClr val="FF0000"/>
              </a:solidFill>
              <a:latin typeface="+mj-lt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27650" name="副标题 10445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 lIns="91440" tIns="45720" rIns="91440" bIns="45720" anchor="t" anchorCtr="0"/>
          <a:p>
            <a:pPr defTabSz="914400">
              <a:buClrTx/>
              <a:buSzTx/>
              <a:buFontTx/>
            </a:pPr>
            <a:r>
              <a:rPr lang="zh-CN" altLang="en-US" sz="4400" kern="1200" baseline="0" dirty="0">
                <a:solidFill>
                  <a:schemeClr val="bg1"/>
                </a:solidFill>
                <a:latin typeface="+mn-lt"/>
                <a:ea typeface="华文新魏" panose="02010800040101010101" pitchFamily="2" charset="-122"/>
                <a:cs typeface="+mn-cs"/>
              </a:rPr>
              <a:t>搜索</a:t>
            </a:r>
            <a:endParaRPr lang="zh-CN" altLang="en-US" sz="4400" kern="1200" baseline="0" dirty="0">
              <a:solidFill>
                <a:schemeClr val="bg1"/>
              </a:solidFill>
              <a:latin typeface="+mn-lt"/>
              <a:ea typeface="华文新魏" panose="02010800040101010101" pitchFamily="2" charset="-122"/>
              <a:cs typeface="+mn-cs"/>
            </a:endParaRPr>
          </a:p>
          <a:p>
            <a:pPr defTabSz="914400">
              <a:buClrTx/>
              <a:buSzTx/>
              <a:buFontTx/>
            </a:pPr>
            <a:r>
              <a:rPr lang="zh-CN" altLang="en-US" sz="4400" kern="1200" baseline="0" dirty="0">
                <a:solidFill>
                  <a:schemeClr val="bg1"/>
                </a:solidFill>
                <a:latin typeface="+mn-lt"/>
                <a:ea typeface="华文新魏" panose="02010800040101010101" pitchFamily="2" charset="-122"/>
                <a:cs typeface="+mn-cs"/>
              </a:rPr>
              <a:t>寻</a:t>
            </a:r>
            <a:r>
              <a:rPr lang="zh-CN" altLang="en-US" sz="4400" kern="1200" baseline="0">
                <a:solidFill>
                  <a:schemeClr val="bg1"/>
                </a:solidFill>
                <a:latin typeface="+mn-lt"/>
                <a:ea typeface="华文新魏" panose="02010800040101010101" pitchFamily="2" charset="-122"/>
                <a:cs typeface="+mn-cs"/>
              </a:rPr>
              <a:t>优</a:t>
            </a:r>
            <a:endParaRPr lang="zh-CN" altLang="en-US" sz="4400" kern="1200" baseline="0">
              <a:solidFill>
                <a:schemeClr val="bg1"/>
              </a:solidFill>
              <a:latin typeface="+mn-lt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27651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文本占位符 92162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sp>
        <p:nvSpPr>
          <p:cNvPr id="28674" name="标题 92163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初始状态</a:t>
            </a:r>
            <a:r>
              <a:rPr lang="en-US" altLang="zh-CN" sz="3600" dirty="0">
                <a:solidFill>
                  <a:schemeClr val="bg1"/>
                </a:solidFill>
                <a:ea typeface="华文新魏" panose="02010800040101010101" pitchFamily="2" charset="-122"/>
              </a:rPr>
              <a:t>1</a:t>
            </a:r>
            <a:endParaRPr lang="en-US" altLang="zh-CN" sz="3600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28675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标题 409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初始状态</a:t>
            </a:r>
            <a:r>
              <a:rPr lang="en-US" altLang="zh-CN" sz="3600" dirty="0">
                <a:solidFill>
                  <a:schemeClr val="bg1"/>
                </a:solidFill>
                <a:ea typeface="华文新魏" panose="02010800040101010101" pitchFamily="2" charset="-122"/>
              </a:rPr>
              <a:t>1</a:t>
            </a:r>
            <a:endParaRPr lang="en-US" altLang="zh-CN" sz="3600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pic>
        <p:nvPicPr>
          <p:cNvPr id="29698" name="图片 409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699" name="文本占位符 4098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sp>
        <p:nvSpPr>
          <p:cNvPr id="29700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标题 512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30722" name="文本占位符 5122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pic>
        <p:nvPicPr>
          <p:cNvPr id="30723" name="图片 51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4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文本占位符 6146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pic>
        <p:nvPicPr>
          <p:cNvPr id="31746" name="图片 61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7" name="标题 6148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31748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文本占位符 8194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pic>
        <p:nvPicPr>
          <p:cNvPr id="32770" name="图片 81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1" name="标题 8197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32772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文本占位符 9218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pic>
        <p:nvPicPr>
          <p:cNvPr id="33794" name="图片 92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795" name="标题 9220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33796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文本占位符 10242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pic>
        <p:nvPicPr>
          <p:cNvPr id="34818" name="图片 102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19" name="标题 10244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34820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文本占位符 11266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pic>
        <p:nvPicPr>
          <p:cNvPr id="35842" name="图片 112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3" name="标题 11268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35844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文本占位符 12290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pic>
        <p:nvPicPr>
          <p:cNvPr id="36866" name="图片 122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7" name="标题 1229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36868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文本占位符 13314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pic>
        <p:nvPicPr>
          <p:cNvPr id="37890" name="图片 133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1" name="标题 13316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37892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文本占位符 14338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pic>
        <p:nvPicPr>
          <p:cNvPr id="38914" name="图片 143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15" name="标题 14340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38916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文本占位符 15362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pic>
        <p:nvPicPr>
          <p:cNvPr id="39938" name="图片 153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39" name="标题 15364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39940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文本占位符 16386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pic>
        <p:nvPicPr>
          <p:cNvPr id="40962" name="图片 163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3" name="标题 16388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40964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文本占位符 17410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pic>
        <p:nvPicPr>
          <p:cNvPr id="41986" name="图片 174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7" name="标题 1741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41988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文本占位符 18434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pic>
        <p:nvPicPr>
          <p:cNvPr id="43010" name="图片 184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1" name="标题 18436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43012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文本占位符 19458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pic>
        <p:nvPicPr>
          <p:cNvPr id="44034" name="图片 194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035" name="标题 19460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44036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文本占位符 20482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pic>
        <p:nvPicPr>
          <p:cNvPr id="45058" name="图片 2048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59" name="标题 20484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45060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标题 2150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目标函数</a:t>
            </a:r>
            <a:r>
              <a:rPr lang="zh-CN" altLang="en-US" dirty="0">
                <a:solidFill>
                  <a:srgbClr val="FF0000"/>
                </a:solidFill>
                <a:ea typeface="华文新魏" panose="02010800040101010101" pitchFamily="2" charset="-122"/>
              </a:rPr>
              <a:t>全局</a:t>
            </a:r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极小点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46082" name="文本占位符 21506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pPr>
              <a:buNone/>
            </a:pPr>
            <a:endParaRPr dirty="0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pic>
        <p:nvPicPr>
          <p:cNvPr id="46083" name="图片 215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4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标题 25607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目标函数</a:t>
            </a:r>
            <a:r>
              <a:rPr lang="zh-CN" altLang="en-US" dirty="0">
                <a:solidFill>
                  <a:srgbClr val="FF0000"/>
                </a:solidFill>
                <a:ea typeface="华文新魏" panose="02010800040101010101" pitchFamily="2" charset="-122"/>
              </a:rPr>
              <a:t>全局</a:t>
            </a:r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极小点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grpSp>
        <p:nvGrpSpPr>
          <p:cNvPr id="47106" name="组合 25609"/>
          <p:cNvGrpSpPr/>
          <p:nvPr/>
        </p:nvGrpSpPr>
        <p:grpSpPr>
          <a:xfrm>
            <a:off x="1524000" y="1600200"/>
            <a:ext cx="6096000" cy="4572000"/>
            <a:chOff x="960" y="1008"/>
            <a:chExt cx="3840" cy="2880"/>
          </a:xfrm>
        </p:grpSpPr>
        <p:pic>
          <p:nvPicPr>
            <p:cNvPr id="47107" name="图片 2560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0" y="1008"/>
              <a:ext cx="3840" cy="288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08" name="椭圆 25608"/>
            <p:cNvSpPr/>
            <p:nvPr/>
          </p:nvSpPr>
          <p:spPr>
            <a:xfrm>
              <a:off x="2988" y="2544"/>
              <a:ext cx="144" cy="14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7109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8129" name="图片 266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0" name="文本占位符 26628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 anchorCtr="0"/>
          <a:p>
            <a:pPr>
              <a:buNone/>
            </a:pPr>
            <a:endParaRPr dirty="0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48131" name="标题 26629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目标函数</a:t>
            </a:r>
            <a:r>
              <a:rPr lang="zh-CN" altLang="en-US" dirty="0">
                <a:solidFill>
                  <a:srgbClr val="FF0000"/>
                </a:solidFill>
                <a:ea typeface="华文新魏" panose="02010800040101010101" pitchFamily="2" charset="-122"/>
              </a:rPr>
              <a:t>全局</a:t>
            </a:r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极小点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48132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标题 27654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目标函数</a:t>
            </a:r>
            <a:r>
              <a:rPr lang="zh-CN" altLang="en-US" dirty="0">
                <a:solidFill>
                  <a:srgbClr val="FF0000"/>
                </a:solidFill>
                <a:ea typeface="华文新魏" panose="02010800040101010101" pitchFamily="2" charset="-122"/>
              </a:rPr>
              <a:t>全局</a:t>
            </a:r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极小点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grpSp>
        <p:nvGrpSpPr>
          <p:cNvPr id="49154" name="组合 27657"/>
          <p:cNvGrpSpPr/>
          <p:nvPr/>
        </p:nvGrpSpPr>
        <p:grpSpPr>
          <a:xfrm>
            <a:off x="1524000" y="1600200"/>
            <a:ext cx="6096000" cy="4572000"/>
            <a:chOff x="960" y="1008"/>
            <a:chExt cx="3840" cy="2880"/>
          </a:xfrm>
        </p:grpSpPr>
        <p:pic>
          <p:nvPicPr>
            <p:cNvPr id="49155" name="图片 276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0" y="1008"/>
              <a:ext cx="3840" cy="288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56" name="椭圆 27656"/>
            <p:cNvSpPr/>
            <p:nvPr/>
          </p:nvSpPr>
          <p:spPr>
            <a:xfrm>
              <a:off x="2988" y="2544"/>
              <a:ext cx="144" cy="14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9157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文本占位符 56322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pic>
        <p:nvPicPr>
          <p:cNvPr id="50178" name="图片 563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179" name="标题 56326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目标函数曲面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50180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副标题 65538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t" anchorCtr="0"/>
          <a:p>
            <a:pPr defTabSz="914400">
              <a:buClrTx/>
              <a:buSzTx/>
              <a:buFontTx/>
            </a:pPr>
            <a:endParaRPr sz="3200" kern="12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51202" name="标题 65539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gradFill rotWithShape="0">
            <a:gsLst>
              <a:gs pos="0">
                <a:srgbClr val="66CCFF"/>
              </a:gs>
              <a:gs pos="100000">
                <a:schemeClr val="bg1"/>
              </a:gs>
            </a:gsLst>
            <a:lin ang="5400000" scaled="1"/>
            <a:tileRect/>
          </a:gradFill>
        </p:spPr>
        <p:txBody>
          <a:bodyPr wrap="square" lIns="91440" tIns="45720" rIns="91440" bIns="45720" anchor="ctr" anchorCtr="0"/>
          <a:p>
            <a:pPr defTabSz="914400">
              <a:buClrTx/>
              <a:buSzTx/>
              <a:buFontTx/>
              <a:buNone/>
            </a:pPr>
            <a:r>
              <a:rPr lang="zh-CN" altLang="en-US" sz="4400" kern="1200" baseline="0" dirty="0">
                <a:solidFill>
                  <a:srgbClr val="FF0000"/>
                </a:solidFill>
                <a:latin typeface="+mj-lt"/>
                <a:ea typeface="华文新魏" panose="02010800040101010101" pitchFamily="2" charset="-122"/>
                <a:cs typeface="+mj-cs"/>
              </a:rPr>
              <a:t>由</a:t>
            </a:r>
            <a:r>
              <a:rPr lang="zh-CN" altLang="en-US" sz="4400" kern="1200" baseline="0" dirty="0">
                <a:solidFill>
                  <a:srgbClr val="0000FF"/>
                </a:solidFill>
                <a:latin typeface="+mj-lt"/>
                <a:ea typeface="华文新魏" panose="02010800040101010101" pitchFamily="2" charset="-122"/>
                <a:cs typeface="+mj-cs"/>
              </a:rPr>
              <a:t>初始状态</a:t>
            </a:r>
            <a:r>
              <a:rPr lang="en-US" altLang="zh-CN" sz="3600" kern="1200" baseline="0" dirty="0">
                <a:solidFill>
                  <a:srgbClr val="0000FF"/>
                </a:solidFill>
                <a:latin typeface="+mj-lt"/>
                <a:ea typeface="华文新魏" panose="02010800040101010101" pitchFamily="2" charset="-122"/>
                <a:cs typeface="+mj-cs"/>
              </a:rPr>
              <a:t>2</a:t>
            </a:r>
            <a:r>
              <a:rPr lang="zh-CN" altLang="en-US" sz="4400" kern="1200" baseline="0" dirty="0">
                <a:solidFill>
                  <a:srgbClr val="FF0000"/>
                </a:solidFill>
                <a:latin typeface="+mj-lt"/>
                <a:ea typeface="华文新魏" panose="02010800040101010101" pitchFamily="2" charset="-122"/>
                <a:cs typeface="+mj-cs"/>
              </a:rPr>
              <a:t>起</a:t>
            </a:r>
            <a:endParaRPr lang="zh-CN" altLang="en-US" sz="4400" kern="1200" baseline="0">
              <a:solidFill>
                <a:srgbClr val="FF0000"/>
              </a:solidFill>
              <a:latin typeface="+mj-lt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51203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标题 94211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gradFill rotWithShape="0">
            <a:gsLst>
              <a:gs pos="0">
                <a:srgbClr val="66CCFF"/>
              </a:gs>
              <a:gs pos="100000">
                <a:schemeClr val="bg1"/>
              </a:gs>
            </a:gsLst>
            <a:lin ang="5400000" scaled="1"/>
            <a:tileRect/>
          </a:gradFill>
        </p:spPr>
        <p:txBody>
          <a:bodyPr wrap="square" lIns="91440" tIns="45720" rIns="91440" bIns="45720" anchor="ctr" anchorCtr="0"/>
          <a:p>
            <a:pPr defTabSz="914400">
              <a:buClrTx/>
              <a:buSzTx/>
              <a:buFontTx/>
              <a:buNone/>
            </a:pPr>
            <a:r>
              <a:rPr lang="zh-CN" altLang="en-US" sz="4400" kern="1200" baseline="0" dirty="0">
                <a:solidFill>
                  <a:srgbClr val="FF0000"/>
                </a:solidFill>
                <a:latin typeface="+mj-lt"/>
                <a:ea typeface="华文新魏" panose="02010800040101010101" pitchFamily="2" charset="-122"/>
                <a:cs typeface="+mj-cs"/>
              </a:rPr>
              <a:t>由</a:t>
            </a:r>
            <a:r>
              <a:rPr lang="zh-CN" altLang="en-US" sz="4400" kern="1200" baseline="0" dirty="0">
                <a:solidFill>
                  <a:srgbClr val="0000FF"/>
                </a:solidFill>
                <a:latin typeface="+mj-lt"/>
                <a:ea typeface="华文新魏" panose="02010800040101010101" pitchFamily="2" charset="-122"/>
                <a:cs typeface="+mj-cs"/>
              </a:rPr>
              <a:t>初始状态</a:t>
            </a:r>
            <a:r>
              <a:rPr lang="en-US" altLang="zh-CN" sz="3600" kern="1200" baseline="0" dirty="0">
                <a:solidFill>
                  <a:srgbClr val="0000FF"/>
                </a:solidFill>
                <a:latin typeface="+mj-lt"/>
                <a:ea typeface="华文新魏" panose="02010800040101010101" pitchFamily="2" charset="-122"/>
                <a:cs typeface="+mj-cs"/>
              </a:rPr>
              <a:t>2</a:t>
            </a:r>
            <a:r>
              <a:rPr lang="zh-CN" altLang="en-US" sz="4400" kern="1200" baseline="0" dirty="0">
                <a:solidFill>
                  <a:srgbClr val="FF0000"/>
                </a:solidFill>
                <a:latin typeface="+mj-lt"/>
                <a:ea typeface="华文新魏" panose="02010800040101010101" pitchFamily="2" charset="-122"/>
                <a:cs typeface="+mj-cs"/>
              </a:rPr>
              <a:t>起</a:t>
            </a:r>
            <a:endParaRPr lang="zh-CN" altLang="en-US" sz="4400" kern="1200" baseline="0">
              <a:solidFill>
                <a:srgbClr val="FF0000"/>
              </a:solidFill>
              <a:latin typeface="+mj-lt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52226" name="副标题 9421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 lIns="91440" tIns="45720" rIns="91440" bIns="45720" anchor="t" anchorCtr="0"/>
          <a:p>
            <a:pPr defTabSz="914400">
              <a:buClrTx/>
              <a:buSzTx/>
              <a:buFontTx/>
            </a:pPr>
            <a:r>
              <a:rPr lang="zh-CN" altLang="en-US" sz="4400" kern="1200" baseline="0">
                <a:solidFill>
                  <a:schemeClr val="bg1"/>
                </a:solidFill>
                <a:latin typeface="+mn-lt"/>
                <a:ea typeface="华文新魏" panose="02010800040101010101" pitchFamily="2" charset="-122"/>
                <a:cs typeface="+mn-cs"/>
              </a:rPr>
              <a:t>寻优</a:t>
            </a:r>
            <a:endParaRPr lang="zh-CN" altLang="en-US" sz="4400" kern="1200" baseline="0">
              <a:solidFill>
                <a:schemeClr val="bg1"/>
              </a:solidFill>
              <a:latin typeface="+mn-lt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2227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文本占位符 97282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sp>
        <p:nvSpPr>
          <p:cNvPr id="53250" name="标题 97283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初始状态</a:t>
            </a:r>
            <a:r>
              <a:rPr lang="en-US" altLang="zh-CN" sz="3600" dirty="0">
                <a:solidFill>
                  <a:schemeClr val="bg1"/>
                </a:solidFill>
                <a:ea typeface="华文新魏" panose="02010800040101010101" pitchFamily="2" charset="-122"/>
              </a:rPr>
              <a:t>2</a:t>
            </a:r>
            <a:endParaRPr lang="en-US" altLang="zh-CN" sz="3600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53251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标题 5836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初始状态</a:t>
            </a:r>
            <a:r>
              <a:rPr lang="en-US" altLang="zh-CN" sz="3600" dirty="0">
                <a:solidFill>
                  <a:schemeClr val="bg1"/>
                </a:solidFill>
                <a:ea typeface="华文新魏" panose="02010800040101010101" pitchFamily="2" charset="-122"/>
              </a:rPr>
              <a:t>2</a:t>
            </a:r>
            <a:endParaRPr lang="en-US" altLang="zh-CN" sz="3600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54274" name="文本占位符 58370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grpSp>
        <p:nvGrpSpPr>
          <p:cNvPr id="54275" name="组合 58382"/>
          <p:cNvGrpSpPr/>
          <p:nvPr/>
        </p:nvGrpSpPr>
        <p:grpSpPr>
          <a:xfrm>
            <a:off x="1524000" y="1600200"/>
            <a:ext cx="6096000" cy="4572000"/>
            <a:chOff x="960" y="1008"/>
            <a:chExt cx="3840" cy="2880"/>
          </a:xfrm>
        </p:grpSpPr>
        <p:pic>
          <p:nvPicPr>
            <p:cNvPr id="54276" name="图片 5837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0" y="1008"/>
              <a:ext cx="3840" cy="288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277" name="椭圆 58372"/>
            <p:cNvSpPr/>
            <p:nvPr/>
          </p:nvSpPr>
          <p:spPr>
            <a:xfrm>
              <a:off x="2112" y="2160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4278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标题 98306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初始状态</a:t>
            </a:r>
            <a:r>
              <a:rPr lang="en-US" altLang="zh-CN" sz="3600" dirty="0">
                <a:solidFill>
                  <a:schemeClr val="bg1"/>
                </a:solidFill>
                <a:ea typeface="华文新魏" panose="02010800040101010101" pitchFamily="2" charset="-122"/>
              </a:rPr>
              <a:t>2</a:t>
            </a:r>
            <a:endParaRPr lang="en-US" altLang="zh-CN" sz="3600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grpSp>
        <p:nvGrpSpPr>
          <p:cNvPr id="55298" name="组合 98307"/>
          <p:cNvGrpSpPr/>
          <p:nvPr/>
        </p:nvGrpSpPr>
        <p:grpSpPr>
          <a:xfrm>
            <a:off x="1524000" y="1600200"/>
            <a:ext cx="6096000" cy="4572000"/>
            <a:chOff x="960" y="1008"/>
            <a:chExt cx="3840" cy="2880"/>
          </a:xfrm>
        </p:grpSpPr>
        <p:pic>
          <p:nvPicPr>
            <p:cNvPr id="55299" name="图片 9830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0" y="1008"/>
              <a:ext cx="3840" cy="288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00" name="椭圆 98309"/>
            <p:cNvSpPr/>
            <p:nvPr/>
          </p:nvSpPr>
          <p:spPr>
            <a:xfrm>
              <a:off x="2112" y="2160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5301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文本占位符 59394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grpSp>
        <p:nvGrpSpPr>
          <p:cNvPr id="56322" name="组合 59406"/>
          <p:cNvGrpSpPr/>
          <p:nvPr/>
        </p:nvGrpSpPr>
        <p:grpSpPr>
          <a:xfrm>
            <a:off x="1524000" y="1600200"/>
            <a:ext cx="6096000" cy="4572000"/>
            <a:chOff x="960" y="1008"/>
            <a:chExt cx="3840" cy="2880"/>
          </a:xfrm>
        </p:grpSpPr>
        <p:pic>
          <p:nvPicPr>
            <p:cNvPr id="56323" name="图片 5939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0" y="1008"/>
              <a:ext cx="3840" cy="288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324" name="椭圆 59397"/>
            <p:cNvSpPr/>
            <p:nvPr/>
          </p:nvSpPr>
          <p:spPr>
            <a:xfrm>
              <a:off x="2112" y="2160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6325" name="椭圆 59398"/>
            <p:cNvSpPr/>
            <p:nvPr/>
          </p:nvSpPr>
          <p:spPr>
            <a:xfrm>
              <a:off x="2136" y="2196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6326" name="标题 59405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56327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文本占位符 60418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grpSp>
        <p:nvGrpSpPr>
          <p:cNvPr id="57346" name="组合 60430"/>
          <p:cNvGrpSpPr/>
          <p:nvPr/>
        </p:nvGrpSpPr>
        <p:grpSpPr>
          <a:xfrm>
            <a:off x="1524000" y="1600200"/>
            <a:ext cx="6096000" cy="4572000"/>
            <a:chOff x="960" y="1008"/>
            <a:chExt cx="3840" cy="2880"/>
          </a:xfrm>
        </p:grpSpPr>
        <p:pic>
          <p:nvPicPr>
            <p:cNvPr id="57347" name="图片 604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0" y="1008"/>
              <a:ext cx="3840" cy="288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48" name="椭圆 60421"/>
            <p:cNvSpPr/>
            <p:nvPr/>
          </p:nvSpPr>
          <p:spPr>
            <a:xfrm>
              <a:off x="2112" y="2160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7349" name="椭圆 60422"/>
            <p:cNvSpPr/>
            <p:nvPr/>
          </p:nvSpPr>
          <p:spPr>
            <a:xfrm>
              <a:off x="2136" y="2196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7350" name="椭圆 60423"/>
            <p:cNvSpPr/>
            <p:nvPr/>
          </p:nvSpPr>
          <p:spPr>
            <a:xfrm>
              <a:off x="2160" y="2232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7351" name="椭圆 60424"/>
            <p:cNvSpPr/>
            <p:nvPr/>
          </p:nvSpPr>
          <p:spPr>
            <a:xfrm>
              <a:off x="2160" y="2256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7352" name="标题 60429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57353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文本占位符 61442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pic>
        <p:nvPicPr>
          <p:cNvPr id="58370" name="图片 614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8371" name="组合 61454"/>
          <p:cNvGrpSpPr/>
          <p:nvPr/>
        </p:nvGrpSpPr>
        <p:grpSpPr>
          <a:xfrm>
            <a:off x="3352800" y="3429000"/>
            <a:ext cx="211138" cy="344488"/>
            <a:chOff x="2112" y="2160"/>
            <a:chExt cx="133" cy="217"/>
          </a:xfrm>
        </p:grpSpPr>
        <p:sp>
          <p:nvSpPr>
            <p:cNvPr id="58372" name="椭圆 61445"/>
            <p:cNvSpPr/>
            <p:nvPr/>
          </p:nvSpPr>
          <p:spPr>
            <a:xfrm>
              <a:off x="2112" y="2160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8373" name="椭圆 61446"/>
            <p:cNvSpPr/>
            <p:nvPr/>
          </p:nvSpPr>
          <p:spPr>
            <a:xfrm>
              <a:off x="2136" y="2196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8374" name="椭圆 61447"/>
            <p:cNvSpPr/>
            <p:nvPr/>
          </p:nvSpPr>
          <p:spPr>
            <a:xfrm>
              <a:off x="2160" y="2232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8375" name="椭圆 61448"/>
            <p:cNvSpPr/>
            <p:nvPr/>
          </p:nvSpPr>
          <p:spPr>
            <a:xfrm>
              <a:off x="2160" y="2256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8376" name="椭圆 61449"/>
            <p:cNvSpPr/>
            <p:nvPr/>
          </p:nvSpPr>
          <p:spPr>
            <a:xfrm>
              <a:off x="2160" y="2256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8377" name="椭圆 61450"/>
            <p:cNvSpPr/>
            <p:nvPr/>
          </p:nvSpPr>
          <p:spPr>
            <a:xfrm>
              <a:off x="2172" y="2304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8378" name="标题 61453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58379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文本占位符 62466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grpSp>
        <p:nvGrpSpPr>
          <p:cNvPr id="59394" name="组合 62478"/>
          <p:cNvGrpSpPr/>
          <p:nvPr/>
        </p:nvGrpSpPr>
        <p:grpSpPr>
          <a:xfrm>
            <a:off x="1524000" y="1600200"/>
            <a:ext cx="6096000" cy="4572000"/>
            <a:chOff x="960" y="1008"/>
            <a:chExt cx="3840" cy="2880"/>
          </a:xfrm>
        </p:grpSpPr>
        <p:pic>
          <p:nvPicPr>
            <p:cNvPr id="59395" name="图片 6246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0" y="1008"/>
              <a:ext cx="3840" cy="288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396" name="椭圆 62469"/>
            <p:cNvSpPr/>
            <p:nvPr/>
          </p:nvSpPr>
          <p:spPr>
            <a:xfrm>
              <a:off x="2112" y="2160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9397" name="椭圆 62470"/>
            <p:cNvSpPr/>
            <p:nvPr/>
          </p:nvSpPr>
          <p:spPr>
            <a:xfrm>
              <a:off x="2136" y="2196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9398" name="椭圆 62471"/>
            <p:cNvSpPr/>
            <p:nvPr/>
          </p:nvSpPr>
          <p:spPr>
            <a:xfrm>
              <a:off x="2160" y="2232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9399" name="椭圆 62472"/>
            <p:cNvSpPr/>
            <p:nvPr/>
          </p:nvSpPr>
          <p:spPr>
            <a:xfrm>
              <a:off x="2160" y="2256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9400" name="椭圆 62473"/>
            <p:cNvSpPr/>
            <p:nvPr/>
          </p:nvSpPr>
          <p:spPr>
            <a:xfrm>
              <a:off x="2160" y="2256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9401" name="椭圆 62474"/>
            <p:cNvSpPr/>
            <p:nvPr/>
          </p:nvSpPr>
          <p:spPr>
            <a:xfrm>
              <a:off x="2172" y="2304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9402" name="椭圆 62475"/>
            <p:cNvSpPr/>
            <p:nvPr/>
          </p:nvSpPr>
          <p:spPr>
            <a:xfrm>
              <a:off x="2184" y="2352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9403" name="标题 62477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59404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文本占位符 63490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grpSp>
        <p:nvGrpSpPr>
          <p:cNvPr id="60418" name="组合 63502"/>
          <p:cNvGrpSpPr/>
          <p:nvPr/>
        </p:nvGrpSpPr>
        <p:grpSpPr>
          <a:xfrm>
            <a:off x="1524000" y="1600200"/>
            <a:ext cx="6096000" cy="4572000"/>
            <a:chOff x="960" y="1008"/>
            <a:chExt cx="3840" cy="2880"/>
          </a:xfrm>
        </p:grpSpPr>
        <p:pic>
          <p:nvPicPr>
            <p:cNvPr id="60419" name="图片 6349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0" y="1008"/>
              <a:ext cx="3840" cy="288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0420" name="椭圆 63493"/>
            <p:cNvSpPr/>
            <p:nvPr/>
          </p:nvSpPr>
          <p:spPr>
            <a:xfrm>
              <a:off x="2112" y="2160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21" name="椭圆 63494"/>
            <p:cNvSpPr/>
            <p:nvPr/>
          </p:nvSpPr>
          <p:spPr>
            <a:xfrm>
              <a:off x="2136" y="2196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22" name="椭圆 63495"/>
            <p:cNvSpPr/>
            <p:nvPr/>
          </p:nvSpPr>
          <p:spPr>
            <a:xfrm>
              <a:off x="2160" y="2232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23" name="椭圆 63496"/>
            <p:cNvSpPr/>
            <p:nvPr/>
          </p:nvSpPr>
          <p:spPr>
            <a:xfrm>
              <a:off x="2160" y="2256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24" name="椭圆 63497"/>
            <p:cNvSpPr/>
            <p:nvPr/>
          </p:nvSpPr>
          <p:spPr>
            <a:xfrm>
              <a:off x="2160" y="2256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25" name="椭圆 63498"/>
            <p:cNvSpPr/>
            <p:nvPr/>
          </p:nvSpPr>
          <p:spPr>
            <a:xfrm>
              <a:off x="2172" y="2304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26" name="椭圆 63499"/>
            <p:cNvSpPr/>
            <p:nvPr/>
          </p:nvSpPr>
          <p:spPr>
            <a:xfrm>
              <a:off x="2184" y="2352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27" name="椭圆 63500"/>
            <p:cNvSpPr/>
            <p:nvPr/>
          </p:nvSpPr>
          <p:spPr>
            <a:xfrm>
              <a:off x="2208" y="2400"/>
              <a:ext cx="73" cy="73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0428" name="标题 63501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搜索寻优－－梯度下降</a:t>
            </a:r>
            <a:endParaRPr lang="zh-CN" altLang="en-US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60429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标题 5734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目标函数</a:t>
            </a:r>
            <a:r>
              <a:rPr lang="zh-CN" altLang="en-US" dirty="0">
                <a:solidFill>
                  <a:srgbClr val="FF00FF"/>
                </a:solidFill>
                <a:ea typeface="华文新魏" panose="02010800040101010101" pitchFamily="2" charset="-122"/>
              </a:rPr>
              <a:t>局部</a:t>
            </a:r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极小点</a:t>
            </a:r>
            <a:r>
              <a:rPr lang="en-US" altLang="zh-CN" dirty="0">
                <a:solidFill>
                  <a:srgbClr val="FF00FF"/>
                </a:solidFill>
                <a:ea typeface="华文新魏" panose="02010800040101010101" pitchFamily="2" charset="-122"/>
              </a:rPr>
              <a:t>2</a:t>
            </a:r>
            <a:endParaRPr lang="en-US" altLang="zh-CN">
              <a:solidFill>
                <a:srgbClr val="FF00FF"/>
              </a:solidFill>
              <a:ea typeface="华文新魏" panose="02010800040101010101" pitchFamily="2" charset="-122"/>
            </a:endParaRPr>
          </a:p>
        </p:txBody>
      </p:sp>
      <p:grpSp>
        <p:nvGrpSpPr>
          <p:cNvPr id="61442" name="组合 57359"/>
          <p:cNvGrpSpPr/>
          <p:nvPr/>
        </p:nvGrpSpPr>
        <p:grpSpPr>
          <a:xfrm>
            <a:off x="1524000" y="1600200"/>
            <a:ext cx="6096000" cy="4572000"/>
            <a:chOff x="960" y="1008"/>
            <a:chExt cx="3840" cy="2880"/>
          </a:xfrm>
        </p:grpSpPr>
        <p:grpSp>
          <p:nvGrpSpPr>
            <p:cNvPr id="61443" name="组合 57357"/>
            <p:cNvGrpSpPr/>
            <p:nvPr/>
          </p:nvGrpSpPr>
          <p:grpSpPr>
            <a:xfrm>
              <a:off x="960" y="1008"/>
              <a:ext cx="3840" cy="2880"/>
              <a:chOff x="960" y="1008"/>
              <a:chExt cx="3840" cy="2880"/>
            </a:xfrm>
          </p:grpSpPr>
          <p:pic>
            <p:nvPicPr>
              <p:cNvPr id="61444" name="图片 5734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60" y="1008"/>
                <a:ext cx="3840" cy="288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grpSp>
            <p:nvGrpSpPr>
              <p:cNvPr id="61445" name="组合 57348"/>
              <p:cNvGrpSpPr/>
              <p:nvPr/>
            </p:nvGrpSpPr>
            <p:grpSpPr>
              <a:xfrm>
                <a:off x="2112" y="2160"/>
                <a:ext cx="169" cy="313"/>
                <a:chOff x="2112" y="2160"/>
                <a:chExt cx="169" cy="313"/>
              </a:xfrm>
            </p:grpSpPr>
            <p:sp>
              <p:nvSpPr>
                <p:cNvPr id="61446" name="椭圆 57349"/>
                <p:cNvSpPr/>
                <p:nvPr/>
              </p:nvSpPr>
              <p:spPr>
                <a:xfrm>
                  <a:off x="2112" y="2160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47" name="椭圆 57350"/>
                <p:cNvSpPr/>
                <p:nvPr/>
              </p:nvSpPr>
              <p:spPr>
                <a:xfrm>
                  <a:off x="2136" y="2196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48" name="椭圆 57351"/>
                <p:cNvSpPr/>
                <p:nvPr/>
              </p:nvSpPr>
              <p:spPr>
                <a:xfrm>
                  <a:off x="2160" y="2232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49" name="椭圆 57352"/>
                <p:cNvSpPr/>
                <p:nvPr/>
              </p:nvSpPr>
              <p:spPr>
                <a:xfrm>
                  <a:off x="2160" y="2256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50" name="椭圆 57353"/>
                <p:cNvSpPr/>
                <p:nvPr/>
              </p:nvSpPr>
              <p:spPr>
                <a:xfrm>
                  <a:off x="2160" y="2256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51" name="椭圆 57354"/>
                <p:cNvSpPr/>
                <p:nvPr/>
              </p:nvSpPr>
              <p:spPr>
                <a:xfrm>
                  <a:off x="2172" y="2304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52" name="椭圆 57355"/>
                <p:cNvSpPr/>
                <p:nvPr/>
              </p:nvSpPr>
              <p:spPr>
                <a:xfrm>
                  <a:off x="2184" y="2352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53" name="椭圆 57356"/>
                <p:cNvSpPr/>
                <p:nvPr/>
              </p:nvSpPr>
              <p:spPr>
                <a:xfrm>
                  <a:off x="2208" y="2400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61454" name="椭圆 57358"/>
            <p:cNvSpPr/>
            <p:nvPr/>
          </p:nvSpPr>
          <p:spPr>
            <a:xfrm>
              <a:off x="2191" y="2400"/>
              <a:ext cx="113" cy="113"/>
            </a:xfrm>
            <a:prstGeom prst="ellipse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1455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2465" name="图片 675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2466" name="组合 67598"/>
          <p:cNvGrpSpPr/>
          <p:nvPr/>
        </p:nvGrpSpPr>
        <p:grpSpPr>
          <a:xfrm>
            <a:off x="3352800" y="3429000"/>
            <a:ext cx="304800" cy="560388"/>
            <a:chOff x="2112" y="2160"/>
            <a:chExt cx="192" cy="353"/>
          </a:xfrm>
        </p:grpSpPr>
        <p:grpSp>
          <p:nvGrpSpPr>
            <p:cNvPr id="62467" name="组合 67588"/>
            <p:cNvGrpSpPr/>
            <p:nvPr/>
          </p:nvGrpSpPr>
          <p:grpSpPr>
            <a:xfrm>
              <a:off x="2112" y="2160"/>
              <a:ext cx="169" cy="313"/>
              <a:chOff x="2112" y="2160"/>
              <a:chExt cx="169" cy="313"/>
            </a:xfrm>
          </p:grpSpPr>
          <p:sp>
            <p:nvSpPr>
              <p:cNvPr id="62468" name="椭圆 67589"/>
              <p:cNvSpPr/>
              <p:nvPr/>
            </p:nvSpPr>
            <p:spPr>
              <a:xfrm>
                <a:off x="2112" y="2160"/>
                <a:ext cx="73" cy="73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469" name="椭圆 67590"/>
              <p:cNvSpPr/>
              <p:nvPr/>
            </p:nvSpPr>
            <p:spPr>
              <a:xfrm>
                <a:off x="2136" y="2196"/>
                <a:ext cx="73" cy="73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470" name="椭圆 67591"/>
              <p:cNvSpPr/>
              <p:nvPr/>
            </p:nvSpPr>
            <p:spPr>
              <a:xfrm>
                <a:off x="2160" y="2232"/>
                <a:ext cx="73" cy="73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471" name="椭圆 67592"/>
              <p:cNvSpPr/>
              <p:nvPr/>
            </p:nvSpPr>
            <p:spPr>
              <a:xfrm>
                <a:off x="2160" y="2256"/>
                <a:ext cx="73" cy="73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472" name="椭圆 67593"/>
              <p:cNvSpPr/>
              <p:nvPr/>
            </p:nvSpPr>
            <p:spPr>
              <a:xfrm>
                <a:off x="2160" y="2256"/>
                <a:ext cx="73" cy="73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473" name="椭圆 67594"/>
              <p:cNvSpPr/>
              <p:nvPr/>
            </p:nvSpPr>
            <p:spPr>
              <a:xfrm>
                <a:off x="2172" y="2304"/>
                <a:ext cx="73" cy="73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474" name="椭圆 67595"/>
              <p:cNvSpPr/>
              <p:nvPr/>
            </p:nvSpPr>
            <p:spPr>
              <a:xfrm>
                <a:off x="2184" y="2352"/>
                <a:ext cx="73" cy="73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475" name="椭圆 67596"/>
              <p:cNvSpPr/>
              <p:nvPr/>
            </p:nvSpPr>
            <p:spPr>
              <a:xfrm>
                <a:off x="2208" y="2400"/>
                <a:ext cx="73" cy="73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2476" name="椭圆 67597"/>
            <p:cNvSpPr/>
            <p:nvPr/>
          </p:nvSpPr>
          <p:spPr>
            <a:xfrm>
              <a:off x="2191" y="2400"/>
              <a:ext cx="113" cy="113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2477" name="标题 67599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目标函数</a:t>
            </a:r>
            <a:r>
              <a:rPr lang="zh-CN" altLang="en-US" dirty="0">
                <a:solidFill>
                  <a:srgbClr val="FF00FF"/>
                </a:solidFill>
                <a:ea typeface="华文新魏" panose="02010800040101010101" pitchFamily="2" charset="-122"/>
              </a:rPr>
              <a:t>局部</a:t>
            </a:r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极小点</a:t>
            </a:r>
            <a:r>
              <a:rPr lang="en-US" altLang="zh-CN" dirty="0">
                <a:solidFill>
                  <a:srgbClr val="FF00FF"/>
                </a:solidFill>
                <a:ea typeface="华文新魏" panose="02010800040101010101" pitchFamily="2" charset="-122"/>
              </a:rPr>
              <a:t>2</a:t>
            </a:r>
            <a:endParaRPr lang="en-US" altLang="zh-CN">
              <a:solidFill>
                <a:srgbClr val="FF00FF"/>
              </a:solidFill>
              <a:ea typeface="华文新魏" panose="02010800040101010101" pitchFamily="2" charset="-122"/>
            </a:endParaRPr>
          </a:p>
        </p:txBody>
      </p:sp>
      <p:sp>
        <p:nvSpPr>
          <p:cNvPr id="62478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文本占位符 68610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pic>
        <p:nvPicPr>
          <p:cNvPr id="63490" name="图片 686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600200"/>
            <a:ext cx="6096000" cy="4572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3491" name="组合 68622"/>
          <p:cNvGrpSpPr/>
          <p:nvPr/>
        </p:nvGrpSpPr>
        <p:grpSpPr>
          <a:xfrm>
            <a:off x="3352800" y="3429000"/>
            <a:ext cx="304800" cy="560388"/>
            <a:chOff x="2112" y="2160"/>
            <a:chExt cx="192" cy="353"/>
          </a:xfrm>
        </p:grpSpPr>
        <p:grpSp>
          <p:nvGrpSpPr>
            <p:cNvPr id="63492" name="组合 68612"/>
            <p:cNvGrpSpPr/>
            <p:nvPr/>
          </p:nvGrpSpPr>
          <p:grpSpPr>
            <a:xfrm>
              <a:off x="2112" y="2160"/>
              <a:ext cx="169" cy="313"/>
              <a:chOff x="2112" y="2160"/>
              <a:chExt cx="169" cy="313"/>
            </a:xfrm>
          </p:grpSpPr>
          <p:sp>
            <p:nvSpPr>
              <p:cNvPr id="63493" name="椭圆 68613"/>
              <p:cNvSpPr/>
              <p:nvPr/>
            </p:nvSpPr>
            <p:spPr>
              <a:xfrm>
                <a:off x="2112" y="2160"/>
                <a:ext cx="73" cy="73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494" name="椭圆 68614"/>
              <p:cNvSpPr/>
              <p:nvPr/>
            </p:nvSpPr>
            <p:spPr>
              <a:xfrm>
                <a:off x="2136" y="2196"/>
                <a:ext cx="73" cy="73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495" name="椭圆 68615"/>
              <p:cNvSpPr/>
              <p:nvPr/>
            </p:nvSpPr>
            <p:spPr>
              <a:xfrm>
                <a:off x="2160" y="2232"/>
                <a:ext cx="73" cy="73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496" name="椭圆 68616"/>
              <p:cNvSpPr/>
              <p:nvPr/>
            </p:nvSpPr>
            <p:spPr>
              <a:xfrm>
                <a:off x="2160" y="2256"/>
                <a:ext cx="73" cy="73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497" name="椭圆 68617"/>
              <p:cNvSpPr/>
              <p:nvPr/>
            </p:nvSpPr>
            <p:spPr>
              <a:xfrm>
                <a:off x="2160" y="2256"/>
                <a:ext cx="73" cy="73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498" name="椭圆 68618"/>
              <p:cNvSpPr/>
              <p:nvPr/>
            </p:nvSpPr>
            <p:spPr>
              <a:xfrm>
                <a:off x="2172" y="2304"/>
                <a:ext cx="73" cy="73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499" name="椭圆 68619"/>
              <p:cNvSpPr/>
              <p:nvPr/>
            </p:nvSpPr>
            <p:spPr>
              <a:xfrm>
                <a:off x="2184" y="2352"/>
                <a:ext cx="73" cy="73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00" name="椭圆 68620"/>
              <p:cNvSpPr/>
              <p:nvPr/>
            </p:nvSpPr>
            <p:spPr>
              <a:xfrm>
                <a:off x="2208" y="2400"/>
                <a:ext cx="73" cy="73"/>
              </a:xfrm>
              <a:prstGeom prst="ellipse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3501" name="椭圆 68621"/>
            <p:cNvSpPr/>
            <p:nvPr/>
          </p:nvSpPr>
          <p:spPr>
            <a:xfrm>
              <a:off x="2191" y="2400"/>
              <a:ext cx="113" cy="113"/>
            </a:xfrm>
            <a:prstGeom prst="ellipse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3502" name="标题 68623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目标函数</a:t>
            </a:r>
            <a:r>
              <a:rPr lang="zh-CN" altLang="en-US" dirty="0">
                <a:solidFill>
                  <a:srgbClr val="FF00FF"/>
                </a:solidFill>
                <a:ea typeface="华文新魏" panose="02010800040101010101" pitchFamily="2" charset="-122"/>
              </a:rPr>
              <a:t>局部</a:t>
            </a:r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极小点</a:t>
            </a:r>
            <a:r>
              <a:rPr lang="en-US" altLang="zh-CN" dirty="0">
                <a:solidFill>
                  <a:srgbClr val="FF00FF"/>
                </a:solidFill>
                <a:ea typeface="华文新魏" panose="02010800040101010101" pitchFamily="2" charset="-122"/>
              </a:rPr>
              <a:t>2</a:t>
            </a:r>
            <a:endParaRPr lang="en-US" altLang="zh-CN">
              <a:solidFill>
                <a:srgbClr val="FF00FF"/>
              </a:solidFill>
              <a:ea typeface="华文新魏" panose="02010800040101010101" pitchFamily="2" charset="-122"/>
            </a:endParaRPr>
          </a:p>
        </p:txBody>
      </p:sp>
      <p:sp>
        <p:nvSpPr>
          <p:cNvPr id="63503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文本占位符 69634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grpSp>
        <p:nvGrpSpPr>
          <p:cNvPr id="64514" name="组合 69648"/>
          <p:cNvGrpSpPr/>
          <p:nvPr/>
        </p:nvGrpSpPr>
        <p:grpSpPr>
          <a:xfrm>
            <a:off x="1524000" y="1600200"/>
            <a:ext cx="6096000" cy="4572000"/>
            <a:chOff x="960" y="1008"/>
            <a:chExt cx="3840" cy="2880"/>
          </a:xfrm>
        </p:grpSpPr>
        <p:pic>
          <p:nvPicPr>
            <p:cNvPr id="64515" name="图片 696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0" y="1008"/>
              <a:ext cx="3840" cy="2880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64516" name="组合 69647"/>
            <p:cNvGrpSpPr/>
            <p:nvPr/>
          </p:nvGrpSpPr>
          <p:grpSpPr>
            <a:xfrm>
              <a:off x="2112" y="2160"/>
              <a:ext cx="209" cy="353"/>
              <a:chOff x="2112" y="2160"/>
              <a:chExt cx="209" cy="353"/>
            </a:xfrm>
          </p:grpSpPr>
          <p:grpSp>
            <p:nvGrpSpPr>
              <p:cNvPr id="64517" name="组合 69636"/>
              <p:cNvGrpSpPr/>
              <p:nvPr/>
            </p:nvGrpSpPr>
            <p:grpSpPr>
              <a:xfrm>
                <a:off x="2112" y="2160"/>
                <a:ext cx="169" cy="313"/>
                <a:chOff x="2112" y="2160"/>
                <a:chExt cx="169" cy="313"/>
              </a:xfrm>
            </p:grpSpPr>
            <p:sp>
              <p:nvSpPr>
                <p:cNvPr id="64518" name="椭圆 69637"/>
                <p:cNvSpPr/>
                <p:nvPr/>
              </p:nvSpPr>
              <p:spPr>
                <a:xfrm>
                  <a:off x="2112" y="2160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19" name="椭圆 69638"/>
                <p:cNvSpPr/>
                <p:nvPr/>
              </p:nvSpPr>
              <p:spPr>
                <a:xfrm>
                  <a:off x="2136" y="2196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20" name="椭圆 69639"/>
                <p:cNvSpPr/>
                <p:nvPr/>
              </p:nvSpPr>
              <p:spPr>
                <a:xfrm>
                  <a:off x="2160" y="2232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21" name="椭圆 69640"/>
                <p:cNvSpPr/>
                <p:nvPr/>
              </p:nvSpPr>
              <p:spPr>
                <a:xfrm>
                  <a:off x="2160" y="2256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22" name="椭圆 69641"/>
                <p:cNvSpPr/>
                <p:nvPr/>
              </p:nvSpPr>
              <p:spPr>
                <a:xfrm>
                  <a:off x="2160" y="2256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23" name="椭圆 69642"/>
                <p:cNvSpPr/>
                <p:nvPr/>
              </p:nvSpPr>
              <p:spPr>
                <a:xfrm>
                  <a:off x="2172" y="2304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24" name="椭圆 69643"/>
                <p:cNvSpPr/>
                <p:nvPr/>
              </p:nvSpPr>
              <p:spPr>
                <a:xfrm>
                  <a:off x="2184" y="2352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525" name="椭圆 69644"/>
                <p:cNvSpPr/>
                <p:nvPr/>
              </p:nvSpPr>
              <p:spPr>
                <a:xfrm>
                  <a:off x="2208" y="2400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4526" name="椭圆 69646"/>
              <p:cNvSpPr/>
              <p:nvPr/>
            </p:nvSpPr>
            <p:spPr>
              <a:xfrm>
                <a:off x="2208" y="2400"/>
                <a:ext cx="113" cy="113"/>
              </a:xfrm>
              <a:prstGeom prst="ellipse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64527" name="标题 69649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目标函数</a:t>
            </a:r>
            <a:r>
              <a:rPr lang="zh-CN" altLang="en-US" dirty="0">
                <a:solidFill>
                  <a:srgbClr val="FF00FF"/>
                </a:solidFill>
                <a:ea typeface="华文新魏" panose="02010800040101010101" pitchFamily="2" charset="-122"/>
              </a:rPr>
              <a:t>局部</a:t>
            </a:r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极小点</a:t>
            </a:r>
            <a:r>
              <a:rPr lang="en-US" altLang="zh-CN" dirty="0">
                <a:solidFill>
                  <a:srgbClr val="FF00FF"/>
                </a:solidFill>
                <a:ea typeface="华文新魏" panose="02010800040101010101" pitchFamily="2" charset="-122"/>
              </a:rPr>
              <a:t>2</a:t>
            </a:r>
            <a:endParaRPr lang="en-US" altLang="zh-CN">
              <a:solidFill>
                <a:srgbClr val="FF00FF"/>
              </a:solidFill>
              <a:ea typeface="华文新魏" panose="02010800040101010101" pitchFamily="2" charset="-122"/>
            </a:endParaRPr>
          </a:p>
        </p:txBody>
      </p:sp>
      <p:sp>
        <p:nvSpPr>
          <p:cNvPr id="64528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5537" name="组合 70671"/>
          <p:cNvGrpSpPr/>
          <p:nvPr/>
        </p:nvGrpSpPr>
        <p:grpSpPr>
          <a:xfrm>
            <a:off x="1524000" y="1600200"/>
            <a:ext cx="6096000" cy="4572000"/>
            <a:chOff x="960" y="1008"/>
            <a:chExt cx="3840" cy="2880"/>
          </a:xfrm>
        </p:grpSpPr>
        <p:pic>
          <p:nvPicPr>
            <p:cNvPr id="65538" name="图片 7065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0" y="1008"/>
              <a:ext cx="3840" cy="2880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65539" name="组合 70670"/>
            <p:cNvGrpSpPr/>
            <p:nvPr/>
          </p:nvGrpSpPr>
          <p:grpSpPr>
            <a:xfrm>
              <a:off x="2112" y="2160"/>
              <a:ext cx="192" cy="353"/>
              <a:chOff x="2112" y="2160"/>
              <a:chExt cx="192" cy="353"/>
            </a:xfrm>
          </p:grpSpPr>
          <p:grpSp>
            <p:nvGrpSpPr>
              <p:cNvPr id="65540" name="组合 70660"/>
              <p:cNvGrpSpPr/>
              <p:nvPr/>
            </p:nvGrpSpPr>
            <p:grpSpPr>
              <a:xfrm>
                <a:off x="2112" y="2160"/>
                <a:ext cx="169" cy="313"/>
                <a:chOff x="2112" y="2160"/>
                <a:chExt cx="169" cy="313"/>
              </a:xfrm>
            </p:grpSpPr>
            <p:sp>
              <p:nvSpPr>
                <p:cNvPr id="65541" name="椭圆 70661"/>
                <p:cNvSpPr/>
                <p:nvPr/>
              </p:nvSpPr>
              <p:spPr>
                <a:xfrm>
                  <a:off x="2112" y="2160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42" name="椭圆 70662"/>
                <p:cNvSpPr/>
                <p:nvPr/>
              </p:nvSpPr>
              <p:spPr>
                <a:xfrm>
                  <a:off x="2136" y="2196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43" name="椭圆 70663"/>
                <p:cNvSpPr/>
                <p:nvPr/>
              </p:nvSpPr>
              <p:spPr>
                <a:xfrm>
                  <a:off x="2160" y="2232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44" name="椭圆 70664"/>
                <p:cNvSpPr/>
                <p:nvPr/>
              </p:nvSpPr>
              <p:spPr>
                <a:xfrm>
                  <a:off x="2160" y="2256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45" name="椭圆 70665"/>
                <p:cNvSpPr/>
                <p:nvPr/>
              </p:nvSpPr>
              <p:spPr>
                <a:xfrm>
                  <a:off x="2160" y="2256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46" name="椭圆 70666"/>
                <p:cNvSpPr/>
                <p:nvPr/>
              </p:nvSpPr>
              <p:spPr>
                <a:xfrm>
                  <a:off x="2172" y="2304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47" name="椭圆 70667"/>
                <p:cNvSpPr/>
                <p:nvPr/>
              </p:nvSpPr>
              <p:spPr>
                <a:xfrm>
                  <a:off x="2184" y="2352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48" name="椭圆 70668"/>
                <p:cNvSpPr/>
                <p:nvPr/>
              </p:nvSpPr>
              <p:spPr>
                <a:xfrm>
                  <a:off x="2208" y="2400"/>
                  <a:ext cx="73" cy="73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anchor="t" anchorCtr="0"/>
                <a:p>
                  <a:endParaRPr lang="zh-CN" altLang="en-US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5549" name="椭圆 70669"/>
              <p:cNvSpPr/>
              <p:nvPr/>
            </p:nvSpPr>
            <p:spPr>
              <a:xfrm>
                <a:off x="2191" y="2400"/>
                <a:ext cx="113" cy="113"/>
              </a:xfrm>
              <a:prstGeom prst="ellipse">
                <a:avLst/>
              </a:prstGeom>
              <a:noFill/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65550" name="标题 7067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目标函数</a:t>
            </a:r>
            <a:r>
              <a:rPr lang="zh-CN" altLang="en-US" dirty="0">
                <a:solidFill>
                  <a:srgbClr val="FF00FF"/>
                </a:solidFill>
                <a:ea typeface="华文新魏" panose="02010800040101010101" pitchFamily="2" charset="-122"/>
              </a:rPr>
              <a:t>局部</a:t>
            </a:r>
            <a:r>
              <a:rPr lang="zh-CN" altLang="en-US" dirty="0">
                <a:solidFill>
                  <a:schemeClr val="bg1"/>
                </a:solidFill>
                <a:ea typeface="华文新魏" panose="02010800040101010101" pitchFamily="2" charset="-122"/>
              </a:rPr>
              <a:t>极小点</a:t>
            </a:r>
            <a:r>
              <a:rPr lang="en-US" altLang="zh-CN" dirty="0">
                <a:solidFill>
                  <a:srgbClr val="FF00FF"/>
                </a:solidFill>
                <a:ea typeface="华文新魏" panose="02010800040101010101" pitchFamily="2" charset="-122"/>
              </a:rPr>
              <a:t>2</a:t>
            </a:r>
            <a:endParaRPr lang="en-US" altLang="zh-CN">
              <a:solidFill>
                <a:srgbClr val="FF00FF"/>
              </a:solidFill>
              <a:ea typeface="华文新魏" panose="02010800040101010101" pitchFamily="2" charset="-122"/>
            </a:endParaRPr>
          </a:p>
        </p:txBody>
      </p:sp>
      <p:sp>
        <p:nvSpPr>
          <p:cNvPr id="65551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标题 3584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b="1" dirty="0">
                <a:solidFill>
                  <a:schemeClr val="bg1"/>
                </a:solidFill>
                <a:ea typeface="华文新魏" panose="02010800040101010101" pitchFamily="2" charset="-122"/>
              </a:rPr>
              <a:t>结束</a:t>
            </a:r>
            <a:endParaRPr lang="zh-CN" altLang="en-US" b="1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66562" name="文本占位符 35842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sp>
        <p:nvSpPr>
          <p:cNvPr id="66563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文本占位符 99330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endParaRPr dirty="0"/>
          </a:p>
        </p:txBody>
      </p:sp>
      <p:sp>
        <p:nvSpPr>
          <p:cNvPr id="67586" name="标题 99331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p>
            <a:r>
              <a:rPr lang="zh-CN" altLang="en-US" b="1" dirty="0">
                <a:solidFill>
                  <a:schemeClr val="bg1"/>
                </a:solidFill>
                <a:ea typeface="华文新魏" panose="02010800040101010101" pitchFamily="2" charset="-122"/>
              </a:rPr>
              <a:t>结束</a:t>
            </a:r>
            <a:endParaRPr lang="zh-CN" altLang="en-US" b="1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67587" name="灯片编号占位符 1"/>
          <p:cNvSpPr/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YTRlODBlODk1NTcyMzg1M2RlYjA5ZWNkZWUyZGM2Yjg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</Words>
  <Application>WPS 演示</Application>
  <PresentationFormat>在屏幕上显示</PresentationFormat>
  <Paragraphs>223</Paragraphs>
  <Slides>54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2" baseType="lpstr">
      <vt:lpstr>Arial</vt:lpstr>
      <vt:lpstr>宋体</vt:lpstr>
      <vt:lpstr>Wingdings</vt:lpstr>
      <vt:lpstr>Times New Roman</vt:lpstr>
      <vt:lpstr>华文新魏</vt:lpstr>
      <vt:lpstr>微软雅黑</vt:lpstr>
      <vt:lpstr>Arial Unicode MS</vt:lpstr>
      <vt:lpstr>默认设计模板</vt:lpstr>
      <vt:lpstr>目标函数曲面J(W)</vt:lpstr>
      <vt:lpstr>目标函数曲面J(W)--连续</vt:lpstr>
      <vt:lpstr>目标函数曲面J(W) --连续、可微</vt:lpstr>
      <vt:lpstr>全局极小点</vt:lpstr>
      <vt:lpstr>全局极小点</vt:lpstr>
      <vt:lpstr>局部极小点1</vt:lpstr>
      <vt:lpstr>局部极小点1</vt:lpstr>
      <vt:lpstr>局部极小点2</vt:lpstr>
      <vt:lpstr>局部极小点2</vt:lpstr>
      <vt:lpstr>目标函数曲面J(W)</vt:lpstr>
      <vt:lpstr>目标函数曲面J(W) --连续</vt:lpstr>
      <vt:lpstr>目标函数曲面J(W) --连续、可微</vt:lpstr>
      <vt:lpstr>由初始状态1起</vt:lpstr>
      <vt:lpstr>由初始状态1起</vt:lpstr>
      <vt:lpstr>由初始状态1起</vt:lpstr>
      <vt:lpstr>初始状态1</vt:lpstr>
      <vt:lpstr>初始状态1</vt:lpstr>
      <vt:lpstr>搜索寻优－－梯度下降</vt:lpstr>
      <vt:lpstr>搜索寻优－－梯度下降</vt:lpstr>
      <vt:lpstr>搜索寻优－－梯度下降</vt:lpstr>
      <vt:lpstr>搜索寻优－－梯度下降</vt:lpstr>
      <vt:lpstr>搜索寻优－－梯度下降</vt:lpstr>
      <vt:lpstr>搜索寻优－－梯度下降</vt:lpstr>
      <vt:lpstr>搜索寻优－－梯度下降</vt:lpstr>
      <vt:lpstr>搜索寻优－－梯度下降</vt:lpstr>
      <vt:lpstr>搜索寻优－－梯度下降</vt:lpstr>
      <vt:lpstr>搜索寻优－－梯度下降</vt:lpstr>
      <vt:lpstr>搜索寻优－－梯度下降</vt:lpstr>
      <vt:lpstr>搜索寻优－－梯度下降</vt:lpstr>
      <vt:lpstr>搜索寻优－－梯度下降</vt:lpstr>
      <vt:lpstr>搜索寻优－－梯度下降</vt:lpstr>
      <vt:lpstr>搜索寻优－－梯度下降</vt:lpstr>
      <vt:lpstr>目标函数全局极小点</vt:lpstr>
      <vt:lpstr>目标函数全局极小点</vt:lpstr>
      <vt:lpstr>目标函数全局极小点</vt:lpstr>
      <vt:lpstr>目标函数全局极小点</vt:lpstr>
      <vt:lpstr>目标函数曲面</vt:lpstr>
      <vt:lpstr>由初始状态2起</vt:lpstr>
      <vt:lpstr>由初始状态2起</vt:lpstr>
      <vt:lpstr>初始状态2</vt:lpstr>
      <vt:lpstr>初始状态2</vt:lpstr>
      <vt:lpstr>初始状态2</vt:lpstr>
      <vt:lpstr>搜索寻优－－梯度下降</vt:lpstr>
      <vt:lpstr>搜索寻优－－梯度下降</vt:lpstr>
      <vt:lpstr>搜索寻优－－梯度下降</vt:lpstr>
      <vt:lpstr>搜索寻优－－梯度下降</vt:lpstr>
      <vt:lpstr>搜索寻优－－梯度下降</vt:lpstr>
      <vt:lpstr>目标函数局部极小点2</vt:lpstr>
      <vt:lpstr>目标函数局部极小点2</vt:lpstr>
      <vt:lpstr>目标函数局部极小点2</vt:lpstr>
      <vt:lpstr>目标函数局部极小点2</vt:lpstr>
      <vt:lpstr>目标函数局部极小点2</vt:lpstr>
      <vt:lpstr>结束</vt:lpstr>
      <vt:lpstr>结束</vt:lpstr>
    </vt:vector>
  </TitlesOfParts>
  <Company>Legend (Beijing) Limited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user_common</dc:creator>
  <cp:lastModifiedBy>gaofe</cp:lastModifiedBy>
  <cp:revision>51</cp:revision>
  <dcterms:created xsi:type="dcterms:W3CDTF">2003-01-17T15:04:00Z</dcterms:created>
  <dcterms:modified xsi:type="dcterms:W3CDTF">2022-09-27T06:43:05Z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2052-11.1.0.12132</vt:lpwstr>
  </property>
  <property fmtid="{D5CDD505-2E9C-101B-9397-08002B2CF9AE}" pid="3" name="ICV">
    <vt:lpwstr>D4D0629122F34C26BA5B71A9C119654E</vt:lpwstr>
  </property>
</Properties>
</file>