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1"/>
  </p:handoutMasterIdLst>
  <p:sldIdLst>
    <p:sldId id="696" r:id="rId3"/>
    <p:sldId id="920" r:id="rId5"/>
    <p:sldId id="985" r:id="rId6"/>
    <p:sldId id="921" r:id="rId7"/>
    <p:sldId id="922" r:id="rId8"/>
    <p:sldId id="923" r:id="rId9"/>
    <p:sldId id="924" r:id="rId10"/>
    <p:sldId id="925" r:id="rId11"/>
    <p:sldId id="926" r:id="rId12"/>
    <p:sldId id="927" r:id="rId13"/>
    <p:sldId id="930" r:id="rId14"/>
    <p:sldId id="928" r:id="rId15"/>
    <p:sldId id="929" r:id="rId16"/>
    <p:sldId id="931" r:id="rId17"/>
    <p:sldId id="932" r:id="rId18"/>
    <p:sldId id="933" r:id="rId19"/>
    <p:sldId id="934" r:id="rId20"/>
    <p:sldId id="935" r:id="rId21"/>
    <p:sldId id="986" r:id="rId22"/>
    <p:sldId id="936" r:id="rId23"/>
    <p:sldId id="937" r:id="rId24"/>
    <p:sldId id="938" r:id="rId25"/>
    <p:sldId id="939" r:id="rId26"/>
    <p:sldId id="940" r:id="rId27"/>
    <p:sldId id="941" r:id="rId28"/>
    <p:sldId id="982" r:id="rId29"/>
    <p:sldId id="942" r:id="rId30"/>
    <p:sldId id="943" r:id="rId31"/>
    <p:sldId id="944" r:id="rId32"/>
    <p:sldId id="945" r:id="rId33"/>
    <p:sldId id="946" r:id="rId34"/>
    <p:sldId id="947" r:id="rId35"/>
    <p:sldId id="948" r:id="rId36"/>
    <p:sldId id="949" r:id="rId37"/>
    <p:sldId id="984" r:id="rId38"/>
    <p:sldId id="983" r:id="rId39"/>
    <p:sldId id="950" r:id="rId40"/>
    <p:sldId id="951" r:id="rId41"/>
    <p:sldId id="955" r:id="rId42"/>
    <p:sldId id="956" r:id="rId43"/>
    <p:sldId id="957" r:id="rId44"/>
    <p:sldId id="958" r:id="rId45"/>
    <p:sldId id="959" r:id="rId46"/>
    <p:sldId id="960" r:id="rId47"/>
    <p:sldId id="961" r:id="rId48"/>
    <p:sldId id="962" r:id="rId49"/>
    <p:sldId id="963" r:id="rId50"/>
    <p:sldId id="964" r:id="rId51"/>
    <p:sldId id="965" r:id="rId52"/>
    <p:sldId id="966" r:id="rId53"/>
    <p:sldId id="967" r:id="rId54"/>
    <p:sldId id="968" r:id="rId55"/>
    <p:sldId id="969" r:id="rId56"/>
    <p:sldId id="970" r:id="rId57"/>
    <p:sldId id="971" r:id="rId58"/>
    <p:sldId id="972" r:id="rId59"/>
    <p:sldId id="973" r:id="rId60"/>
    <p:sldId id="974" r:id="rId61"/>
    <p:sldId id="975" r:id="rId62"/>
    <p:sldId id="976" r:id="rId63"/>
    <p:sldId id="981" r:id="rId64"/>
    <p:sldId id="977" r:id="rId65"/>
    <p:sldId id="978" r:id="rId66"/>
    <p:sldId id="979" r:id="rId67"/>
    <p:sldId id="980" r:id="rId68"/>
    <p:sldId id="987" r:id="rId69"/>
    <p:sldId id="916" r:id="rId70"/>
  </p:sldIdLst>
  <p:sldSz cx="12192000" cy="6858000"/>
  <p:notesSz cx="6811645" cy="9945370"/>
  <p:custDataLst>
    <p:tags r:id="rId75"/>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00B0F0"/>
    <a:srgbClr val="0070C0"/>
    <a:srgbClr val="DFF1F2"/>
    <a:srgbClr val="A3D6D9"/>
    <a:srgbClr val="004586"/>
    <a:srgbClr val="1C2948"/>
    <a:srgbClr val="FBBCA3"/>
    <a:srgbClr val="FF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5" autoAdjust="0"/>
    <p:restoredTop sz="84491" autoAdjust="0"/>
  </p:normalViewPr>
  <p:slideViewPr>
    <p:cSldViewPr snapToGrid="0">
      <p:cViewPr>
        <p:scale>
          <a:sx n="108" d="100"/>
          <a:sy n="108" d="100"/>
        </p:scale>
        <p:origin x="2188" y="1312"/>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gs" Target="tags/tag1.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169B477-52D3-4177-833F-412723801D5E}" type="doc">
      <dgm:prSet loTypeId="urn:microsoft.com/office/officeart/2005/8/layout/process1" loCatId="process" qsTypeId="urn:microsoft.com/office/officeart/2005/8/quickstyle/simple1" qsCatId="simple" csTypeId="urn:microsoft.com/office/officeart/2005/8/colors/accent2_2" csCatId="accent2" phldr="1"/>
      <dgm:spPr/>
    </dgm:pt>
    <dgm:pt modelId="{E64C5A97-3685-4AB1-864C-75F4B0566B7F}">
      <dgm:prSet phldrT="[文本]"/>
      <dgm:spPr/>
      <dgm:t>
        <a:bodyPr/>
        <a:lstStyle/>
        <a:p>
          <a:r>
            <a:rPr lang="zh-CN" altLang="en-US" dirty="0"/>
            <a:t>数据搜集</a:t>
          </a:r>
        </a:p>
      </dgm:t>
    </dgm:pt>
    <dgm:pt modelId="{3245DB59-78F0-43C5-AD2D-39C109C8C855}" cxnId="{4BB3B23F-C47E-4CC5-AB5C-CA809E9B3EC7}" type="parTrans">
      <dgm:prSet/>
      <dgm:spPr/>
      <dgm:t>
        <a:bodyPr/>
        <a:lstStyle/>
        <a:p>
          <a:endParaRPr lang="zh-CN" altLang="en-US"/>
        </a:p>
      </dgm:t>
    </dgm:pt>
    <dgm:pt modelId="{685D314A-8F42-4479-9060-B198FFE9685A}" cxnId="{4BB3B23F-C47E-4CC5-AB5C-CA809E9B3EC7}" type="sibTrans">
      <dgm:prSet/>
      <dgm:spPr/>
      <dgm:t>
        <a:bodyPr/>
        <a:lstStyle/>
        <a:p>
          <a:endParaRPr lang="zh-CN" altLang="en-US"/>
        </a:p>
      </dgm:t>
    </dgm:pt>
    <dgm:pt modelId="{50811DD1-7C34-4D97-A017-19E1F6A0EDA3}">
      <dgm:prSet phldrT="[文本]"/>
      <dgm:spPr/>
      <dgm:t>
        <a:bodyPr/>
        <a:lstStyle/>
        <a:p>
          <a:r>
            <a:rPr lang="zh-CN" altLang="en-US" dirty="0"/>
            <a:t>数据清洗</a:t>
          </a:r>
        </a:p>
      </dgm:t>
    </dgm:pt>
    <dgm:pt modelId="{45CF8FA2-5668-473F-94D6-45FDF17B19F4}" cxnId="{96A3FBC3-F27A-4474-8393-654182F68878}" type="parTrans">
      <dgm:prSet/>
      <dgm:spPr/>
      <dgm:t>
        <a:bodyPr/>
        <a:lstStyle/>
        <a:p>
          <a:endParaRPr lang="zh-CN" altLang="en-US"/>
        </a:p>
      </dgm:t>
    </dgm:pt>
    <dgm:pt modelId="{DA0765CA-F151-42C9-9A81-86828EC42798}" cxnId="{96A3FBC3-F27A-4474-8393-654182F68878}" type="sibTrans">
      <dgm:prSet/>
      <dgm:spPr/>
      <dgm:t>
        <a:bodyPr/>
        <a:lstStyle/>
        <a:p>
          <a:endParaRPr lang="zh-CN" altLang="en-US"/>
        </a:p>
      </dgm:t>
    </dgm:pt>
    <dgm:pt modelId="{17BB5662-9DFB-44BA-819C-24160B2929B8}">
      <dgm:prSet phldrT="[文本]"/>
      <dgm:spPr/>
      <dgm:t>
        <a:bodyPr/>
        <a:lstStyle/>
        <a:p>
          <a:r>
            <a:rPr lang="zh-CN" altLang="en-US" dirty="0"/>
            <a:t>特征工程</a:t>
          </a:r>
        </a:p>
      </dgm:t>
    </dgm:pt>
    <dgm:pt modelId="{30F1EA26-7C37-4ECB-99E8-D6E9B3020470}" cxnId="{EB20DD18-68E2-4231-AC29-EF3CF70F7A27}" type="parTrans">
      <dgm:prSet/>
      <dgm:spPr/>
      <dgm:t>
        <a:bodyPr/>
        <a:lstStyle/>
        <a:p>
          <a:endParaRPr lang="zh-CN" altLang="en-US"/>
        </a:p>
      </dgm:t>
    </dgm:pt>
    <dgm:pt modelId="{792F140D-6C1C-4D8C-8982-98CDFA88C9FB}" cxnId="{EB20DD18-68E2-4231-AC29-EF3CF70F7A27}" type="sibTrans">
      <dgm:prSet/>
      <dgm:spPr/>
      <dgm:t>
        <a:bodyPr/>
        <a:lstStyle/>
        <a:p>
          <a:endParaRPr lang="zh-CN" altLang="en-US"/>
        </a:p>
      </dgm:t>
    </dgm:pt>
    <dgm:pt modelId="{3C62B57E-3B2B-4658-BC2E-A364B9308F83}">
      <dgm:prSet phldrT="[文本]"/>
      <dgm:spPr/>
      <dgm:t>
        <a:bodyPr/>
        <a:lstStyle/>
        <a:p>
          <a:r>
            <a:rPr lang="zh-CN" altLang="en-US" dirty="0"/>
            <a:t>数据建模</a:t>
          </a:r>
        </a:p>
      </dgm:t>
    </dgm:pt>
    <dgm:pt modelId="{1049E9DB-FFB4-41CF-972D-CC26B1955C02}" cxnId="{645E863A-F884-49DC-9039-BDD84ECE679D}" type="parTrans">
      <dgm:prSet/>
      <dgm:spPr/>
      <dgm:t>
        <a:bodyPr/>
        <a:lstStyle/>
        <a:p>
          <a:endParaRPr lang="zh-CN" altLang="en-US"/>
        </a:p>
      </dgm:t>
    </dgm:pt>
    <dgm:pt modelId="{90A69EAA-12E0-41EE-87B2-0463E71DFAB8}" cxnId="{645E863A-F884-49DC-9039-BDD84ECE679D}" type="sibTrans">
      <dgm:prSet/>
      <dgm:spPr/>
      <dgm:t>
        <a:bodyPr/>
        <a:lstStyle/>
        <a:p>
          <a:endParaRPr lang="zh-CN" altLang="en-US"/>
        </a:p>
      </dgm:t>
    </dgm:pt>
    <dgm:pt modelId="{C14BFF05-09FC-4F44-9FF9-AB52BA212D9B}" type="pres">
      <dgm:prSet presAssocID="{B169B477-52D3-4177-833F-412723801D5E}" presName="Name0" presStyleCnt="0">
        <dgm:presLayoutVars>
          <dgm:dir/>
          <dgm:resizeHandles val="exact"/>
        </dgm:presLayoutVars>
      </dgm:prSet>
      <dgm:spPr/>
    </dgm:pt>
    <dgm:pt modelId="{95A1DB01-F489-4DD7-AA44-88D3839C61BC}" type="pres">
      <dgm:prSet presAssocID="{E64C5A97-3685-4AB1-864C-75F4B0566B7F}" presName="node" presStyleLbl="node1" presStyleIdx="0" presStyleCnt="4">
        <dgm:presLayoutVars>
          <dgm:bulletEnabled val="1"/>
        </dgm:presLayoutVars>
      </dgm:prSet>
      <dgm:spPr/>
    </dgm:pt>
    <dgm:pt modelId="{9F24E92E-9260-454C-9095-5BA7744FD0E9}" type="pres">
      <dgm:prSet presAssocID="{685D314A-8F42-4479-9060-B198FFE9685A}" presName="sibTrans" presStyleLbl="sibTrans2D1" presStyleIdx="0" presStyleCnt="3"/>
      <dgm:spPr/>
    </dgm:pt>
    <dgm:pt modelId="{8F435A21-42E0-421A-80F9-E07340970BDB}" type="pres">
      <dgm:prSet presAssocID="{685D314A-8F42-4479-9060-B198FFE9685A}" presName="connectorText" presStyleLbl="sibTrans2D1" presStyleIdx="0" presStyleCnt="3"/>
      <dgm:spPr/>
    </dgm:pt>
    <dgm:pt modelId="{A419831D-2C6A-43BF-A1C5-C28655C627BD}" type="pres">
      <dgm:prSet presAssocID="{50811DD1-7C34-4D97-A017-19E1F6A0EDA3}" presName="node" presStyleLbl="node1" presStyleIdx="1" presStyleCnt="4">
        <dgm:presLayoutVars>
          <dgm:bulletEnabled val="1"/>
        </dgm:presLayoutVars>
      </dgm:prSet>
      <dgm:spPr/>
    </dgm:pt>
    <dgm:pt modelId="{8D21F446-C592-443E-B287-9A393A14B94D}" type="pres">
      <dgm:prSet presAssocID="{DA0765CA-F151-42C9-9A81-86828EC42798}" presName="sibTrans" presStyleLbl="sibTrans2D1" presStyleIdx="1" presStyleCnt="3"/>
      <dgm:spPr/>
    </dgm:pt>
    <dgm:pt modelId="{2CD5C2FC-E50B-4AC4-A4E8-C9C0663097B9}" type="pres">
      <dgm:prSet presAssocID="{DA0765CA-F151-42C9-9A81-86828EC42798}" presName="connectorText" presStyleLbl="sibTrans2D1" presStyleIdx="1" presStyleCnt="3"/>
      <dgm:spPr/>
    </dgm:pt>
    <dgm:pt modelId="{04B9E23D-7A95-4ED6-B3DD-D6FDD726260B}" type="pres">
      <dgm:prSet presAssocID="{17BB5662-9DFB-44BA-819C-24160B2929B8}" presName="node" presStyleLbl="node1" presStyleIdx="2" presStyleCnt="4">
        <dgm:presLayoutVars>
          <dgm:bulletEnabled val="1"/>
        </dgm:presLayoutVars>
      </dgm:prSet>
      <dgm:spPr/>
    </dgm:pt>
    <dgm:pt modelId="{FA8BC3A3-2E12-4F76-8975-E19D760A52C8}" type="pres">
      <dgm:prSet presAssocID="{792F140D-6C1C-4D8C-8982-98CDFA88C9FB}" presName="sibTrans" presStyleLbl="sibTrans2D1" presStyleIdx="2" presStyleCnt="3"/>
      <dgm:spPr/>
    </dgm:pt>
    <dgm:pt modelId="{08742478-EC09-4AB2-B0BE-D80F7E4C4096}" type="pres">
      <dgm:prSet presAssocID="{792F140D-6C1C-4D8C-8982-98CDFA88C9FB}" presName="connectorText" presStyleLbl="sibTrans2D1" presStyleIdx="2" presStyleCnt="3"/>
      <dgm:spPr/>
    </dgm:pt>
    <dgm:pt modelId="{F0B9F859-9150-4A7B-90DA-90D4190420E0}" type="pres">
      <dgm:prSet presAssocID="{3C62B57E-3B2B-4658-BC2E-A364B9308F83}" presName="node" presStyleLbl="node1" presStyleIdx="3" presStyleCnt="4">
        <dgm:presLayoutVars>
          <dgm:bulletEnabled val="1"/>
        </dgm:presLayoutVars>
      </dgm:prSet>
      <dgm:spPr/>
    </dgm:pt>
  </dgm:ptLst>
  <dgm:cxnLst>
    <dgm:cxn modelId="{EB20DD18-68E2-4231-AC29-EF3CF70F7A27}" srcId="{B169B477-52D3-4177-833F-412723801D5E}" destId="{17BB5662-9DFB-44BA-819C-24160B2929B8}" srcOrd="2" destOrd="0" parTransId="{30F1EA26-7C37-4ECB-99E8-D6E9B3020470}" sibTransId="{792F140D-6C1C-4D8C-8982-98CDFA88C9FB}"/>
    <dgm:cxn modelId="{6F206C26-C936-4BF1-8A6D-8711A9FD3BC7}" type="presOf" srcId="{B169B477-52D3-4177-833F-412723801D5E}" destId="{C14BFF05-09FC-4F44-9FF9-AB52BA212D9B}" srcOrd="0" destOrd="0" presId="urn:microsoft.com/office/officeart/2005/8/layout/process1"/>
    <dgm:cxn modelId="{645E863A-F884-49DC-9039-BDD84ECE679D}" srcId="{B169B477-52D3-4177-833F-412723801D5E}" destId="{3C62B57E-3B2B-4658-BC2E-A364B9308F83}" srcOrd="3" destOrd="0" parTransId="{1049E9DB-FFB4-41CF-972D-CC26B1955C02}" sibTransId="{90A69EAA-12E0-41EE-87B2-0463E71DFAB8}"/>
    <dgm:cxn modelId="{4BB3B23F-C47E-4CC5-AB5C-CA809E9B3EC7}" srcId="{B169B477-52D3-4177-833F-412723801D5E}" destId="{E64C5A97-3685-4AB1-864C-75F4B0566B7F}" srcOrd="0" destOrd="0" parTransId="{3245DB59-78F0-43C5-AD2D-39C109C8C855}" sibTransId="{685D314A-8F42-4479-9060-B198FFE9685A}"/>
    <dgm:cxn modelId="{83AB4261-C347-461E-8AA5-3AAC737C9576}" type="presOf" srcId="{DA0765CA-F151-42C9-9A81-86828EC42798}" destId="{2CD5C2FC-E50B-4AC4-A4E8-C9C0663097B9}" srcOrd="1" destOrd="0" presId="urn:microsoft.com/office/officeart/2005/8/layout/process1"/>
    <dgm:cxn modelId="{D6410C67-5345-476E-9B43-C280F4E71CA2}" type="presOf" srcId="{685D314A-8F42-4479-9060-B198FFE9685A}" destId="{8F435A21-42E0-421A-80F9-E07340970BDB}" srcOrd="1" destOrd="0" presId="urn:microsoft.com/office/officeart/2005/8/layout/process1"/>
    <dgm:cxn modelId="{6F7A424F-B514-474F-8D56-C90781869218}" type="presOf" srcId="{3C62B57E-3B2B-4658-BC2E-A364B9308F83}" destId="{F0B9F859-9150-4A7B-90DA-90D4190420E0}" srcOrd="0" destOrd="0" presId="urn:microsoft.com/office/officeart/2005/8/layout/process1"/>
    <dgm:cxn modelId="{81FEB182-C592-4BA5-9B40-0D03AA95A3A4}" type="presOf" srcId="{17BB5662-9DFB-44BA-819C-24160B2929B8}" destId="{04B9E23D-7A95-4ED6-B3DD-D6FDD726260B}" srcOrd="0" destOrd="0" presId="urn:microsoft.com/office/officeart/2005/8/layout/process1"/>
    <dgm:cxn modelId="{79B77A87-E490-46E1-A1B4-8DC2B60A5AF3}" type="presOf" srcId="{E64C5A97-3685-4AB1-864C-75F4B0566B7F}" destId="{95A1DB01-F489-4DD7-AA44-88D3839C61BC}" srcOrd="0" destOrd="0" presId="urn:microsoft.com/office/officeart/2005/8/layout/process1"/>
    <dgm:cxn modelId="{21034693-C10F-40DE-A519-E7CA34ABF4E6}" type="presOf" srcId="{50811DD1-7C34-4D97-A017-19E1F6A0EDA3}" destId="{A419831D-2C6A-43BF-A1C5-C28655C627BD}" srcOrd="0" destOrd="0" presId="urn:microsoft.com/office/officeart/2005/8/layout/process1"/>
    <dgm:cxn modelId="{9C6456AC-EAC1-4B2E-AB8F-882A846F77A4}" type="presOf" srcId="{792F140D-6C1C-4D8C-8982-98CDFA88C9FB}" destId="{FA8BC3A3-2E12-4F76-8975-E19D760A52C8}" srcOrd="0" destOrd="0" presId="urn:microsoft.com/office/officeart/2005/8/layout/process1"/>
    <dgm:cxn modelId="{136D7CB2-5AFA-4C1F-B898-9B60D416039E}" type="presOf" srcId="{792F140D-6C1C-4D8C-8982-98CDFA88C9FB}" destId="{08742478-EC09-4AB2-B0BE-D80F7E4C4096}" srcOrd="1" destOrd="0" presId="urn:microsoft.com/office/officeart/2005/8/layout/process1"/>
    <dgm:cxn modelId="{DA3F7DC3-DD46-4837-A3D5-8931E79464EB}" type="presOf" srcId="{DA0765CA-F151-42C9-9A81-86828EC42798}" destId="{8D21F446-C592-443E-B287-9A393A14B94D}" srcOrd="0" destOrd="0" presId="urn:microsoft.com/office/officeart/2005/8/layout/process1"/>
    <dgm:cxn modelId="{96A3FBC3-F27A-4474-8393-654182F68878}" srcId="{B169B477-52D3-4177-833F-412723801D5E}" destId="{50811DD1-7C34-4D97-A017-19E1F6A0EDA3}" srcOrd="1" destOrd="0" parTransId="{45CF8FA2-5668-473F-94D6-45FDF17B19F4}" sibTransId="{DA0765CA-F151-42C9-9A81-86828EC42798}"/>
    <dgm:cxn modelId="{0B25EAE0-C8B7-4260-AC97-4A50E2839129}" type="presOf" srcId="{685D314A-8F42-4479-9060-B198FFE9685A}" destId="{9F24E92E-9260-454C-9095-5BA7744FD0E9}" srcOrd="0" destOrd="0" presId="urn:microsoft.com/office/officeart/2005/8/layout/process1"/>
    <dgm:cxn modelId="{D77B3B4B-59F9-401C-A733-7F4A8FC8FE39}" type="presParOf" srcId="{C14BFF05-09FC-4F44-9FF9-AB52BA212D9B}" destId="{95A1DB01-F489-4DD7-AA44-88D3839C61BC}" srcOrd="0" destOrd="0" presId="urn:microsoft.com/office/officeart/2005/8/layout/process1"/>
    <dgm:cxn modelId="{327098DD-E98C-4F0D-AF16-5E85E23A7504}" type="presParOf" srcId="{C14BFF05-09FC-4F44-9FF9-AB52BA212D9B}" destId="{9F24E92E-9260-454C-9095-5BA7744FD0E9}" srcOrd="1" destOrd="0" presId="urn:microsoft.com/office/officeart/2005/8/layout/process1"/>
    <dgm:cxn modelId="{B3B4CEC5-D52D-4B4D-89CA-8AA7907DD977}" type="presParOf" srcId="{9F24E92E-9260-454C-9095-5BA7744FD0E9}" destId="{8F435A21-42E0-421A-80F9-E07340970BDB}" srcOrd="0" destOrd="0" presId="urn:microsoft.com/office/officeart/2005/8/layout/process1"/>
    <dgm:cxn modelId="{D6EB9EDC-3578-4874-99D1-38C11667CF9B}" type="presParOf" srcId="{C14BFF05-09FC-4F44-9FF9-AB52BA212D9B}" destId="{A419831D-2C6A-43BF-A1C5-C28655C627BD}" srcOrd="2" destOrd="0" presId="urn:microsoft.com/office/officeart/2005/8/layout/process1"/>
    <dgm:cxn modelId="{C7C49566-2EB8-4F54-9BC7-C29DF1B5E7F9}" type="presParOf" srcId="{C14BFF05-09FC-4F44-9FF9-AB52BA212D9B}" destId="{8D21F446-C592-443E-B287-9A393A14B94D}" srcOrd="3" destOrd="0" presId="urn:microsoft.com/office/officeart/2005/8/layout/process1"/>
    <dgm:cxn modelId="{BE837379-C3C5-4BDF-B207-6536FC239858}" type="presParOf" srcId="{8D21F446-C592-443E-B287-9A393A14B94D}" destId="{2CD5C2FC-E50B-4AC4-A4E8-C9C0663097B9}" srcOrd="0" destOrd="0" presId="urn:microsoft.com/office/officeart/2005/8/layout/process1"/>
    <dgm:cxn modelId="{A20BDA7B-1D08-4206-93BB-D186A0ED9B1E}" type="presParOf" srcId="{C14BFF05-09FC-4F44-9FF9-AB52BA212D9B}" destId="{04B9E23D-7A95-4ED6-B3DD-D6FDD726260B}" srcOrd="4" destOrd="0" presId="urn:microsoft.com/office/officeart/2005/8/layout/process1"/>
    <dgm:cxn modelId="{A48820DF-211A-41FD-AB7E-A0B82F0459C0}" type="presParOf" srcId="{C14BFF05-09FC-4F44-9FF9-AB52BA212D9B}" destId="{FA8BC3A3-2E12-4F76-8975-E19D760A52C8}" srcOrd="5" destOrd="0" presId="urn:microsoft.com/office/officeart/2005/8/layout/process1"/>
    <dgm:cxn modelId="{4946BF2C-45CE-4D0B-90AA-122C01E94D1B}" type="presParOf" srcId="{FA8BC3A3-2E12-4F76-8975-E19D760A52C8}" destId="{08742478-EC09-4AB2-B0BE-D80F7E4C4096}" srcOrd="0" destOrd="0" presId="urn:microsoft.com/office/officeart/2005/8/layout/process1"/>
    <dgm:cxn modelId="{B263EF2B-82C1-4262-8BAB-A00840A2994F}" type="presParOf" srcId="{C14BFF05-09FC-4F44-9FF9-AB52BA212D9B}" destId="{F0B9F859-9150-4A7B-90DA-90D4190420E0}" srcOrd="6"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1419307"/>
        <a:chOff x="0" y="0"/>
        <a:chExt cx="8128000" cy="1419307"/>
      </a:xfrm>
    </dsp:grpSpPr>
    <dsp:sp modelId="{95A1DB01-F489-4DD7-AA44-88D3839C61BC}">
      <dsp:nvSpPr>
        <dsp:cNvPr id="3" name="圆角矩形 2"/>
        <dsp:cNvSpPr/>
      </dsp:nvSpPr>
      <dsp:spPr bwMode="white">
        <a:xfrm>
          <a:off x="0" y="240730"/>
          <a:ext cx="1563077" cy="93784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t>数据搜集</a:t>
          </a:r>
        </a:p>
      </dsp:txBody>
      <dsp:txXfrm>
        <a:off x="0" y="240730"/>
        <a:ext cx="1563077" cy="937846"/>
      </dsp:txXfrm>
    </dsp:sp>
    <dsp:sp modelId="{9F24E92E-9260-454C-9095-5BA7744FD0E9}">
      <dsp:nvSpPr>
        <dsp:cNvPr id="4" name="右箭头 3"/>
        <dsp:cNvSpPr/>
      </dsp:nvSpPr>
      <dsp:spPr bwMode="white">
        <a:xfrm>
          <a:off x="1710006" y="515832"/>
          <a:ext cx="331372" cy="387643"/>
        </a:xfrm>
        <a:prstGeom prst="rightArrow">
          <a:avLst>
            <a:gd name="adj1" fmla="val 60000"/>
            <a:gd name="adj2" fmla="val 50000"/>
          </a:avLst>
        </a:prstGeom>
      </dsp:spPr>
      <dsp:style>
        <a:lnRef idx="0">
          <a:schemeClr val="accent2">
            <a:tint val="60000"/>
          </a:schemeClr>
        </a:lnRef>
        <a:fillRef idx="1">
          <a:schemeClr val="accent2">
            <a:tint val="6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1710006" y="515832"/>
        <a:ext cx="331372" cy="387643"/>
      </dsp:txXfrm>
    </dsp:sp>
    <dsp:sp modelId="{A419831D-2C6A-43BF-A1C5-C28655C627BD}">
      <dsp:nvSpPr>
        <dsp:cNvPr id="5" name="圆角矩形 4"/>
        <dsp:cNvSpPr/>
      </dsp:nvSpPr>
      <dsp:spPr bwMode="white">
        <a:xfrm>
          <a:off x="2188308" y="240730"/>
          <a:ext cx="1563077" cy="93784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t>数据清洗</a:t>
          </a:r>
        </a:p>
      </dsp:txBody>
      <dsp:txXfrm>
        <a:off x="2188308" y="240730"/>
        <a:ext cx="1563077" cy="937846"/>
      </dsp:txXfrm>
    </dsp:sp>
    <dsp:sp modelId="{8D21F446-C592-443E-B287-9A393A14B94D}">
      <dsp:nvSpPr>
        <dsp:cNvPr id="6" name="右箭头 5"/>
        <dsp:cNvSpPr/>
      </dsp:nvSpPr>
      <dsp:spPr bwMode="white">
        <a:xfrm>
          <a:off x="3898314" y="515832"/>
          <a:ext cx="331372" cy="387643"/>
        </a:xfrm>
        <a:prstGeom prst="rightArrow">
          <a:avLst>
            <a:gd name="adj1" fmla="val 60000"/>
            <a:gd name="adj2" fmla="val 50000"/>
          </a:avLst>
        </a:prstGeom>
      </dsp:spPr>
      <dsp:style>
        <a:lnRef idx="0">
          <a:schemeClr val="accent2">
            <a:tint val="60000"/>
          </a:schemeClr>
        </a:lnRef>
        <a:fillRef idx="1">
          <a:schemeClr val="accent2">
            <a:tint val="6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3898314" y="515832"/>
        <a:ext cx="331372" cy="387643"/>
      </dsp:txXfrm>
    </dsp:sp>
    <dsp:sp modelId="{04B9E23D-7A95-4ED6-B3DD-D6FDD726260B}">
      <dsp:nvSpPr>
        <dsp:cNvPr id="7" name="圆角矩形 6"/>
        <dsp:cNvSpPr/>
      </dsp:nvSpPr>
      <dsp:spPr bwMode="white">
        <a:xfrm>
          <a:off x="4376615" y="240730"/>
          <a:ext cx="1563077" cy="93784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t>特征工程</a:t>
          </a:r>
        </a:p>
      </dsp:txBody>
      <dsp:txXfrm>
        <a:off x="4376615" y="240730"/>
        <a:ext cx="1563077" cy="937846"/>
      </dsp:txXfrm>
    </dsp:sp>
    <dsp:sp modelId="{FA8BC3A3-2E12-4F76-8975-E19D760A52C8}">
      <dsp:nvSpPr>
        <dsp:cNvPr id="8" name="右箭头 7"/>
        <dsp:cNvSpPr/>
      </dsp:nvSpPr>
      <dsp:spPr bwMode="white">
        <a:xfrm>
          <a:off x="6086622" y="515832"/>
          <a:ext cx="331372" cy="387643"/>
        </a:xfrm>
        <a:prstGeom prst="rightArrow">
          <a:avLst>
            <a:gd name="adj1" fmla="val 60000"/>
            <a:gd name="adj2" fmla="val 50000"/>
          </a:avLst>
        </a:prstGeom>
      </dsp:spPr>
      <dsp:style>
        <a:lnRef idx="0">
          <a:schemeClr val="accent2">
            <a:tint val="60000"/>
          </a:schemeClr>
        </a:lnRef>
        <a:fillRef idx="1">
          <a:schemeClr val="accent2">
            <a:tint val="6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6086622" y="515832"/>
        <a:ext cx="331372" cy="387643"/>
      </dsp:txXfrm>
    </dsp:sp>
    <dsp:sp modelId="{F0B9F859-9150-4A7B-90DA-90D4190420E0}">
      <dsp:nvSpPr>
        <dsp:cNvPr id="9" name="圆角矩形 8"/>
        <dsp:cNvSpPr/>
      </dsp:nvSpPr>
      <dsp:spPr bwMode="white">
        <a:xfrm>
          <a:off x="6564923" y="240730"/>
          <a:ext cx="1563077" cy="93784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t>数据建模</a:t>
          </a:r>
        </a:p>
      </dsp:txBody>
      <dsp:txXfrm>
        <a:off x="6564923" y="240730"/>
        <a:ext cx="1563077" cy="9378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Geoffrey Hinton</a:t>
            </a:r>
            <a:endParaRPr lang="en-US" altLang="zh-CN" dirty="0"/>
          </a:p>
          <a:p>
            <a:r>
              <a:rPr lang="en-US" altLang="zh-CN" dirty="0"/>
              <a:t>1.</a:t>
            </a:r>
            <a:r>
              <a:rPr lang="zh-CN" altLang="en-US" dirty="0"/>
              <a:t>多隐层的神经网络具有优异的特征学习能力，学习得到的特征对数据有更本质的刻画，从而有利于可视化或分类；</a:t>
            </a:r>
            <a:endParaRPr lang="zh-CN" altLang="en-US" dirty="0"/>
          </a:p>
          <a:p>
            <a:r>
              <a:rPr lang="zh-CN" altLang="en-US" dirty="0"/>
              <a:t>　　</a:t>
            </a:r>
            <a:r>
              <a:rPr lang="en-US" altLang="zh-CN" dirty="0"/>
              <a:t>2.</a:t>
            </a:r>
            <a:r>
              <a:rPr lang="zh-CN" altLang="en-US" dirty="0"/>
              <a:t>深度神经网络在训练上的难度，可以通过“逐层初始化” 来有效克服。</a:t>
            </a:r>
            <a:endParaRPr lang="zh-CN" altLang="en-US" dirty="0"/>
          </a:p>
          <a:p>
            <a:r>
              <a:rPr lang="zh-CN" altLang="en-US" dirty="0"/>
              <a:t>而他们的研究方向，则全部都是机器学习的子类</a:t>
            </a:r>
            <a:r>
              <a:rPr lang="en-US" altLang="zh-CN" dirty="0"/>
              <a:t>--</a:t>
            </a:r>
            <a:r>
              <a:rPr lang="zh-CN" altLang="en-US" dirty="0"/>
              <a:t>深度学习。</a:t>
            </a:r>
            <a:endParaRPr lang="zh-CN" altLang="en-US" dirty="0"/>
          </a:p>
        </p:txBody>
      </p:sp>
      <p:sp>
        <p:nvSpPr>
          <p:cNvPr id="4" name="灯片编号占位符 3"/>
          <p:cNvSpPr>
            <a:spLocks noGrp="1"/>
          </p:cNvSpPr>
          <p:nvPr>
            <p:ph type="sldNum" sz="quarter" idx="10"/>
          </p:nvPr>
        </p:nvSpPr>
        <p:spPr/>
        <p:txBody>
          <a:bodyPr/>
          <a:lstStyle/>
          <a:p>
            <a:fld id="{A3E2AD35-AC65-4570-AD7A-63696EC132C7}"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3E2AD35-AC65-4570-AD7A-63696EC132C7}"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Geoffrey Hinton</a:t>
            </a:r>
            <a:endParaRPr lang="en-US" altLang="zh-CN" dirty="0"/>
          </a:p>
          <a:p>
            <a:r>
              <a:rPr lang="en-US" altLang="zh-CN" dirty="0"/>
              <a:t>1.</a:t>
            </a:r>
            <a:r>
              <a:rPr lang="zh-CN" altLang="en-US" dirty="0"/>
              <a:t>多隐层的神经网络具有优异的特征学习能力，学习得到的特征对数据有更本质的刻画，从而有利于可视化或分类；</a:t>
            </a:r>
            <a:endParaRPr lang="zh-CN" altLang="en-US" dirty="0"/>
          </a:p>
          <a:p>
            <a:r>
              <a:rPr lang="zh-CN" altLang="en-US" dirty="0"/>
              <a:t>　　</a:t>
            </a:r>
            <a:r>
              <a:rPr lang="en-US" altLang="zh-CN" dirty="0"/>
              <a:t>2.</a:t>
            </a:r>
            <a:r>
              <a:rPr lang="zh-CN" altLang="en-US" dirty="0"/>
              <a:t>深度神经网络在训练上的难度，可以通过“逐层初始化” 来有效克服。</a:t>
            </a:r>
            <a:endParaRPr lang="zh-CN" altLang="en-US" dirty="0"/>
          </a:p>
          <a:p>
            <a:r>
              <a:rPr lang="zh-CN" altLang="en-US" dirty="0"/>
              <a:t>而他们的研究方向，则全部都是机器学习的子类</a:t>
            </a:r>
            <a:r>
              <a:rPr lang="en-US" altLang="zh-CN" dirty="0"/>
              <a:t>--</a:t>
            </a:r>
            <a:r>
              <a:rPr lang="zh-CN" altLang="en-US" dirty="0"/>
              <a:t>深度学习。</a:t>
            </a:r>
            <a:endParaRPr lang="zh-CN" altLang="en-US" dirty="0"/>
          </a:p>
        </p:txBody>
      </p:sp>
      <p:sp>
        <p:nvSpPr>
          <p:cNvPr id="4" name="灯片编号占位符 3"/>
          <p:cNvSpPr>
            <a:spLocks noGrp="1"/>
          </p:cNvSpPr>
          <p:nvPr>
            <p:ph type="sldNum" sz="quarter" idx="10"/>
          </p:nvPr>
        </p:nvSpPr>
        <p:spPr/>
        <p:txBody>
          <a:bodyPr/>
          <a:lstStyle/>
          <a:p>
            <a:fld id="{A3E2AD35-AC65-4570-AD7A-63696EC132C7}"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模式识别</a:t>
            </a:r>
            <a:endParaRPr lang="zh-CN" altLang="en-US" dirty="0"/>
          </a:p>
          <a:p>
            <a:r>
              <a:rPr lang="zh-CN" altLang="en-US" dirty="0"/>
              <a:t>　　模式识别</a:t>
            </a:r>
            <a:r>
              <a:rPr lang="en-US" altLang="zh-CN" dirty="0"/>
              <a:t>=</a:t>
            </a:r>
            <a:r>
              <a:rPr lang="zh-CN" altLang="en-US" dirty="0"/>
              <a:t>机器学习。两者的主要区别在于前者是从工业界发展起来的概念，后者则主要源自计算机学科。在著名的</a:t>
            </a:r>
            <a:r>
              <a:rPr lang="en-US" altLang="zh-CN" dirty="0"/>
              <a:t>《Pattern Recognition And Machine Learning》</a:t>
            </a:r>
            <a:r>
              <a:rPr lang="zh-CN" altLang="en-US" dirty="0"/>
              <a:t>这本书中，</a:t>
            </a:r>
            <a:r>
              <a:rPr lang="en-US" altLang="zh-CN" dirty="0"/>
              <a:t>Christopher M. Bishop</a:t>
            </a:r>
            <a:r>
              <a:rPr lang="zh-CN" altLang="en-US" dirty="0"/>
              <a:t>在开头是这样说的“模式识别源自工业界，而机器学习来自于计算机学科。不过，它们中的活动可以被视为同一个领域的两个方面，同时在过去的</a:t>
            </a:r>
            <a:r>
              <a:rPr lang="en-US" altLang="zh-CN" dirty="0"/>
              <a:t>10</a:t>
            </a:r>
            <a:r>
              <a:rPr lang="zh-CN" altLang="en-US" dirty="0"/>
              <a:t>年间，它们都有了长足的发展”。</a:t>
            </a:r>
            <a:endParaRPr lang="zh-CN" altLang="en-US" dirty="0"/>
          </a:p>
          <a:p>
            <a:r>
              <a:rPr lang="zh-CN" altLang="en-US" dirty="0"/>
              <a:t>　　</a:t>
            </a:r>
            <a:endParaRPr lang="zh-CN" altLang="en-US" dirty="0"/>
          </a:p>
          <a:p>
            <a:r>
              <a:rPr lang="zh-CN" altLang="en-US" dirty="0"/>
              <a:t>　　数据挖掘</a:t>
            </a:r>
            <a:endParaRPr lang="zh-CN" altLang="en-US" dirty="0"/>
          </a:p>
          <a:p>
            <a:r>
              <a:rPr lang="zh-CN" altLang="en-US" dirty="0"/>
              <a:t>　　数据挖掘</a:t>
            </a:r>
            <a:r>
              <a:rPr lang="en-US" altLang="zh-CN" dirty="0"/>
              <a:t>=</a:t>
            </a:r>
            <a:r>
              <a:rPr lang="zh-CN" altLang="en-US" dirty="0"/>
              <a:t>机器学习</a:t>
            </a:r>
            <a:r>
              <a:rPr lang="en-US" altLang="zh-CN" dirty="0"/>
              <a:t>+</a:t>
            </a:r>
            <a:r>
              <a:rPr lang="zh-CN" altLang="en-US" dirty="0"/>
              <a:t>数据库。这几年数据挖掘的概念实在是太耳熟能详。几乎等同于炒作。但凡说数据挖掘都会吹嘘数据挖掘如何如何，例如从数据中挖出金子，以及将废弃的数据转化为价值等等。但是，我尽管可能会挖出金子，但我也可能挖的是“石头”啊。这个说法的意思是，数据挖掘仅仅是一种思考方式，告诉我们应该尝试从数据中挖掘出知识，但不是每个数据都能挖掘出金子的，所以不要神话它。一个系统绝对不会因为上了一个数据挖掘模块就变得无所不能</a:t>
            </a:r>
            <a:r>
              <a:rPr lang="en-US" altLang="zh-CN" dirty="0"/>
              <a:t>(</a:t>
            </a:r>
            <a:r>
              <a:rPr lang="zh-CN" altLang="en-US" dirty="0"/>
              <a:t>这是</a:t>
            </a:r>
            <a:r>
              <a:rPr lang="en-US" altLang="zh-CN" dirty="0"/>
              <a:t>IBM</a:t>
            </a:r>
            <a:r>
              <a:rPr lang="zh-CN" altLang="en-US" dirty="0"/>
              <a:t>最喜欢吹嘘的</a:t>
            </a:r>
            <a:r>
              <a:rPr lang="en-US" altLang="zh-CN" dirty="0"/>
              <a:t>)</a:t>
            </a:r>
            <a:r>
              <a:rPr lang="zh-CN" altLang="en-US" dirty="0"/>
              <a:t>，恰恰相反，一个拥有数据挖掘思维的人员才是关键，而且他还必须对数据有深刻的认识，这样才可能从数据中导出模式指引业务的改善。大部分数据挖掘中的算法是机器学习的算法在数据库中的优化。</a:t>
            </a:r>
            <a:endParaRPr lang="zh-CN" altLang="en-US" dirty="0"/>
          </a:p>
          <a:p>
            <a:endParaRPr lang="zh-CN" altLang="en-US" dirty="0"/>
          </a:p>
          <a:p>
            <a:r>
              <a:rPr lang="zh-CN" altLang="en-US" dirty="0"/>
              <a:t>　　统计学习</a:t>
            </a:r>
            <a:endParaRPr lang="zh-CN" altLang="en-US" dirty="0"/>
          </a:p>
          <a:p>
            <a:r>
              <a:rPr lang="zh-CN" altLang="en-US" dirty="0"/>
              <a:t>　　统计学习近似等于机器学习。统计学习是个与机器学习高度重叠的学科。因为机器学习中的大多数方法来自统计学，甚至可以认为，统计学的发展促进机器学习的繁荣昌盛。例如著名的支持向量机算法，就是源自统计学科。但是在某种程度上两者是有分别的，这个分别在于：统计学习者重点关注的是统计模型的发展与优化，偏数学，而机器学习者更关注的是能够解决问题，偏实践，因此机器学习研究者会重点研究学习算法在计算机上执行的效率与准确性的提升。</a:t>
            </a:r>
            <a:endParaRPr lang="zh-CN" altLang="en-US" dirty="0"/>
          </a:p>
          <a:p>
            <a:r>
              <a:rPr lang="zh-CN" altLang="en-US" dirty="0"/>
              <a:t>　　　　</a:t>
            </a:r>
            <a:endParaRPr lang="zh-CN" altLang="en-US" dirty="0"/>
          </a:p>
          <a:p>
            <a:r>
              <a:rPr lang="zh-CN" altLang="en-US" dirty="0"/>
              <a:t>　　计算机视觉</a:t>
            </a:r>
            <a:endParaRPr lang="zh-CN" altLang="en-US" dirty="0"/>
          </a:p>
          <a:p>
            <a:r>
              <a:rPr lang="zh-CN" altLang="en-US" dirty="0"/>
              <a:t>　　计算机视觉</a:t>
            </a:r>
            <a:r>
              <a:rPr lang="en-US" altLang="zh-CN" dirty="0"/>
              <a:t>=</a:t>
            </a:r>
            <a:r>
              <a:rPr lang="zh-CN" altLang="en-US" dirty="0"/>
              <a:t>图像处理</a:t>
            </a:r>
            <a:r>
              <a:rPr lang="en-US" altLang="zh-CN" dirty="0"/>
              <a:t>+</a:t>
            </a:r>
            <a:r>
              <a:rPr lang="zh-CN" altLang="en-US" dirty="0"/>
              <a:t>机器学习。图像处理技术用于将图像处理为适合进入机器学习模型中的输入，机器学习则负责从图像中识别出相关的模式。计算机视觉相关的应用非常的多，例如百度识图、手写字符识别、车牌识别等等应用。这个领域是应用前景非常火热的，同时也是研究的热门方向。随着机器学习的新领域深度学习的发展，大大促进了计算机图像识别的效果，因此未来计算机视觉界的发展前景不可估量。</a:t>
            </a:r>
            <a:endParaRPr lang="zh-CN" altLang="en-US" dirty="0"/>
          </a:p>
          <a:p>
            <a:r>
              <a:rPr lang="zh-CN" altLang="en-US" dirty="0"/>
              <a:t>　　</a:t>
            </a:r>
            <a:endParaRPr lang="zh-CN" altLang="en-US" dirty="0"/>
          </a:p>
          <a:p>
            <a:r>
              <a:rPr lang="zh-CN" altLang="en-US" dirty="0"/>
              <a:t>　　语音识别</a:t>
            </a:r>
            <a:endParaRPr lang="zh-CN" altLang="en-US" dirty="0"/>
          </a:p>
          <a:p>
            <a:r>
              <a:rPr lang="zh-CN" altLang="en-US" dirty="0"/>
              <a:t>　　语音识别</a:t>
            </a:r>
            <a:r>
              <a:rPr lang="en-US" altLang="zh-CN" dirty="0"/>
              <a:t>=</a:t>
            </a:r>
            <a:r>
              <a:rPr lang="zh-CN" altLang="en-US" dirty="0"/>
              <a:t>语音处理</a:t>
            </a:r>
            <a:r>
              <a:rPr lang="en-US" altLang="zh-CN" dirty="0"/>
              <a:t>+</a:t>
            </a:r>
            <a:r>
              <a:rPr lang="zh-CN" altLang="en-US" dirty="0"/>
              <a:t>机器学习。语音识别就是音频处理技术与机器学习的结合。语音识别技术一般不会单独使用，一般会结合自然语言处理的相关技术。目前的相关应用有苹果的语音助手</a:t>
            </a:r>
            <a:r>
              <a:rPr lang="en-US" altLang="zh-CN" dirty="0" err="1"/>
              <a:t>siri</a:t>
            </a:r>
            <a:r>
              <a:rPr lang="zh-CN" altLang="en-US" dirty="0"/>
              <a:t>等。</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A3E2AD35-AC65-4570-AD7A-63696EC132C7}"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909F4065-F7C7-4231-AF49-540087F67445}"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人类在成长、生活过程中积累了很多的历史与经验。人类定期地对这些经验进行“归纳”，获得了生活的“规律”。当人类遇到未知的问题或者需要对未来进行“推测”的时候，人类使用这些“规律”，对未知问题与未来进行“推测”，从而指导自己的生活和工作。</a:t>
            </a:r>
            <a:endParaRPr lang="zh-CN" altLang="en-US" dirty="0">
              <a:latin typeface="Arial" panose="020B0604020202020204" pitchFamily="34" charset="0"/>
            </a:endParaRPr>
          </a:p>
          <a:p>
            <a:pPr eaLnBrk="1" hangingPunct="1"/>
            <a:r>
              <a:rPr lang="zh-CN" altLang="en-US" dirty="0">
                <a:latin typeface="Arial" panose="020B0604020202020204" pitchFamily="34" charset="0"/>
              </a:rPr>
              <a:t>　　机器学习中的“训练”与“预测”过程可以对应到人类的“归纳”和“推测”过程。通过这样的对应，我们可以发现，机器学习的思想并不复杂，仅仅是对人类在生活中学习成长的一个模拟。由于机器学习不是基于编程形成的结果，因此它的处理过程不是因果的逻辑，而是通过归纳思想得出的相关性结论。</a:t>
            </a:r>
            <a:endParaRPr lang="zh-CN" altLang="en-US" dirty="0">
              <a:latin typeface="Arial" panose="020B0604020202020204" pitchFamily="34" charset="0"/>
            </a:endParaRPr>
          </a:p>
          <a:p>
            <a:pPr eaLnBrk="1" hangingPunct="1"/>
            <a:r>
              <a:rPr lang="zh-CN" altLang="en-US" dirty="0">
                <a:latin typeface="Arial" panose="020B0604020202020204" pitchFamily="34" charset="0"/>
              </a:rPr>
              <a:t> 　　这也可以联想到人类为什么要学习历史，历史实际上是人类过往经验的总结。有句话说得很好，“历史往往不一样，但历史总是惊人的相似”。通过学习历史，我们从历史中归纳出人生与国家的规律，从而指导我们的下一步工作，这是具有莫大价值的。当代一些人忽视了历史的本来价值，而是把其作为一种宣扬功绩的手段，这其实是对历史真实价值的一种误用。</a:t>
            </a:r>
            <a:endParaRPr lang="zh-CN" altLang="en-US" dirty="0">
              <a:latin typeface="Arial" panose="020B0604020202020204" pitchFamily="34" charset="0"/>
            </a:endParaRPr>
          </a:p>
          <a:p>
            <a:pPr eaLnBrk="1" hangingPunct="1"/>
            <a:endParaRPr lang="zh-CN"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7C6611-C4CB-4BA6-B035-A55273F2597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ED60EC5-1F68-43A4-8033-85A1E47CD70C}"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7.png"/><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9.png"/><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2.png"/><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37.jpe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8.png"/><Relationship Id="rId1" Type="http://schemas.openxmlformats.org/officeDocument/2006/relationships/image" Target="../media/image47.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5.png"/><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8.png"/><Relationship Id="rId1" Type="http://schemas.openxmlformats.org/officeDocument/2006/relationships/image" Target="../media/image5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9.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hyperlink" Target="https://www.anaconda.com/distribution/" TargetMode="Externa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5.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7.png"/><Relationship Id="rId1" Type="http://schemas.openxmlformats.org/officeDocument/2006/relationships/image" Target="../media/image6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0.png"/><Relationship Id="rId1" Type="http://schemas.openxmlformats.org/officeDocument/2006/relationships/image" Target="../media/image6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1.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3.png"/><Relationship Id="rId1" Type="http://schemas.openxmlformats.org/officeDocument/2006/relationships/image" Target="../media/image7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5.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6.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image" Target="../media/image80.png"/></Relationships>
</file>

<file path=ppt/slides/_rels/slide63.xml.rels><?xml version="1.0" encoding="UTF-8" standalone="yes"?>
<Relationships xmlns="http://schemas.openxmlformats.org/package/2006/relationships"><Relationship Id="rId9" Type="http://schemas.openxmlformats.org/officeDocument/2006/relationships/image" Target="../media/image86.jpeg"/><Relationship Id="rId8" Type="http://schemas.openxmlformats.org/officeDocument/2006/relationships/image" Target="../media/image85.jpeg"/><Relationship Id="rId7" Type="http://schemas.openxmlformats.org/officeDocument/2006/relationships/image" Target="../media/image84.jpeg"/><Relationship Id="rId6" Type="http://schemas.openxmlformats.org/officeDocument/2006/relationships/image" Target="../media/image83.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3" Type="http://schemas.openxmlformats.org/officeDocument/2006/relationships/slideLayout" Target="../slideLayouts/slideLayout2.xml"/><Relationship Id="rId12" Type="http://schemas.openxmlformats.org/officeDocument/2006/relationships/image" Target="../media/image89.jpeg"/><Relationship Id="rId11" Type="http://schemas.openxmlformats.org/officeDocument/2006/relationships/image" Target="../media/image88.jpeg"/><Relationship Id="rId10" Type="http://schemas.openxmlformats.org/officeDocument/2006/relationships/image" Target="../media/image87.jpeg"/><Relationship Id="rId1" Type="http://schemas.openxmlformats.org/officeDocument/2006/relationships/diagramData" Target="../diagrams/data1.xml"/></Relationships>
</file>

<file path=ppt/slides/_rels/slide6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jpeg"/><Relationship Id="rId4" Type="http://schemas.openxmlformats.org/officeDocument/2006/relationships/image" Target="../media/image93.png"/><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image" Target="../media/image90.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p:cNvPicPr>
            <a:picLocks noChangeAspect="1"/>
          </p:cNvPicPr>
          <p:nvPr/>
        </p:nvPicPr>
        <p:blipFill>
          <a:blip r:embed="rId1"/>
          <a:srcRect t="15490" b="23685"/>
          <a:stretch>
            <a:fillRect/>
          </a:stretch>
        </p:blipFill>
        <p:spPr>
          <a:xfrm>
            <a:off x="0" y="0"/>
            <a:ext cx="12192000" cy="3002280"/>
          </a:xfrm>
          <a:prstGeom prst="rect">
            <a:avLst/>
          </a:prstGeom>
        </p:spPr>
      </p:pic>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引言</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目录</a:t>
            </a:r>
            <a:endParaRPr lang="zh-CN" altLang="en-US" dirty="0">
              <a:solidFill>
                <a:schemeClr val="tx1"/>
              </a:solidFill>
            </a:endParaRPr>
          </a:p>
        </p:txBody>
      </p:sp>
      <p:sp>
        <p:nvSpPr>
          <p:cNvPr id="44" name="TextBox 6"/>
          <p:cNvSpPr txBox="1">
            <a:spLocks noChangeArrowheads="1"/>
          </p:cNvSpPr>
          <p:nvPr/>
        </p:nvSpPr>
        <p:spPr bwMode="auto">
          <a:xfrm>
            <a:off x="3029495"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机器学习概述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机器学习的类型</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机器学习的背景知识</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机器学习的开发</a:t>
            </a:r>
            <a:r>
              <a:rPr lang="zh-CN" altLang="zh-CN" sz="3600" dirty="0">
                <a:latin typeface="Impact" panose="020B0806030902050204" pitchFamily="34" charset="0"/>
                <a:ea typeface="微软雅黑" panose="020B0503020204020204" pitchFamily="34" charset="-122"/>
              </a:rPr>
              <a:t>流程</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 </a:t>
            </a:r>
            <a:r>
              <a:rPr lang="zh-CN" altLang="en-US" dirty="0">
                <a:solidFill>
                  <a:schemeClr val="tx1"/>
                </a:solidFill>
              </a:rPr>
              <a:t>机器学习概述</a:t>
            </a:r>
            <a:endParaRPr lang="zh-CN" altLang="en-US" dirty="0">
              <a:solidFill>
                <a:schemeClr val="tx1"/>
              </a:solidFill>
            </a:endParaRPr>
          </a:p>
        </p:txBody>
      </p:sp>
      <p:sp>
        <p:nvSpPr>
          <p:cNvPr id="32" name="TextBox 6"/>
          <p:cNvSpPr txBox="1">
            <a:spLocks noChangeArrowheads="1"/>
          </p:cNvSpPr>
          <p:nvPr/>
        </p:nvSpPr>
        <p:spPr bwMode="auto">
          <a:xfrm>
            <a:off x="2986633" y="1922625"/>
            <a:ext cx="385776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a:solidFill>
                  <a:srgbClr val="595959"/>
                </a:solidFill>
                <a:latin typeface="Impact" panose="020B0806030902050204" pitchFamily="34" charset="0"/>
                <a:ea typeface="微软雅黑" panose="020B0503020204020204" pitchFamily="34" charset="-122"/>
              </a:rPr>
              <a:t>01    </a:t>
            </a:r>
            <a:r>
              <a:rPr lang="zh-CN" altLang="en-US" sz="3600">
                <a:solidFill>
                  <a:srgbClr val="595959"/>
                </a:solidFill>
                <a:latin typeface="Impact" panose="020B0806030902050204" pitchFamily="34" charset="0"/>
                <a:ea typeface="微软雅黑" panose="020B0503020204020204" pitchFamily="34" charset="-122"/>
              </a:rPr>
              <a:t>认识</a:t>
            </a:r>
            <a:r>
              <a:rPr lang="en-US" altLang="zh-CN" sz="3600">
                <a:solidFill>
                  <a:srgbClr val="595959"/>
                </a:solidFill>
                <a:latin typeface="Impact" panose="020B0806030902050204" pitchFamily="34" charset="0"/>
                <a:ea typeface="微软雅黑" panose="020B0503020204020204" pitchFamily="34" charset="-122"/>
              </a:rPr>
              <a:t>Python</a:t>
            </a:r>
            <a:endParaRPr lang="zh-CN" altLang="en-US" sz="3600">
              <a:solidFill>
                <a:srgbClr val="595959"/>
              </a:solidFill>
              <a:latin typeface="微软雅黑" panose="020B0503020204020204" pitchFamily="34" charset="-122"/>
              <a:ea typeface="微软雅黑" panose="020B0503020204020204" pitchFamily="34" charset="-122"/>
            </a:endParaRPr>
          </a:p>
        </p:txBody>
      </p:sp>
      <p:sp>
        <p:nvSpPr>
          <p:cNvPr id="43" name="对角圆角矩形 42"/>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4" name="TextBox 6"/>
          <p:cNvSpPr txBox="1">
            <a:spLocks noChangeArrowheads="1"/>
          </p:cNvSpPr>
          <p:nvPr/>
        </p:nvSpPr>
        <p:spPr bwMode="auto">
          <a:xfrm>
            <a:off x="3029495" y="1861070"/>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en-US" altLang="zh-CN" sz="4000" dirty="0">
                <a:solidFill>
                  <a:schemeClr val="bg1"/>
                </a:solidFill>
                <a:latin typeface="Impact" panose="020B0806030902050204" pitchFamily="34" charset="0"/>
                <a:ea typeface="微软雅黑" panose="020B0503020204020204" pitchFamily="34" charset="-122"/>
              </a:rPr>
              <a:t> </a:t>
            </a:r>
            <a:r>
              <a:rPr lang="en-US" altLang="zh-CN" sz="3600" dirty="0">
                <a:solidFill>
                  <a:schemeClr val="bg1"/>
                </a:solidFill>
                <a:latin typeface="Impact" panose="020B0806030902050204" pitchFamily="34" charset="0"/>
                <a:ea typeface="微软雅黑" panose="020B0503020204020204" pitchFamily="34" charset="-122"/>
              </a:rPr>
              <a:t>  </a:t>
            </a:r>
            <a:r>
              <a:rPr lang="zh-CN" altLang="en-US" sz="3600" dirty="0">
                <a:solidFill>
                  <a:schemeClr val="bg1"/>
                </a:solidFill>
                <a:latin typeface="Impact" panose="020B0806030902050204" pitchFamily="34" charset="0"/>
                <a:ea typeface="微软雅黑" panose="020B0503020204020204" pitchFamily="34" charset="-122"/>
              </a:rPr>
              <a:t>机器学习概述</a:t>
            </a:r>
            <a:endParaRPr lang="en-US" altLang="zh-CN" sz="3600" dirty="0">
              <a:solidFill>
                <a:schemeClr val="bg1"/>
              </a:solidFill>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机器学习的类型</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机器学习的背景知识</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机器学习的开发</a:t>
            </a:r>
            <a:r>
              <a:rPr lang="zh-CN" altLang="zh-CN" sz="3600" dirty="0">
                <a:latin typeface="Impact" panose="020B0806030902050204" pitchFamily="34" charset="0"/>
                <a:ea typeface="微软雅黑" panose="020B0503020204020204" pitchFamily="34" charset="-122"/>
              </a:rPr>
              <a:t>流程</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7906" y="-51872"/>
            <a:ext cx="871995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机器学习与人工智能、深度学习的关系</a:t>
            </a:r>
            <a:br>
              <a:rPr lang="zh-CN" altLang="en-US" dirty="0"/>
            </a:br>
            <a:endParaRPr lang="zh-CN" altLang="en-US" dirty="0"/>
          </a:p>
        </p:txBody>
      </p:sp>
      <p:sp>
        <p:nvSpPr>
          <p:cNvPr id="26" name="文本框 25"/>
          <p:cNvSpPr txBox="1"/>
          <p:nvPr/>
        </p:nvSpPr>
        <p:spPr>
          <a:xfrm>
            <a:off x="1123654" y="1410395"/>
            <a:ext cx="5636537" cy="6616065"/>
          </a:xfrm>
          <a:prstGeom prst="rect">
            <a:avLst/>
          </a:prstGeom>
          <a:noFill/>
        </p:spPr>
        <p:txBody>
          <a:bodyPr wrap="square" rtlCol="0">
            <a:spAutoFit/>
          </a:bodyPr>
          <a:lstStyle/>
          <a:p>
            <a:endParaRPr lang="en-US" altLang="zh-CN" b="1" dirty="0"/>
          </a:p>
          <a:p>
            <a:r>
              <a:rPr lang="zh-CN" altLang="en-US" sz="3200" b="1" dirty="0">
                <a:solidFill>
                  <a:schemeClr val="accent6"/>
                </a:solidFill>
                <a:latin typeface="+mj-ea"/>
                <a:ea typeface="+mj-ea"/>
              </a:rPr>
              <a:t>人工智能</a:t>
            </a:r>
            <a:r>
              <a:rPr lang="zh-CN" altLang="en-US" sz="3200" b="1" dirty="0">
                <a:latin typeface="+mj-ea"/>
                <a:ea typeface="+mj-ea"/>
              </a:rPr>
              <a:t>：（</a:t>
            </a:r>
            <a:r>
              <a:rPr lang="en-US" altLang="zh-CN" sz="3200" b="1" dirty="0">
                <a:latin typeface="+mj-ea"/>
                <a:ea typeface="+mj-ea"/>
              </a:rPr>
              <a:t>AI</a:t>
            </a:r>
            <a:r>
              <a:rPr lang="zh-CN" altLang="en-US" sz="3200" b="1" dirty="0">
                <a:latin typeface="+mj-ea"/>
                <a:ea typeface="+mj-ea"/>
              </a:rPr>
              <a:t>）</a:t>
            </a:r>
            <a:r>
              <a:rPr lang="zh-CN" altLang="en-US" sz="2800" dirty="0">
                <a:latin typeface="+mj-ea"/>
                <a:ea typeface="+mj-ea"/>
              </a:rPr>
              <a:t>机器展现的人类智能</a:t>
            </a:r>
            <a:endParaRPr lang="en-US" altLang="zh-CN" sz="2800" dirty="0">
              <a:latin typeface="+mj-ea"/>
              <a:ea typeface="+mj-ea"/>
            </a:endParaRPr>
          </a:p>
          <a:p>
            <a:endParaRPr lang="en-US" altLang="zh-CN" sz="3200" b="1" dirty="0">
              <a:latin typeface="+mj-ea"/>
              <a:ea typeface="+mj-ea"/>
            </a:endParaRPr>
          </a:p>
          <a:p>
            <a:r>
              <a:rPr lang="zh-CN" altLang="zh-CN" sz="3200" b="1" dirty="0">
                <a:solidFill>
                  <a:schemeClr val="accent6"/>
                </a:solidFill>
                <a:latin typeface="+mj-ea"/>
                <a:ea typeface="+mj-ea"/>
              </a:rPr>
              <a:t>机器学习</a:t>
            </a:r>
            <a:r>
              <a:rPr lang="zh-CN" altLang="en-US" sz="3200" b="1" dirty="0">
                <a:solidFill>
                  <a:schemeClr val="accent6"/>
                </a:solidFill>
                <a:latin typeface="+mj-ea"/>
                <a:ea typeface="+mj-ea"/>
              </a:rPr>
              <a:t>：</a:t>
            </a:r>
            <a:r>
              <a:rPr lang="en-US" altLang="zh-CN" sz="3200" b="1" dirty="0">
                <a:solidFill>
                  <a:schemeClr val="accent6"/>
                </a:solidFill>
                <a:latin typeface="+mj-ea"/>
                <a:ea typeface="+mj-ea"/>
              </a:rPr>
              <a:t>machine learning</a:t>
            </a:r>
            <a:r>
              <a:rPr lang="zh-CN" altLang="zh-CN" sz="2800" dirty="0">
                <a:latin typeface="+mj-ea"/>
                <a:ea typeface="+mj-ea"/>
              </a:rPr>
              <a:t>计算机利用已有的数据</a:t>
            </a:r>
            <a:r>
              <a:rPr lang="en-US" altLang="zh-CN" sz="2800" dirty="0">
                <a:latin typeface="+mj-ea"/>
                <a:ea typeface="+mj-ea"/>
              </a:rPr>
              <a:t>(</a:t>
            </a:r>
            <a:r>
              <a:rPr lang="zh-CN" altLang="zh-CN" sz="2800" dirty="0">
                <a:latin typeface="+mj-ea"/>
                <a:ea typeface="+mj-ea"/>
              </a:rPr>
              <a:t>经验</a:t>
            </a:r>
            <a:r>
              <a:rPr lang="en-US" altLang="zh-CN" sz="2800" dirty="0">
                <a:latin typeface="+mj-ea"/>
                <a:ea typeface="+mj-ea"/>
              </a:rPr>
              <a:t>)</a:t>
            </a:r>
            <a:r>
              <a:rPr lang="zh-CN" altLang="zh-CN" sz="2800" dirty="0">
                <a:latin typeface="+mj-ea"/>
                <a:ea typeface="+mj-ea"/>
              </a:rPr>
              <a:t>，得出了某种模型，并利用此模型预测未来的一种方法。</a:t>
            </a:r>
            <a:endParaRPr lang="en-US" altLang="zh-CN" sz="2800" dirty="0">
              <a:latin typeface="+mj-ea"/>
              <a:ea typeface="+mj-ea"/>
            </a:endParaRPr>
          </a:p>
          <a:p>
            <a:endParaRPr lang="en-US" altLang="zh-CN" sz="3200" b="1" dirty="0">
              <a:solidFill>
                <a:schemeClr val="accent6"/>
              </a:solidFill>
              <a:latin typeface="+mj-ea"/>
              <a:ea typeface="+mj-ea"/>
            </a:endParaRPr>
          </a:p>
          <a:p>
            <a:r>
              <a:rPr lang="zh-CN" altLang="en-US" sz="3200" b="1" dirty="0">
                <a:solidFill>
                  <a:schemeClr val="accent6"/>
                </a:solidFill>
                <a:latin typeface="+mj-ea"/>
                <a:ea typeface="+mj-ea"/>
              </a:rPr>
              <a:t>深度学习：</a:t>
            </a:r>
            <a:r>
              <a:rPr lang="zh-CN" altLang="en-US" sz="2800" dirty="0">
                <a:latin typeface="+mj-ea"/>
                <a:ea typeface="+mj-ea"/>
              </a:rPr>
              <a:t>实现机器学习的一种技术</a:t>
            </a:r>
            <a:r>
              <a:rPr lang="en-US" altLang="zh-CN" sz="2800" dirty="0">
                <a:latin typeface="+mj-ea"/>
                <a:ea typeface="+mj-ea"/>
              </a:rPr>
              <a:t>deep learning</a:t>
            </a:r>
            <a:endParaRPr lang="zh-CN" altLang="en-US" sz="2800" dirty="0">
              <a:latin typeface="+mj-ea"/>
              <a:ea typeface="+mj-ea"/>
            </a:endParaRPr>
          </a:p>
          <a:p>
            <a:endParaRPr lang="en-US" altLang="zh-CN" sz="2400" b="1" dirty="0">
              <a:solidFill>
                <a:schemeClr val="accent6"/>
              </a:solidFill>
              <a:latin typeface="+mn-lt"/>
              <a:ea typeface="+mn-ea"/>
            </a:endParaRPr>
          </a:p>
          <a:p>
            <a:endParaRPr lang="zh-CN" altLang="en-US" dirty="0"/>
          </a:p>
          <a:p>
            <a:br>
              <a:rPr lang="en-US" altLang="zh-CN" dirty="0"/>
            </a:br>
            <a:endParaRPr lang="zh-CN" altLang="en-US" dirty="0"/>
          </a:p>
        </p:txBody>
      </p:sp>
      <p:sp>
        <p:nvSpPr>
          <p:cNvPr id="5" name="椭圆 4"/>
          <p:cNvSpPr/>
          <p:nvPr/>
        </p:nvSpPr>
        <p:spPr>
          <a:xfrm>
            <a:off x="7594899" y="1929602"/>
            <a:ext cx="4247328" cy="4118164"/>
          </a:xfrm>
          <a:prstGeom prst="ellipse">
            <a:avLst/>
          </a:prstGeom>
          <a:solidFill>
            <a:srgbClr val="00B050"/>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6" name="椭圆 5"/>
          <p:cNvSpPr/>
          <p:nvPr/>
        </p:nvSpPr>
        <p:spPr>
          <a:xfrm>
            <a:off x="8089752" y="2840018"/>
            <a:ext cx="3363674" cy="3207748"/>
          </a:xfrm>
          <a:prstGeom prst="ellipse">
            <a:avLst/>
          </a:prstGeom>
          <a:solidFill>
            <a:srgbClr val="0066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p:cNvSpPr/>
          <p:nvPr/>
        </p:nvSpPr>
        <p:spPr>
          <a:xfrm>
            <a:off x="8675206" y="3892475"/>
            <a:ext cx="2192766" cy="2155291"/>
          </a:xfrm>
          <a:prstGeom prst="ellipse">
            <a:avLst/>
          </a:prstGeom>
          <a:solidFill>
            <a:srgbClr val="8460A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9010308" y="2241284"/>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人工智能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10308" y="3204604"/>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机器学习</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9063334" y="4626593"/>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深度学习</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descr="https://ask.qcloudimg.com/http-save/developer-news/hqjj9ezdvr.jpeg?imageView2/2/w/1620"/>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45749" y="1402241"/>
            <a:ext cx="4950251" cy="330016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068946" y="4803099"/>
            <a:ext cx="5743978" cy="2308324"/>
          </a:xfrm>
          <a:prstGeom prst="rect">
            <a:avLst/>
          </a:prstGeom>
          <a:noFill/>
        </p:spPr>
        <p:txBody>
          <a:bodyPr wrap="square" rtlCol="0">
            <a:spAutoFit/>
          </a:bodyPr>
          <a:lstStyle/>
          <a:p>
            <a:r>
              <a:rPr lang="zh-CN" altLang="en-US" b="1" dirty="0"/>
              <a:t>杨立昆</a:t>
            </a:r>
            <a:r>
              <a:rPr lang="zh-CN" altLang="en-US" dirty="0"/>
              <a:t>（</a:t>
            </a:r>
            <a:r>
              <a:rPr lang="en-US" altLang="zh-CN" dirty="0"/>
              <a:t>Yann </a:t>
            </a:r>
            <a:r>
              <a:rPr lang="en-US" altLang="zh-CN" dirty="0" err="1"/>
              <a:t>LeCun</a:t>
            </a:r>
            <a:r>
              <a:rPr lang="zh-CN" altLang="en-US" dirty="0"/>
              <a:t>）</a:t>
            </a:r>
            <a:endParaRPr lang="en-US" altLang="zh-CN" dirty="0"/>
          </a:p>
          <a:p>
            <a:r>
              <a:rPr lang="zh-CN" altLang="en-US" b="1" dirty="0"/>
              <a:t>杰弗里</a:t>
            </a:r>
            <a:r>
              <a:rPr lang="en-US" altLang="zh-CN" b="1" dirty="0"/>
              <a:t>·</a:t>
            </a:r>
            <a:r>
              <a:rPr lang="zh-CN" altLang="en-US" b="1" dirty="0"/>
              <a:t>欣顿</a:t>
            </a:r>
            <a:r>
              <a:rPr lang="zh-CN" altLang="en-US" dirty="0"/>
              <a:t>（</a:t>
            </a:r>
            <a:r>
              <a:rPr lang="en-US" altLang="zh-CN" dirty="0"/>
              <a:t>Geoffrey Hinton</a:t>
            </a:r>
            <a:r>
              <a:rPr lang="zh-CN" altLang="en-US" dirty="0"/>
              <a:t>）</a:t>
            </a:r>
            <a:endParaRPr lang="en-US" altLang="zh-CN" dirty="0"/>
          </a:p>
          <a:p>
            <a:r>
              <a:rPr lang="zh-CN" altLang="en-US" b="1" dirty="0"/>
              <a:t>本吉奥</a:t>
            </a:r>
            <a:r>
              <a:rPr lang="zh-CN" altLang="en-US" dirty="0"/>
              <a:t>（</a:t>
            </a:r>
            <a:r>
              <a:rPr lang="en-US" altLang="zh-CN" dirty="0"/>
              <a:t> </a:t>
            </a:r>
            <a:r>
              <a:rPr lang="en-US" altLang="zh-CN" dirty="0" err="1"/>
              <a:t>Bengio</a:t>
            </a:r>
            <a:r>
              <a:rPr lang="en-US" altLang="zh-CN" dirty="0"/>
              <a:t> </a:t>
            </a:r>
            <a:r>
              <a:rPr lang="zh-CN" altLang="en-US" dirty="0"/>
              <a:t>）</a:t>
            </a:r>
            <a:endParaRPr lang="en-US" altLang="zh-CN" dirty="0"/>
          </a:p>
          <a:p>
            <a:r>
              <a:rPr lang="zh-CN" altLang="en-US" dirty="0"/>
              <a:t>共同获得了</a:t>
            </a:r>
            <a:r>
              <a:rPr lang="en-US" altLang="zh-CN" dirty="0"/>
              <a:t>2018</a:t>
            </a:r>
            <a:r>
              <a:rPr lang="zh-CN" altLang="en-US" dirty="0"/>
              <a:t>年计算机科学的最高奖项</a:t>
            </a:r>
            <a:r>
              <a:rPr lang="en-US" altLang="zh-CN" dirty="0"/>
              <a:t>——</a:t>
            </a:r>
            <a:r>
              <a:rPr lang="en-US" altLang="zh-CN" b="1" dirty="0">
                <a:solidFill>
                  <a:srgbClr val="FF0000"/>
                </a:solidFill>
              </a:rPr>
              <a:t>ACM</a:t>
            </a:r>
            <a:r>
              <a:rPr lang="zh-CN" altLang="en-US" b="1" dirty="0">
                <a:solidFill>
                  <a:srgbClr val="FF0000"/>
                </a:solidFill>
              </a:rPr>
              <a:t>图灵奖</a:t>
            </a:r>
            <a:r>
              <a:rPr lang="zh-CN" altLang="en-US" dirty="0"/>
              <a:t>。</a:t>
            </a:r>
            <a:endParaRPr lang="en-US" altLang="zh-CN" dirty="0"/>
          </a:p>
          <a:p>
            <a:endParaRPr lang="en-US" altLang="zh-CN" dirty="0"/>
          </a:p>
        </p:txBody>
      </p:sp>
      <p:pic>
        <p:nvPicPr>
          <p:cNvPr id="6" name="图片 5"/>
          <p:cNvPicPr>
            <a:picLocks noChangeAspect="1"/>
          </p:cNvPicPr>
          <p:nvPr/>
        </p:nvPicPr>
        <p:blipFill rotWithShape="1">
          <a:blip r:embed="rId2" cstate="hqprint">
            <a:extLst>
              <a:ext uri="{28A0092B-C50C-407E-A947-70E740481C1C}">
                <a14:useLocalDpi xmlns:a14="http://schemas.microsoft.com/office/drawing/2010/main" val="0"/>
              </a:ext>
            </a:extLst>
          </a:blip>
          <a:srcRect/>
          <a:stretch>
            <a:fillRect/>
          </a:stretch>
        </p:blipFill>
        <p:spPr>
          <a:xfrm>
            <a:off x="7572164" y="1366642"/>
            <a:ext cx="2733264" cy="3280130"/>
          </a:xfrm>
          <a:prstGeom prst="rect">
            <a:avLst/>
          </a:prstGeom>
        </p:spPr>
      </p:pic>
      <p:sp>
        <p:nvSpPr>
          <p:cNvPr id="13" name="文本框 22"/>
          <p:cNvSpPr txBox="1">
            <a:spLocks noChangeArrowheads="1"/>
          </p:cNvSpPr>
          <p:nvPr/>
        </p:nvSpPr>
        <p:spPr bwMode="auto">
          <a:xfrm>
            <a:off x="642983" y="257220"/>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机器学习界的执牛耳者</a:t>
            </a:r>
            <a:br>
              <a:rPr lang="zh-CN" altLang="en-US" dirty="0"/>
            </a:br>
            <a:endParaRPr lang="zh-CN" altLang="en-US" dirty="0"/>
          </a:p>
        </p:txBody>
      </p:sp>
      <p:sp>
        <p:nvSpPr>
          <p:cNvPr id="2" name="矩形 1"/>
          <p:cNvSpPr/>
          <p:nvPr/>
        </p:nvSpPr>
        <p:spPr>
          <a:xfrm>
            <a:off x="7429980" y="4756740"/>
            <a:ext cx="4566690" cy="1569660"/>
          </a:xfrm>
          <a:prstGeom prst="rect">
            <a:avLst/>
          </a:prstGeom>
        </p:spPr>
        <p:txBody>
          <a:bodyPr wrap="square">
            <a:spAutoFit/>
          </a:bodyPr>
          <a:lstStyle/>
          <a:p>
            <a:r>
              <a:rPr lang="en-US" altLang="zh-CN" b="1" dirty="0"/>
              <a:t>Andrew Ng</a:t>
            </a:r>
            <a:endParaRPr lang="en-US" altLang="zh-CN" dirty="0"/>
          </a:p>
          <a:p>
            <a:r>
              <a:rPr lang="zh-CN" altLang="zh-CN" dirty="0"/>
              <a:t>中文名</a:t>
            </a:r>
            <a:r>
              <a:rPr lang="zh-CN" altLang="zh-CN" b="1" dirty="0"/>
              <a:t>吴恩达</a:t>
            </a:r>
            <a:r>
              <a:rPr lang="zh-CN" altLang="zh-CN" dirty="0"/>
              <a:t>，斯坦福大学副教授，</a:t>
            </a:r>
            <a:r>
              <a:rPr lang="zh-CN" altLang="en-US" dirty="0"/>
              <a:t>前</a:t>
            </a:r>
            <a:r>
              <a:rPr lang="en-US" altLang="zh-CN" dirty="0"/>
              <a:t>“</a:t>
            </a:r>
            <a:r>
              <a:rPr lang="zh-CN" altLang="zh-CN" dirty="0"/>
              <a:t>百度大脑</a:t>
            </a:r>
            <a:r>
              <a:rPr lang="en-US" altLang="zh-CN" dirty="0"/>
              <a:t>”</a:t>
            </a:r>
            <a:r>
              <a:rPr lang="zh-CN" altLang="zh-CN" dirty="0"/>
              <a:t>的负责人与百度首席科学家。</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45750" y="4937045"/>
            <a:ext cx="4340650" cy="1692771"/>
          </a:xfrm>
          <a:prstGeom prst="rect">
            <a:avLst/>
          </a:prstGeom>
          <a:noFill/>
        </p:spPr>
        <p:txBody>
          <a:bodyPr wrap="square" rtlCol="0">
            <a:spAutoFit/>
          </a:bodyPr>
          <a:lstStyle/>
          <a:p>
            <a:r>
              <a:rPr lang="zh-CN" altLang="en-US" sz="2000" b="1" dirty="0"/>
              <a:t>李航</a:t>
            </a:r>
            <a:r>
              <a:rPr lang="en-US" altLang="zh-CN" sz="2000" dirty="0"/>
              <a:t>,</a:t>
            </a:r>
            <a:r>
              <a:rPr lang="zh-CN" altLang="en-US" sz="2000" dirty="0"/>
              <a:t> 现任字节跳动科技有限公司人工智能实验室总监，北京大学、南京大学客座教授，</a:t>
            </a:r>
            <a:r>
              <a:rPr lang="en-US" altLang="zh-CN" sz="2000" dirty="0"/>
              <a:t>IEEE </a:t>
            </a:r>
            <a:r>
              <a:rPr lang="zh-CN" altLang="en-US" sz="2000" dirty="0"/>
              <a:t>会士，</a:t>
            </a:r>
            <a:r>
              <a:rPr lang="en-US" altLang="zh-CN" sz="2000" dirty="0"/>
              <a:t>ACM </a:t>
            </a:r>
            <a:r>
              <a:rPr lang="zh-CN" altLang="en-US" sz="2000" dirty="0"/>
              <a:t>杰出科学家，</a:t>
            </a:r>
            <a:r>
              <a:rPr lang="en-US" altLang="zh-CN" sz="2000" dirty="0"/>
              <a:t>CCF </a:t>
            </a:r>
            <a:r>
              <a:rPr lang="zh-CN" altLang="en-US" sz="2000" dirty="0"/>
              <a:t>高级会员。</a:t>
            </a:r>
            <a:endParaRPr lang="en-US" altLang="zh-CN" sz="2000" dirty="0"/>
          </a:p>
          <a:p>
            <a:r>
              <a:rPr lang="zh-CN" altLang="en-US" sz="2000" dirty="0"/>
              <a:t>代表作：</a:t>
            </a:r>
            <a:r>
              <a:rPr lang="en-US" altLang="zh-CN" sz="2000" dirty="0"/>
              <a:t>《</a:t>
            </a:r>
            <a:r>
              <a:rPr lang="zh-CN" altLang="en-US" sz="2000" dirty="0">
                <a:highlight>
                  <a:srgbClr val="FFFF00"/>
                </a:highlight>
              </a:rPr>
              <a:t>统计学习方法</a:t>
            </a:r>
            <a:r>
              <a:rPr lang="en-US" altLang="zh-CN" sz="2000" dirty="0"/>
              <a:t>》</a:t>
            </a:r>
            <a:endParaRPr lang="en-US" altLang="zh-CN" sz="2000" dirty="0"/>
          </a:p>
        </p:txBody>
      </p:sp>
      <p:sp>
        <p:nvSpPr>
          <p:cNvPr id="13" name="文本框 22"/>
          <p:cNvSpPr txBox="1">
            <a:spLocks noChangeArrowheads="1"/>
          </p:cNvSpPr>
          <p:nvPr/>
        </p:nvSpPr>
        <p:spPr bwMode="auto">
          <a:xfrm>
            <a:off x="591468" y="194686"/>
            <a:ext cx="70983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机器学习界的国内泰斗</a:t>
            </a:r>
            <a:endParaRPr lang="zh-CN" altLang="en-US" dirty="0"/>
          </a:p>
        </p:txBody>
      </p:sp>
      <p:sp>
        <p:nvSpPr>
          <p:cNvPr id="2" name="矩形 1"/>
          <p:cNvSpPr/>
          <p:nvPr/>
        </p:nvSpPr>
        <p:spPr>
          <a:xfrm>
            <a:off x="6744450" y="4931496"/>
            <a:ext cx="4100383" cy="1015663"/>
          </a:xfrm>
          <a:prstGeom prst="rect">
            <a:avLst/>
          </a:prstGeom>
        </p:spPr>
        <p:txBody>
          <a:bodyPr wrap="square">
            <a:spAutoFit/>
          </a:bodyPr>
          <a:lstStyle/>
          <a:p>
            <a:r>
              <a:rPr lang="zh-CN" altLang="en-US" sz="2000" b="1" dirty="0"/>
              <a:t>周志华</a:t>
            </a:r>
            <a:r>
              <a:rPr lang="zh-CN" altLang="zh-CN" sz="2000" dirty="0"/>
              <a:t>，</a:t>
            </a:r>
            <a:r>
              <a:rPr lang="zh-CN" altLang="en-US" sz="2000" dirty="0"/>
              <a:t>南京大学计算机科学与技术系主任</a:t>
            </a:r>
            <a:r>
              <a:rPr lang="en-US" altLang="zh-CN" sz="2000" dirty="0"/>
              <a:t>  </a:t>
            </a:r>
            <a:r>
              <a:rPr lang="zh-CN" altLang="en-US" sz="2000" dirty="0"/>
              <a:t>、人工智能学院院长。</a:t>
            </a:r>
            <a:endParaRPr lang="zh-CN" altLang="en-US" sz="2000" dirty="0"/>
          </a:p>
          <a:p>
            <a:r>
              <a:rPr lang="zh-CN" altLang="en-US" sz="2000" dirty="0"/>
              <a:t>代表作：</a:t>
            </a:r>
            <a:r>
              <a:rPr lang="en-US" altLang="zh-CN" sz="2000" dirty="0"/>
              <a:t>《</a:t>
            </a:r>
            <a:r>
              <a:rPr lang="zh-CN" altLang="en-US" sz="2000" dirty="0">
                <a:highlight>
                  <a:srgbClr val="FFFF00"/>
                </a:highlight>
              </a:rPr>
              <a:t>机器学习</a:t>
            </a:r>
            <a:r>
              <a:rPr lang="en-US" altLang="zh-CN" sz="2000" dirty="0"/>
              <a:t>》</a:t>
            </a:r>
            <a:r>
              <a:rPr lang="zh-CN" altLang="en-US" sz="2000" dirty="0"/>
              <a:t>（西瓜书）</a:t>
            </a:r>
            <a:endParaRPr lang="zh-CN" altLang="en-US" sz="2000" dirty="0"/>
          </a:p>
        </p:txBody>
      </p:sp>
      <p:sp>
        <p:nvSpPr>
          <p:cNvPr id="4" name="AutoShape 2" descr="https://image.jiqizhixin.com/uploads/editor/857475d9-f530-425d-9b0e-62e3c0f30fff/640.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23326" t="7032" r="27801"/>
          <a:stretch>
            <a:fillRect/>
          </a:stretch>
        </p:blipFill>
        <p:spPr>
          <a:xfrm>
            <a:off x="7196918" y="1299250"/>
            <a:ext cx="2852785" cy="3574829"/>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6955" y="1295343"/>
            <a:ext cx="2661870" cy="35826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33823" y="4937043"/>
            <a:ext cx="4591116" cy="1631216"/>
          </a:xfrm>
          <a:prstGeom prst="rect">
            <a:avLst/>
          </a:prstGeom>
          <a:noFill/>
        </p:spPr>
        <p:txBody>
          <a:bodyPr wrap="square" rtlCol="0">
            <a:spAutoFit/>
          </a:bodyPr>
          <a:lstStyle/>
          <a:p>
            <a:r>
              <a:rPr lang="zh-CN" altLang="en-US" sz="2000" b="1" dirty="0"/>
              <a:t>陈天奇</a:t>
            </a:r>
            <a:r>
              <a:rPr lang="en-US" altLang="zh-CN" sz="2000" dirty="0"/>
              <a:t>,</a:t>
            </a:r>
            <a:r>
              <a:rPr lang="zh-CN" altLang="en-US" sz="2000" dirty="0"/>
              <a:t>陈天奇是机器学习领域著名的青年华人学者之一，本科毕业于上海交通大学</a:t>
            </a:r>
            <a:r>
              <a:rPr lang="en-US" altLang="zh-CN" sz="2000" dirty="0"/>
              <a:t>ACM</a:t>
            </a:r>
            <a:r>
              <a:rPr lang="zh-CN" altLang="en-US" sz="2000" dirty="0"/>
              <a:t>班，博士毕业于华盛顿大学计算机系。</a:t>
            </a:r>
            <a:endParaRPr lang="en-US" altLang="zh-CN" sz="2000" dirty="0"/>
          </a:p>
          <a:p>
            <a:r>
              <a:rPr lang="zh-CN" altLang="en-US" sz="2000" dirty="0"/>
              <a:t>主要贡献：设计了</a:t>
            </a:r>
            <a:r>
              <a:rPr lang="en-US" altLang="zh-CN" sz="2000" dirty="0" err="1"/>
              <a:t>XGBoost</a:t>
            </a:r>
            <a:r>
              <a:rPr lang="zh-CN" altLang="en-US" sz="2000" dirty="0"/>
              <a:t>算法。</a:t>
            </a:r>
            <a:endParaRPr lang="en-US" altLang="zh-CN" sz="2000" dirty="0"/>
          </a:p>
        </p:txBody>
      </p:sp>
      <p:sp>
        <p:nvSpPr>
          <p:cNvPr id="13" name="文本框 22"/>
          <p:cNvSpPr txBox="1">
            <a:spLocks noChangeArrowheads="1"/>
          </p:cNvSpPr>
          <p:nvPr/>
        </p:nvSpPr>
        <p:spPr bwMode="auto">
          <a:xfrm>
            <a:off x="597907" y="246657"/>
            <a:ext cx="70983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机器学习界的青年才俊</a:t>
            </a:r>
            <a:endParaRPr lang="zh-CN" altLang="en-US" dirty="0"/>
          </a:p>
        </p:txBody>
      </p:sp>
      <p:sp>
        <p:nvSpPr>
          <p:cNvPr id="2" name="矩形 1"/>
          <p:cNvSpPr/>
          <p:nvPr/>
        </p:nvSpPr>
        <p:spPr>
          <a:xfrm>
            <a:off x="6285507" y="4937044"/>
            <a:ext cx="5167584" cy="1692771"/>
          </a:xfrm>
          <a:prstGeom prst="rect">
            <a:avLst/>
          </a:prstGeom>
        </p:spPr>
        <p:txBody>
          <a:bodyPr wrap="square">
            <a:spAutoFit/>
          </a:bodyPr>
          <a:lstStyle/>
          <a:p>
            <a:r>
              <a:rPr lang="zh-CN" altLang="en-US" sz="2000" b="1" dirty="0"/>
              <a:t>何恺明</a:t>
            </a:r>
            <a:r>
              <a:rPr lang="zh-CN" altLang="zh-CN" sz="2000" dirty="0"/>
              <a:t>，</a:t>
            </a:r>
            <a:r>
              <a:rPr lang="zh-CN" altLang="en-US" sz="2000" dirty="0"/>
              <a:t>本科就读于清华大学，博士毕业于香港中文大学多媒体实验室。</a:t>
            </a:r>
            <a:r>
              <a:rPr lang="en-US" altLang="zh-CN" sz="2000" dirty="0"/>
              <a:t>2016</a:t>
            </a:r>
            <a:r>
              <a:rPr lang="zh-CN" altLang="en-US" sz="2000" dirty="0"/>
              <a:t>年，加入</a:t>
            </a:r>
            <a:r>
              <a:rPr lang="en-US" altLang="zh-CN" sz="2000" dirty="0"/>
              <a:t>Facebook AI Research</a:t>
            </a:r>
            <a:r>
              <a:rPr lang="zh-CN" altLang="en-US" sz="2000" dirty="0"/>
              <a:t>（</a:t>
            </a:r>
            <a:r>
              <a:rPr lang="en-US" altLang="zh-CN" sz="2000" dirty="0"/>
              <a:t>FAIR</a:t>
            </a:r>
            <a:r>
              <a:rPr lang="zh-CN" altLang="en-US" sz="2000" dirty="0"/>
              <a:t>）担任研究科学家。</a:t>
            </a:r>
            <a:endParaRPr lang="zh-CN" altLang="en-US" sz="2000" dirty="0"/>
          </a:p>
          <a:p>
            <a:r>
              <a:rPr lang="zh-CN" altLang="en-US" sz="2000" dirty="0"/>
              <a:t>主要贡献：设计了</a:t>
            </a:r>
            <a:r>
              <a:rPr lang="en-US" altLang="zh-CN" sz="2000" dirty="0" err="1"/>
              <a:t>ResNets</a:t>
            </a:r>
            <a:endParaRPr lang="zh-CN" altLang="en-US" sz="2000" dirty="0"/>
          </a:p>
        </p:txBody>
      </p:sp>
      <p:sp>
        <p:nvSpPr>
          <p:cNvPr id="4" name="AutoShape 2" descr="https://image.jiqizhixin.com/uploads/editor/857475d9-f530-425d-9b0e-62e3c0f30fff/640.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28" name="Picture 4" descr="https://image.jiqizhixin.com/uploads/editor/857475d9-f530-425d-9b0e-62e3c0f30fff/640.jpe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10522" t="-273" r="16284" b="273"/>
          <a:stretch>
            <a:fillRect/>
          </a:stretch>
        </p:blipFill>
        <p:spPr bwMode="auto">
          <a:xfrm>
            <a:off x="1829014" y="1282889"/>
            <a:ext cx="2674629" cy="36541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bkimg.cdn.bcebos.com/pic/377adab44aed2e7324ede73d8a01a18b87d6fa9f?x-bce-process=image/resize,m_lfit,w_268,limit_1/format,f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6060" y="1282889"/>
            <a:ext cx="2600055" cy="35947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22"/>
          <p:cNvSpPr txBox="1">
            <a:spLocks noChangeArrowheads="1"/>
          </p:cNvSpPr>
          <p:nvPr/>
        </p:nvSpPr>
        <p:spPr bwMode="auto">
          <a:xfrm>
            <a:off x="604506" y="279936"/>
            <a:ext cx="70983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国内外知名人工智能企业榜单</a:t>
            </a:r>
            <a:endParaRPr lang="zh-CN" altLang="en-US" dirty="0"/>
          </a:p>
        </p:txBody>
      </p:sp>
      <p:graphicFrame>
        <p:nvGraphicFramePr>
          <p:cNvPr id="13" name="object 4"/>
          <p:cNvGraphicFramePr>
            <a:graphicFrameLocks noGrp="1"/>
          </p:cNvGraphicFramePr>
          <p:nvPr/>
        </p:nvGraphicFramePr>
        <p:xfrm>
          <a:off x="373038" y="1305635"/>
          <a:ext cx="10882832" cy="5221220"/>
        </p:xfrm>
        <a:graphic>
          <a:graphicData uri="http://schemas.openxmlformats.org/drawingml/2006/table">
            <a:tbl>
              <a:tblPr firstRow="1" bandRow="1">
                <a:tableStyleId>{2D5ABB26-0587-4C30-8999-92F81FD0307C}</a:tableStyleId>
              </a:tblPr>
              <a:tblGrid>
                <a:gridCol w="524904"/>
                <a:gridCol w="1639196"/>
                <a:gridCol w="2485623"/>
                <a:gridCol w="1493949"/>
                <a:gridCol w="846336"/>
                <a:gridCol w="1297608"/>
                <a:gridCol w="1297608"/>
                <a:gridCol w="1297608"/>
              </a:tblGrid>
              <a:tr h="210536">
                <a:tc>
                  <a:txBody>
                    <a:bodyPr/>
                    <a:lstStyle/>
                    <a:p>
                      <a:pPr marL="16510" algn="ctr">
                        <a:lnSpc>
                          <a:spcPct val="100000"/>
                        </a:lnSpc>
                        <a:spcBef>
                          <a:spcPts val="375"/>
                        </a:spcBef>
                      </a:pPr>
                      <a:r>
                        <a:rPr sz="1200" b="1" dirty="0">
                          <a:solidFill>
                            <a:srgbClr val="FFFFFF"/>
                          </a:solidFill>
                          <a:latin typeface="+mj-ea"/>
                          <a:ea typeface="+mj-ea"/>
                          <a:cs typeface="微软雅黑" panose="020B0503020204020204" pitchFamily="34" charset="-122"/>
                        </a:rPr>
                        <a:t>编码</a:t>
                      </a:r>
                      <a:endParaRPr sz="1200" b="1"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0070C0"/>
                    </a:solidFill>
                  </a:tcPr>
                </a:tc>
                <a:tc>
                  <a:txBody>
                    <a:bodyPr/>
                    <a:lstStyle/>
                    <a:p>
                      <a:pPr marL="635" algn="ctr">
                        <a:lnSpc>
                          <a:spcPct val="100000"/>
                        </a:lnSpc>
                        <a:spcBef>
                          <a:spcPts val="375"/>
                        </a:spcBef>
                      </a:pPr>
                      <a:r>
                        <a:rPr sz="1200" b="1" dirty="0">
                          <a:solidFill>
                            <a:srgbClr val="FFFFFF"/>
                          </a:solidFill>
                          <a:latin typeface="+mj-ea"/>
                          <a:ea typeface="+mj-ea"/>
                          <a:cs typeface="微软雅黑" panose="020B0503020204020204" pitchFamily="34" charset="-122"/>
                        </a:rPr>
                        <a:t>企业名称</a:t>
                      </a:r>
                      <a:endParaRPr sz="1200" b="1"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algn="ctr">
                        <a:lnSpc>
                          <a:spcPct val="100000"/>
                        </a:lnSpc>
                        <a:spcBef>
                          <a:spcPts val="375"/>
                        </a:spcBef>
                      </a:pPr>
                      <a:r>
                        <a:rPr sz="1200" b="1" dirty="0">
                          <a:solidFill>
                            <a:srgbClr val="FFFFFF"/>
                          </a:solidFill>
                          <a:latin typeface="+mj-ea"/>
                          <a:ea typeface="+mj-ea"/>
                          <a:cs typeface="微软雅黑" panose="020B0503020204020204" pitchFamily="34" charset="-122"/>
                        </a:rPr>
                        <a:t>人工智能技术</a:t>
                      </a:r>
                      <a:endParaRPr sz="1200" b="1">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marL="3810" algn="ctr">
                        <a:lnSpc>
                          <a:spcPct val="100000"/>
                        </a:lnSpc>
                        <a:spcBef>
                          <a:spcPts val="375"/>
                        </a:spcBef>
                      </a:pPr>
                      <a:r>
                        <a:rPr sz="1200" b="1" dirty="0">
                          <a:solidFill>
                            <a:srgbClr val="FFFFFF"/>
                          </a:solidFill>
                          <a:latin typeface="+mj-ea"/>
                          <a:ea typeface="+mj-ea"/>
                          <a:cs typeface="微软雅黑" panose="020B0503020204020204" pitchFamily="34" charset="-122"/>
                        </a:rPr>
                        <a:t>应用领域</a:t>
                      </a:r>
                      <a:endParaRPr sz="1200" b="1">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marL="13335" algn="ctr">
                        <a:lnSpc>
                          <a:spcPct val="100000"/>
                        </a:lnSpc>
                        <a:spcBef>
                          <a:spcPts val="375"/>
                        </a:spcBef>
                      </a:pPr>
                      <a:r>
                        <a:rPr sz="1200" b="1" dirty="0">
                          <a:solidFill>
                            <a:srgbClr val="FFFFFF"/>
                          </a:solidFill>
                          <a:latin typeface="+mj-ea"/>
                          <a:ea typeface="+mj-ea"/>
                          <a:cs typeface="微软雅黑" panose="020B0503020204020204" pitchFamily="34" charset="-122"/>
                        </a:rPr>
                        <a:t>所属国家</a:t>
                      </a:r>
                      <a:endParaRPr sz="1200" b="1">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marL="17145" algn="ctr">
                        <a:lnSpc>
                          <a:spcPct val="100000"/>
                        </a:lnSpc>
                        <a:spcBef>
                          <a:spcPts val="375"/>
                        </a:spcBef>
                      </a:pPr>
                      <a:r>
                        <a:rPr sz="1200" b="1" dirty="0">
                          <a:solidFill>
                            <a:srgbClr val="FFFFFF"/>
                          </a:solidFill>
                          <a:latin typeface="+mj-ea"/>
                          <a:ea typeface="+mj-ea"/>
                          <a:cs typeface="微软雅黑" panose="020B0503020204020204" pitchFamily="34" charset="-122"/>
                        </a:rPr>
                        <a:t>成立时间</a:t>
                      </a:r>
                      <a:endParaRPr sz="1200" b="1"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marL="20955" algn="ctr">
                        <a:lnSpc>
                          <a:spcPct val="100000"/>
                        </a:lnSpc>
                        <a:spcBef>
                          <a:spcPts val="375"/>
                        </a:spcBef>
                      </a:pPr>
                      <a:r>
                        <a:rPr sz="1200" b="1" dirty="0">
                          <a:solidFill>
                            <a:srgbClr val="FFFFFF"/>
                          </a:solidFill>
                          <a:latin typeface="+mj-ea"/>
                          <a:ea typeface="+mj-ea"/>
                          <a:cs typeface="微软雅黑" panose="020B0503020204020204" pitchFamily="34" charset="-122"/>
                        </a:rPr>
                        <a:t>资本市场状态</a:t>
                      </a:r>
                      <a:endParaRPr sz="1200" b="1"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c>
                  <a:txBody>
                    <a:bodyPr/>
                    <a:lstStyle/>
                    <a:p>
                      <a:pPr marL="5715" algn="ctr">
                        <a:lnSpc>
                          <a:spcPct val="100000"/>
                        </a:lnSpc>
                        <a:spcBef>
                          <a:spcPts val="375"/>
                        </a:spcBef>
                      </a:pPr>
                      <a:r>
                        <a:rPr sz="1200" b="1" dirty="0">
                          <a:solidFill>
                            <a:srgbClr val="FFFFFF"/>
                          </a:solidFill>
                          <a:latin typeface="+mj-ea"/>
                          <a:ea typeface="+mj-ea"/>
                          <a:cs typeface="微软雅黑" panose="020B0503020204020204" pitchFamily="34" charset="-122"/>
                        </a:rPr>
                        <a:t>市值/估值/融资额</a:t>
                      </a:r>
                      <a:endParaRPr sz="1200" b="1"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8EA9DB"/>
                    </a:solidFill>
                  </a:tcPr>
                </a:tc>
              </a:tr>
              <a:tr h="328436">
                <a:tc>
                  <a:txBody>
                    <a:bodyPr/>
                    <a:lstStyle/>
                    <a:p>
                      <a:pPr marL="14605" algn="ctr">
                        <a:lnSpc>
                          <a:spcPct val="100000"/>
                        </a:lnSpc>
                        <a:spcBef>
                          <a:spcPts val="900"/>
                        </a:spcBef>
                      </a:pPr>
                      <a:r>
                        <a:rPr sz="1050" dirty="0">
                          <a:latin typeface="+mj-ea"/>
                          <a:ea typeface="+mj-ea"/>
                          <a:cs typeface="微软雅黑" panose="020B0503020204020204" pitchFamily="34" charset="-122"/>
                        </a:rPr>
                        <a:t>1</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900"/>
                        </a:spcBef>
                      </a:pPr>
                      <a:r>
                        <a:rPr sz="1050" dirty="0">
                          <a:latin typeface="+mj-ea"/>
                          <a:ea typeface="+mj-ea"/>
                          <a:cs typeface="微软雅黑" panose="020B0503020204020204" pitchFamily="34" charset="-122"/>
                        </a:rPr>
                        <a:t>M</a:t>
                      </a:r>
                      <a:r>
                        <a:rPr sz="1050" spc="-5" dirty="0">
                          <a:latin typeface="+mj-ea"/>
                          <a:ea typeface="+mj-ea"/>
                          <a:cs typeface="微软雅黑" panose="020B0503020204020204" pitchFamily="34" charset="-122"/>
                        </a:rPr>
                        <a:t>i</a:t>
                      </a:r>
                      <a:r>
                        <a:rPr sz="1050" dirty="0">
                          <a:latin typeface="+mj-ea"/>
                          <a:ea typeface="+mj-ea"/>
                          <a:cs typeface="微软雅黑" panose="020B0503020204020204" pitchFamily="34" charset="-122"/>
                        </a:rPr>
                        <a:t>c</a:t>
                      </a:r>
                      <a:r>
                        <a:rPr sz="1050" spc="-15" dirty="0">
                          <a:latin typeface="+mj-ea"/>
                          <a:ea typeface="+mj-ea"/>
                          <a:cs typeface="微软雅黑" panose="020B0503020204020204" pitchFamily="34" charset="-122"/>
                        </a:rPr>
                        <a:t>r</a:t>
                      </a:r>
                      <a:r>
                        <a:rPr sz="1050" spc="-5" dirty="0">
                          <a:latin typeface="+mj-ea"/>
                          <a:ea typeface="+mj-ea"/>
                          <a:cs typeface="微软雅黑" panose="020B0503020204020204" pitchFamily="34" charset="-122"/>
                        </a:rPr>
                        <a:t>o</a:t>
                      </a:r>
                      <a:r>
                        <a:rPr sz="1050" dirty="0">
                          <a:latin typeface="+mj-ea"/>
                          <a:ea typeface="+mj-ea"/>
                          <a:cs typeface="微软雅黑" panose="020B0503020204020204" pitchFamily="34" charset="-122"/>
                        </a:rPr>
                        <a:t>s</a:t>
                      </a:r>
                      <a:r>
                        <a:rPr sz="1050" spc="-20" dirty="0">
                          <a:latin typeface="+mj-ea"/>
                          <a:ea typeface="+mj-ea"/>
                          <a:cs typeface="微软雅黑" panose="020B0503020204020204" pitchFamily="34" charset="-122"/>
                        </a:rPr>
                        <a:t>o</a:t>
                      </a:r>
                      <a:r>
                        <a:rPr sz="1050" spc="10" dirty="0">
                          <a:latin typeface="+mj-ea"/>
                          <a:ea typeface="+mj-ea"/>
                          <a:cs typeface="微软雅黑" panose="020B0503020204020204" pitchFamily="34" charset="-122"/>
                        </a:rPr>
                        <a:t>f</a:t>
                      </a:r>
                      <a:r>
                        <a:rPr sz="1050" dirty="0">
                          <a:latin typeface="+mj-ea"/>
                          <a:ea typeface="+mj-ea"/>
                          <a:cs typeface="微软雅黑" panose="020B0503020204020204" pitchFamily="34" charset="-122"/>
                        </a:rPr>
                        <a:t>t（微软）</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38225" marR="80645" indent="-952500">
                        <a:lnSpc>
                          <a:spcPct val="117000"/>
                        </a:lnSpc>
                      </a:pPr>
                      <a:r>
                        <a:rPr sz="1050" dirty="0">
                          <a:latin typeface="+mj-ea"/>
                          <a:ea typeface="+mj-ea"/>
                          <a:cs typeface="微软雅黑" panose="020B0503020204020204" pitchFamily="34" charset="-122"/>
                        </a:rPr>
                        <a:t>计算机视觉技术、自然语言处理技术 等</a:t>
                      </a:r>
                      <a:endParaRPr sz="1050" dirty="0">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900"/>
                        </a:spcBef>
                      </a:pPr>
                      <a:r>
                        <a:rPr sz="1050" dirty="0">
                          <a:latin typeface="+mj-ea"/>
                          <a:ea typeface="+mj-ea"/>
                          <a:cs typeface="微软雅黑" panose="020B0503020204020204" pitchFamily="34" charset="-122"/>
                        </a:rPr>
                        <a:t>办公</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900"/>
                        </a:spcBef>
                      </a:pPr>
                      <a:r>
                        <a:rPr sz="1050" dirty="0">
                          <a:latin typeface="+mj-ea"/>
                          <a:ea typeface="+mj-ea"/>
                          <a:cs typeface="微软雅黑" panose="020B0503020204020204" pitchFamily="34" charset="-122"/>
                        </a:rPr>
                        <a:t>美国</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900"/>
                        </a:spcBef>
                      </a:pPr>
                      <a:r>
                        <a:rPr sz="1050" spc="-5" dirty="0">
                          <a:latin typeface="+mj-ea"/>
                          <a:ea typeface="+mj-ea"/>
                          <a:cs typeface="微软雅黑" panose="020B0503020204020204" pitchFamily="34" charset="-122"/>
                        </a:rPr>
                        <a:t>1975年</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900"/>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900"/>
                        </a:spcBef>
                      </a:pPr>
                      <a:r>
                        <a:rPr sz="1050" dirty="0">
                          <a:latin typeface="+mj-ea"/>
                          <a:ea typeface="+mj-ea"/>
                          <a:cs typeface="微软雅黑" panose="020B0503020204020204" pitchFamily="34" charset="-122"/>
                        </a:rPr>
                        <a:t>市值1</a:t>
                      </a:r>
                      <a:r>
                        <a:rPr sz="1050" spc="-5" dirty="0">
                          <a:latin typeface="+mj-ea"/>
                          <a:ea typeface="+mj-ea"/>
                          <a:cs typeface="微软雅黑" panose="020B0503020204020204" pitchFamily="34" charset="-122"/>
                        </a:rPr>
                        <a:t>.21</a:t>
                      </a:r>
                      <a:r>
                        <a:rPr sz="1050" dirty="0">
                          <a:latin typeface="+mj-ea"/>
                          <a:ea typeface="+mj-ea"/>
                          <a:cs typeface="微软雅黑" panose="020B0503020204020204" pitchFamily="34" charset="-122"/>
                        </a:rPr>
                        <a:t>万亿美元</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335688">
                <a:tc>
                  <a:txBody>
                    <a:bodyPr/>
                    <a:lstStyle/>
                    <a:p>
                      <a:pPr marL="14605" algn="ctr">
                        <a:lnSpc>
                          <a:spcPct val="100000"/>
                        </a:lnSpc>
                        <a:spcBef>
                          <a:spcPts val="890"/>
                        </a:spcBef>
                      </a:pPr>
                      <a:r>
                        <a:rPr sz="1050" dirty="0">
                          <a:latin typeface="+mj-ea"/>
                          <a:ea typeface="+mj-ea"/>
                          <a:cs typeface="微软雅黑" panose="020B0503020204020204" pitchFamily="34" charset="-122"/>
                        </a:rPr>
                        <a:t>2</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1430" algn="ctr">
                        <a:lnSpc>
                          <a:spcPct val="100000"/>
                        </a:lnSpc>
                        <a:spcBef>
                          <a:spcPts val="890"/>
                        </a:spcBef>
                      </a:pPr>
                      <a:r>
                        <a:rPr sz="1050" dirty="0">
                          <a:latin typeface="+mj-ea"/>
                          <a:ea typeface="+mj-ea"/>
                          <a:cs typeface="微软雅黑" panose="020B0503020204020204" pitchFamily="34" charset="-122"/>
                        </a:rPr>
                        <a:t>G</a:t>
                      </a:r>
                      <a:r>
                        <a:rPr sz="1050" spc="-5" dirty="0">
                          <a:latin typeface="+mj-ea"/>
                          <a:ea typeface="+mj-ea"/>
                          <a:cs typeface="微软雅黑" panose="020B0503020204020204" pitchFamily="34" charset="-122"/>
                        </a:rPr>
                        <a:t>oogl</a:t>
                      </a:r>
                      <a:r>
                        <a:rPr sz="1050" dirty="0">
                          <a:latin typeface="+mj-ea"/>
                          <a:ea typeface="+mj-ea"/>
                          <a:cs typeface="微软雅黑" panose="020B0503020204020204" pitchFamily="34" charset="-122"/>
                        </a:rPr>
                        <a:t>e（谷歌）</a:t>
                      </a:r>
                      <a:endParaRPr sz="1050" dirty="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38225" marR="80645" indent="-952500">
                        <a:lnSpc>
                          <a:spcPts val="1400"/>
                        </a:lnSpc>
                        <a:spcBef>
                          <a:spcPts val="70"/>
                        </a:spcBef>
                      </a:pPr>
                      <a:r>
                        <a:rPr sz="1050" dirty="0">
                          <a:latin typeface="+mj-ea"/>
                          <a:ea typeface="+mj-ea"/>
                          <a:cs typeface="微软雅黑" panose="020B0503020204020204" pitchFamily="34" charset="-122"/>
                        </a:rPr>
                        <a:t>计算机视觉技术、自然语言处理技术 等</a:t>
                      </a:r>
                      <a:endParaRPr sz="1050">
                        <a:latin typeface="+mj-ea"/>
                        <a:ea typeface="+mj-ea"/>
                        <a:cs typeface="微软雅黑" panose="020B0503020204020204" pitchFamily="34" charset="-122"/>
                      </a:endParaRPr>
                    </a:p>
                  </a:txBody>
                  <a:tcPr marL="0" marR="0" marT="889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890"/>
                        </a:spcBef>
                      </a:pPr>
                      <a:r>
                        <a:rPr sz="1050" dirty="0">
                          <a:latin typeface="+mj-ea"/>
                          <a:ea typeface="+mj-ea"/>
                          <a:cs typeface="微软雅黑" panose="020B0503020204020204" pitchFamily="34" charset="-122"/>
                        </a:rPr>
                        <a:t>综合</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890"/>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890"/>
                        </a:spcBef>
                      </a:pPr>
                      <a:r>
                        <a:rPr sz="1050" spc="-5" dirty="0">
                          <a:latin typeface="+mj-ea"/>
                          <a:ea typeface="+mj-ea"/>
                          <a:cs typeface="微软雅黑" panose="020B0503020204020204" pitchFamily="34" charset="-122"/>
                        </a:rPr>
                        <a:t>1998年</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890"/>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7780" algn="ctr">
                        <a:lnSpc>
                          <a:spcPct val="100000"/>
                        </a:lnSpc>
                        <a:spcBef>
                          <a:spcPts val="890"/>
                        </a:spcBef>
                      </a:pPr>
                      <a:r>
                        <a:rPr sz="1050" dirty="0">
                          <a:latin typeface="+mj-ea"/>
                          <a:ea typeface="+mj-ea"/>
                          <a:cs typeface="微软雅黑" panose="020B0503020204020204" pitchFamily="34" charset="-122"/>
                        </a:rPr>
                        <a:t>市值9</a:t>
                      </a:r>
                      <a:r>
                        <a:rPr sz="1050" spc="-5" dirty="0">
                          <a:latin typeface="+mj-ea"/>
                          <a:ea typeface="+mj-ea"/>
                          <a:cs typeface="微软雅黑" panose="020B0503020204020204" pitchFamily="34" charset="-122"/>
                        </a:rPr>
                        <a:t>324</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1130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09122">
                <a:tc>
                  <a:txBody>
                    <a:bodyPr/>
                    <a:lstStyle/>
                    <a:p>
                      <a:pPr marL="14605" algn="ctr">
                        <a:lnSpc>
                          <a:spcPct val="100000"/>
                        </a:lnSpc>
                        <a:spcBef>
                          <a:spcPts val="365"/>
                        </a:spcBef>
                      </a:pPr>
                      <a:r>
                        <a:rPr sz="1050" dirty="0">
                          <a:latin typeface="+mj-ea"/>
                          <a:ea typeface="+mj-ea"/>
                          <a:cs typeface="微软雅黑" panose="020B0503020204020204" pitchFamily="34" charset="-122"/>
                        </a:rPr>
                        <a:t>3</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65"/>
                        </a:spcBef>
                      </a:pPr>
                      <a:r>
                        <a:rPr sz="1050" spc="-45" dirty="0">
                          <a:latin typeface="+mj-ea"/>
                          <a:ea typeface="+mj-ea"/>
                          <a:cs typeface="微软雅黑" panose="020B0503020204020204" pitchFamily="34" charset="-122"/>
                        </a:rPr>
                        <a:t>F</a:t>
                      </a:r>
                      <a:r>
                        <a:rPr sz="1050" spc="-5" dirty="0">
                          <a:latin typeface="+mj-ea"/>
                          <a:ea typeface="+mj-ea"/>
                          <a:cs typeface="微软雅黑" panose="020B0503020204020204" pitchFamily="34" charset="-122"/>
                        </a:rPr>
                        <a:t>a</a:t>
                      </a:r>
                      <a:r>
                        <a:rPr sz="1050" dirty="0">
                          <a:latin typeface="+mj-ea"/>
                          <a:ea typeface="+mj-ea"/>
                          <a:cs typeface="微软雅黑" panose="020B0503020204020204" pitchFamily="34" charset="-122"/>
                        </a:rPr>
                        <a:t>ceb</a:t>
                      </a:r>
                      <a:r>
                        <a:rPr sz="1050" spc="-5" dirty="0">
                          <a:latin typeface="+mj-ea"/>
                          <a:ea typeface="+mj-ea"/>
                          <a:cs typeface="微软雅黑" panose="020B0503020204020204" pitchFamily="34" charset="-122"/>
                        </a:rPr>
                        <a:t>ook</a:t>
                      </a:r>
                      <a:r>
                        <a:rPr sz="1050" dirty="0">
                          <a:latin typeface="+mj-ea"/>
                          <a:ea typeface="+mj-ea"/>
                          <a:cs typeface="微软雅黑" panose="020B0503020204020204" pitchFamily="34" charset="-122"/>
                        </a:rPr>
                        <a:t>（脸书）</a:t>
                      </a:r>
                      <a:endParaRPr sz="1050" dirty="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65"/>
                        </a:spcBef>
                      </a:pPr>
                      <a:r>
                        <a:rPr sz="1050" dirty="0">
                          <a:latin typeface="+mj-ea"/>
                          <a:ea typeface="+mj-ea"/>
                          <a:cs typeface="微软雅黑" panose="020B0503020204020204" pitchFamily="34" charset="-122"/>
                        </a:rPr>
                        <a:t>人脸识别、深度学习等</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365"/>
                        </a:spcBef>
                      </a:pPr>
                      <a:r>
                        <a:rPr sz="1050" dirty="0">
                          <a:latin typeface="+mj-ea"/>
                          <a:ea typeface="+mj-ea"/>
                          <a:cs typeface="微软雅黑" panose="020B0503020204020204" pitchFamily="34" charset="-122"/>
                        </a:rPr>
                        <a:t>社交</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365"/>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365"/>
                        </a:spcBef>
                      </a:pPr>
                      <a:r>
                        <a:rPr sz="1050" spc="-5" dirty="0">
                          <a:latin typeface="+mj-ea"/>
                          <a:ea typeface="+mj-ea"/>
                          <a:cs typeface="微软雅黑" panose="020B0503020204020204" pitchFamily="34" charset="-122"/>
                        </a:rPr>
                        <a:t>2004年</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365"/>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7780" algn="ctr">
                        <a:lnSpc>
                          <a:spcPct val="100000"/>
                        </a:lnSpc>
                        <a:spcBef>
                          <a:spcPts val="365"/>
                        </a:spcBef>
                      </a:pPr>
                      <a:r>
                        <a:rPr sz="1050" dirty="0">
                          <a:latin typeface="+mj-ea"/>
                          <a:ea typeface="+mj-ea"/>
                          <a:cs typeface="微软雅黑" panose="020B0503020204020204" pitchFamily="34" charset="-122"/>
                        </a:rPr>
                        <a:t>市值5</a:t>
                      </a:r>
                      <a:r>
                        <a:rPr sz="1050" spc="-5" dirty="0">
                          <a:latin typeface="+mj-ea"/>
                          <a:ea typeface="+mj-ea"/>
                          <a:cs typeface="微软雅黑" panose="020B0503020204020204" pitchFamily="34" charset="-122"/>
                        </a:rPr>
                        <a:t>934</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4635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329021">
                <a:tc>
                  <a:txBody>
                    <a:bodyPr/>
                    <a:lstStyle/>
                    <a:p>
                      <a:pPr marL="14605" algn="ctr">
                        <a:lnSpc>
                          <a:spcPct val="100000"/>
                        </a:lnSpc>
                        <a:spcBef>
                          <a:spcPts val="905"/>
                        </a:spcBef>
                      </a:pPr>
                      <a:r>
                        <a:rPr sz="1050" dirty="0">
                          <a:solidFill>
                            <a:srgbClr val="FF0000"/>
                          </a:solidFill>
                          <a:latin typeface="+mj-ea"/>
                          <a:ea typeface="+mj-ea"/>
                          <a:cs typeface="微软雅黑" panose="020B0503020204020204" pitchFamily="34" charset="-122"/>
                        </a:rPr>
                        <a:t>4</a:t>
                      </a:r>
                      <a:endParaRPr sz="1050" dirty="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635" algn="ctr">
                        <a:lnSpc>
                          <a:spcPct val="100000"/>
                        </a:lnSpc>
                        <a:spcBef>
                          <a:spcPts val="905"/>
                        </a:spcBef>
                      </a:pPr>
                      <a:r>
                        <a:rPr sz="1050" dirty="0">
                          <a:solidFill>
                            <a:srgbClr val="FF0000"/>
                          </a:solidFill>
                          <a:latin typeface="+mj-ea"/>
                          <a:ea typeface="+mj-ea"/>
                          <a:cs typeface="微软雅黑" panose="020B0503020204020204" pitchFamily="34" charset="-122"/>
                        </a:rPr>
                        <a:t>百度</a:t>
                      </a:r>
                      <a:endParaRPr sz="1050" dirty="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657225" marR="144145" indent="-508000">
                        <a:lnSpc>
                          <a:spcPct val="117000"/>
                        </a:lnSpc>
                        <a:spcBef>
                          <a:spcPts val="5"/>
                        </a:spcBef>
                      </a:pPr>
                      <a:r>
                        <a:rPr sz="1050" dirty="0">
                          <a:solidFill>
                            <a:srgbClr val="FF0000"/>
                          </a:solidFill>
                          <a:latin typeface="+mj-ea"/>
                          <a:ea typeface="+mj-ea"/>
                          <a:cs typeface="微软雅黑" panose="020B0503020204020204" pitchFamily="34" charset="-122"/>
                        </a:rPr>
                        <a:t>计算机视觉技术、自然语言处理技 术、知识图谱等</a:t>
                      </a:r>
                      <a:endParaRPr sz="1050" dirty="0">
                        <a:solidFill>
                          <a:srgbClr val="FF0000"/>
                        </a:solidFill>
                        <a:latin typeface="+mj-ea"/>
                        <a:ea typeface="+mj-ea"/>
                        <a:cs typeface="微软雅黑" panose="020B0503020204020204" pitchFamily="34" charset="-122"/>
                      </a:endParaRPr>
                    </a:p>
                  </a:txBody>
                  <a:tcPr marL="0" marR="0" marT="6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905"/>
                        </a:spcBef>
                      </a:pPr>
                      <a:r>
                        <a:rPr sz="1050" dirty="0">
                          <a:solidFill>
                            <a:srgbClr val="FF0000"/>
                          </a:solidFill>
                          <a:latin typeface="+mj-ea"/>
                          <a:ea typeface="+mj-ea"/>
                          <a:cs typeface="微软雅黑" panose="020B0503020204020204" pitchFamily="34" charset="-122"/>
                        </a:rPr>
                        <a:t>综合</a:t>
                      </a:r>
                      <a:endParaRPr sz="105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905"/>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905"/>
                        </a:spcBef>
                      </a:pPr>
                      <a:r>
                        <a:rPr sz="1050" spc="-5" dirty="0">
                          <a:solidFill>
                            <a:srgbClr val="FF0000"/>
                          </a:solidFill>
                          <a:latin typeface="+mj-ea"/>
                          <a:ea typeface="+mj-ea"/>
                          <a:cs typeface="微软雅黑" panose="020B0503020204020204" pitchFamily="34" charset="-122"/>
                        </a:rPr>
                        <a:t>2001年</a:t>
                      </a:r>
                      <a:endParaRPr sz="105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905"/>
                        </a:spcBef>
                      </a:pPr>
                      <a:r>
                        <a:rPr sz="1050" dirty="0">
                          <a:solidFill>
                            <a:srgbClr val="FF0000"/>
                          </a:solidFill>
                          <a:latin typeface="+mj-ea"/>
                          <a:ea typeface="+mj-ea"/>
                          <a:cs typeface="微软雅黑" panose="020B0503020204020204" pitchFamily="34" charset="-122"/>
                        </a:rPr>
                        <a:t>上市</a:t>
                      </a:r>
                      <a:endParaRPr sz="105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9050" algn="ctr">
                        <a:lnSpc>
                          <a:spcPct val="100000"/>
                        </a:lnSpc>
                        <a:spcBef>
                          <a:spcPts val="905"/>
                        </a:spcBef>
                      </a:pPr>
                      <a:r>
                        <a:rPr sz="1050" dirty="0">
                          <a:solidFill>
                            <a:srgbClr val="FF0000"/>
                          </a:solidFill>
                          <a:latin typeface="+mj-ea"/>
                          <a:ea typeface="+mj-ea"/>
                          <a:cs typeface="微软雅黑" panose="020B0503020204020204" pitchFamily="34" charset="-122"/>
                        </a:rPr>
                        <a:t>市值4</a:t>
                      </a:r>
                      <a:r>
                        <a:rPr sz="1050" spc="-5" dirty="0">
                          <a:solidFill>
                            <a:srgbClr val="FF0000"/>
                          </a:solidFill>
                          <a:latin typeface="+mj-ea"/>
                          <a:ea typeface="+mj-ea"/>
                          <a:cs typeface="微软雅黑" panose="020B0503020204020204" pitchFamily="34" charset="-122"/>
                        </a:rPr>
                        <a:t>38</a:t>
                      </a:r>
                      <a:r>
                        <a:rPr sz="1050" dirty="0">
                          <a:solidFill>
                            <a:srgbClr val="FF0000"/>
                          </a:solidFill>
                          <a:latin typeface="+mj-ea"/>
                          <a:ea typeface="+mj-ea"/>
                          <a:cs typeface="微软雅黑" panose="020B0503020204020204" pitchFamily="34" charset="-122"/>
                        </a:rPr>
                        <a:t>亿美元</a:t>
                      </a:r>
                      <a:endParaRPr sz="1050">
                        <a:solidFill>
                          <a:srgbClr val="FF0000"/>
                        </a:solidFill>
                        <a:latin typeface="+mj-ea"/>
                        <a:ea typeface="+mj-ea"/>
                        <a:cs typeface="微软雅黑" panose="020B0503020204020204" pitchFamily="34" charset="-122"/>
                      </a:endParaRPr>
                    </a:p>
                  </a:txBody>
                  <a:tcPr marL="0" marR="0" marT="11493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14605" algn="ctr">
                        <a:lnSpc>
                          <a:spcPct val="100000"/>
                        </a:lnSpc>
                        <a:spcBef>
                          <a:spcPts val="395"/>
                        </a:spcBef>
                      </a:pPr>
                      <a:r>
                        <a:rPr sz="1050" dirty="0">
                          <a:solidFill>
                            <a:srgbClr val="FF0000"/>
                          </a:solidFill>
                          <a:latin typeface="+mj-ea"/>
                          <a:ea typeface="+mj-ea"/>
                          <a:cs typeface="微软雅黑" panose="020B0503020204020204" pitchFamily="34" charset="-122"/>
                        </a:rPr>
                        <a:t>5</a:t>
                      </a:r>
                      <a:endParaRPr sz="105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635" algn="ctr">
                        <a:lnSpc>
                          <a:spcPct val="100000"/>
                        </a:lnSpc>
                        <a:spcBef>
                          <a:spcPts val="395"/>
                        </a:spcBef>
                      </a:pPr>
                      <a:r>
                        <a:rPr sz="1050" dirty="0">
                          <a:solidFill>
                            <a:srgbClr val="FF0000"/>
                          </a:solidFill>
                          <a:latin typeface="+mj-ea"/>
                          <a:ea typeface="+mj-ea"/>
                          <a:cs typeface="微软雅黑" panose="020B0503020204020204" pitchFamily="34" charset="-122"/>
                        </a:rPr>
                        <a:t>大疆创新</a:t>
                      </a:r>
                      <a:endParaRPr sz="1050" dirty="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95"/>
                        </a:spcBef>
                      </a:pPr>
                      <a:r>
                        <a:rPr sz="1050" dirty="0">
                          <a:solidFill>
                            <a:srgbClr val="FF0000"/>
                          </a:solidFill>
                          <a:latin typeface="+mj-ea"/>
                          <a:ea typeface="+mj-ea"/>
                          <a:cs typeface="微软雅黑" panose="020B0503020204020204" pitchFamily="34" charset="-122"/>
                        </a:rPr>
                        <a:t>图像识别技术、智能引擎技术等</a:t>
                      </a:r>
                      <a:endParaRPr sz="1050" dirty="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395"/>
                        </a:spcBef>
                      </a:pPr>
                      <a:r>
                        <a:rPr sz="1050" dirty="0">
                          <a:solidFill>
                            <a:srgbClr val="FF0000"/>
                          </a:solidFill>
                          <a:latin typeface="+mj-ea"/>
                          <a:ea typeface="+mj-ea"/>
                          <a:cs typeface="微软雅黑" panose="020B0503020204020204" pitchFamily="34" charset="-122"/>
                        </a:rPr>
                        <a:t>无人机</a:t>
                      </a:r>
                      <a:endParaRPr sz="105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395"/>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395"/>
                        </a:spcBef>
                      </a:pPr>
                      <a:r>
                        <a:rPr sz="1050" spc="-5" dirty="0">
                          <a:solidFill>
                            <a:srgbClr val="FF0000"/>
                          </a:solidFill>
                          <a:latin typeface="+mj-ea"/>
                          <a:ea typeface="+mj-ea"/>
                          <a:cs typeface="微软雅黑" panose="020B0503020204020204" pitchFamily="34" charset="-122"/>
                        </a:rPr>
                        <a:t>2006年</a:t>
                      </a:r>
                      <a:endParaRPr sz="105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395"/>
                        </a:spcBef>
                      </a:pPr>
                      <a:r>
                        <a:rPr sz="1050" dirty="0">
                          <a:solidFill>
                            <a:srgbClr val="FF0000"/>
                          </a:solidFill>
                          <a:latin typeface="+mj-ea"/>
                          <a:ea typeface="+mj-ea"/>
                          <a:cs typeface="微软雅黑" panose="020B0503020204020204" pitchFamily="34" charset="-122"/>
                        </a:rPr>
                        <a:t>战略融资</a:t>
                      </a:r>
                      <a:endParaRPr sz="105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9050" algn="ctr">
                        <a:lnSpc>
                          <a:spcPct val="100000"/>
                        </a:lnSpc>
                        <a:spcBef>
                          <a:spcPts val="395"/>
                        </a:spcBef>
                      </a:pPr>
                      <a:r>
                        <a:rPr sz="1050" dirty="0">
                          <a:solidFill>
                            <a:srgbClr val="FF0000"/>
                          </a:solidFill>
                          <a:latin typeface="+mj-ea"/>
                          <a:ea typeface="+mj-ea"/>
                          <a:cs typeface="微软雅黑" panose="020B0503020204020204" pitchFamily="34" charset="-122"/>
                        </a:rPr>
                        <a:t>估值2</a:t>
                      </a:r>
                      <a:r>
                        <a:rPr sz="1050" spc="-5" dirty="0">
                          <a:solidFill>
                            <a:srgbClr val="FF0000"/>
                          </a:solidFill>
                          <a:latin typeface="+mj-ea"/>
                          <a:ea typeface="+mj-ea"/>
                          <a:cs typeface="微软雅黑" panose="020B0503020204020204" pitchFamily="34" charset="-122"/>
                        </a:rPr>
                        <a:t>10</a:t>
                      </a:r>
                      <a:r>
                        <a:rPr sz="1050" dirty="0">
                          <a:solidFill>
                            <a:srgbClr val="FF0000"/>
                          </a:solidFill>
                          <a:latin typeface="+mj-ea"/>
                          <a:ea typeface="+mj-ea"/>
                          <a:cs typeface="微软雅黑" panose="020B0503020204020204" pitchFamily="34" charset="-122"/>
                        </a:rPr>
                        <a:t>亿美元</a:t>
                      </a:r>
                      <a:endParaRPr sz="1050">
                        <a:solidFill>
                          <a:srgbClr val="FF0000"/>
                        </a:solidFill>
                        <a:latin typeface="+mj-ea"/>
                        <a:ea typeface="+mj-ea"/>
                        <a:cs typeface="微软雅黑" panose="020B0503020204020204" pitchFamily="34" charset="-122"/>
                      </a:endParaRPr>
                    </a:p>
                  </a:txBody>
                  <a:tcPr marL="0" marR="0" marT="5016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14605" algn="ctr">
                        <a:lnSpc>
                          <a:spcPct val="100000"/>
                        </a:lnSpc>
                        <a:spcBef>
                          <a:spcPts val="320"/>
                        </a:spcBef>
                      </a:pPr>
                      <a:r>
                        <a:rPr sz="1050" dirty="0">
                          <a:solidFill>
                            <a:srgbClr val="FF0000"/>
                          </a:solidFill>
                          <a:latin typeface="+mj-ea"/>
                          <a:ea typeface="+mj-ea"/>
                          <a:cs typeface="微软雅黑" panose="020B0503020204020204" pitchFamily="34" charset="-122"/>
                        </a:rPr>
                        <a:t>6</a:t>
                      </a:r>
                      <a:endParaRPr sz="105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635" algn="ctr">
                        <a:lnSpc>
                          <a:spcPct val="100000"/>
                        </a:lnSpc>
                        <a:spcBef>
                          <a:spcPts val="320"/>
                        </a:spcBef>
                      </a:pPr>
                      <a:r>
                        <a:rPr sz="1050" dirty="0">
                          <a:solidFill>
                            <a:srgbClr val="FF0000"/>
                          </a:solidFill>
                          <a:latin typeface="+mj-ea"/>
                          <a:ea typeface="+mj-ea"/>
                          <a:cs typeface="微软雅黑" panose="020B0503020204020204" pitchFamily="34" charset="-122"/>
                        </a:rPr>
                        <a:t>商汤科技</a:t>
                      </a:r>
                      <a:endParaRPr sz="1050" dirty="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20"/>
                        </a:spcBef>
                      </a:pPr>
                      <a:r>
                        <a:rPr sz="1050" dirty="0">
                          <a:solidFill>
                            <a:srgbClr val="FF0000"/>
                          </a:solidFill>
                          <a:latin typeface="+mj-ea"/>
                          <a:ea typeface="+mj-ea"/>
                          <a:cs typeface="微软雅黑" panose="020B0503020204020204" pitchFamily="34" charset="-122"/>
                        </a:rPr>
                        <a:t>计算机视觉技术、深度学习</a:t>
                      </a:r>
                      <a:endParaRPr sz="1050" dirty="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20"/>
                        </a:spcBef>
                      </a:pPr>
                      <a:r>
                        <a:rPr sz="1050" dirty="0">
                          <a:solidFill>
                            <a:srgbClr val="FF0000"/>
                          </a:solidFill>
                          <a:latin typeface="+mj-ea"/>
                          <a:ea typeface="+mj-ea"/>
                          <a:cs typeface="微软雅黑" panose="020B0503020204020204" pitchFamily="34" charset="-122"/>
                        </a:rPr>
                        <a:t>安防</a:t>
                      </a:r>
                      <a:endParaRPr sz="105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20"/>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20"/>
                        </a:spcBef>
                      </a:pPr>
                      <a:r>
                        <a:rPr sz="1050" spc="-5" dirty="0">
                          <a:solidFill>
                            <a:srgbClr val="FF0000"/>
                          </a:solidFill>
                          <a:latin typeface="+mj-ea"/>
                          <a:ea typeface="+mj-ea"/>
                          <a:cs typeface="微软雅黑" panose="020B0503020204020204" pitchFamily="34" charset="-122"/>
                        </a:rPr>
                        <a:t>2014年</a:t>
                      </a:r>
                      <a:endParaRPr sz="105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5875" algn="ctr">
                        <a:lnSpc>
                          <a:spcPct val="100000"/>
                        </a:lnSpc>
                        <a:spcBef>
                          <a:spcPts val="320"/>
                        </a:spcBef>
                      </a:pPr>
                      <a:r>
                        <a:rPr sz="1050" spc="-5" dirty="0">
                          <a:solidFill>
                            <a:srgbClr val="FF0000"/>
                          </a:solidFill>
                          <a:latin typeface="+mj-ea"/>
                          <a:ea typeface="+mj-ea"/>
                          <a:cs typeface="微软雅黑" panose="020B0503020204020204" pitchFamily="34" charset="-122"/>
                        </a:rPr>
                        <a:t>D</a:t>
                      </a:r>
                      <a:r>
                        <a:rPr sz="1050" dirty="0">
                          <a:solidFill>
                            <a:srgbClr val="FF0000"/>
                          </a:solidFill>
                          <a:latin typeface="+mj-ea"/>
                          <a:ea typeface="+mj-ea"/>
                          <a:cs typeface="微软雅黑" panose="020B0503020204020204" pitchFamily="34" charset="-122"/>
                        </a:rPr>
                        <a:t>轮融资</a:t>
                      </a:r>
                      <a:endParaRPr sz="105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20"/>
                        </a:spcBef>
                      </a:pPr>
                      <a:r>
                        <a:rPr sz="1050" dirty="0">
                          <a:solidFill>
                            <a:srgbClr val="FF0000"/>
                          </a:solidFill>
                          <a:latin typeface="+mj-ea"/>
                          <a:ea typeface="+mj-ea"/>
                          <a:cs typeface="微软雅黑" panose="020B0503020204020204" pitchFamily="34" charset="-122"/>
                        </a:rPr>
                        <a:t>估值7</a:t>
                      </a:r>
                      <a:r>
                        <a:rPr sz="1050" spc="-5" dirty="0">
                          <a:solidFill>
                            <a:srgbClr val="FF0000"/>
                          </a:solidFill>
                          <a:latin typeface="+mj-ea"/>
                          <a:ea typeface="+mj-ea"/>
                          <a:cs typeface="微软雅黑" panose="020B0503020204020204" pitchFamily="34" charset="-122"/>
                        </a:rPr>
                        <a:t>0</a:t>
                      </a:r>
                      <a:r>
                        <a:rPr sz="1050" dirty="0">
                          <a:solidFill>
                            <a:srgbClr val="FF0000"/>
                          </a:solidFill>
                          <a:latin typeface="+mj-ea"/>
                          <a:ea typeface="+mj-ea"/>
                          <a:cs typeface="微软雅黑" panose="020B0503020204020204" pitchFamily="34" charset="-122"/>
                        </a:rPr>
                        <a:t>亿美元</a:t>
                      </a:r>
                      <a:endParaRPr sz="1050">
                        <a:solidFill>
                          <a:srgbClr val="FF0000"/>
                        </a:solidFill>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14605" algn="ctr">
                        <a:lnSpc>
                          <a:spcPct val="100000"/>
                        </a:lnSpc>
                        <a:spcBef>
                          <a:spcPts val="345"/>
                        </a:spcBef>
                      </a:pPr>
                      <a:r>
                        <a:rPr sz="1050" dirty="0">
                          <a:solidFill>
                            <a:srgbClr val="FF0000"/>
                          </a:solidFill>
                          <a:latin typeface="+mj-ea"/>
                          <a:ea typeface="+mj-ea"/>
                          <a:cs typeface="微软雅黑" panose="020B0503020204020204" pitchFamily="34" charset="-122"/>
                        </a:rPr>
                        <a:t>7</a:t>
                      </a:r>
                      <a:endParaRPr sz="105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635" algn="ctr">
                        <a:lnSpc>
                          <a:spcPct val="100000"/>
                        </a:lnSpc>
                        <a:spcBef>
                          <a:spcPts val="345"/>
                        </a:spcBef>
                      </a:pPr>
                      <a:r>
                        <a:rPr sz="1050" dirty="0">
                          <a:solidFill>
                            <a:srgbClr val="FF0000"/>
                          </a:solidFill>
                          <a:latin typeface="+mj-ea"/>
                          <a:ea typeface="+mj-ea"/>
                          <a:cs typeface="微软雅黑" panose="020B0503020204020204" pitchFamily="34" charset="-122"/>
                        </a:rPr>
                        <a:t>旷视科技</a:t>
                      </a:r>
                      <a:endParaRPr sz="105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45"/>
                        </a:spcBef>
                      </a:pPr>
                      <a:r>
                        <a:rPr sz="1050" dirty="0">
                          <a:solidFill>
                            <a:srgbClr val="FF0000"/>
                          </a:solidFill>
                          <a:latin typeface="+mj-ea"/>
                          <a:ea typeface="+mj-ea"/>
                          <a:cs typeface="微软雅黑" panose="020B0503020204020204" pitchFamily="34" charset="-122"/>
                        </a:rPr>
                        <a:t>计算机视觉技术等</a:t>
                      </a:r>
                      <a:endParaRPr sz="1050" dirty="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345"/>
                        </a:spcBef>
                      </a:pPr>
                      <a:r>
                        <a:rPr sz="1050" dirty="0">
                          <a:solidFill>
                            <a:srgbClr val="FF0000"/>
                          </a:solidFill>
                          <a:latin typeface="+mj-ea"/>
                          <a:ea typeface="+mj-ea"/>
                          <a:cs typeface="微软雅黑" panose="020B0503020204020204" pitchFamily="34" charset="-122"/>
                        </a:rPr>
                        <a:t>安防</a:t>
                      </a:r>
                      <a:endParaRPr sz="1050" dirty="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345"/>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345"/>
                        </a:spcBef>
                      </a:pPr>
                      <a:r>
                        <a:rPr sz="1050" spc="-5" dirty="0">
                          <a:solidFill>
                            <a:srgbClr val="FF0000"/>
                          </a:solidFill>
                          <a:latin typeface="+mj-ea"/>
                          <a:ea typeface="+mj-ea"/>
                          <a:cs typeface="微软雅黑" panose="020B0503020204020204" pitchFamily="34" charset="-122"/>
                        </a:rPr>
                        <a:t>2011年</a:t>
                      </a:r>
                      <a:endParaRPr sz="1050" dirty="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5875" algn="ctr">
                        <a:lnSpc>
                          <a:spcPct val="100000"/>
                        </a:lnSpc>
                        <a:spcBef>
                          <a:spcPts val="345"/>
                        </a:spcBef>
                      </a:pPr>
                      <a:r>
                        <a:rPr sz="1050" spc="-5" dirty="0">
                          <a:solidFill>
                            <a:srgbClr val="FF0000"/>
                          </a:solidFill>
                          <a:latin typeface="+mj-ea"/>
                          <a:ea typeface="+mj-ea"/>
                          <a:cs typeface="微软雅黑" panose="020B0503020204020204" pitchFamily="34" charset="-122"/>
                        </a:rPr>
                        <a:t>D</a:t>
                      </a:r>
                      <a:r>
                        <a:rPr sz="1050" dirty="0">
                          <a:solidFill>
                            <a:srgbClr val="FF0000"/>
                          </a:solidFill>
                          <a:latin typeface="+mj-ea"/>
                          <a:ea typeface="+mj-ea"/>
                          <a:cs typeface="微软雅黑" panose="020B0503020204020204" pitchFamily="34" charset="-122"/>
                        </a:rPr>
                        <a:t>轮融资</a:t>
                      </a:r>
                      <a:endParaRPr sz="1050" dirty="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345"/>
                        </a:spcBef>
                      </a:pPr>
                      <a:r>
                        <a:rPr sz="1050" dirty="0">
                          <a:solidFill>
                            <a:srgbClr val="FF0000"/>
                          </a:solidFill>
                          <a:latin typeface="+mj-ea"/>
                          <a:ea typeface="+mj-ea"/>
                          <a:cs typeface="微软雅黑" panose="020B0503020204020204" pitchFamily="34" charset="-122"/>
                        </a:rPr>
                        <a:t>估值4</a:t>
                      </a:r>
                      <a:r>
                        <a:rPr sz="1050" spc="-5" dirty="0">
                          <a:solidFill>
                            <a:srgbClr val="FF0000"/>
                          </a:solidFill>
                          <a:latin typeface="+mj-ea"/>
                          <a:ea typeface="+mj-ea"/>
                          <a:cs typeface="微软雅黑" panose="020B0503020204020204" pitchFamily="34" charset="-122"/>
                        </a:rPr>
                        <a:t>0</a:t>
                      </a:r>
                      <a:r>
                        <a:rPr sz="1050" dirty="0">
                          <a:solidFill>
                            <a:srgbClr val="FF0000"/>
                          </a:solidFill>
                          <a:latin typeface="+mj-ea"/>
                          <a:ea typeface="+mj-ea"/>
                          <a:cs typeface="微软雅黑" panose="020B0503020204020204" pitchFamily="34" charset="-122"/>
                        </a:rPr>
                        <a:t>亿美元</a:t>
                      </a:r>
                      <a:endParaRPr sz="1050">
                        <a:solidFill>
                          <a:srgbClr val="FF0000"/>
                        </a:solidFill>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14605" algn="ctr">
                        <a:lnSpc>
                          <a:spcPct val="100000"/>
                        </a:lnSpc>
                        <a:spcBef>
                          <a:spcPts val="375"/>
                        </a:spcBef>
                      </a:pPr>
                      <a:r>
                        <a:rPr sz="1050" dirty="0">
                          <a:solidFill>
                            <a:srgbClr val="FF0000"/>
                          </a:solidFill>
                          <a:latin typeface="+mj-ea"/>
                          <a:ea typeface="+mj-ea"/>
                          <a:cs typeface="微软雅黑" panose="020B0503020204020204" pitchFamily="34" charset="-122"/>
                        </a:rPr>
                        <a:t>8</a:t>
                      </a:r>
                      <a:endParaRPr sz="105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635" algn="ctr">
                        <a:lnSpc>
                          <a:spcPct val="100000"/>
                        </a:lnSpc>
                        <a:spcBef>
                          <a:spcPts val="375"/>
                        </a:spcBef>
                      </a:pPr>
                      <a:r>
                        <a:rPr sz="1050" dirty="0">
                          <a:solidFill>
                            <a:srgbClr val="FF0000"/>
                          </a:solidFill>
                          <a:latin typeface="+mj-ea"/>
                          <a:ea typeface="+mj-ea"/>
                          <a:cs typeface="微软雅黑" panose="020B0503020204020204" pitchFamily="34" charset="-122"/>
                        </a:rPr>
                        <a:t>科大讯飞</a:t>
                      </a:r>
                      <a:endParaRPr sz="105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75"/>
                        </a:spcBef>
                      </a:pPr>
                      <a:r>
                        <a:rPr sz="1050" dirty="0">
                          <a:solidFill>
                            <a:srgbClr val="FF0000"/>
                          </a:solidFill>
                          <a:latin typeface="+mj-ea"/>
                          <a:ea typeface="+mj-ea"/>
                          <a:cs typeface="微软雅黑" panose="020B0503020204020204" pitchFamily="34" charset="-122"/>
                        </a:rPr>
                        <a:t>智能语音技术</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75"/>
                        </a:spcBef>
                      </a:pPr>
                      <a:r>
                        <a:rPr sz="1050" dirty="0">
                          <a:solidFill>
                            <a:srgbClr val="FF0000"/>
                          </a:solidFill>
                          <a:latin typeface="+mj-ea"/>
                          <a:ea typeface="+mj-ea"/>
                          <a:cs typeface="微软雅黑" panose="020B0503020204020204" pitchFamily="34" charset="-122"/>
                        </a:rPr>
                        <a:t>综合</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75"/>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75"/>
                        </a:spcBef>
                      </a:pPr>
                      <a:r>
                        <a:rPr sz="1050" spc="-5" dirty="0">
                          <a:solidFill>
                            <a:srgbClr val="FF0000"/>
                          </a:solidFill>
                          <a:latin typeface="+mj-ea"/>
                          <a:ea typeface="+mj-ea"/>
                          <a:cs typeface="微软雅黑" panose="020B0503020204020204" pitchFamily="34" charset="-122"/>
                        </a:rPr>
                        <a:t>1999年</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75"/>
                        </a:spcBef>
                      </a:pPr>
                      <a:r>
                        <a:rPr sz="1050" dirty="0">
                          <a:solidFill>
                            <a:srgbClr val="FF0000"/>
                          </a:solidFill>
                          <a:latin typeface="+mj-ea"/>
                          <a:ea typeface="+mj-ea"/>
                          <a:cs typeface="微软雅黑" panose="020B0503020204020204" pitchFamily="34" charset="-122"/>
                        </a:rPr>
                        <a:t>上市</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9050" algn="ctr">
                        <a:lnSpc>
                          <a:spcPct val="100000"/>
                        </a:lnSpc>
                        <a:spcBef>
                          <a:spcPts val="375"/>
                        </a:spcBef>
                      </a:pPr>
                      <a:r>
                        <a:rPr sz="1050" dirty="0">
                          <a:solidFill>
                            <a:srgbClr val="FF0000"/>
                          </a:solidFill>
                          <a:latin typeface="+mj-ea"/>
                          <a:ea typeface="+mj-ea"/>
                          <a:cs typeface="微软雅黑" panose="020B0503020204020204" pitchFamily="34" charset="-122"/>
                        </a:rPr>
                        <a:t>市值1</a:t>
                      </a:r>
                      <a:r>
                        <a:rPr sz="1050" spc="-5" dirty="0">
                          <a:solidFill>
                            <a:srgbClr val="FF0000"/>
                          </a:solidFill>
                          <a:latin typeface="+mj-ea"/>
                          <a:ea typeface="+mj-ea"/>
                          <a:cs typeface="微软雅黑" panose="020B0503020204020204" pitchFamily="34" charset="-122"/>
                        </a:rPr>
                        <a:t>08</a:t>
                      </a:r>
                      <a:r>
                        <a:rPr sz="1050" dirty="0">
                          <a:solidFill>
                            <a:srgbClr val="FF0000"/>
                          </a:solidFill>
                          <a:latin typeface="+mj-ea"/>
                          <a:ea typeface="+mj-ea"/>
                          <a:cs typeface="微软雅黑" panose="020B0503020204020204" pitchFamily="34" charset="-122"/>
                        </a:rPr>
                        <a:t>亿美元</a:t>
                      </a:r>
                      <a:endParaRPr sz="1050" dirty="0">
                        <a:solidFill>
                          <a:srgbClr val="FF0000"/>
                        </a:solidFill>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328436">
                <a:tc>
                  <a:txBody>
                    <a:bodyPr/>
                    <a:lstStyle/>
                    <a:p>
                      <a:pPr marL="14605" algn="ctr">
                        <a:lnSpc>
                          <a:spcPct val="100000"/>
                        </a:lnSpc>
                        <a:spcBef>
                          <a:spcPts val="900"/>
                        </a:spcBef>
                      </a:pPr>
                      <a:r>
                        <a:rPr sz="1050" dirty="0">
                          <a:latin typeface="+mj-ea"/>
                          <a:ea typeface="+mj-ea"/>
                          <a:cs typeface="微软雅黑" panose="020B0503020204020204" pitchFamily="34" charset="-122"/>
                        </a:rPr>
                        <a:t>9</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900"/>
                        </a:spcBef>
                      </a:pPr>
                      <a:r>
                        <a:rPr sz="1050" spc="-5" dirty="0">
                          <a:latin typeface="+mj-ea"/>
                          <a:ea typeface="+mj-ea"/>
                          <a:cs typeface="微软雅黑" panose="020B0503020204020204" pitchFamily="34" charset="-122"/>
                        </a:rPr>
                        <a:t>Automation</a:t>
                      </a:r>
                      <a:r>
                        <a:rPr sz="1050" spc="-85" dirty="0">
                          <a:latin typeface="+mj-ea"/>
                          <a:ea typeface="+mj-ea"/>
                          <a:cs typeface="微软雅黑" panose="020B0503020204020204" pitchFamily="34" charset="-122"/>
                        </a:rPr>
                        <a:t> </a:t>
                      </a:r>
                      <a:r>
                        <a:rPr sz="1050" spc="-5" dirty="0">
                          <a:latin typeface="+mj-ea"/>
                          <a:ea typeface="+mj-ea"/>
                          <a:cs typeface="微软雅黑" panose="020B0503020204020204" pitchFamily="34" charset="-122"/>
                        </a:rPr>
                        <a:t>Anywhere</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38225" marR="80645" indent="-952500">
                        <a:lnSpc>
                          <a:spcPct val="117000"/>
                        </a:lnSpc>
                      </a:pPr>
                      <a:r>
                        <a:rPr sz="1050" dirty="0" err="1">
                          <a:latin typeface="+mj-ea"/>
                          <a:ea typeface="+mj-ea"/>
                          <a:cs typeface="微软雅黑" panose="020B0503020204020204" pitchFamily="34" charset="-122"/>
                        </a:rPr>
                        <a:t>自然语言处理技术、非结构化数据认知</a:t>
                      </a:r>
                      <a:endParaRPr sz="1050" dirty="0">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900"/>
                        </a:spcBef>
                      </a:pPr>
                      <a:r>
                        <a:rPr sz="1050" dirty="0">
                          <a:latin typeface="+mj-ea"/>
                          <a:ea typeface="+mj-ea"/>
                          <a:cs typeface="微软雅黑" panose="020B0503020204020204" pitchFamily="34" charset="-122"/>
                        </a:rPr>
                        <a:t>企业管理</a:t>
                      </a:r>
                      <a:endParaRPr sz="1050" dirty="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900"/>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900"/>
                        </a:spcBef>
                      </a:pPr>
                      <a:r>
                        <a:rPr sz="1050" spc="-5" dirty="0">
                          <a:latin typeface="+mj-ea"/>
                          <a:ea typeface="+mj-ea"/>
                          <a:cs typeface="微软雅黑" panose="020B0503020204020204" pitchFamily="34" charset="-122"/>
                        </a:rPr>
                        <a:t>2003年</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900"/>
                        </a:spcBef>
                      </a:pPr>
                      <a:r>
                        <a:rPr sz="1050" spc="-5" dirty="0">
                          <a:latin typeface="+mj-ea"/>
                          <a:ea typeface="+mj-ea"/>
                          <a:cs typeface="微软雅黑" panose="020B0503020204020204" pitchFamily="34" charset="-122"/>
                        </a:rPr>
                        <a:t>B</a:t>
                      </a:r>
                      <a:r>
                        <a:rPr sz="1050" dirty="0">
                          <a:latin typeface="+mj-ea"/>
                          <a:ea typeface="+mj-ea"/>
                          <a:cs typeface="微软雅黑" panose="020B0503020204020204" pitchFamily="34" charset="-122"/>
                        </a:rPr>
                        <a:t>轮融资</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900"/>
                        </a:spcBef>
                      </a:pPr>
                      <a:r>
                        <a:rPr sz="1050" dirty="0">
                          <a:latin typeface="+mj-ea"/>
                          <a:ea typeface="+mj-ea"/>
                          <a:cs typeface="微软雅黑" panose="020B0503020204020204" pitchFamily="34" charset="-122"/>
                        </a:rPr>
                        <a:t>估值6</a:t>
                      </a:r>
                      <a:r>
                        <a:rPr sz="1050" spc="-5" dirty="0">
                          <a:latin typeface="+mj-ea"/>
                          <a:ea typeface="+mj-ea"/>
                          <a:cs typeface="微软雅黑" panose="020B0503020204020204" pitchFamily="34" charset="-122"/>
                        </a:rPr>
                        <a:t>8</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1143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12700" algn="ctr">
                        <a:lnSpc>
                          <a:spcPct val="100000"/>
                        </a:lnSpc>
                        <a:spcBef>
                          <a:spcPts val="390"/>
                        </a:spcBef>
                      </a:pPr>
                      <a:r>
                        <a:rPr sz="1050" spc="-5" dirty="0">
                          <a:latin typeface="+mj-ea"/>
                          <a:ea typeface="+mj-ea"/>
                          <a:cs typeface="微软雅黑" panose="020B0503020204020204" pitchFamily="34" charset="-122"/>
                        </a:rPr>
                        <a:t>10</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4605" algn="ctr">
                        <a:lnSpc>
                          <a:spcPct val="100000"/>
                        </a:lnSpc>
                        <a:spcBef>
                          <a:spcPts val="390"/>
                        </a:spcBef>
                      </a:pPr>
                      <a:r>
                        <a:rPr sz="1050" spc="-5" dirty="0">
                          <a:latin typeface="+mj-ea"/>
                          <a:ea typeface="+mj-ea"/>
                          <a:cs typeface="微软雅黑" panose="020B0503020204020204" pitchFamily="34" charset="-122"/>
                        </a:rPr>
                        <a:t>IBM</a:t>
                      </a:r>
                      <a:r>
                        <a:rPr sz="1050" spc="-65" dirty="0">
                          <a:latin typeface="+mj-ea"/>
                          <a:ea typeface="+mj-ea"/>
                          <a:cs typeface="微软雅黑" panose="020B0503020204020204" pitchFamily="34" charset="-122"/>
                        </a:rPr>
                        <a:t> </a:t>
                      </a:r>
                      <a:r>
                        <a:rPr sz="1050" spc="-10" dirty="0">
                          <a:latin typeface="+mj-ea"/>
                          <a:ea typeface="+mj-ea"/>
                          <a:cs typeface="微软雅黑" panose="020B0503020204020204" pitchFamily="34" charset="-122"/>
                        </a:rPr>
                        <a:t>Watson（IBM</a:t>
                      </a:r>
                      <a:r>
                        <a:rPr sz="1050" dirty="0">
                          <a:latin typeface="+mj-ea"/>
                          <a:ea typeface="+mj-ea"/>
                          <a:cs typeface="微软雅黑" panose="020B0503020204020204" pitchFamily="34" charset="-122"/>
                        </a:rPr>
                        <a:t>沃森）</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90"/>
                        </a:spcBef>
                      </a:pPr>
                      <a:r>
                        <a:rPr sz="1050" dirty="0">
                          <a:latin typeface="+mj-ea"/>
                          <a:ea typeface="+mj-ea"/>
                          <a:cs typeface="微软雅黑" panose="020B0503020204020204" pitchFamily="34" charset="-122"/>
                        </a:rPr>
                        <a:t>深度学习、智适应学习技术</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90"/>
                        </a:spcBef>
                      </a:pPr>
                      <a:r>
                        <a:rPr sz="1050" dirty="0">
                          <a:latin typeface="+mj-ea"/>
                          <a:ea typeface="+mj-ea"/>
                          <a:cs typeface="微软雅黑" panose="020B0503020204020204" pitchFamily="34" charset="-122"/>
                        </a:rPr>
                        <a:t>计算机</a:t>
                      </a:r>
                      <a:endParaRPr sz="1050" dirty="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90"/>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90"/>
                        </a:spcBef>
                      </a:pPr>
                      <a:r>
                        <a:rPr sz="1050" spc="-5" dirty="0">
                          <a:latin typeface="+mj-ea"/>
                          <a:ea typeface="+mj-ea"/>
                          <a:cs typeface="微软雅黑" panose="020B0503020204020204" pitchFamily="34" charset="-122"/>
                        </a:rPr>
                        <a:t>1911年</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90"/>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7780" algn="ctr">
                        <a:lnSpc>
                          <a:spcPct val="100000"/>
                        </a:lnSpc>
                        <a:spcBef>
                          <a:spcPts val="390"/>
                        </a:spcBef>
                      </a:pPr>
                      <a:r>
                        <a:rPr sz="1050" dirty="0">
                          <a:latin typeface="+mj-ea"/>
                          <a:ea typeface="+mj-ea"/>
                          <a:cs typeface="微软雅黑" panose="020B0503020204020204" pitchFamily="34" charset="-122"/>
                        </a:rPr>
                        <a:t>市值1</a:t>
                      </a:r>
                      <a:r>
                        <a:rPr sz="1050" spc="-5" dirty="0">
                          <a:latin typeface="+mj-ea"/>
                          <a:ea typeface="+mj-ea"/>
                          <a:cs typeface="微软雅黑" panose="020B0503020204020204" pitchFamily="34" charset="-122"/>
                        </a:rPr>
                        <a:t>198</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4953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12700" algn="ctr">
                        <a:lnSpc>
                          <a:spcPct val="100000"/>
                        </a:lnSpc>
                        <a:spcBef>
                          <a:spcPts val="415"/>
                        </a:spcBef>
                      </a:pPr>
                      <a:r>
                        <a:rPr sz="1050" spc="-5" dirty="0">
                          <a:solidFill>
                            <a:srgbClr val="FF0000"/>
                          </a:solidFill>
                          <a:latin typeface="+mj-ea"/>
                          <a:ea typeface="+mj-ea"/>
                          <a:cs typeface="微软雅黑" panose="020B0503020204020204" pitchFamily="34" charset="-122"/>
                        </a:rPr>
                        <a:t>11</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8890" algn="ctr">
                        <a:lnSpc>
                          <a:spcPct val="100000"/>
                        </a:lnSpc>
                        <a:spcBef>
                          <a:spcPts val="415"/>
                        </a:spcBef>
                      </a:pPr>
                      <a:r>
                        <a:rPr sz="1050" dirty="0">
                          <a:solidFill>
                            <a:srgbClr val="FF0000"/>
                          </a:solidFill>
                          <a:latin typeface="+mj-ea"/>
                          <a:ea typeface="+mj-ea"/>
                          <a:cs typeface="微软雅黑" panose="020B0503020204020204" pitchFamily="34" charset="-122"/>
                        </a:rPr>
                        <a:t>松鼠</a:t>
                      </a:r>
                      <a:r>
                        <a:rPr sz="1050" spc="-5" dirty="0">
                          <a:solidFill>
                            <a:srgbClr val="FF0000"/>
                          </a:solidFill>
                          <a:latin typeface="+mj-ea"/>
                          <a:ea typeface="+mj-ea"/>
                          <a:cs typeface="微软雅黑" panose="020B0503020204020204" pitchFamily="34" charset="-122"/>
                        </a:rPr>
                        <a:t>AI</a:t>
                      </a:r>
                      <a:r>
                        <a:rPr sz="1050" spc="-100" dirty="0">
                          <a:solidFill>
                            <a:srgbClr val="FF0000"/>
                          </a:solidFill>
                          <a:latin typeface="+mj-ea"/>
                          <a:ea typeface="+mj-ea"/>
                          <a:cs typeface="微软雅黑" panose="020B0503020204020204" pitchFamily="34" charset="-122"/>
                        </a:rPr>
                        <a:t> </a:t>
                      </a:r>
                      <a:r>
                        <a:rPr sz="1050" spc="-5" dirty="0">
                          <a:solidFill>
                            <a:srgbClr val="FF0000"/>
                          </a:solidFill>
                          <a:latin typeface="+mj-ea"/>
                          <a:ea typeface="+mj-ea"/>
                          <a:cs typeface="微软雅黑" panose="020B0503020204020204" pitchFamily="34" charset="-122"/>
                        </a:rPr>
                        <a:t>1</a:t>
                      </a:r>
                      <a:r>
                        <a:rPr sz="1050" dirty="0">
                          <a:solidFill>
                            <a:srgbClr val="FF0000"/>
                          </a:solidFill>
                          <a:latin typeface="+mj-ea"/>
                          <a:ea typeface="+mj-ea"/>
                          <a:cs typeface="微软雅黑" panose="020B0503020204020204" pitchFamily="34" charset="-122"/>
                        </a:rPr>
                        <a:t>对1</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415"/>
                        </a:spcBef>
                      </a:pPr>
                      <a:r>
                        <a:rPr sz="1050" dirty="0">
                          <a:solidFill>
                            <a:srgbClr val="FF0000"/>
                          </a:solidFill>
                          <a:latin typeface="+mj-ea"/>
                          <a:ea typeface="+mj-ea"/>
                          <a:cs typeface="微软雅黑" panose="020B0503020204020204" pitchFamily="34" charset="-122"/>
                        </a:rPr>
                        <a:t>智适应学习技术、机器学习</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415"/>
                        </a:spcBef>
                      </a:pPr>
                      <a:r>
                        <a:rPr sz="1050" dirty="0">
                          <a:solidFill>
                            <a:srgbClr val="FF0000"/>
                          </a:solidFill>
                          <a:latin typeface="+mj-ea"/>
                          <a:ea typeface="+mj-ea"/>
                          <a:cs typeface="微软雅黑" panose="020B0503020204020204" pitchFamily="34" charset="-122"/>
                        </a:rPr>
                        <a:t>教育</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415"/>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415"/>
                        </a:spcBef>
                      </a:pPr>
                      <a:r>
                        <a:rPr sz="1050" spc="-5" dirty="0">
                          <a:solidFill>
                            <a:srgbClr val="FF0000"/>
                          </a:solidFill>
                          <a:latin typeface="+mj-ea"/>
                          <a:ea typeface="+mj-ea"/>
                          <a:cs typeface="微软雅黑" panose="020B0503020204020204" pitchFamily="34" charset="-122"/>
                        </a:rPr>
                        <a:t>2015年</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8255" algn="ctr">
                        <a:lnSpc>
                          <a:spcPct val="100000"/>
                        </a:lnSpc>
                        <a:spcBef>
                          <a:spcPts val="415"/>
                        </a:spcBef>
                      </a:pPr>
                      <a:r>
                        <a:rPr sz="1050" spc="-5" dirty="0">
                          <a:solidFill>
                            <a:srgbClr val="FF0000"/>
                          </a:solidFill>
                          <a:latin typeface="+mj-ea"/>
                          <a:ea typeface="+mj-ea"/>
                          <a:cs typeface="微软雅黑" panose="020B0503020204020204" pitchFamily="34" charset="-122"/>
                        </a:rPr>
                        <a:t>A</a:t>
                      </a:r>
                      <a:r>
                        <a:rPr sz="1050" dirty="0">
                          <a:solidFill>
                            <a:srgbClr val="FF0000"/>
                          </a:solidFill>
                          <a:latin typeface="+mj-ea"/>
                          <a:ea typeface="+mj-ea"/>
                          <a:cs typeface="微软雅黑" panose="020B0503020204020204" pitchFamily="34" charset="-122"/>
                        </a:rPr>
                        <a:t>轮融资</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415"/>
                        </a:spcBef>
                      </a:pPr>
                      <a:r>
                        <a:rPr sz="1050" dirty="0">
                          <a:solidFill>
                            <a:srgbClr val="FF0000"/>
                          </a:solidFill>
                          <a:latin typeface="+mj-ea"/>
                          <a:ea typeface="+mj-ea"/>
                          <a:cs typeface="微软雅黑" panose="020B0503020204020204" pitchFamily="34" charset="-122"/>
                        </a:rPr>
                        <a:t>估值1</a:t>
                      </a:r>
                      <a:r>
                        <a:rPr sz="1050" spc="-5" dirty="0">
                          <a:solidFill>
                            <a:srgbClr val="FF0000"/>
                          </a:solidFill>
                          <a:latin typeface="+mj-ea"/>
                          <a:ea typeface="+mj-ea"/>
                          <a:cs typeface="微软雅黑" panose="020B0503020204020204" pitchFamily="34" charset="-122"/>
                        </a:rPr>
                        <a:t>1</a:t>
                      </a:r>
                      <a:r>
                        <a:rPr sz="1050" dirty="0">
                          <a:solidFill>
                            <a:srgbClr val="FF0000"/>
                          </a:solidFill>
                          <a:latin typeface="+mj-ea"/>
                          <a:ea typeface="+mj-ea"/>
                          <a:cs typeface="微软雅黑" panose="020B0503020204020204" pitchFamily="34" charset="-122"/>
                        </a:rPr>
                        <a:t>亿美元</a:t>
                      </a:r>
                      <a:endParaRPr sz="1050" dirty="0">
                        <a:solidFill>
                          <a:srgbClr val="FF0000"/>
                        </a:solidFill>
                        <a:latin typeface="+mj-ea"/>
                        <a:ea typeface="+mj-ea"/>
                        <a:cs typeface="微软雅黑" panose="020B0503020204020204" pitchFamily="34" charset="-122"/>
                      </a:endParaRPr>
                    </a:p>
                  </a:txBody>
                  <a:tcPr marL="0" marR="0" marT="5270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329839">
                <a:tc>
                  <a:txBody>
                    <a:bodyPr/>
                    <a:lstStyle/>
                    <a:p>
                      <a:pPr marL="12700" algn="ctr">
                        <a:lnSpc>
                          <a:spcPct val="100000"/>
                        </a:lnSpc>
                        <a:spcBef>
                          <a:spcPts val="840"/>
                        </a:spcBef>
                      </a:pPr>
                      <a:r>
                        <a:rPr sz="1050" spc="-5" dirty="0">
                          <a:solidFill>
                            <a:srgbClr val="FF0000"/>
                          </a:solidFill>
                          <a:latin typeface="+mj-ea"/>
                          <a:ea typeface="+mj-ea"/>
                          <a:cs typeface="微软雅黑" panose="020B0503020204020204" pitchFamily="34" charset="-122"/>
                        </a:rPr>
                        <a:t>12</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635" algn="ctr">
                        <a:lnSpc>
                          <a:spcPct val="100000"/>
                        </a:lnSpc>
                        <a:spcBef>
                          <a:spcPts val="840"/>
                        </a:spcBef>
                      </a:pPr>
                      <a:r>
                        <a:rPr sz="1050" dirty="0">
                          <a:solidFill>
                            <a:srgbClr val="FF0000"/>
                          </a:solidFill>
                          <a:latin typeface="+mj-ea"/>
                          <a:ea typeface="+mj-ea"/>
                          <a:cs typeface="微软雅黑" panose="020B0503020204020204" pitchFamily="34" charset="-122"/>
                        </a:rPr>
                        <a:t>字节跳动</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466725" marR="80645" indent="-381000">
                        <a:lnSpc>
                          <a:spcPts val="1400"/>
                        </a:lnSpc>
                        <a:spcBef>
                          <a:spcPts val="20"/>
                        </a:spcBef>
                      </a:pPr>
                      <a:r>
                        <a:rPr sz="1050" dirty="0">
                          <a:solidFill>
                            <a:srgbClr val="FF0000"/>
                          </a:solidFill>
                          <a:latin typeface="+mj-ea"/>
                          <a:ea typeface="+mj-ea"/>
                          <a:cs typeface="微软雅黑" panose="020B0503020204020204" pitchFamily="34" charset="-122"/>
                        </a:rPr>
                        <a:t>跨媒体分析推理技术、深度学习、自 然语言处理、图像识别</a:t>
                      </a:r>
                      <a:endParaRPr sz="1050" dirty="0">
                        <a:solidFill>
                          <a:srgbClr val="FF0000"/>
                        </a:solidFill>
                        <a:latin typeface="+mj-ea"/>
                        <a:ea typeface="+mj-ea"/>
                        <a:cs typeface="微软雅黑" panose="020B0503020204020204" pitchFamily="34" charset="-122"/>
                      </a:endParaRPr>
                    </a:p>
                  </a:txBody>
                  <a:tcPr marL="0" marR="0" marT="25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840"/>
                        </a:spcBef>
                      </a:pPr>
                      <a:r>
                        <a:rPr sz="1050" dirty="0">
                          <a:solidFill>
                            <a:srgbClr val="FF0000"/>
                          </a:solidFill>
                          <a:latin typeface="+mj-ea"/>
                          <a:ea typeface="+mj-ea"/>
                          <a:cs typeface="微软雅黑" panose="020B0503020204020204" pitchFamily="34" charset="-122"/>
                        </a:rPr>
                        <a:t>资讯</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840"/>
                        </a:spcBef>
                      </a:pPr>
                      <a:r>
                        <a:rPr sz="1050" dirty="0">
                          <a:solidFill>
                            <a:srgbClr val="FF0000"/>
                          </a:solidFill>
                          <a:latin typeface="+mj-ea"/>
                          <a:ea typeface="+mj-ea"/>
                          <a:cs typeface="微软雅黑" panose="020B0503020204020204" pitchFamily="34" charset="-122"/>
                        </a:rPr>
                        <a:t>中国</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840"/>
                        </a:spcBef>
                      </a:pPr>
                      <a:r>
                        <a:rPr sz="1050" spc="-5" dirty="0">
                          <a:solidFill>
                            <a:srgbClr val="FF0000"/>
                          </a:solidFill>
                          <a:latin typeface="+mj-ea"/>
                          <a:ea typeface="+mj-ea"/>
                          <a:cs typeface="微软雅黑" panose="020B0503020204020204" pitchFamily="34" charset="-122"/>
                        </a:rPr>
                        <a:t>2012年</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8255" algn="ctr">
                        <a:lnSpc>
                          <a:spcPct val="100000"/>
                        </a:lnSpc>
                        <a:spcBef>
                          <a:spcPts val="840"/>
                        </a:spcBef>
                      </a:pPr>
                      <a:r>
                        <a:rPr sz="1050" spc="-5" dirty="0">
                          <a:solidFill>
                            <a:srgbClr val="FF0000"/>
                          </a:solidFill>
                          <a:latin typeface="+mj-ea"/>
                          <a:ea typeface="+mj-ea"/>
                          <a:cs typeface="微软雅黑" panose="020B0503020204020204" pitchFamily="34" charset="-122"/>
                        </a:rPr>
                        <a:t>P</a:t>
                      </a:r>
                      <a:r>
                        <a:rPr sz="1050" spc="-15" dirty="0">
                          <a:solidFill>
                            <a:srgbClr val="FF0000"/>
                          </a:solidFill>
                          <a:latin typeface="+mj-ea"/>
                          <a:ea typeface="+mj-ea"/>
                          <a:cs typeface="微软雅黑" panose="020B0503020204020204" pitchFamily="34" charset="-122"/>
                        </a:rPr>
                        <a:t>r</a:t>
                      </a:r>
                      <a:r>
                        <a:rPr sz="1050" dirty="0">
                          <a:solidFill>
                            <a:srgbClr val="FF0000"/>
                          </a:solidFill>
                          <a:latin typeface="+mj-ea"/>
                          <a:ea typeface="+mj-ea"/>
                          <a:cs typeface="微软雅黑" panose="020B0503020204020204" pitchFamily="34" charset="-122"/>
                        </a:rPr>
                        <a:t>e</a:t>
                      </a:r>
                      <a:r>
                        <a:rPr sz="1050" spc="-5" dirty="0">
                          <a:solidFill>
                            <a:srgbClr val="FF0000"/>
                          </a:solidFill>
                          <a:latin typeface="+mj-ea"/>
                          <a:ea typeface="+mj-ea"/>
                          <a:cs typeface="微软雅黑" panose="020B0503020204020204" pitchFamily="34" charset="-122"/>
                        </a:rPr>
                        <a:t>-IPO</a:t>
                      </a:r>
                      <a:r>
                        <a:rPr sz="1050" dirty="0">
                          <a:solidFill>
                            <a:srgbClr val="FF0000"/>
                          </a:solidFill>
                          <a:latin typeface="+mj-ea"/>
                          <a:ea typeface="+mj-ea"/>
                          <a:cs typeface="微软雅黑" panose="020B0503020204020204" pitchFamily="34" charset="-122"/>
                        </a:rPr>
                        <a:t>轮融资</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9050" algn="ctr">
                        <a:lnSpc>
                          <a:spcPct val="100000"/>
                        </a:lnSpc>
                        <a:spcBef>
                          <a:spcPts val="840"/>
                        </a:spcBef>
                      </a:pPr>
                      <a:r>
                        <a:rPr sz="1050" dirty="0">
                          <a:solidFill>
                            <a:srgbClr val="FF0000"/>
                          </a:solidFill>
                          <a:latin typeface="+mj-ea"/>
                          <a:ea typeface="+mj-ea"/>
                          <a:cs typeface="微软雅黑" panose="020B0503020204020204" pitchFamily="34" charset="-122"/>
                        </a:rPr>
                        <a:t>估值7</a:t>
                      </a:r>
                      <a:r>
                        <a:rPr sz="1050" spc="-5" dirty="0">
                          <a:solidFill>
                            <a:srgbClr val="FF0000"/>
                          </a:solidFill>
                          <a:latin typeface="+mj-ea"/>
                          <a:ea typeface="+mj-ea"/>
                          <a:cs typeface="微软雅黑" panose="020B0503020204020204" pitchFamily="34" charset="-122"/>
                        </a:rPr>
                        <a:t>50</a:t>
                      </a:r>
                      <a:r>
                        <a:rPr sz="1050" dirty="0">
                          <a:solidFill>
                            <a:srgbClr val="FF0000"/>
                          </a:solidFill>
                          <a:latin typeface="+mj-ea"/>
                          <a:ea typeface="+mj-ea"/>
                          <a:cs typeface="微软雅黑" panose="020B0503020204020204" pitchFamily="34" charset="-122"/>
                        </a:rPr>
                        <a:t>亿美元</a:t>
                      </a:r>
                      <a:endParaRPr sz="1050" dirty="0">
                        <a:solidFill>
                          <a:srgbClr val="FF0000"/>
                        </a:solidFill>
                        <a:latin typeface="+mj-ea"/>
                        <a:ea typeface="+mj-ea"/>
                        <a:cs typeface="微软雅黑" panose="020B0503020204020204" pitchFamily="34" charset="-122"/>
                      </a:endParaRPr>
                    </a:p>
                  </a:txBody>
                  <a:tcPr marL="0" marR="0" marT="10668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328670">
                <a:tc>
                  <a:txBody>
                    <a:bodyPr/>
                    <a:lstStyle/>
                    <a:p>
                      <a:pPr marL="12700" algn="ctr">
                        <a:lnSpc>
                          <a:spcPct val="100000"/>
                        </a:lnSpc>
                        <a:spcBef>
                          <a:spcPts val="830"/>
                        </a:spcBef>
                      </a:pPr>
                      <a:r>
                        <a:rPr sz="1050" spc="-5" dirty="0">
                          <a:latin typeface="+mj-ea"/>
                          <a:ea typeface="+mj-ea"/>
                          <a:cs typeface="微软雅黑" panose="020B0503020204020204" pitchFamily="34" charset="-122"/>
                        </a:rPr>
                        <a:t>13</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7780" algn="ctr">
                        <a:lnSpc>
                          <a:spcPct val="100000"/>
                        </a:lnSpc>
                        <a:spcBef>
                          <a:spcPts val="830"/>
                        </a:spcBef>
                      </a:pPr>
                      <a:r>
                        <a:rPr sz="1050" dirty="0">
                          <a:latin typeface="+mj-ea"/>
                          <a:ea typeface="+mj-ea"/>
                          <a:cs typeface="微软雅黑" panose="020B0503020204020204" pitchFamily="34" charset="-122"/>
                        </a:rPr>
                        <a:t>Netf</a:t>
                      </a:r>
                      <a:r>
                        <a:rPr sz="1050" spc="-5" dirty="0">
                          <a:latin typeface="+mj-ea"/>
                          <a:ea typeface="+mj-ea"/>
                          <a:cs typeface="微软雅黑" panose="020B0503020204020204" pitchFamily="34" charset="-122"/>
                        </a:rPr>
                        <a:t>lix</a:t>
                      </a:r>
                      <a:r>
                        <a:rPr sz="1050" dirty="0">
                          <a:latin typeface="+mj-ea"/>
                          <a:ea typeface="+mj-ea"/>
                          <a:cs typeface="微软雅黑" panose="020B0503020204020204" pitchFamily="34" charset="-122"/>
                        </a:rPr>
                        <a:t>（网飞）</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530225" marR="144145" indent="-381000">
                        <a:lnSpc>
                          <a:spcPts val="1400"/>
                        </a:lnSpc>
                        <a:spcBef>
                          <a:spcPts val="10"/>
                        </a:spcBef>
                      </a:pPr>
                      <a:r>
                        <a:rPr sz="1050" dirty="0">
                          <a:latin typeface="+mj-ea"/>
                          <a:ea typeface="+mj-ea"/>
                          <a:cs typeface="微软雅黑" panose="020B0503020204020204" pitchFamily="34" charset="-122"/>
                        </a:rPr>
                        <a:t>视频图像优化、剧集封面图片个性 化、视频个性化推荐</a:t>
                      </a:r>
                      <a:endParaRPr sz="1050">
                        <a:latin typeface="+mj-ea"/>
                        <a:ea typeface="+mj-ea"/>
                        <a:cs typeface="微软雅黑" panose="020B0503020204020204" pitchFamily="34" charset="-122"/>
                      </a:endParaRPr>
                    </a:p>
                  </a:txBody>
                  <a:tcPr marL="0" marR="0" marT="127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830"/>
                        </a:spcBef>
                      </a:pPr>
                      <a:r>
                        <a:rPr sz="1050" dirty="0">
                          <a:latin typeface="+mj-ea"/>
                          <a:ea typeface="+mj-ea"/>
                          <a:cs typeface="微软雅黑" panose="020B0503020204020204" pitchFamily="34" charset="-122"/>
                        </a:rPr>
                        <a:t>媒体及内容</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830"/>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830"/>
                        </a:spcBef>
                      </a:pPr>
                      <a:r>
                        <a:rPr sz="1050" spc="-5" dirty="0">
                          <a:latin typeface="+mj-ea"/>
                          <a:ea typeface="+mj-ea"/>
                          <a:cs typeface="微软雅黑" panose="020B0503020204020204" pitchFamily="34" charset="-122"/>
                        </a:rPr>
                        <a:t>1997年</a:t>
                      </a:r>
                      <a:endParaRPr sz="1050" dirty="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830"/>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7780" algn="ctr">
                        <a:lnSpc>
                          <a:spcPct val="100000"/>
                        </a:lnSpc>
                        <a:spcBef>
                          <a:spcPts val="830"/>
                        </a:spcBef>
                      </a:pPr>
                      <a:r>
                        <a:rPr sz="1050" dirty="0">
                          <a:latin typeface="+mj-ea"/>
                          <a:ea typeface="+mj-ea"/>
                          <a:cs typeface="微软雅黑" panose="020B0503020204020204" pitchFamily="34" charset="-122"/>
                        </a:rPr>
                        <a:t>市值1</a:t>
                      </a:r>
                      <a:r>
                        <a:rPr sz="1050" spc="-5" dirty="0">
                          <a:latin typeface="+mj-ea"/>
                          <a:ea typeface="+mj-ea"/>
                          <a:cs typeface="微软雅黑" panose="020B0503020204020204" pitchFamily="34" charset="-122"/>
                        </a:rPr>
                        <a:t>418</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10541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12700" algn="ctr">
                        <a:lnSpc>
                          <a:spcPct val="100000"/>
                        </a:lnSpc>
                        <a:spcBef>
                          <a:spcPts val="320"/>
                        </a:spcBef>
                      </a:pPr>
                      <a:r>
                        <a:rPr sz="1050" spc="-5" dirty="0">
                          <a:latin typeface="+mj-ea"/>
                          <a:ea typeface="+mj-ea"/>
                          <a:cs typeface="微软雅黑" panose="020B0503020204020204" pitchFamily="34" charset="-122"/>
                        </a:rPr>
                        <a:t>14</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270" algn="ctr">
                        <a:lnSpc>
                          <a:spcPct val="100000"/>
                        </a:lnSpc>
                        <a:spcBef>
                          <a:spcPts val="320"/>
                        </a:spcBef>
                      </a:pPr>
                      <a:r>
                        <a:rPr sz="1050" spc="-5" dirty="0">
                          <a:latin typeface="+mj-ea"/>
                          <a:ea typeface="+mj-ea"/>
                          <a:cs typeface="微软雅黑" panose="020B0503020204020204" pitchFamily="34" charset="-122"/>
                        </a:rPr>
                        <a:t>Graphcore</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20"/>
                        </a:spcBef>
                      </a:pPr>
                      <a:r>
                        <a:rPr sz="1050" dirty="0">
                          <a:latin typeface="+mj-ea"/>
                          <a:ea typeface="+mj-ea"/>
                          <a:cs typeface="微软雅黑" panose="020B0503020204020204" pitchFamily="34" charset="-122"/>
                        </a:rPr>
                        <a:t>智能芯片技术、机器学习</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20"/>
                        </a:spcBef>
                      </a:pPr>
                      <a:r>
                        <a:rPr sz="1050" dirty="0">
                          <a:latin typeface="+mj-ea"/>
                          <a:ea typeface="+mj-ea"/>
                          <a:cs typeface="微软雅黑" panose="020B0503020204020204" pitchFamily="34" charset="-122"/>
                        </a:rPr>
                        <a:t>芯片</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20"/>
                        </a:spcBef>
                      </a:pPr>
                      <a:r>
                        <a:rPr sz="1050" dirty="0">
                          <a:latin typeface="+mj-ea"/>
                          <a:ea typeface="+mj-ea"/>
                          <a:cs typeface="微软雅黑" panose="020B0503020204020204" pitchFamily="34" charset="-122"/>
                        </a:rPr>
                        <a:t>英国</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20"/>
                        </a:spcBef>
                      </a:pPr>
                      <a:r>
                        <a:rPr sz="1050" spc="-5" dirty="0">
                          <a:latin typeface="+mj-ea"/>
                          <a:ea typeface="+mj-ea"/>
                          <a:cs typeface="微软雅黑" panose="020B0503020204020204" pitchFamily="34" charset="-122"/>
                        </a:rPr>
                        <a:t>2016年</a:t>
                      </a:r>
                      <a:endParaRPr sz="1050" dirty="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5875" algn="ctr">
                        <a:lnSpc>
                          <a:spcPct val="100000"/>
                        </a:lnSpc>
                        <a:spcBef>
                          <a:spcPts val="320"/>
                        </a:spcBef>
                      </a:pPr>
                      <a:r>
                        <a:rPr sz="1050" spc="-5" dirty="0">
                          <a:latin typeface="+mj-ea"/>
                          <a:ea typeface="+mj-ea"/>
                          <a:cs typeface="微软雅黑" panose="020B0503020204020204" pitchFamily="34" charset="-122"/>
                        </a:rPr>
                        <a:t>D</a:t>
                      </a:r>
                      <a:r>
                        <a:rPr sz="1050" dirty="0">
                          <a:latin typeface="+mj-ea"/>
                          <a:ea typeface="+mj-ea"/>
                          <a:cs typeface="微软雅黑" panose="020B0503020204020204" pitchFamily="34" charset="-122"/>
                        </a:rPr>
                        <a:t>轮融资</a:t>
                      </a:r>
                      <a:endParaRPr sz="1050" dirty="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20"/>
                        </a:spcBef>
                      </a:pPr>
                      <a:r>
                        <a:rPr sz="1050" dirty="0">
                          <a:latin typeface="+mj-ea"/>
                          <a:ea typeface="+mj-ea"/>
                          <a:cs typeface="微软雅黑" panose="020B0503020204020204" pitchFamily="34" charset="-122"/>
                        </a:rPr>
                        <a:t>估值1</a:t>
                      </a:r>
                      <a:r>
                        <a:rPr sz="1050" spc="-5" dirty="0">
                          <a:latin typeface="+mj-ea"/>
                          <a:ea typeface="+mj-ea"/>
                          <a:cs typeface="微软雅黑" panose="020B0503020204020204" pitchFamily="34" charset="-122"/>
                        </a:rPr>
                        <a:t>7</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4064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12700" algn="ctr">
                        <a:lnSpc>
                          <a:spcPct val="100000"/>
                        </a:lnSpc>
                        <a:spcBef>
                          <a:spcPts val="345"/>
                        </a:spcBef>
                      </a:pPr>
                      <a:r>
                        <a:rPr sz="1050" spc="-5" dirty="0">
                          <a:latin typeface="+mj-ea"/>
                          <a:ea typeface="+mj-ea"/>
                          <a:cs typeface="微软雅黑" panose="020B0503020204020204" pitchFamily="34" charset="-122"/>
                        </a:rPr>
                        <a:t>15</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8415" algn="ctr">
                        <a:lnSpc>
                          <a:spcPct val="100000"/>
                        </a:lnSpc>
                        <a:spcBef>
                          <a:spcPts val="345"/>
                        </a:spcBef>
                      </a:pPr>
                      <a:r>
                        <a:rPr sz="1050" dirty="0">
                          <a:latin typeface="+mj-ea"/>
                          <a:ea typeface="+mj-ea"/>
                          <a:cs typeface="微软雅黑" panose="020B0503020204020204" pitchFamily="34" charset="-122"/>
                        </a:rPr>
                        <a:t>NV</a:t>
                      </a:r>
                      <a:r>
                        <a:rPr sz="1050" spc="-5" dirty="0">
                          <a:latin typeface="+mj-ea"/>
                          <a:ea typeface="+mj-ea"/>
                          <a:cs typeface="微软雅黑" panose="020B0503020204020204" pitchFamily="34" charset="-122"/>
                        </a:rPr>
                        <a:t>IDIA</a:t>
                      </a:r>
                      <a:r>
                        <a:rPr sz="1050" dirty="0">
                          <a:latin typeface="+mj-ea"/>
                          <a:ea typeface="+mj-ea"/>
                          <a:cs typeface="微软雅黑" panose="020B0503020204020204" pitchFamily="34" charset="-122"/>
                        </a:rPr>
                        <a:t>（英伟达）</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45"/>
                        </a:spcBef>
                      </a:pPr>
                      <a:r>
                        <a:rPr sz="1050" dirty="0">
                          <a:latin typeface="+mj-ea"/>
                          <a:ea typeface="+mj-ea"/>
                          <a:cs typeface="微软雅黑" panose="020B0503020204020204" pitchFamily="34" charset="-122"/>
                        </a:rPr>
                        <a:t>智能芯片技术</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345"/>
                        </a:spcBef>
                      </a:pPr>
                      <a:r>
                        <a:rPr sz="1050" dirty="0">
                          <a:latin typeface="+mj-ea"/>
                          <a:ea typeface="+mj-ea"/>
                          <a:cs typeface="微软雅黑" panose="020B0503020204020204" pitchFamily="34" charset="-122"/>
                        </a:rPr>
                        <a:t>芯片</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345"/>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345"/>
                        </a:spcBef>
                      </a:pPr>
                      <a:r>
                        <a:rPr sz="1050" spc="-5" dirty="0">
                          <a:latin typeface="+mj-ea"/>
                          <a:ea typeface="+mj-ea"/>
                          <a:cs typeface="微软雅黑" panose="020B0503020204020204" pitchFamily="34" charset="-122"/>
                        </a:rPr>
                        <a:t>1993年</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345"/>
                        </a:spcBef>
                      </a:pPr>
                      <a:r>
                        <a:rPr sz="1050" dirty="0">
                          <a:latin typeface="+mj-ea"/>
                          <a:ea typeface="+mj-ea"/>
                          <a:cs typeface="微软雅黑" panose="020B0503020204020204" pitchFamily="34" charset="-122"/>
                        </a:rPr>
                        <a:t>上市</a:t>
                      </a:r>
                      <a:endParaRPr sz="1050" dirty="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7780" algn="ctr">
                        <a:lnSpc>
                          <a:spcPct val="100000"/>
                        </a:lnSpc>
                        <a:spcBef>
                          <a:spcPts val="345"/>
                        </a:spcBef>
                      </a:pPr>
                      <a:r>
                        <a:rPr sz="1050" dirty="0">
                          <a:latin typeface="+mj-ea"/>
                          <a:ea typeface="+mj-ea"/>
                          <a:cs typeface="微软雅黑" panose="020B0503020204020204" pitchFamily="34" charset="-122"/>
                        </a:rPr>
                        <a:t>市值1</a:t>
                      </a:r>
                      <a:r>
                        <a:rPr sz="1050" spc="-5" dirty="0">
                          <a:latin typeface="+mj-ea"/>
                          <a:ea typeface="+mj-ea"/>
                          <a:cs typeface="微软雅黑" panose="020B0503020204020204" pitchFamily="34" charset="-122"/>
                        </a:rPr>
                        <a:t>450</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4381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12700" algn="ctr">
                        <a:lnSpc>
                          <a:spcPct val="100000"/>
                        </a:lnSpc>
                        <a:spcBef>
                          <a:spcPts val="375"/>
                        </a:spcBef>
                      </a:pPr>
                      <a:r>
                        <a:rPr sz="1050" spc="-5" dirty="0">
                          <a:latin typeface="+mj-ea"/>
                          <a:ea typeface="+mj-ea"/>
                          <a:cs typeface="微软雅黑" panose="020B0503020204020204" pitchFamily="34" charset="-122"/>
                        </a:rPr>
                        <a:t>16</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75"/>
                        </a:spcBef>
                      </a:pPr>
                      <a:r>
                        <a:rPr sz="1050" spc="-5" dirty="0">
                          <a:latin typeface="+mj-ea"/>
                          <a:ea typeface="+mj-ea"/>
                          <a:cs typeface="微软雅黑" panose="020B0503020204020204" pitchFamily="34" charset="-122"/>
                        </a:rPr>
                        <a:t>Brainco</a:t>
                      </a:r>
                      <a:endParaRPr sz="1050"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algn="ctr">
                        <a:lnSpc>
                          <a:spcPct val="100000"/>
                        </a:lnSpc>
                        <a:spcBef>
                          <a:spcPts val="375"/>
                        </a:spcBef>
                      </a:pPr>
                      <a:r>
                        <a:rPr sz="1050" dirty="0">
                          <a:latin typeface="+mj-ea"/>
                          <a:ea typeface="+mj-ea"/>
                          <a:cs typeface="微软雅黑" panose="020B0503020204020204" pitchFamily="34" charset="-122"/>
                        </a:rPr>
                        <a:t>脑机接口</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75"/>
                        </a:spcBef>
                      </a:pPr>
                      <a:r>
                        <a:rPr sz="1050" dirty="0">
                          <a:latin typeface="+mj-ea"/>
                          <a:ea typeface="+mj-ea"/>
                          <a:cs typeface="微软雅黑" panose="020B0503020204020204" pitchFamily="34" charset="-122"/>
                        </a:rPr>
                        <a:t>教育、医疗、智能硬件</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75"/>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75"/>
                        </a:spcBef>
                      </a:pPr>
                      <a:r>
                        <a:rPr sz="1050" spc="-5" dirty="0">
                          <a:latin typeface="+mj-ea"/>
                          <a:ea typeface="+mj-ea"/>
                          <a:cs typeface="微软雅黑" panose="020B0503020204020204" pitchFamily="34" charset="-122"/>
                        </a:rPr>
                        <a:t>2015年</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75"/>
                        </a:spcBef>
                      </a:pPr>
                      <a:r>
                        <a:rPr sz="1050" dirty="0">
                          <a:latin typeface="+mj-ea"/>
                          <a:ea typeface="+mj-ea"/>
                          <a:cs typeface="微软雅黑" panose="020B0503020204020204" pitchFamily="34" charset="-122"/>
                        </a:rPr>
                        <a:t>天使轮融资</a:t>
                      </a:r>
                      <a:endParaRPr sz="1050"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9050" algn="ctr">
                        <a:lnSpc>
                          <a:spcPct val="100000"/>
                        </a:lnSpc>
                        <a:spcBef>
                          <a:spcPts val="375"/>
                        </a:spcBef>
                      </a:pPr>
                      <a:r>
                        <a:rPr sz="1050" dirty="0">
                          <a:latin typeface="+mj-ea"/>
                          <a:ea typeface="+mj-ea"/>
                          <a:cs typeface="微软雅黑" panose="020B0503020204020204" pitchFamily="34" charset="-122"/>
                        </a:rPr>
                        <a:t>融资额6</a:t>
                      </a:r>
                      <a:r>
                        <a:rPr sz="1050" spc="-5" dirty="0">
                          <a:latin typeface="+mj-ea"/>
                          <a:ea typeface="+mj-ea"/>
                          <a:cs typeface="微软雅黑" panose="020B0503020204020204" pitchFamily="34" charset="-122"/>
                        </a:rPr>
                        <a:t>00</a:t>
                      </a:r>
                      <a:r>
                        <a:rPr sz="1050" dirty="0">
                          <a:latin typeface="+mj-ea"/>
                          <a:ea typeface="+mj-ea"/>
                          <a:cs typeface="微软雅黑" panose="020B0503020204020204" pitchFamily="34" charset="-122"/>
                        </a:rPr>
                        <a:t>万美元</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0" algn="ctr" defTabSz="914400" rtl="0" eaLnBrk="1" latinLnBrk="0" hangingPunct="1">
                        <a:lnSpc>
                          <a:spcPct val="100000"/>
                        </a:lnSpc>
                        <a:spcBef>
                          <a:spcPts val="375"/>
                        </a:spcBef>
                      </a:pPr>
                      <a:r>
                        <a:rPr sz="1050" kern="1200" spc="-5" dirty="0">
                          <a:solidFill>
                            <a:schemeClr val="tx1"/>
                          </a:solidFill>
                          <a:latin typeface="+mj-ea"/>
                          <a:ea typeface="+mj-ea"/>
                          <a:cs typeface="微软雅黑" panose="020B0503020204020204" pitchFamily="34" charset="-122"/>
                        </a:rPr>
                        <a:t>17</a:t>
                      </a:r>
                      <a:endParaRPr sz="1050" kern="1200" spc="-5">
                        <a:solidFill>
                          <a:schemeClr val="tx1"/>
                        </a:solidFill>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0" algn="ctr" defTabSz="914400" rtl="0" eaLnBrk="1" latinLnBrk="0" hangingPunct="1">
                        <a:lnSpc>
                          <a:spcPct val="100000"/>
                        </a:lnSpc>
                        <a:spcBef>
                          <a:spcPts val="375"/>
                        </a:spcBef>
                      </a:pPr>
                      <a:r>
                        <a:rPr sz="1050" kern="1200" spc="-5" dirty="0">
                          <a:solidFill>
                            <a:schemeClr val="tx1"/>
                          </a:solidFill>
                          <a:latin typeface="+mj-ea"/>
                          <a:ea typeface="+mj-ea"/>
                          <a:cs typeface="微软雅黑" panose="020B0503020204020204" pitchFamily="34" charset="-122"/>
                        </a:rPr>
                        <a:t>Waymo</a:t>
                      </a:r>
                      <a:endParaRPr sz="1050" kern="1200" spc="-5">
                        <a:solidFill>
                          <a:schemeClr val="tx1"/>
                        </a:solidFill>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400"/>
                        </a:spcBef>
                      </a:pPr>
                      <a:r>
                        <a:rPr sz="1050" dirty="0">
                          <a:latin typeface="+mj-ea"/>
                          <a:ea typeface="+mj-ea"/>
                          <a:cs typeface="微软雅黑" panose="020B0503020204020204" pitchFamily="34" charset="-122"/>
                        </a:rPr>
                        <a:t>自动驾驶</a:t>
                      </a:r>
                      <a:endParaRPr sz="105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400"/>
                        </a:spcBef>
                      </a:pPr>
                      <a:r>
                        <a:rPr sz="1050" dirty="0">
                          <a:latin typeface="+mj-ea"/>
                          <a:ea typeface="+mj-ea"/>
                          <a:cs typeface="微软雅黑" panose="020B0503020204020204" pitchFamily="34" charset="-122"/>
                        </a:rPr>
                        <a:t>交通</a:t>
                      </a:r>
                      <a:endParaRPr sz="105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400"/>
                        </a:spcBef>
                      </a:pPr>
                      <a:r>
                        <a:rPr sz="1050" dirty="0">
                          <a:latin typeface="+mj-ea"/>
                          <a:ea typeface="+mj-ea"/>
                          <a:cs typeface="微软雅黑" panose="020B0503020204020204" pitchFamily="34" charset="-122"/>
                        </a:rPr>
                        <a:t>美国</a:t>
                      </a:r>
                      <a:endParaRPr sz="105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400"/>
                        </a:spcBef>
                      </a:pPr>
                      <a:r>
                        <a:rPr sz="1050" spc="-5" dirty="0">
                          <a:latin typeface="+mj-ea"/>
                          <a:ea typeface="+mj-ea"/>
                          <a:cs typeface="微软雅黑" panose="020B0503020204020204" pitchFamily="34" charset="-122"/>
                        </a:rPr>
                        <a:t>2016年</a:t>
                      </a:r>
                      <a:endParaRPr sz="105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400"/>
                        </a:spcBef>
                      </a:pPr>
                      <a:r>
                        <a:rPr sz="1050" spc="-5" dirty="0">
                          <a:latin typeface="+mj-ea"/>
                          <a:ea typeface="+mj-ea"/>
                          <a:cs typeface="微软雅黑" panose="020B0503020204020204" pitchFamily="34" charset="-122"/>
                        </a:rPr>
                        <a:t>C</a:t>
                      </a:r>
                      <a:r>
                        <a:rPr sz="1050" dirty="0">
                          <a:latin typeface="+mj-ea"/>
                          <a:ea typeface="+mj-ea"/>
                          <a:cs typeface="微软雅黑" panose="020B0503020204020204" pitchFamily="34" charset="-122"/>
                        </a:rPr>
                        <a:t>轮融资</a:t>
                      </a:r>
                      <a:endParaRPr sz="1050" dirty="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7780" algn="ctr">
                        <a:lnSpc>
                          <a:spcPct val="100000"/>
                        </a:lnSpc>
                        <a:spcBef>
                          <a:spcPts val="400"/>
                        </a:spcBef>
                      </a:pPr>
                      <a:r>
                        <a:rPr sz="1050" dirty="0">
                          <a:latin typeface="+mj-ea"/>
                          <a:ea typeface="+mj-ea"/>
                          <a:cs typeface="微软雅黑" panose="020B0503020204020204" pitchFamily="34" charset="-122"/>
                        </a:rPr>
                        <a:t>估值1</a:t>
                      </a:r>
                      <a:r>
                        <a:rPr sz="1050" spc="-5" dirty="0">
                          <a:latin typeface="+mj-ea"/>
                          <a:ea typeface="+mj-ea"/>
                          <a:cs typeface="微软雅黑" panose="020B0503020204020204" pitchFamily="34" charset="-122"/>
                        </a:rPr>
                        <a:t>050</a:t>
                      </a:r>
                      <a:r>
                        <a:rPr sz="1050" dirty="0">
                          <a:latin typeface="+mj-ea"/>
                          <a:ea typeface="+mj-ea"/>
                          <a:cs typeface="微软雅黑" panose="020B0503020204020204" pitchFamily="34" charset="-122"/>
                        </a:rPr>
                        <a:t>亿美元</a:t>
                      </a:r>
                      <a:endParaRPr sz="1050">
                        <a:latin typeface="+mj-ea"/>
                        <a:ea typeface="+mj-ea"/>
                        <a:cs typeface="微软雅黑" panose="020B0503020204020204" pitchFamily="34" charset="-122"/>
                      </a:endParaRPr>
                    </a:p>
                  </a:txBody>
                  <a:tcPr marL="0" marR="0" marT="5080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0" algn="ctr" defTabSz="914400" rtl="0" eaLnBrk="1" latinLnBrk="0" hangingPunct="1">
                        <a:lnSpc>
                          <a:spcPct val="100000"/>
                        </a:lnSpc>
                        <a:spcBef>
                          <a:spcPts val="375"/>
                        </a:spcBef>
                      </a:pPr>
                      <a:r>
                        <a:rPr lang="en-US" sz="1050" kern="1200" spc="-5" dirty="0">
                          <a:solidFill>
                            <a:schemeClr val="tx1"/>
                          </a:solidFill>
                          <a:latin typeface="+mj-ea"/>
                          <a:ea typeface="+mj-ea"/>
                          <a:cs typeface="微软雅黑" panose="020B0503020204020204" pitchFamily="34" charset="-122"/>
                        </a:rPr>
                        <a:t>18</a:t>
                      </a:r>
                      <a:endParaRPr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0" algn="ctr" defTabSz="914400" rtl="0" eaLnBrk="1" latinLnBrk="0" hangingPunct="1">
                        <a:lnSpc>
                          <a:spcPct val="100000"/>
                        </a:lnSpc>
                        <a:spcBef>
                          <a:spcPts val="375"/>
                        </a:spcBef>
                      </a:pPr>
                      <a:r>
                        <a:rPr lang="en-US" sz="1050" kern="1200" spc="-5" dirty="0">
                          <a:solidFill>
                            <a:schemeClr val="tx1"/>
                          </a:solidFill>
                          <a:latin typeface="+mj-ea"/>
                          <a:ea typeface="+mj-ea"/>
                          <a:cs typeface="微软雅黑" panose="020B0503020204020204" pitchFamily="34" charset="-122"/>
                        </a:rPr>
                        <a:t>ABB Robotics</a:t>
                      </a:r>
                      <a:endParaRPr lang="en-US" altLang="zh-CN"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25"/>
                        </a:spcBef>
                      </a:pPr>
                      <a:r>
                        <a:rPr sz="1050" dirty="0">
                          <a:latin typeface="+mj-ea"/>
                          <a:ea typeface="+mj-ea"/>
                          <a:cs typeface="微软雅黑" panose="020B0503020204020204" pitchFamily="34" charset="-122"/>
                        </a:rPr>
                        <a:t>机器人及自动化技术</a:t>
                      </a:r>
                      <a:endParaRPr sz="105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25"/>
                        </a:spcBef>
                      </a:pPr>
                      <a:r>
                        <a:rPr sz="1050" dirty="0">
                          <a:latin typeface="+mj-ea"/>
                          <a:ea typeface="+mj-ea"/>
                          <a:cs typeface="微软雅黑" panose="020B0503020204020204" pitchFamily="34" charset="-122"/>
                        </a:rPr>
                        <a:t>机器人</a:t>
                      </a:r>
                      <a:endParaRPr sz="105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25"/>
                        </a:spcBef>
                      </a:pPr>
                      <a:r>
                        <a:rPr sz="1050" dirty="0">
                          <a:latin typeface="+mj-ea"/>
                          <a:ea typeface="+mj-ea"/>
                          <a:cs typeface="微软雅黑" panose="020B0503020204020204" pitchFamily="34" charset="-122"/>
                        </a:rPr>
                        <a:t>瑞士</a:t>
                      </a:r>
                      <a:endParaRPr sz="105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25"/>
                        </a:spcBef>
                      </a:pPr>
                      <a:r>
                        <a:rPr sz="1050" spc="-5" dirty="0">
                          <a:latin typeface="+mj-ea"/>
                          <a:ea typeface="+mj-ea"/>
                          <a:cs typeface="微软雅黑" panose="020B0503020204020204" pitchFamily="34" charset="-122"/>
                        </a:rPr>
                        <a:t>1988年</a:t>
                      </a:r>
                      <a:endParaRPr sz="105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25"/>
                        </a:spcBef>
                      </a:pPr>
                      <a:r>
                        <a:rPr sz="1050" dirty="0">
                          <a:latin typeface="+mj-ea"/>
                          <a:ea typeface="+mj-ea"/>
                          <a:cs typeface="微软雅黑" panose="020B0503020204020204" pitchFamily="34" charset="-122"/>
                        </a:rPr>
                        <a:t>上市</a:t>
                      </a:r>
                      <a:endParaRPr sz="1050" dirty="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9050" algn="ctr">
                        <a:lnSpc>
                          <a:spcPct val="100000"/>
                        </a:lnSpc>
                        <a:spcBef>
                          <a:spcPts val="325"/>
                        </a:spcBef>
                      </a:pPr>
                      <a:r>
                        <a:rPr sz="1050" dirty="0">
                          <a:latin typeface="+mj-ea"/>
                          <a:ea typeface="+mj-ea"/>
                          <a:cs typeface="微软雅黑" panose="020B0503020204020204" pitchFamily="34" charset="-122"/>
                        </a:rPr>
                        <a:t>市值5</a:t>
                      </a:r>
                      <a:r>
                        <a:rPr sz="1050" spc="-5" dirty="0">
                          <a:latin typeface="+mj-ea"/>
                          <a:ea typeface="+mj-ea"/>
                          <a:cs typeface="微软雅黑" panose="020B0503020204020204" pitchFamily="34" charset="-122"/>
                        </a:rPr>
                        <a:t>14</a:t>
                      </a:r>
                      <a:r>
                        <a:rPr sz="1050" dirty="0">
                          <a:latin typeface="+mj-ea"/>
                          <a:ea typeface="+mj-ea"/>
                          <a:cs typeface="微软雅黑" panose="020B0503020204020204" pitchFamily="34" charset="-122"/>
                        </a:rPr>
                        <a:t>亿美元</a:t>
                      </a:r>
                      <a:endParaRPr sz="1050" dirty="0">
                        <a:latin typeface="+mj-ea"/>
                        <a:ea typeface="+mj-ea"/>
                        <a:cs typeface="微软雅黑" panose="020B0503020204020204" pitchFamily="34" charset="-122"/>
                      </a:endParaRPr>
                    </a:p>
                  </a:txBody>
                  <a:tcPr marL="0" marR="0" marT="4127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r h="210536">
                <a:tc>
                  <a:txBody>
                    <a:bodyPr/>
                    <a:lstStyle/>
                    <a:p>
                      <a:pPr marL="0" algn="ctr" defTabSz="914400" rtl="0" eaLnBrk="1" latinLnBrk="0" hangingPunct="1">
                        <a:lnSpc>
                          <a:spcPct val="100000"/>
                        </a:lnSpc>
                        <a:spcBef>
                          <a:spcPts val="375"/>
                        </a:spcBef>
                      </a:pPr>
                      <a:r>
                        <a:rPr lang="en-US" sz="1050" kern="1200" spc="-5" dirty="0">
                          <a:solidFill>
                            <a:schemeClr val="tx1"/>
                          </a:solidFill>
                          <a:latin typeface="+mj-ea"/>
                          <a:ea typeface="+mj-ea"/>
                          <a:cs typeface="微软雅黑" panose="020B0503020204020204" pitchFamily="34" charset="-122"/>
                        </a:rPr>
                        <a:t>19</a:t>
                      </a:r>
                      <a:endParaRPr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0" marR="0" lvl="0" indent="0" algn="ctr" defTabSz="914400" rtl="0" eaLnBrk="1" fontAlgn="auto" latinLnBrk="0" hangingPunct="1">
                        <a:lnSpc>
                          <a:spcPct val="100000"/>
                        </a:lnSpc>
                        <a:spcBef>
                          <a:spcPts val="375"/>
                        </a:spcBef>
                        <a:spcAft>
                          <a:spcPts val="0"/>
                        </a:spcAft>
                        <a:buClrTx/>
                        <a:buSzTx/>
                        <a:buFontTx/>
                        <a:buNone/>
                        <a:defRPr/>
                      </a:pPr>
                      <a:r>
                        <a:rPr lang="en-US" altLang="zh-CN" sz="1050" kern="1200" spc="-5" dirty="0">
                          <a:solidFill>
                            <a:schemeClr val="tx1"/>
                          </a:solidFill>
                          <a:latin typeface="+mj-ea"/>
                          <a:ea typeface="+mj-ea"/>
                          <a:cs typeface="微软雅黑" panose="020B0503020204020204" pitchFamily="34" charset="-122"/>
                        </a:rPr>
                        <a:t>Fanuc（</a:t>
                      </a:r>
                      <a:r>
                        <a:rPr lang="zh-CN" altLang="en-US" sz="1050" kern="1200" spc="-5" dirty="0">
                          <a:solidFill>
                            <a:schemeClr val="tx1"/>
                          </a:solidFill>
                          <a:latin typeface="+mj-ea"/>
                          <a:ea typeface="+mj-ea"/>
                          <a:cs typeface="微软雅黑" panose="020B0503020204020204" pitchFamily="34" charset="-122"/>
                        </a:rPr>
                        <a:t>发那科）</a:t>
                      </a:r>
                      <a:endParaRPr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50"/>
                        </a:spcBef>
                      </a:pPr>
                      <a:r>
                        <a:rPr sz="1050" dirty="0">
                          <a:latin typeface="+mj-ea"/>
                          <a:ea typeface="+mj-ea"/>
                          <a:cs typeface="微软雅黑" panose="020B0503020204020204" pitchFamily="34" charset="-122"/>
                        </a:rPr>
                        <a:t>机器人技术</a:t>
                      </a:r>
                      <a:endParaRPr sz="105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3810" algn="ctr">
                        <a:lnSpc>
                          <a:spcPct val="100000"/>
                        </a:lnSpc>
                        <a:spcBef>
                          <a:spcPts val="350"/>
                        </a:spcBef>
                      </a:pPr>
                      <a:r>
                        <a:rPr sz="1050" dirty="0">
                          <a:latin typeface="+mj-ea"/>
                          <a:ea typeface="+mj-ea"/>
                          <a:cs typeface="微软雅黑" panose="020B0503020204020204" pitchFamily="34" charset="-122"/>
                        </a:rPr>
                        <a:t>制造</a:t>
                      </a:r>
                      <a:endParaRPr sz="105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3335" algn="ctr">
                        <a:lnSpc>
                          <a:spcPct val="100000"/>
                        </a:lnSpc>
                        <a:spcBef>
                          <a:spcPts val="350"/>
                        </a:spcBef>
                      </a:pPr>
                      <a:r>
                        <a:rPr sz="1050" dirty="0">
                          <a:latin typeface="+mj-ea"/>
                          <a:ea typeface="+mj-ea"/>
                          <a:cs typeface="微软雅黑" panose="020B0503020204020204" pitchFamily="34" charset="-122"/>
                        </a:rPr>
                        <a:t>日本</a:t>
                      </a:r>
                      <a:endParaRPr sz="105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0160" algn="ctr">
                        <a:lnSpc>
                          <a:spcPct val="100000"/>
                        </a:lnSpc>
                        <a:spcBef>
                          <a:spcPts val="350"/>
                        </a:spcBef>
                      </a:pPr>
                      <a:r>
                        <a:rPr sz="1050" spc="-5" dirty="0">
                          <a:latin typeface="+mj-ea"/>
                          <a:ea typeface="+mj-ea"/>
                          <a:cs typeface="微软雅黑" panose="020B0503020204020204" pitchFamily="34" charset="-122"/>
                        </a:rPr>
                        <a:t>1956年</a:t>
                      </a:r>
                      <a:endParaRPr sz="105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20955" algn="ctr">
                        <a:lnSpc>
                          <a:spcPct val="100000"/>
                        </a:lnSpc>
                        <a:spcBef>
                          <a:spcPts val="350"/>
                        </a:spcBef>
                      </a:pPr>
                      <a:r>
                        <a:rPr sz="1050" dirty="0">
                          <a:latin typeface="+mj-ea"/>
                          <a:ea typeface="+mj-ea"/>
                          <a:cs typeface="微软雅黑" panose="020B0503020204020204" pitchFamily="34" charset="-122"/>
                        </a:rPr>
                        <a:t>上市</a:t>
                      </a:r>
                      <a:endParaRPr sz="105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19050" algn="ctr">
                        <a:lnSpc>
                          <a:spcPct val="100000"/>
                        </a:lnSpc>
                        <a:spcBef>
                          <a:spcPts val="350"/>
                        </a:spcBef>
                      </a:pPr>
                      <a:r>
                        <a:rPr sz="1050" dirty="0">
                          <a:latin typeface="+mj-ea"/>
                          <a:ea typeface="+mj-ea"/>
                          <a:cs typeface="微软雅黑" panose="020B0503020204020204" pitchFamily="34" charset="-122"/>
                        </a:rPr>
                        <a:t>市值3</a:t>
                      </a:r>
                      <a:r>
                        <a:rPr sz="1050" spc="-5" dirty="0">
                          <a:latin typeface="+mj-ea"/>
                          <a:ea typeface="+mj-ea"/>
                          <a:cs typeface="微软雅黑" panose="020B0503020204020204" pitchFamily="34" charset="-122"/>
                        </a:rPr>
                        <a:t>62</a:t>
                      </a:r>
                      <a:r>
                        <a:rPr sz="1050" dirty="0">
                          <a:latin typeface="+mj-ea"/>
                          <a:ea typeface="+mj-ea"/>
                          <a:cs typeface="微软雅黑" panose="020B0503020204020204" pitchFamily="34" charset="-122"/>
                        </a:rPr>
                        <a:t>亿美元</a:t>
                      </a:r>
                      <a:endParaRPr sz="1050" dirty="0">
                        <a:latin typeface="+mj-ea"/>
                        <a:ea typeface="+mj-ea"/>
                        <a:cs typeface="微软雅黑" panose="020B0503020204020204" pitchFamily="34" charset="-122"/>
                      </a:endParaRPr>
                    </a:p>
                  </a:txBody>
                  <a:tcPr marL="0" marR="0" marT="4445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r>
              <a:tr h="210536">
                <a:tc>
                  <a:txBody>
                    <a:bodyPr/>
                    <a:lstStyle/>
                    <a:p>
                      <a:pPr marL="0" algn="ctr" defTabSz="914400" rtl="0" eaLnBrk="1" latinLnBrk="0" hangingPunct="1">
                        <a:lnSpc>
                          <a:spcPct val="100000"/>
                        </a:lnSpc>
                        <a:spcBef>
                          <a:spcPts val="375"/>
                        </a:spcBef>
                      </a:pPr>
                      <a:r>
                        <a:rPr lang="en-US" sz="1050" kern="1200" spc="-5" dirty="0">
                          <a:solidFill>
                            <a:schemeClr val="tx1"/>
                          </a:solidFill>
                          <a:latin typeface="+mj-ea"/>
                          <a:ea typeface="+mj-ea"/>
                          <a:cs typeface="微软雅黑" panose="020B0503020204020204" pitchFamily="34" charset="-122"/>
                        </a:rPr>
                        <a:t>20</a:t>
                      </a:r>
                      <a:endParaRPr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marL="0" marR="0" lvl="0" indent="0" algn="ctr" defTabSz="914400" rtl="0" eaLnBrk="1" fontAlgn="auto" latinLnBrk="0" hangingPunct="1">
                        <a:lnSpc>
                          <a:spcPct val="100000"/>
                        </a:lnSpc>
                        <a:spcBef>
                          <a:spcPts val="375"/>
                        </a:spcBef>
                        <a:spcAft>
                          <a:spcPts val="0"/>
                        </a:spcAft>
                        <a:buClrTx/>
                        <a:buSzTx/>
                        <a:buFontTx/>
                        <a:buNone/>
                        <a:defRPr/>
                      </a:pPr>
                      <a:r>
                        <a:rPr lang="en-US" altLang="zh-CN" sz="1050" kern="1200" spc="-5" dirty="0">
                          <a:solidFill>
                            <a:schemeClr val="tx1"/>
                          </a:solidFill>
                          <a:latin typeface="+mj-ea"/>
                          <a:ea typeface="+mj-ea"/>
                          <a:cs typeface="微软雅黑" panose="020B0503020204020204" pitchFamily="34" charset="-122"/>
                        </a:rPr>
                        <a:t>Preferred Networks</a:t>
                      </a:r>
                      <a:endParaRPr sz="1050" kern="1200" spc="-5" dirty="0">
                        <a:solidFill>
                          <a:schemeClr val="tx1"/>
                        </a:solidFill>
                        <a:latin typeface="+mj-ea"/>
                        <a:ea typeface="+mj-ea"/>
                        <a:cs typeface="微软雅黑" panose="020B0503020204020204" pitchFamily="34" charset="-122"/>
                      </a:endParaRPr>
                    </a:p>
                  </a:txBody>
                  <a:tcPr marL="0" marR="0" marT="0"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tcPr>
                </a:tc>
                <a:tc>
                  <a:txBody>
                    <a:bodyPr/>
                    <a:lstStyle/>
                    <a:p>
                      <a:pPr algn="ctr">
                        <a:lnSpc>
                          <a:spcPct val="100000"/>
                        </a:lnSpc>
                        <a:spcBef>
                          <a:spcPts val="375"/>
                        </a:spcBef>
                      </a:pPr>
                      <a:r>
                        <a:rPr sz="1050" dirty="0">
                          <a:latin typeface="+mj-ea"/>
                          <a:ea typeface="+mj-ea"/>
                          <a:cs typeface="微软雅黑" panose="020B0503020204020204" pitchFamily="34" charset="-122"/>
                        </a:rPr>
                        <a:t>深度学习、机器学习技术</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75"/>
                        </a:spcBef>
                      </a:pPr>
                      <a:r>
                        <a:rPr sz="1050" dirty="0">
                          <a:latin typeface="+mj-ea"/>
                          <a:ea typeface="+mj-ea"/>
                          <a:cs typeface="微软雅黑" panose="020B0503020204020204" pitchFamily="34" charset="-122"/>
                        </a:rPr>
                        <a:t>物联网</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3335" algn="ctr">
                        <a:lnSpc>
                          <a:spcPct val="100000"/>
                        </a:lnSpc>
                        <a:spcBef>
                          <a:spcPts val="375"/>
                        </a:spcBef>
                      </a:pPr>
                      <a:r>
                        <a:rPr sz="1050" dirty="0">
                          <a:latin typeface="+mj-ea"/>
                          <a:ea typeface="+mj-ea"/>
                          <a:cs typeface="微软雅黑" panose="020B0503020204020204" pitchFamily="34" charset="-122"/>
                        </a:rPr>
                        <a:t>日本</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10160" algn="ctr">
                        <a:lnSpc>
                          <a:spcPct val="100000"/>
                        </a:lnSpc>
                        <a:spcBef>
                          <a:spcPts val="375"/>
                        </a:spcBef>
                      </a:pPr>
                      <a:r>
                        <a:rPr sz="1050" spc="-5" dirty="0">
                          <a:latin typeface="+mj-ea"/>
                          <a:ea typeface="+mj-ea"/>
                          <a:cs typeface="微软雅黑" panose="020B0503020204020204" pitchFamily="34" charset="-122"/>
                        </a:rPr>
                        <a:t>2016年</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3810" algn="ctr">
                        <a:lnSpc>
                          <a:spcPct val="100000"/>
                        </a:lnSpc>
                        <a:spcBef>
                          <a:spcPts val="375"/>
                        </a:spcBef>
                      </a:pPr>
                      <a:r>
                        <a:rPr sz="1050" spc="-5" dirty="0">
                          <a:latin typeface="+mj-ea"/>
                          <a:ea typeface="+mj-ea"/>
                          <a:cs typeface="微软雅黑" panose="020B0503020204020204" pitchFamily="34" charset="-122"/>
                        </a:rPr>
                        <a:t>C</a:t>
                      </a:r>
                      <a:r>
                        <a:rPr sz="1050" dirty="0">
                          <a:latin typeface="+mj-ea"/>
                          <a:ea typeface="+mj-ea"/>
                          <a:cs typeface="微软雅黑" panose="020B0503020204020204" pitchFamily="34" charset="-122"/>
                        </a:rPr>
                        <a:t>轮融资</a:t>
                      </a:r>
                      <a:endParaRPr sz="105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c>
                  <a:txBody>
                    <a:bodyPr/>
                    <a:lstStyle/>
                    <a:p>
                      <a:pPr marL="20955" algn="ctr">
                        <a:lnSpc>
                          <a:spcPct val="100000"/>
                        </a:lnSpc>
                        <a:spcBef>
                          <a:spcPts val="375"/>
                        </a:spcBef>
                      </a:pPr>
                      <a:r>
                        <a:rPr sz="1050" dirty="0">
                          <a:latin typeface="+mj-ea"/>
                          <a:ea typeface="+mj-ea"/>
                          <a:cs typeface="微软雅黑" panose="020B0503020204020204" pitchFamily="34" charset="-122"/>
                        </a:rPr>
                        <a:t>估值2</a:t>
                      </a:r>
                      <a:r>
                        <a:rPr sz="1050" spc="-5" dirty="0">
                          <a:latin typeface="+mj-ea"/>
                          <a:ea typeface="+mj-ea"/>
                          <a:cs typeface="微软雅黑" panose="020B0503020204020204" pitchFamily="34" charset="-122"/>
                        </a:rPr>
                        <a:t>0</a:t>
                      </a:r>
                      <a:r>
                        <a:rPr sz="1050" dirty="0">
                          <a:latin typeface="+mj-ea"/>
                          <a:ea typeface="+mj-ea"/>
                          <a:cs typeface="微软雅黑" panose="020B0503020204020204" pitchFamily="34" charset="-122"/>
                        </a:rPr>
                        <a:t>亿美元</a:t>
                      </a:r>
                      <a:endParaRPr sz="1050" dirty="0">
                        <a:latin typeface="+mj-ea"/>
                        <a:ea typeface="+mj-ea"/>
                        <a:cs typeface="微软雅黑" panose="020B0503020204020204" pitchFamily="34" charset="-122"/>
                      </a:endParaRPr>
                    </a:p>
                  </a:txBody>
                  <a:tcPr marL="0" marR="0" marT="47625" marB="0">
                    <a:lnL w="6350">
                      <a:solidFill>
                        <a:srgbClr val="C0C0C0"/>
                      </a:solidFill>
                      <a:prstDash val="solid"/>
                    </a:lnL>
                    <a:lnR w="6350">
                      <a:solidFill>
                        <a:srgbClr val="C0C0C0"/>
                      </a:solidFill>
                      <a:prstDash val="solid"/>
                    </a:lnR>
                    <a:lnT w="6350">
                      <a:solidFill>
                        <a:srgbClr val="C0C0C0"/>
                      </a:solidFill>
                      <a:prstDash val="solid"/>
                    </a:lnT>
                    <a:lnB w="6350">
                      <a:solidFill>
                        <a:srgbClr val="C0C0C0"/>
                      </a:solidFill>
                      <a:prstDash val="soli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56817" y="1296037"/>
            <a:ext cx="9144483" cy="5245258"/>
          </a:xfrm>
          <a:prstGeom prst="rect">
            <a:avLst/>
          </a:prstGeom>
        </p:spPr>
      </p:pic>
      <p:sp>
        <p:nvSpPr>
          <p:cNvPr id="11" name="文本框 22"/>
          <p:cNvSpPr txBox="1">
            <a:spLocks noChangeArrowheads="1"/>
          </p:cNvSpPr>
          <p:nvPr/>
        </p:nvSpPr>
        <p:spPr bwMode="auto">
          <a:xfrm>
            <a:off x="636351" y="29835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机器学习的范围</a:t>
            </a:r>
            <a:br>
              <a:rPr lang="zh-CN" altLang="en-US" dirty="0"/>
            </a:b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4930" y="1475938"/>
            <a:ext cx="10515600" cy="4351338"/>
          </a:xfrm>
        </p:spPr>
        <p:txBody>
          <a:bodyPr/>
          <a:lstStyle/>
          <a:p>
            <a:r>
              <a:rPr lang="zh-CN" altLang="en-US" sz="2800" dirty="0">
                <a:latin typeface="+mj-ea"/>
                <a:ea typeface="+mj-ea"/>
              </a:rPr>
              <a:t>给定数据的预测问题</a:t>
            </a:r>
            <a:endParaRPr lang="zh-CN" altLang="en-US" sz="2800" dirty="0">
              <a:latin typeface="+mj-ea"/>
              <a:ea typeface="+mj-ea"/>
            </a:endParaRPr>
          </a:p>
          <a:p>
            <a:pPr marL="1085850" lvl="1" indent="-342900">
              <a:spcBef>
                <a:spcPct val="50000"/>
              </a:spcBef>
              <a:buFont typeface="Wingdings" panose="05000000000000000000" pitchFamily="2" charset="2"/>
              <a:buChar char="ü"/>
              <a:defRPr/>
            </a:pPr>
            <a:r>
              <a:rPr lang="zh-CN" altLang="en-US" sz="2400" dirty="0">
                <a:latin typeface="+mj-ea"/>
                <a:ea typeface="+mj-ea"/>
              </a:rPr>
              <a:t>数据清洗</a:t>
            </a:r>
            <a:r>
              <a:rPr lang="en-US" altLang="zh-CN" sz="2400" dirty="0">
                <a:latin typeface="+mj-ea"/>
                <a:ea typeface="+mj-ea"/>
              </a:rPr>
              <a:t>/</a:t>
            </a:r>
            <a:r>
              <a:rPr lang="zh-CN" altLang="en-US" sz="2400" dirty="0">
                <a:latin typeface="+mj-ea"/>
                <a:ea typeface="+mj-ea"/>
              </a:rPr>
              <a:t>特征选择</a:t>
            </a:r>
            <a:endParaRPr lang="zh-CN" altLang="en-US" sz="2400" dirty="0">
              <a:latin typeface="+mj-ea"/>
              <a:ea typeface="+mj-ea"/>
            </a:endParaRPr>
          </a:p>
          <a:p>
            <a:pPr marL="1085850" lvl="1" indent="-342900">
              <a:spcBef>
                <a:spcPct val="50000"/>
              </a:spcBef>
              <a:buFont typeface="Wingdings" panose="05000000000000000000" pitchFamily="2" charset="2"/>
              <a:buChar char="ü"/>
              <a:defRPr/>
            </a:pPr>
            <a:r>
              <a:rPr lang="zh-CN" altLang="en-US" sz="2400" dirty="0">
                <a:latin typeface="+mj-ea"/>
                <a:ea typeface="+mj-ea"/>
              </a:rPr>
              <a:t>确定算法模型</a:t>
            </a:r>
            <a:r>
              <a:rPr lang="en-US" altLang="zh-CN" sz="2400" dirty="0">
                <a:latin typeface="+mj-ea"/>
                <a:ea typeface="+mj-ea"/>
              </a:rPr>
              <a:t>/</a:t>
            </a:r>
            <a:r>
              <a:rPr lang="zh-CN" altLang="en-US" sz="2400" dirty="0">
                <a:latin typeface="+mj-ea"/>
                <a:ea typeface="+mj-ea"/>
              </a:rPr>
              <a:t>参数优化</a:t>
            </a:r>
            <a:endParaRPr lang="zh-CN" altLang="en-US" sz="2400" dirty="0">
              <a:latin typeface="+mj-ea"/>
              <a:ea typeface="+mj-ea"/>
            </a:endParaRPr>
          </a:p>
          <a:p>
            <a:pPr marL="1085850" lvl="1" indent="-342900">
              <a:spcBef>
                <a:spcPct val="50000"/>
              </a:spcBef>
              <a:buFont typeface="Wingdings" panose="05000000000000000000" pitchFamily="2" charset="2"/>
              <a:buChar char="ü"/>
              <a:defRPr/>
            </a:pPr>
            <a:r>
              <a:rPr lang="zh-CN" altLang="en-US" sz="2400" dirty="0">
                <a:latin typeface="+mj-ea"/>
                <a:ea typeface="+mj-ea"/>
              </a:rPr>
              <a:t>结果预测</a:t>
            </a:r>
            <a:endParaRPr lang="zh-CN" altLang="en-US" sz="2400" dirty="0">
              <a:latin typeface="+mj-ea"/>
              <a:ea typeface="+mj-ea"/>
            </a:endParaRPr>
          </a:p>
          <a:p>
            <a:pPr marL="742950" lvl="1" indent="0">
              <a:spcBef>
                <a:spcPct val="50000"/>
              </a:spcBef>
              <a:buFont typeface="Wingdings" panose="05000000000000000000" pitchFamily="2" charset="2"/>
              <a:buNone/>
              <a:defRPr/>
            </a:pPr>
            <a:endParaRPr lang="en-US" altLang="zh-CN" sz="2400" dirty="0">
              <a:latin typeface="+mj-ea"/>
              <a:ea typeface="+mj-ea"/>
            </a:endParaRPr>
          </a:p>
          <a:p>
            <a:pPr marL="742950" lvl="1" indent="0">
              <a:spcBef>
                <a:spcPct val="50000"/>
              </a:spcBef>
              <a:buNone/>
              <a:defRPr/>
            </a:pPr>
            <a:endParaRPr lang="zh-CN" altLang="en-US" sz="2400" dirty="0">
              <a:latin typeface="+mj-ea"/>
              <a:ea typeface="+mj-ea"/>
            </a:endParaRPr>
          </a:p>
          <a:p>
            <a:r>
              <a:rPr lang="zh-CN" altLang="en-US" sz="2800" dirty="0">
                <a:latin typeface="+mj-ea"/>
                <a:ea typeface="+mj-ea"/>
              </a:rPr>
              <a:t>不能解决什么</a:t>
            </a:r>
            <a:endParaRPr lang="zh-CN" altLang="en-US" sz="2800" dirty="0">
              <a:latin typeface="+mj-ea"/>
              <a:ea typeface="+mj-ea"/>
            </a:endParaRPr>
          </a:p>
          <a:p>
            <a:pPr marL="1085850" lvl="1" indent="-342900">
              <a:spcBef>
                <a:spcPct val="50000"/>
              </a:spcBef>
              <a:buFont typeface="Wingdings" panose="05000000000000000000" pitchFamily="2" charset="2"/>
              <a:buChar char="ü"/>
              <a:defRPr/>
            </a:pPr>
            <a:r>
              <a:rPr lang="zh-CN" altLang="en-US" sz="2400" dirty="0">
                <a:latin typeface="+mj-ea"/>
                <a:ea typeface="+mj-ea"/>
              </a:rPr>
              <a:t>大数据存储</a:t>
            </a:r>
            <a:r>
              <a:rPr lang="en-US" altLang="zh-CN" sz="2400" dirty="0">
                <a:latin typeface="+mj-ea"/>
                <a:ea typeface="+mj-ea"/>
              </a:rPr>
              <a:t>/</a:t>
            </a:r>
            <a:r>
              <a:rPr lang="zh-CN" altLang="en-US" sz="2400" dirty="0">
                <a:latin typeface="+mj-ea"/>
                <a:ea typeface="+mj-ea"/>
              </a:rPr>
              <a:t>并行计算</a:t>
            </a:r>
            <a:endParaRPr lang="zh-CN" altLang="en-US" sz="2400" dirty="0">
              <a:latin typeface="+mj-ea"/>
              <a:ea typeface="+mj-ea"/>
            </a:endParaRPr>
          </a:p>
          <a:p>
            <a:pPr marL="1085850" lvl="1" indent="-342900">
              <a:spcBef>
                <a:spcPct val="50000"/>
              </a:spcBef>
              <a:buFont typeface="Wingdings" panose="05000000000000000000" pitchFamily="2" charset="2"/>
              <a:buChar char="ü"/>
              <a:defRPr/>
            </a:pPr>
            <a:r>
              <a:rPr lang="zh-CN" altLang="en-US" sz="2400" dirty="0">
                <a:latin typeface="+mj-ea"/>
                <a:ea typeface="+mj-ea"/>
              </a:rPr>
              <a:t>做一个机器人</a:t>
            </a:r>
            <a:endParaRPr lang="zh-CN" altLang="en-US" sz="2400" dirty="0">
              <a:latin typeface="+mj-ea"/>
              <a:ea typeface="+mj-ea"/>
            </a:endParaRPr>
          </a:p>
          <a:p>
            <a:endParaRPr lang="zh-CN" altLang="en-US" dirty="0"/>
          </a:p>
        </p:txBody>
      </p:sp>
      <p:sp>
        <p:nvSpPr>
          <p:cNvPr id="10" name="文本框 22"/>
          <p:cNvSpPr txBox="1">
            <a:spLocks noChangeArrowheads="1"/>
          </p:cNvSpPr>
          <p:nvPr/>
        </p:nvSpPr>
        <p:spPr bwMode="auto">
          <a:xfrm>
            <a:off x="645450" y="275609"/>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机器学习可以解决什么问题</a:t>
            </a:r>
            <a:br>
              <a:rPr lang="zh-CN" altLang="en-US" dirty="0"/>
            </a:b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 </a:t>
            </a:r>
            <a:r>
              <a:rPr lang="zh-CN" altLang="en-US" dirty="0">
                <a:solidFill>
                  <a:schemeClr val="tx1"/>
                </a:solidFill>
              </a:rPr>
              <a:t>机器学习的类型</a:t>
            </a:r>
            <a:endParaRPr lang="zh-CN" altLang="en-US" dirty="0">
              <a:solidFill>
                <a:schemeClr val="tx1"/>
              </a:solidFill>
            </a:endParaRPr>
          </a:p>
        </p:txBody>
      </p:sp>
      <p:sp>
        <p:nvSpPr>
          <p:cNvPr id="43" name="对角圆角矩形 42"/>
          <p:cNvSpPr/>
          <p:nvPr/>
        </p:nvSpPr>
        <p:spPr>
          <a:xfrm>
            <a:off x="2659513" y="268155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4" name="TextBox 6"/>
          <p:cNvSpPr txBox="1">
            <a:spLocks noChangeArrowheads="1"/>
          </p:cNvSpPr>
          <p:nvPr/>
        </p:nvSpPr>
        <p:spPr bwMode="auto">
          <a:xfrm>
            <a:off x="3029495" y="1779793"/>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机器学习概述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a:t>
            </a:r>
            <a:r>
              <a:rPr lang="zh-CN" altLang="en-US" sz="3600" dirty="0">
                <a:solidFill>
                  <a:schemeClr val="bg1"/>
                </a:solidFill>
                <a:latin typeface="Impact" panose="020B0806030902050204" pitchFamily="34" charset="0"/>
                <a:ea typeface="微软雅黑" panose="020B0503020204020204" pitchFamily="34" charset="-122"/>
              </a:rPr>
              <a:t>机器学习的类型</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rgbClr val="595959"/>
                </a:solidFill>
                <a:latin typeface="Impact" panose="020B0806030902050204" pitchFamily="34" charset="0"/>
                <a:ea typeface="微软雅黑" panose="020B0503020204020204" pitchFamily="34" charset="-122"/>
              </a:rPr>
              <a:t>03    </a:t>
            </a:r>
            <a:r>
              <a:rPr lang="zh-CN" altLang="en-US" sz="3600" dirty="0">
                <a:solidFill>
                  <a:srgbClr val="595959"/>
                </a:solidFill>
                <a:latin typeface="Impact" panose="020B0806030902050204" pitchFamily="34" charset="0"/>
                <a:ea typeface="微软雅黑" panose="020B0503020204020204" pitchFamily="34" charset="-122"/>
              </a:rPr>
              <a:t>机器学习的背景知识</a:t>
            </a:r>
            <a:endParaRPr lang="zh-CN" altLang="en-US" sz="3600" dirty="0">
              <a:solidFill>
                <a:srgbClr val="595959"/>
              </a:solidFill>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rgbClr val="595959"/>
                </a:solidFill>
                <a:latin typeface="Impact" panose="020B0806030902050204" pitchFamily="34" charset="0"/>
                <a:ea typeface="微软雅黑" panose="020B0503020204020204" pitchFamily="34" charset="-122"/>
              </a:rPr>
              <a:t>04    </a:t>
            </a:r>
            <a:r>
              <a:rPr lang="zh-CN" altLang="en-US" sz="3600" dirty="0">
                <a:solidFill>
                  <a:srgbClr val="595959"/>
                </a:solidFill>
                <a:latin typeface="Impact" panose="020B0806030902050204" pitchFamily="34" charset="0"/>
                <a:ea typeface="微软雅黑" panose="020B0503020204020204" pitchFamily="34" charset="-122"/>
              </a:rPr>
              <a:t>机器学习的开发</a:t>
            </a:r>
            <a:r>
              <a:rPr lang="zh-CN" altLang="zh-CN" sz="3600" dirty="0">
                <a:solidFill>
                  <a:srgbClr val="595959"/>
                </a:solidFill>
                <a:latin typeface="Impact" panose="020B0806030902050204" pitchFamily="34" charset="0"/>
                <a:ea typeface="微软雅黑" panose="020B0503020204020204" pitchFamily="34" charset="-122"/>
              </a:rPr>
              <a:t>流程</a:t>
            </a:r>
            <a:endParaRPr lang="zh-CN" altLang="en-US" sz="3600" dirty="0">
              <a:solidFill>
                <a:srgbClr val="595959"/>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a:srcRect t="3732" b="6490"/>
          <a:stretch>
            <a:fillRect/>
          </a:stretch>
        </p:blipFill>
        <p:spPr>
          <a:xfrm>
            <a:off x="1821069" y="1278111"/>
            <a:ext cx="7533862" cy="5254617"/>
          </a:xfrm>
          <a:prstGeom prst="rect">
            <a:avLst/>
          </a:prstGeom>
        </p:spPr>
      </p:pic>
      <p:sp>
        <p:nvSpPr>
          <p:cNvPr id="16"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 </a:t>
            </a:r>
            <a:r>
              <a:rPr lang="zh-CN" altLang="en-US" dirty="0">
                <a:solidFill>
                  <a:schemeClr val="tx1"/>
                </a:solidFill>
              </a:rPr>
              <a:t>机器学习的类型</a:t>
            </a:r>
            <a:endParaRPr lang="zh-CN" alt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p:cNvSpPr txBox="1">
            <a:spLocks noChangeArrowheads="1"/>
          </p:cNvSpPr>
          <p:nvPr/>
        </p:nvSpPr>
        <p:spPr bwMode="auto">
          <a:xfrm>
            <a:off x="1686602" y="945358"/>
            <a:ext cx="8995046"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en-US" altLang="zh-CN" sz="2800" b="1"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分类（</a:t>
            </a:r>
            <a:r>
              <a:rPr lang="en-US" altLang="zh-CN" sz="2800" dirty="0">
                <a:ea typeface="微软雅黑" panose="020B0503020204020204" pitchFamily="34" charset="-122"/>
              </a:rPr>
              <a:t>Classification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身高</a:t>
            </a:r>
            <a:r>
              <a:rPr lang="en-US" altLang="zh-CN" sz="2800" dirty="0">
                <a:ea typeface="微软雅黑" panose="020B0503020204020204" pitchFamily="34" charset="-122"/>
              </a:rPr>
              <a:t>1.65m</a:t>
            </a:r>
            <a:r>
              <a:rPr lang="zh-CN" altLang="en-US" sz="2800" dirty="0">
                <a:ea typeface="微软雅黑" panose="020B0503020204020204" pitchFamily="34" charset="-122"/>
              </a:rPr>
              <a:t>，体重</a:t>
            </a:r>
            <a:r>
              <a:rPr lang="en-US" altLang="zh-CN" sz="2800" dirty="0">
                <a:ea typeface="微软雅黑" panose="020B0503020204020204" pitchFamily="34" charset="-122"/>
              </a:rPr>
              <a:t>100kg</a:t>
            </a:r>
            <a:r>
              <a:rPr lang="zh-CN" altLang="en-US" sz="2800" dirty="0">
                <a:ea typeface="微软雅黑" panose="020B0503020204020204" pitchFamily="34" charset="-122"/>
              </a:rPr>
              <a:t>的男人肥胖吗（</a:t>
            </a:r>
            <a:r>
              <a:rPr lang="zh-CN" altLang="en-US" sz="2800" dirty="0">
                <a:highlight>
                  <a:srgbClr val="FFFF00"/>
                </a:highlight>
                <a:ea typeface="微软雅黑" panose="020B0503020204020204" pitchFamily="34" charset="-122"/>
              </a:rPr>
              <a:t>肥胖</a:t>
            </a:r>
            <a:r>
              <a:rPr lang="en-US" altLang="zh-CN" sz="2800" dirty="0">
                <a:highlight>
                  <a:srgbClr val="FFFF00"/>
                </a:highlight>
                <a:ea typeface="微软雅黑" panose="020B0503020204020204" pitchFamily="34" charset="-122"/>
              </a:rPr>
              <a:t>/</a:t>
            </a:r>
            <a:r>
              <a:rPr lang="zh-CN" altLang="en-US" sz="2800" dirty="0">
                <a:highlight>
                  <a:srgbClr val="FFFF00"/>
                </a:highlight>
                <a:ea typeface="微软雅黑" panose="020B0503020204020204" pitchFamily="34" charset="-122"/>
              </a:rPr>
              <a:t>正常</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根据肿瘤的体积、患者的年龄来判断</a:t>
            </a:r>
            <a:r>
              <a:rPr lang="zh-CN" altLang="en-US" sz="2800" dirty="0">
                <a:highlight>
                  <a:srgbClr val="FFFF00"/>
                </a:highlight>
                <a:ea typeface="微软雅黑" panose="020B0503020204020204" pitchFamily="34" charset="-122"/>
              </a:rPr>
              <a:t>良性或恶性</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34290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回归（</a:t>
            </a:r>
            <a:r>
              <a:rPr lang="en-US" altLang="zh-CN" sz="2800" dirty="0">
                <a:ea typeface="微软雅黑" panose="020B0503020204020204" pitchFamily="34" charset="-122"/>
              </a:rPr>
              <a:t>Regression</a:t>
            </a:r>
            <a:r>
              <a:rPr lang="zh-CN" altLang="en-US" sz="2800" dirty="0">
                <a:ea typeface="微软雅黑" panose="020B0503020204020204" pitchFamily="34" charset="-122"/>
              </a:rPr>
              <a:t>、</a:t>
            </a:r>
            <a:r>
              <a:rPr lang="en-US" altLang="zh-CN" sz="2800" dirty="0">
                <a:ea typeface="微软雅黑" panose="020B0503020204020204" pitchFamily="34" charset="-122"/>
              </a:rPr>
              <a:t>Prediction</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如何预测上海浦东的房价？</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未来的股票市场走向？</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endParaRPr lang="en-US" altLang="zh-CN" dirty="0">
              <a:ea typeface="微软雅黑" panose="020B0503020204020204" pitchFamily="34" charset="-122"/>
            </a:endParaRPr>
          </a:p>
        </p:txBody>
      </p:sp>
      <p:sp>
        <p:nvSpPr>
          <p:cNvPr id="13"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 </a:t>
            </a:r>
            <a:r>
              <a:rPr lang="zh-CN" altLang="en-US" dirty="0">
                <a:solidFill>
                  <a:schemeClr val="tx1"/>
                </a:solidFill>
              </a:rPr>
              <a:t>机器学习的类型</a:t>
            </a:r>
            <a:r>
              <a:rPr lang="en-US" altLang="zh-CN" dirty="0">
                <a:solidFill>
                  <a:schemeClr val="tx1"/>
                </a:solidFill>
              </a:rPr>
              <a:t>-</a:t>
            </a:r>
            <a:r>
              <a:rPr lang="zh-CN" altLang="en-US" dirty="0">
                <a:solidFill>
                  <a:schemeClr val="tx1"/>
                </a:solidFill>
              </a:rPr>
              <a:t>监督学习</a:t>
            </a:r>
            <a:endParaRPr lang="zh-CN" altLang="en-US" dirty="0">
              <a:solidFill>
                <a:schemeClr val="tx1"/>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p:cNvSpPr txBox="1">
            <a:spLocks noChangeArrowheads="1"/>
          </p:cNvSpPr>
          <p:nvPr/>
        </p:nvSpPr>
        <p:spPr bwMode="auto">
          <a:xfrm>
            <a:off x="1759390" y="1568606"/>
            <a:ext cx="8872216"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聚类（</a:t>
            </a:r>
            <a:r>
              <a:rPr lang="en-US" altLang="zh-CN" sz="2800" dirty="0">
                <a:ea typeface="微软雅黑" panose="020B0503020204020204" pitchFamily="34" charset="-122"/>
              </a:rPr>
              <a:t>Clustering</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如何将教室里的学生按爱好、身高划分为</a:t>
            </a:r>
            <a:r>
              <a:rPr lang="en-US" altLang="zh-CN" sz="2800" dirty="0">
                <a:ea typeface="微软雅黑" panose="020B0503020204020204" pitchFamily="34" charset="-122"/>
              </a:rPr>
              <a:t>5</a:t>
            </a:r>
            <a:r>
              <a:rPr lang="zh-CN" altLang="en-US" sz="2800" dirty="0">
                <a:ea typeface="微软雅黑" panose="020B0503020204020204" pitchFamily="34" charset="-122"/>
              </a:rPr>
              <a:t>类？</a:t>
            </a:r>
            <a:endParaRPr lang="en-US" altLang="zh-CN" sz="2800"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降维（</a:t>
            </a:r>
            <a:r>
              <a:rPr lang="en-US" altLang="zh-CN" sz="2800" dirty="0"/>
              <a:t> Dimensionality Reduction </a:t>
            </a:r>
            <a:r>
              <a:rPr lang="zh-CN" altLang="en-US" sz="2800" dirty="0">
                <a:ea typeface="微软雅黑" panose="020B0503020204020204" pitchFamily="34" charset="-122"/>
              </a:rPr>
              <a:t>）</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如何将将原高维空间中的数据点映射到低维度的空间中？</a:t>
            </a:r>
            <a:endParaRPr lang="en-US" altLang="zh-CN" sz="2800" dirty="0">
              <a:ea typeface="微软雅黑" panose="020B0503020204020204" pitchFamily="34" charset="-122"/>
            </a:endParaRPr>
          </a:p>
          <a:p>
            <a:pPr marL="1085850" lvl="1" indent="-342900" eaLnBrk="1" hangingPunct="1">
              <a:spcBef>
                <a:spcPct val="50000"/>
              </a:spcBef>
              <a:buFont typeface="Wingdings" panose="05000000000000000000" pitchFamily="2" charset="2"/>
              <a:buChar char="ü"/>
              <a:defRPr/>
            </a:pPr>
            <a:endParaRPr lang="en-US" altLang="zh-CN" dirty="0">
              <a:ea typeface="微软雅黑" panose="020B0503020204020204" pitchFamily="34" charset="-122"/>
            </a:endParaRPr>
          </a:p>
        </p:txBody>
      </p:sp>
      <p:sp>
        <p:nvSpPr>
          <p:cNvPr id="13"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 </a:t>
            </a:r>
            <a:r>
              <a:rPr lang="zh-CN" altLang="en-US" dirty="0">
                <a:solidFill>
                  <a:schemeClr val="tx1"/>
                </a:solidFill>
              </a:rPr>
              <a:t>机器学习的类型</a:t>
            </a:r>
            <a:r>
              <a:rPr lang="en-US" altLang="zh-CN" dirty="0">
                <a:solidFill>
                  <a:schemeClr val="tx1"/>
                </a:solidFill>
              </a:rPr>
              <a:t>-</a:t>
            </a:r>
            <a:r>
              <a:rPr lang="zh-CN" altLang="en-US" dirty="0">
                <a:solidFill>
                  <a:schemeClr val="tx1"/>
                </a:solidFill>
              </a:rPr>
              <a:t>无监督学习</a:t>
            </a:r>
            <a:endParaRPr lang="zh-CN" altLang="en-US" dirty="0">
              <a:solidFill>
                <a:schemeClr val="tx1"/>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p:cNvSpPr txBox="1">
            <a:spLocks noChangeArrowheads="1"/>
          </p:cNvSpPr>
          <p:nvPr/>
        </p:nvSpPr>
        <p:spPr bwMode="auto">
          <a:xfrm>
            <a:off x="1759390" y="1568606"/>
            <a:ext cx="8872216"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en-US" altLang="zh-CN" sz="2800" b="1" dirty="0">
              <a:ea typeface="微软雅黑" panose="020B0503020204020204" pitchFamily="34" charset="-122"/>
            </a:endParaRPr>
          </a:p>
          <a:p>
            <a:pPr marL="342900"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强化学习（</a:t>
            </a:r>
            <a:r>
              <a:rPr lang="en-US" altLang="zh-CN" sz="2800" dirty="0">
                <a:ea typeface="微软雅黑" panose="020B0503020204020204" pitchFamily="34" charset="-122"/>
              </a:rPr>
              <a:t>Reinforcement Learning</a:t>
            </a:r>
            <a:r>
              <a:rPr lang="zh-CN" altLang="en-US" sz="2800" dirty="0">
                <a:ea typeface="微软雅黑" panose="020B0503020204020204" pitchFamily="34" charset="-122"/>
              </a:rPr>
              <a:t>）</a:t>
            </a:r>
            <a:endParaRPr lang="en-US" altLang="zh-CN" b="1" dirty="0"/>
          </a:p>
          <a:p>
            <a:pPr marL="1085850" lvl="1" indent="-342900" eaLnBrk="1" hangingPunct="1">
              <a:spcBef>
                <a:spcPct val="50000"/>
              </a:spcBef>
              <a:buFont typeface="Wingdings" panose="05000000000000000000" pitchFamily="2" charset="2"/>
              <a:buChar char="ü"/>
              <a:defRPr/>
            </a:pPr>
            <a:r>
              <a:rPr lang="zh-CN" altLang="en-US" sz="2800" dirty="0">
                <a:ea typeface="微软雅黑" panose="020B0503020204020204" pitchFamily="34" charset="-122"/>
              </a:rPr>
              <a:t>用于描述和解决智能体（</a:t>
            </a:r>
            <a:r>
              <a:rPr lang="en-US" altLang="zh-CN" sz="2800" dirty="0">
                <a:ea typeface="微软雅黑" panose="020B0503020204020204" pitchFamily="34" charset="-122"/>
              </a:rPr>
              <a:t>agent</a:t>
            </a:r>
            <a:r>
              <a:rPr lang="zh-CN" altLang="en-US" sz="2800" dirty="0">
                <a:ea typeface="微软雅黑" panose="020B0503020204020204" pitchFamily="34" charset="-122"/>
              </a:rPr>
              <a:t>）在与环境的交互过程中通过学习策略以达成回报最大化或实现特定目标的问题 。（</a:t>
            </a:r>
            <a:r>
              <a:rPr lang="zh-CN" altLang="en-US" sz="2800" dirty="0">
                <a:highlight>
                  <a:srgbClr val="FFFF00"/>
                </a:highlight>
                <a:ea typeface="微软雅黑" panose="020B0503020204020204" pitchFamily="34" charset="-122"/>
              </a:rPr>
              <a:t>人机对弈</a:t>
            </a:r>
            <a:r>
              <a:rPr lang="zh-CN" altLang="en-US" sz="2800" dirty="0">
                <a:ea typeface="微软雅黑" panose="020B0503020204020204" pitchFamily="34" charset="-122"/>
              </a:rPr>
              <a:t>）</a:t>
            </a:r>
            <a:endParaRPr lang="zh-CN" altLang="en-US" sz="2800" dirty="0">
              <a:ea typeface="微软雅黑" panose="020B0503020204020204" pitchFamily="34" charset="-122"/>
            </a:endParaRPr>
          </a:p>
        </p:txBody>
      </p:sp>
      <p:sp>
        <p:nvSpPr>
          <p:cNvPr id="13"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 </a:t>
            </a:r>
            <a:r>
              <a:rPr lang="zh-CN" altLang="en-US" dirty="0">
                <a:solidFill>
                  <a:schemeClr val="tx1"/>
                </a:solidFill>
              </a:rPr>
              <a:t>机器学习的类型</a:t>
            </a:r>
            <a:r>
              <a:rPr lang="en-US" altLang="zh-CN" dirty="0">
                <a:solidFill>
                  <a:schemeClr val="tx1"/>
                </a:solidFill>
              </a:rPr>
              <a:t>-</a:t>
            </a:r>
            <a:r>
              <a:rPr lang="zh-CN" altLang="en-US" dirty="0">
                <a:solidFill>
                  <a:schemeClr val="tx1"/>
                </a:solidFill>
              </a:rPr>
              <a:t>强化学习</a:t>
            </a:r>
            <a:endParaRPr lang="zh-CN" altLang="en-US" dirty="0">
              <a:solidFill>
                <a:schemeClr val="tx1"/>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 </a:t>
            </a:r>
            <a:r>
              <a:rPr lang="zh-CN" altLang="en-US" dirty="0">
                <a:solidFill>
                  <a:schemeClr val="tx1"/>
                </a:solidFill>
              </a:rPr>
              <a:t>机器学习的背景知识</a:t>
            </a:r>
            <a:endParaRPr lang="zh-CN" altLang="en-US" dirty="0">
              <a:solidFill>
                <a:schemeClr val="tx1"/>
              </a:solidFill>
            </a:endParaRPr>
          </a:p>
        </p:txBody>
      </p:sp>
      <p:sp>
        <p:nvSpPr>
          <p:cNvPr id="43" name="对角圆角矩形 42"/>
          <p:cNvSpPr/>
          <p:nvPr/>
        </p:nvSpPr>
        <p:spPr>
          <a:xfrm>
            <a:off x="2668612"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4" name="TextBox 6"/>
          <p:cNvSpPr txBox="1">
            <a:spLocks noChangeArrowheads="1"/>
          </p:cNvSpPr>
          <p:nvPr/>
        </p:nvSpPr>
        <p:spPr bwMode="auto">
          <a:xfrm>
            <a:off x="3029495" y="1779793"/>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机器学习概述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机器学习的类型</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机器学习的背景知识</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rgbClr val="595959"/>
                </a:solidFill>
                <a:latin typeface="Impact" panose="020B0806030902050204" pitchFamily="34" charset="0"/>
                <a:ea typeface="微软雅黑" panose="020B0503020204020204" pitchFamily="34" charset="-122"/>
              </a:rPr>
              <a:t>04    </a:t>
            </a:r>
            <a:r>
              <a:rPr lang="zh-CN" altLang="en-US" sz="3600" dirty="0">
                <a:solidFill>
                  <a:srgbClr val="595959"/>
                </a:solidFill>
                <a:latin typeface="Impact" panose="020B0806030902050204" pitchFamily="34" charset="0"/>
                <a:ea typeface="微软雅黑" panose="020B0503020204020204" pitchFamily="34" charset="-122"/>
              </a:rPr>
              <a:t>机器学习的开发</a:t>
            </a:r>
            <a:r>
              <a:rPr lang="zh-CN" altLang="zh-CN" sz="3600" dirty="0">
                <a:solidFill>
                  <a:srgbClr val="595959"/>
                </a:solidFill>
                <a:latin typeface="Impact" panose="020B0806030902050204" pitchFamily="34" charset="0"/>
                <a:ea typeface="微软雅黑" panose="020B0503020204020204" pitchFamily="34" charset="-122"/>
              </a:rPr>
              <a:t>流程</a:t>
            </a:r>
            <a:endParaRPr lang="zh-CN" altLang="en-US" sz="3600" dirty="0">
              <a:solidFill>
                <a:srgbClr val="595959"/>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 </a:t>
            </a:r>
            <a:r>
              <a:rPr lang="zh-CN" altLang="en-US" dirty="0">
                <a:solidFill>
                  <a:schemeClr val="tx1"/>
                </a:solidFill>
              </a:rPr>
              <a:t>机器学习的背景知识</a:t>
            </a:r>
            <a:r>
              <a:rPr lang="en-US" altLang="zh-CN" dirty="0">
                <a:solidFill>
                  <a:schemeClr val="tx1"/>
                </a:solidFill>
              </a:rPr>
              <a:t>-</a:t>
            </a:r>
            <a:r>
              <a:rPr lang="zh-CN" altLang="en-US" dirty="0">
                <a:solidFill>
                  <a:schemeClr val="tx1"/>
                </a:solidFill>
              </a:rPr>
              <a:t>希腊字母</a:t>
            </a:r>
            <a:endParaRPr lang="zh-CN" altLang="en-US" dirty="0">
              <a:solidFill>
                <a:schemeClr val="tx1"/>
              </a:solidFill>
            </a:endParaRPr>
          </a:p>
        </p:txBody>
      </p:sp>
      <p:graphicFrame>
        <p:nvGraphicFramePr>
          <p:cNvPr id="3" name="表格 2"/>
          <p:cNvGraphicFramePr>
            <a:graphicFrameLocks noGrp="1"/>
          </p:cNvGraphicFramePr>
          <p:nvPr/>
        </p:nvGraphicFramePr>
        <p:xfrm>
          <a:off x="923639" y="1279709"/>
          <a:ext cx="10008075" cy="5425440"/>
        </p:xfrm>
        <a:graphic>
          <a:graphicData uri="http://schemas.openxmlformats.org/drawingml/2006/table">
            <a:tbl>
              <a:tblPr firstRow="1" firstCol="1" lastRow="1" lastCol="1">
                <a:tableStyleId>{5C22544A-7EE6-4342-B048-85BDC9FD1C3A}</a:tableStyleId>
              </a:tblPr>
              <a:tblGrid>
                <a:gridCol w="2001615"/>
                <a:gridCol w="2001615"/>
                <a:gridCol w="2001615"/>
                <a:gridCol w="2001615"/>
                <a:gridCol w="2001615"/>
              </a:tblGrid>
              <a:tr h="174054">
                <a:tc>
                  <a:txBody>
                    <a:bodyPr/>
                    <a:lstStyle/>
                    <a:p>
                      <a:pPr>
                        <a:spcBef>
                          <a:spcPts val="180"/>
                        </a:spcBef>
                        <a:spcAft>
                          <a:spcPts val="180"/>
                        </a:spcAft>
                      </a:pPr>
                      <a:r>
                        <a:rPr lang="en-US" sz="2000" dirty="0" err="1">
                          <a:solidFill>
                            <a:schemeClr val="tx1"/>
                          </a:solidFill>
                          <a:effectLst/>
                          <a:latin typeface="Times New Roman" panose="02020603050405020304" pitchFamily="18" charset="0"/>
                          <a:cs typeface="Times New Roman" panose="02020603050405020304" pitchFamily="18" charset="0"/>
                        </a:rPr>
                        <a:t>大写</a:t>
                      </a:r>
                      <a:endParaRPr lang="zh-CN" sz="2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nchor="b"/>
                </a:tc>
                <a:tc>
                  <a:txBody>
                    <a:bodyPr/>
                    <a:lstStyle/>
                    <a:p>
                      <a:pPr>
                        <a:spcBef>
                          <a:spcPts val="180"/>
                        </a:spcBef>
                        <a:spcAft>
                          <a:spcPts val="180"/>
                        </a:spcAft>
                      </a:pPr>
                      <a:r>
                        <a:rPr lang="en-US" sz="2000" dirty="0" err="1">
                          <a:solidFill>
                            <a:schemeClr val="tx1"/>
                          </a:solidFill>
                          <a:effectLst/>
                          <a:latin typeface="Times New Roman" panose="02020603050405020304" pitchFamily="18" charset="0"/>
                          <a:cs typeface="Times New Roman" panose="02020603050405020304" pitchFamily="18" charset="0"/>
                        </a:rPr>
                        <a:t>小写</a:t>
                      </a:r>
                      <a:endParaRPr lang="zh-CN" sz="2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nchor="b"/>
                </a:tc>
                <a:tc>
                  <a:txBody>
                    <a:bodyPr/>
                    <a:lstStyle/>
                    <a:p>
                      <a:pPr>
                        <a:spcBef>
                          <a:spcPts val="180"/>
                        </a:spcBef>
                        <a:spcAft>
                          <a:spcPts val="180"/>
                        </a:spcAft>
                      </a:pPr>
                      <a:r>
                        <a:rPr lang="en-US" sz="2000" dirty="0" err="1">
                          <a:solidFill>
                            <a:schemeClr val="tx1"/>
                          </a:solidFill>
                          <a:effectLst/>
                          <a:latin typeface="Times New Roman" panose="02020603050405020304" pitchFamily="18" charset="0"/>
                          <a:cs typeface="Times New Roman" panose="02020603050405020304" pitchFamily="18" charset="0"/>
                        </a:rPr>
                        <a:t>英文注音</a:t>
                      </a:r>
                      <a:endParaRPr lang="zh-CN" sz="2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nchor="b"/>
                </a:tc>
                <a:tc>
                  <a:txBody>
                    <a:bodyPr/>
                    <a:lstStyle/>
                    <a:p>
                      <a:pPr>
                        <a:spcBef>
                          <a:spcPts val="180"/>
                        </a:spcBef>
                        <a:spcAft>
                          <a:spcPts val="180"/>
                        </a:spcAft>
                      </a:pPr>
                      <a:r>
                        <a:rPr lang="en-US" sz="2000" dirty="0" err="1">
                          <a:solidFill>
                            <a:schemeClr val="tx1"/>
                          </a:solidFill>
                          <a:effectLst/>
                          <a:latin typeface="Times New Roman" panose="02020603050405020304" pitchFamily="18" charset="0"/>
                          <a:cs typeface="Times New Roman" panose="02020603050405020304" pitchFamily="18" charset="0"/>
                        </a:rPr>
                        <a:t>国际音标注音</a:t>
                      </a:r>
                      <a:endParaRPr lang="zh-CN" sz="2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nchor="b"/>
                </a:tc>
                <a:tc>
                  <a:txBody>
                    <a:bodyPr/>
                    <a:lstStyle/>
                    <a:p>
                      <a:pPr>
                        <a:spcBef>
                          <a:spcPts val="180"/>
                        </a:spcBef>
                        <a:spcAft>
                          <a:spcPts val="180"/>
                        </a:spcAft>
                      </a:pPr>
                      <a:r>
                        <a:rPr lang="en-US" sz="2000" dirty="0" err="1">
                          <a:solidFill>
                            <a:schemeClr val="tx1"/>
                          </a:solidFill>
                          <a:effectLst/>
                          <a:latin typeface="Times New Roman" panose="02020603050405020304" pitchFamily="18" charset="0"/>
                          <a:cs typeface="Times New Roman" panose="02020603050405020304" pitchFamily="18" charset="0"/>
                        </a:rPr>
                        <a:t>中文注音</a:t>
                      </a:r>
                      <a:endParaRPr lang="zh-CN" sz="20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nchor="b"/>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Α</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α</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alpha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alfa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阿耳法</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Β</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β</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beta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beta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贝塔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Γ</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γ</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gamma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gamma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伽马</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Δ</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δ</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deta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delta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德耳塔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Ε</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ε</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epsilon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epsilon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艾普西隆</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Ζ</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ζ</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zeta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zeta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截塔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Η</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η</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艾塔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Θ</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θ</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theta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θita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西塔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Ι</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ι</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iota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iota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约塔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Κ</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κ</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kappa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kappa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卡帕</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λ</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dirty="0">
                          <a:solidFill>
                            <a:srgbClr val="FF0000"/>
                          </a:solidFill>
                          <a:effectLst/>
                          <a:latin typeface="Times New Roman" panose="02020603050405020304" pitchFamily="18" charset="0"/>
                          <a:cs typeface="Times New Roman" panose="02020603050405020304" pitchFamily="18" charset="0"/>
                        </a:rPr>
                        <a:t>lambda</a:t>
                      </a:r>
                      <a:endParaRPr lang="zh-CN" sz="1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lambda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兰姆达</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Μ</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μ</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mu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miu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缪</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Ν</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ν</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nu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niu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纽</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Ξ</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ξ</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xi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ksi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可塞</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Ο</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ο</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omicron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omikron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奥密可戎</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π</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pi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pai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派</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Ρ</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ρ</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rho</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rou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柔</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σ</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sigma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sigma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西格马</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Τ</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τ</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tau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tau</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套</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Υ</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υ</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upsilon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jupsilon</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衣普西隆</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Φ</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φ</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phi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fai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斐</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Χ</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χ</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chi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khai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喜</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Ψ</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ψ</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psi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psai</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普西</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r h="174054">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Ω</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ω</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omega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a:solidFill>
                            <a:srgbClr val="FF0000"/>
                          </a:solidFill>
                          <a:effectLst/>
                          <a:latin typeface="Times New Roman" panose="02020603050405020304" pitchFamily="18" charset="0"/>
                          <a:cs typeface="Times New Roman" panose="02020603050405020304" pitchFamily="18" charset="0"/>
                        </a:rPr>
                        <a:t>omiga</a:t>
                      </a:r>
                      <a:endParaRPr lang="zh-CN" sz="14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c>
                  <a:txBody>
                    <a:bodyPr/>
                    <a:lstStyle/>
                    <a:p>
                      <a:pPr>
                        <a:spcBef>
                          <a:spcPts val="180"/>
                        </a:spcBef>
                        <a:spcAft>
                          <a:spcPts val="180"/>
                        </a:spcAft>
                      </a:pPr>
                      <a:r>
                        <a:rPr lang="en-US" sz="1400" dirty="0" err="1">
                          <a:solidFill>
                            <a:srgbClr val="FF0000"/>
                          </a:solidFill>
                          <a:effectLst/>
                          <a:latin typeface="Times New Roman" panose="02020603050405020304" pitchFamily="18" charset="0"/>
                          <a:cs typeface="Times New Roman" panose="02020603050405020304" pitchFamily="18" charset="0"/>
                        </a:rPr>
                        <a:t>欧米</a:t>
                      </a:r>
                      <a:endParaRPr lang="zh-CN" sz="1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5270" marR="65270" marT="0" marB="0"/>
                </a:tc>
              </a:tr>
            </a:tbl>
          </a:graphicData>
        </a:graphic>
      </p:graphicFrame>
    </p:spTree>
  </p:cSld>
  <p:clrMapOvr>
    <a:masterClrMapping/>
  </p:clrMapOvr>
  <p:transition advTm="800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 </a:t>
            </a:r>
            <a:r>
              <a:rPr lang="zh-CN" altLang="en-US" dirty="0">
                <a:solidFill>
                  <a:schemeClr val="tx1"/>
                </a:solidFill>
              </a:rPr>
              <a:t>机器学习的背景知识</a:t>
            </a:r>
            <a:r>
              <a:rPr lang="en-US" altLang="zh-CN" dirty="0">
                <a:solidFill>
                  <a:schemeClr val="tx1"/>
                </a:solidFill>
              </a:rPr>
              <a:t>-</a:t>
            </a:r>
            <a:r>
              <a:rPr lang="zh-CN" altLang="en-US" dirty="0">
                <a:solidFill>
                  <a:schemeClr val="tx1"/>
                </a:solidFill>
              </a:rPr>
              <a:t>数学基础</a:t>
            </a:r>
            <a:endParaRPr lang="zh-CN" altLang="en-US" dirty="0">
              <a:solidFill>
                <a:schemeClr val="tx1"/>
              </a:solidFill>
            </a:endParaRPr>
          </a:p>
        </p:txBody>
      </p:sp>
      <p:sp>
        <p:nvSpPr>
          <p:cNvPr id="9" name="文本框 8"/>
          <p:cNvSpPr txBox="1"/>
          <p:nvPr/>
        </p:nvSpPr>
        <p:spPr>
          <a:xfrm>
            <a:off x="1229032" y="1066006"/>
            <a:ext cx="10323317" cy="5447645"/>
          </a:xfrm>
          <a:prstGeom prst="rect">
            <a:avLst/>
          </a:prstGeom>
          <a:noFill/>
        </p:spPr>
        <p:txBody>
          <a:bodyPr wrap="square" rtlCol="0">
            <a:spAutoFit/>
          </a:bodyPr>
          <a:lstStyle/>
          <a:p>
            <a:endParaRPr lang="en-US" altLang="zh-CN" b="1" dirty="0"/>
          </a:p>
          <a:p>
            <a:r>
              <a:rPr lang="zh-CN" altLang="en-US" sz="2800" b="1" dirty="0">
                <a:solidFill>
                  <a:srgbClr val="FF0000"/>
                </a:solidFill>
                <a:latin typeface="+mj-ea"/>
                <a:ea typeface="+mj-ea"/>
              </a:rPr>
              <a:t>高等数学</a:t>
            </a:r>
            <a:endParaRPr lang="en-US" altLang="zh-CN" sz="2800" b="1" dirty="0">
              <a:solidFill>
                <a:srgbClr val="FF0000"/>
              </a:solidFill>
              <a:latin typeface="+mj-ea"/>
              <a:ea typeface="+mj-ea"/>
            </a:endParaRPr>
          </a:p>
          <a:p>
            <a:r>
              <a:rPr lang="zh-CN" altLang="en-US" sz="2800" dirty="0">
                <a:latin typeface="+mj-ea"/>
                <a:ea typeface="+mj-ea"/>
              </a:rPr>
              <a:t>导数、微分、</a:t>
            </a:r>
            <a:r>
              <a:rPr lang="zh-CN" altLang="zh-CN" sz="2800" dirty="0">
                <a:latin typeface="+mj-ea"/>
                <a:ea typeface="+mj-ea"/>
              </a:rPr>
              <a:t>泰勒公式</a:t>
            </a:r>
            <a:r>
              <a:rPr lang="en-US" altLang="zh-CN" sz="2800" dirty="0">
                <a:latin typeface="+mj-ea"/>
                <a:ea typeface="+mj-ea"/>
              </a:rPr>
              <a:t>……</a:t>
            </a:r>
            <a:endParaRPr lang="en-US" altLang="zh-CN" sz="2800" dirty="0">
              <a:latin typeface="+mj-ea"/>
              <a:ea typeface="+mj-ea"/>
            </a:endParaRPr>
          </a:p>
          <a:p>
            <a:endParaRPr lang="en-US" altLang="zh-CN" sz="2800" b="1" dirty="0">
              <a:latin typeface="+mj-ea"/>
              <a:ea typeface="+mj-ea"/>
            </a:endParaRPr>
          </a:p>
          <a:p>
            <a:r>
              <a:rPr lang="zh-CN" altLang="en-US" sz="2800" b="1" dirty="0">
                <a:solidFill>
                  <a:srgbClr val="FF0000"/>
                </a:solidFill>
                <a:latin typeface="+mj-ea"/>
                <a:ea typeface="+mj-ea"/>
              </a:rPr>
              <a:t>线性代数</a:t>
            </a:r>
            <a:endParaRPr lang="en-US" altLang="zh-CN" sz="2800" b="1" dirty="0">
              <a:solidFill>
                <a:srgbClr val="FF0000"/>
              </a:solidFill>
              <a:latin typeface="+mj-ea"/>
              <a:ea typeface="+mj-ea"/>
            </a:endParaRPr>
          </a:p>
          <a:p>
            <a:r>
              <a:rPr lang="zh-CN" altLang="en-US" sz="2800" dirty="0">
                <a:latin typeface="+mj-ea"/>
                <a:ea typeface="+mj-ea"/>
              </a:rPr>
              <a:t>向量、矩阵、行列式、秩、线性方程组、特征值和特征向量</a:t>
            </a:r>
            <a:r>
              <a:rPr lang="en-US" altLang="zh-CN" sz="2800" dirty="0">
                <a:latin typeface="+mj-ea"/>
                <a:ea typeface="+mj-ea"/>
              </a:rPr>
              <a:t>……</a:t>
            </a:r>
            <a:endParaRPr lang="en-US" altLang="zh-CN" sz="2800" dirty="0">
              <a:latin typeface="+mj-ea"/>
              <a:ea typeface="+mj-ea"/>
            </a:endParaRPr>
          </a:p>
          <a:p>
            <a:endParaRPr lang="en-US" altLang="zh-CN" sz="2800" b="1" dirty="0">
              <a:latin typeface="+mj-ea"/>
              <a:ea typeface="+mj-ea"/>
            </a:endParaRPr>
          </a:p>
          <a:p>
            <a:r>
              <a:rPr lang="zh-CN" altLang="en-US" sz="2800" b="1" dirty="0">
                <a:solidFill>
                  <a:srgbClr val="FF0000"/>
                </a:solidFill>
                <a:latin typeface="+mj-ea"/>
                <a:ea typeface="+mj-ea"/>
              </a:rPr>
              <a:t>概率论与数理统计</a:t>
            </a:r>
            <a:endParaRPr lang="en-US" altLang="zh-CN" sz="2800" b="1" dirty="0">
              <a:solidFill>
                <a:srgbClr val="FF0000"/>
              </a:solidFill>
              <a:latin typeface="+mj-ea"/>
              <a:ea typeface="+mj-ea"/>
            </a:endParaRPr>
          </a:p>
          <a:p>
            <a:r>
              <a:rPr lang="zh-CN" altLang="en-US" sz="2800" dirty="0">
                <a:latin typeface="+mj-ea"/>
                <a:ea typeface="+mj-ea"/>
              </a:rPr>
              <a:t>随机事件和概率、概率的基本性质和公式、常见分布、期望、协方差</a:t>
            </a:r>
            <a:r>
              <a:rPr lang="en-US" altLang="zh-CN" sz="2800" dirty="0">
                <a:latin typeface="+mj-ea"/>
                <a:ea typeface="+mj-ea"/>
              </a:rPr>
              <a:t>……</a:t>
            </a:r>
            <a:endParaRPr lang="en-US" altLang="zh-CN" sz="2800" dirty="0">
              <a:latin typeface="+mj-ea"/>
              <a:ea typeface="+mj-ea"/>
            </a:endParaRPr>
          </a:p>
          <a:p>
            <a:endParaRPr lang="zh-CN" altLang="en-US" dirty="0"/>
          </a:p>
          <a:p>
            <a:br>
              <a:rPr lang="en-US" altLang="zh-CN" dirty="0"/>
            </a:br>
            <a:endParaRPr lang="zh-CN" altLang="en-US" dirty="0"/>
          </a:p>
        </p:txBody>
      </p:sp>
    </p:spTree>
  </p:cSld>
  <p:clrMapOvr>
    <a:masterClrMapping/>
  </p:clrMapOvr>
  <p:transition advTm="800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869034" y="209914"/>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导数</a:t>
            </a:r>
            <a:br>
              <a:rPr lang="zh-CN" altLang="en-US" dirty="0"/>
            </a:br>
            <a:endParaRPr lang="zh-CN" altLang="en-US" dirty="0"/>
          </a:p>
        </p:txBody>
      </p:sp>
      <mc:AlternateContent xmlns:mc="http://schemas.openxmlformats.org/markup-compatibility/2006">
        <mc:Choice xmlns:a14="http://schemas.microsoft.com/office/drawing/2010/main" Requires="a14">
          <p:sp>
            <p:nvSpPr>
              <p:cNvPr id="11" name="文本框 10"/>
              <p:cNvSpPr txBox="1"/>
              <p:nvPr/>
            </p:nvSpPr>
            <p:spPr>
              <a:xfrm>
                <a:off x="464456" y="1701453"/>
                <a:ext cx="5383857" cy="2807435"/>
              </a:xfrm>
              <a:prstGeom prst="rect">
                <a:avLst/>
              </a:prstGeom>
              <a:noFill/>
            </p:spPr>
            <p:txBody>
              <a:bodyPr wrap="square">
                <a:spAutoFit/>
              </a:bodyPr>
              <a:lstStyle/>
              <a:p>
                <a:pPr>
                  <a:lnSpc>
                    <a:spcPct val="150000"/>
                  </a:lnSpc>
                </a:pPr>
                <a:r>
                  <a:rPr lang="zh-CN" altLang="zh-CN" sz="2000" dirty="0"/>
                  <a:t>导数</a:t>
                </a:r>
                <a:r>
                  <a:rPr lang="en-US" altLang="zh-CN" sz="2000" dirty="0"/>
                  <a:t>(Derivative)</a:t>
                </a:r>
                <a:r>
                  <a:rPr lang="zh-CN" altLang="zh-CN" sz="2000" dirty="0"/>
                  <a:t>，也叫导函数值。又名微商，是微积分中的重要基础概念。当函数</a:t>
                </a:r>
                <a14:m>
                  <m:oMath xmlns:m="http://schemas.openxmlformats.org/officeDocument/2006/math">
                    <m:r>
                      <a:rPr lang="en-US" altLang="zh-CN" sz="2000" i="1">
                        <a:latin typeface="Cambria Math" panose="02040503050406030204" pitchFamily="18" charset="0"/>
                      </a:rPr>
                      <m:t>𝑦</m:t>
                    </m:r>
                    <m:r>
                      <a:rPr lang="en-US" altLang="zh-CN" sz="2000" i="1">
                        <a:latin typeface="Cambria Math" panose="02040503050406030204" pitchFamily="18" charset="0"/>
                      </a:rPr>
                      <m:t>=</m:t>
                    </m:r>
                    <m:r>
                      <a:rPr lang="en-US" altLang="zh-CN" sz="2000" i="1">
                        <a:latin typeface="Cambria Math" panose="02040503050406030204" pitchFamily="18" charset="0"/>
                      </a:rPr>
                      <m:t>𝑓</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oMath>
                </a14:m>
                <a:r>
                  <a:rPr lang="zh-CN" altLang="zh-CN" sz="2000" dirty="0"/>
                  <a:t>的自变量</a:t>
                </a:r>
                <a14:m>
                  <m:oMath xmlns:m="http://schemas.openxmlformats.org/officeDocument/2006/math">
                    <m:r>
                      <a:rPr lang="en-US" altLang="zh-CN" sz="2000" i="1">
                        <a:latin typeface="Cambria Math" panose="02040503050406030204" pitchFamily="18" charset="0"/>
                      </a:rPr>
                      <m:t>𝑥</m:t>
                    </m:r>
                  </m:oMath>
                </a14:m>
                <a:r>
                  <a:rPr lang="zh-CN" altLang="zh-CN" sz="2000" dirty="0"/>
                  <a:t>在一点</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0</m:t>
                        </m:r>
                      </m:sub>
                    </m:sSub>
                  </m:oMath>
                </a14:m>
                <a:r>
                  <a:rPr lang="zh-CN" altLang="zh-CN" sz="2000" dirty="0"/>
                  <a:t>上产生一个增量</a:t>
                </a:r>
                <a14:m>
                  <m:oMath xmlns:m="http://schemas.openxmlformats.org/officeDocument/2006/math">
                    <m:r>
                      <a:rPr lang="en-US" altLang="zh-CN" sz="2000" i="1">
                        <a:latin typeface="Cambria Math" panose="02040503050406030204" pitchFamily="18" charset="0"/>
                      </a:rPr>
                      <m:t>𝛥</m:t>
                    </m:r>
                    <m:r>
                      <a:rPr lang="en-US" altLang="zh-CN" sz="2000" i="1">
                        <a:latin typeface="Cambria Math" panose="02040503050406030204" pitchFamily="18" charset="0"/>
                      </a:rPr>
                      <m:t>𝑥</m:t>
                    </m:r>
                  </m:oMath>
                </a14:m>
                <a:r>
                  <a:rPr lang="zh-CN" altLang="zh-CN" sz="2000" dirty="0"/>
                  <a:t>时，函数输出值的增量</a:t>
                </a:r>
                <a14:m>
                  <m:oMath xmlns:m="http://schemas.openxmlformats.org/officeDocument/2006/math">
                    <m:r>
                      <a:rPr lang="en-US" altLang="zh-CN" sz="2000" i="1">
                        <a:latin typeface="Cambria Math" panose="02040503050406030204" pitchFamily="18" charset="0"/>
                      </a:rPr>
                      <m:t>𝛥</m:t>
                    </m:r>
                    <m:r>
                      <a:rPr lang="en-US" altLang="zh-CN" sz="2000" i="1">
                        <a:latin typeface="Cambria Math" panose="02040503050406030204" pitchFamily="18" charset="0"/>
                      </a:rPr>
                      <m:t>𝑦</m:t>
                    </m:r>
                  </m:oMath>
                </a14:m>
                <a:r>
                  <a:rPr lang="zh-CN" altLang="zh-CN" sz="2000" dirty="0"/>
                  <a:t>与自变量增量</a:t>
                </a:r>
                <a14:m>
                  <m:oMath xmlns:m="http://schemas.openxmlformats.org/officeDocument/2006/math">
                    <m:r>
                      <a:rPr lang="en-US" altLang="zh-CN" sz="2000" i="1">
                        <a:latin typeface="Cambria Math" panose="02040503050406030204" pitchFamily="18" charset="0"/>
                      </a:rPr>
                      <m:t>𝛥</m:t>
                    </m:r>
                    <m:r>
                      <a:rPr lang="en-US" altLang="zh-CN" sz="2000" i="1">
                        <a:latin typeface="Cambria Math" panose="02040503050406030204" pitchFamily="18" charset="0"/>
                      </a:rPr>
                      <m:t>𝑥</m:t>
                    </m:r>
                  </m:oMath>
                </a14:m>
                <a:r>
                  <a:rPr lang="zh-CN" altLang="zh-CN" sz="2000" dirty="0"/>
                  <a:t>的比值在</a:t>
                </a:r>
                <a14:m>
                  <m:oMath xmlns:m="http://schemas.openxmlformats.org/officeDocument/2006/math">
                    <m:r>
                      <a:rPr lang="en-US" altLang="zh-CN" sz="2000" i="1">
                        <a:latin typeface="Cambria Math" panose="02040503050406030204" pitchFamily="18" charset="0"/>
                      </a:rPr>
                      <m:t>𝛥</m:t>
                    </m:r>
                    <m:r>
                      <a:rPr lang="en-US" altLang="zh-CN" sz="2000" i="1">
                        <a:latin typeface="Cambria Math" panose="02040503050406030204" pitchFamily="18" charset="0"/>
                      </a:rPr>
                      <m:t>𝑥</m:t>
                    </m:r>
                  </m:oMath>
                </a14:m>
                <a:r>
                  <a:rPr lang="zh-CN" altLang="zh-CN" sz="2000" dirty="0"/>
                  <a:t>趋于</a:t>
                </a:r>
                <a:r>
                  <a:rPr lang="en-US" altLang="zh-CN" sz="2000" dirty="0"/>
                  <a:t>0</a:t>
                </a:r>
                <a:r>
                  <a:rPr lang="zh-CN" altLang="zh-CN" sz="2000" dirty="0"/>
                  <a:t>时的极限</a:t>
                </a:r>
                <a14:m>
                  <m:oMath xmlns:m="http://schemas.openxmlformats.org/officeDocument/2006/math">
                    <m:r>
                      <a:rPr lang="en-US" altLang="zh-CN" sz="2000" i="1">
                        <a:latin typeface="Cambria Math" panose="02040503050406030204" pitchFamily="18" charset="0"/>
                      </a:rPr>
                      <m:t>𝑎</m:t>
                    </m:r>
                  </m:oMath>
                </a14:m>
                <a:r>
                  <a:rPr lang="zh-CN" altLang="zh-CN" sz="2000" dirty="0"/>
                  <a:t>如果存在，</a:t>
                </a:r>
                <a14:m>
                  <m:oMath xmlns:m="http://schemas.openxmlformats.org/officeDocument/2006/math">
                    <m:r>
                      <a:rPr lang="en-US" altLang="zh-CN" sz="2000" i="1">
                        <a:latin typeface="Cambria Math" panose="02040503050406030204" pitchFamily="18" charset="0"/>
                      </a:rPr>
                      <m:t>𝑎</m:t>
                    </m:r>
                  </m:oMath>
                </a14:m>
                <a:r>
                  <a:rPr lang="zh-CN" altLang="zh-CN" sz="2000" dirty="0"/>
                  <a:t>即为在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0</m:t>
                        </m:r>
                      </m:sub>
                    </m:sSub>
                  </m:oMath>
                </a14:m>
                <a:r>
                  <a:rPr lang="zh-CN" altLang="zh-CN" sz="2000" dirty="0"/>
                  <a:t>处的导数，记作</a:t>
                </a:r>
                <a14:m>
                  <m:oMath xmlns:m="http://schemas.openxmlformats.org/officeDocument/2006/math">
                    <m:r>
                      <a:rPr lang="en-US" altLang="zh-CN" sz="2000" i="1">
                        <a:latin typeface="Cambria Math" panose="02040503050406030204" pitchFamily="18" charset="0"/>
                      </a:rPr>
                      <m:t>𝑓</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oMath>
                </a14:m>
                <a:r>
                  <a:rPr lang="zh-CN" altLang="zh-CN" sz="2000" dirty="0"/>
                  <a:t>。</a:t>
                </a:r>
                <a:endParaRPr lang="zh-CN" altLang="zh-CN" sz="2000" dirty="0"/>
              </a:p>
            </p:txBody>
          </p:sp>
        </mc:Choice>
        <mc:Fallback>
          <p:sp>
            <p:nvSpPr>
              <p:cNvPr id="11" name="文本框 10"/>
              <p:cNvSpPr txBox="1">
                <a:spLocks noRot="1" noChangeAspect="1" noMove="1" noResize="1" noEditPoints="1" noAdjustHandles="1" noChangeArrowheads="1" noChangeShapeType="1" noTextEdit="1"/>
              </p:cNvSpPr>
              <p:nvPr/>
            </p:nvSpPr>
            <p:spPr>
              <a:xfrm>
                <a:off x="464456" y="1701453"/>
                <a:ext cx="5383857" cy="2807435"/>
              </a:xfrm>
              <a:prstGeom prst="rect">
                <a:avLst/>
              </a:prstGeom>
              <a:blipFill rotWithShape="1">
                <a:blip r:embed="rId1"/>
                <a:stretch>
                  <a:fillRect l="-5" t="-10" r="11" b="14"/>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5848313" y="1826575"/>
            <a:ext cx="6223646" cy="40704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869034" y="209914"/>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函数的连续性</a:t>
            </a:r>
            <a:br>
              <a:rPr lang="zh-CN" altLang="en-US" dirty="0"/>
            </a:br>
            <a:endParaRPr lang="zh-CN" altLang="en-US" dirty="0"/>
          </a:p>
        </p:txBody>
      </p:sp>
      <p:sp>
        <p:nvSpPr>
          <p:cNvPr id="2" name="文本框 1"/>
          <p:cNvSpPr txBox="1"/>
          <p:nvPr/>
        </p:nvSpPr>
        <p:spPr>
          <a:xfrm>
            <a:off x="5587284" y="2495166"/>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14" name="object 4"/>
              <p:cNvSpPr txBox="1"/>
              <p:nvPr/>
            </p:nvSpPr>
            <p:spPr>
              <a:xfrm>
                <a:off x="432056" y="1465199"/>
                <a:ext cx="10554970" cy="975011"/>
              </a:xfrm>
              <a:prstGeom prst="rect">
                <a:avLst/>
              </a:prstGeom>
            </p:spPr>
            <p:txBody>
              <a:bodyPr vert="horz" wrap="square" lIns="0" tIns="12700" rIns="0" bIns="0" rtlCol="0">
                <a:spAutoFit/>
              </a:bodyPr>
              <a:lstStyle/>
              <a:p>
                <a:pPr marL="304800" marR="5080">
                  <a:lnSpc>
                    <a:spcPct val="100000"/>
                  </a:lnSpc>
                </a:pPr>
                <a:r>
                  <a:rPr sz="2400" dirty="0" err="1">
                    <a:latin typeface="微软雅黑" panose="020B0503020204020204" pitchFamily="34" charset="-122"/>
                    <a:cs typeface="微软雅黑" panose="020B0503020204020204" pitchFamily="34" charset="-122"/>
                  </a:rPr>
                  <a:t>设函数</a:t>
                </a:r>
                <a:r>
                  <a:rPr sz="2400" spc="-30" dirty="0">
                    <a:latin typeface="微软雅黑" panose="020B0503020204020204" pitchFamily="34" charset="-122"/>
                    <a:cs typeface="微软雅黑" panose="020B0503020204020204" pitchFamily="34" charset="-122"/>
                  </a:rPr>
                  <a:t> </a:t>
                </a:r>
                <a14:m>
                  <m:oMath xmlns:m="http://schemas.openxmlformats.org/officeDocument/2006/math">
                    <m:r>
                      <m:rPr>
                        <m:sty m:val="p"/>
                      </m:rPr>
                      <a:rPr lang="en-US" altLang="zh-CN" sz="2400" i="1" spc="-30" dirty="0">
                        <a:latin typeface="Cambria Math" panose="02040503050406030204" pitchFamily="18" charset="0"/>
                        <a:cs typeface="微软雅黑" panose="020B0503020204020204" pitchFamily="34" charset="-122"/>
                      </a:rPr>
                      <m:t>y</m:t>
                    </m:r>
                    <m:r>
                      <a:rPr lang="en-US" altLang="zh-CN" sz="2400" i="1" spc="-30" dirty="0" smtClean="0">
                        <a:latin typeface="Cambria Math" panose="02040503050406030204" pitchFamily="18" charset="0"/>
                        <a:cs typeface="微软雅黑" panose="020B0503020204020204" pitchFamily="34" charset="-122"/>
                      </a:rPr>
                      <m:t>=</m:t>
                    </m:r>
                    <m:r>
                      <a:rPr lang="pt-BR" altLang="zh-CN" sz="2400" i="1" spc="-30" smtClean="0">
                        <a:latin typeface="Cambria Math" panose="02040503050406030204" pitchFamily="18" charset="0"/>
                        <a:cs typeface="微软雅黑" panose="020B0503020204020204" pitchFamily="34" charset="-122"/>
                      </a:rPr>
                      <m:t>𝑓</m:t>
                    </m:r>
                    <m:d>
                      <m:dPr>
                        <m:ctrlPr>
                          <a:rPr lang="pt-BR" altLang="zh-CN" sz="2400" i="1" spc="-30" smtClean="0">
                            <a:latin typeface="Cambria Math" panose="02040503050406030204" pitchFamily="18" charset="0"/>
                            <a:cs typeface="微软雅黑" panose="020B0503020204020204" pitchFamily="34" charset="-122"/>
                          </a:rPr>
                        </m:ctrlPr>
                      </m:dPr>
                      <m:e>
                        <m:r>
                          <a:rPr lang="pt-BR" altLang="zh-CN" sz="2400" i="1" spc="-30" smtClean="0">
                            <a:latin typeface="Cambria Math" panose="02040503050406030204" pitchFamily="18" charset="0"/>
                            <a:cs typeface="微软雅黑" panose="020B0503020204020204" pitchFamily="34" charset="-122"/>
                          </a:rPr>
                          <m:t>𝑥</m:t>
                        </m:r>
                      </m:e>
                    </m:d>
                  </m:oMath>
                </a14:m>
                <a:r>
                  <a:rPr sz="2400" dirty="0">
                    <a:latin typeface="微软雅黑" panose="020B0503020204020204" pitchFamily="34" charset="-122"/>
                    <a:cs typeface="微软雅黑" panose="020B0503020204020204" pitchFamily="34" charset="-122"/>
                  </a:rPr>
                  <a:t>在点</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0</m:t>
                        </m:r>
                      </m:sub>
                    </m:sSub>
                  </m:oMath>
                </a14:m>
                <a:r>
                  <a:rPr sz="2400" dirty="0" err="1">
                    <a:latin typeface="微软雅黑" panose="020B0503020204020204" pitchFamily="34" charset="-122"/>
                    <a:cs typeface="微软雅黑" panose="020B0503020204020204" pitchFamily="34" charset="-122"/>
                  </a:rPr>
                  <a:t>的某邻域内有定义，如果当自变量的改变量</a:t>
                </a:r>
                <a14:m>
                  <m:oMath xmlns:m="http://schemas.openxmlformats.org/officeDocument/2006/math">
                    <m:r>
                      <a:rPr lang="en-US" altLang="zh-CN" sz="3200" i="1">
                        <a:latin typeface="Cambria Math" panose="02040503050406030204" pitchFamily="18" charset="0"/>
                      </a:rPr>
                      <m:t>𝛥</m:t>
                    </m:r>
                    <m:r>
                      <a:rPr lang="en-US" altLang="zh-CN" sz="3200" i="1">
                        <a:latin typeface="Cambria Math" panose="02040503050406030204" pitchFamily="18" charset="0"/>
                      </a:rPr>
                      <m:t>𝑥</m:t>
                    </m:r>
                  </m:oMath>
                </a14:m>
                <a:r>
                  <a:rPr sz="2400" dirty="0">
                    <a:latin typeface="微软雅黑" panose="020B0503020204020204" pitchFamily="34" charset="-122"/>
                    <a:cs typeface="微软雅黑" panose="020B0503020204020204" pitchFamily="34" charset="-122"/>
                  </a:rPr>
                  <a:t>趋近于零时，相应函数的改变量</a:t>
                </a:r>
                <a14:m>
                  <m:oMath xmlns:m="http://schemas.openxmlformats.org/officeDocument/2006/math">
                    <m:r>
                      <m:rPr>
                        <m:sty m:val="p"/>
                      </m:rPr>
                      <a:rPr lang="zh-CN" altLang="en-US" sz="3200">
                        <a:latin typeface="Cambria Math" panose="02040503050406030204" pitchFamily="18" charset="0"/>
                      </a:rPr>
                      <m:t>Δ</m:t>
                    </m:r>
                    <m:r>
                      <a:rPr lang="zh-CN" altLang="en-US" sz="3200" i="1">
                        <a:latin typeface="Cambria Math" panose="02040503050406030204" pitchFamily="18" charset="0"/>
                      </a:rPr>
                      <m:t>𝑦</m:t>
                    </m:r>
                  </m:oMath>
                </a14:m>
                <a:r>
                  <a:rPr sz="2400" dirty="0" err="1">
                    <a:latin typeface="微软雅黑" panose="020B0503020204020204" pitchFamily="34" charset="-122"/>
                    <a:cs typeface="微软雅黑" panose="020B0503020204020204" pitchFamily="34" charset="-122"/>
                  </a:rPr>
                  <a:t>也趋近于零，则称</a:t>
                </a:r>
                <a14:m>
                  <m:oMath xmlns:m="http://schemas.openxmlformats.org/officeDocument/2006/math">
                    <m:r>
                      <a:rPr lang="en-US" altLang="zh-CN" sz="2400" i="1" spc="-30" dirty="0" smtClean="0">
                        <a:latin typeface="Cambria Math" panose="02040503050406030204" pitchFamily="18" charset="0"/>
                        <a:cs typeface="微软雅黑" panose="020B0503020204020204" pitchFamily="34" charset="-122"/>
                      </a:rPr>
                      <m:t>𝑦</m:t>
                    </m:r>
                    <m:r>
                      <a:rPr lang="en-US" altLang="zh-CN" sz="2400" i="1" spc="-30" dirty="0" smtClean="0">
                        <a:latin typeface="Cambria Math" panose="02040503050406030204" pitchFamily="18" charset="0"/>
                        <a:cs typeface="微软雅黑" panose="020B0503020204020204" pitchFamily="34" charset="-122"/>
                      </a:rPr>
                      <m:t>=</m:t>
                    </m:r>
                    <m:r>
                      <a:rPr lang="pt-BR" altLang="zh-CN" sz="2400" i="1" spc="-30" dirty="0" smtClean="0">
                        <a:latin typeface="Cambria Math" panose="02040503050406030204" pitchFamily="18" charset="0"/>
                        <a:cs typeface="微软雅黑" panose="020B0503020204020204" pitchFamily="34" charset="-122"/>
                      </a:rPr>
                      <m:t>𝑓</m:t>
                    </m:r>
                    <m:r>
                      <a:rPr lang="pt-BR" altLang="zh-CN" sz="2400" i="1" spc="-30" dirty="0" smtClean="0">
                        <a:latin typeface="Cambria Math" panose="02040503050406030204" pitchFamily="18" charset="0"/>
                      </a:rPr>
                      <m:t>(</m:t>
                    </m:r>
                    <m:r>
                      <a:rPr lang="pt-BR" altLang="zh-CN" sz="2400" i="1" spc="-30" dirty="0">
                        <a:latin typeface="Cambria Math" panose="02040503050406030204" pitchFamily="18" charset="0"/>
                        <a:cs typeface="微软雅黑" panose="020B0503020204020204" pitchFamily="34" charset="-122"/>
                      </a:rPr>
                      <m:t>𝑥</m:t>
                    </m:r>
                    <m:r>
                      <a:rPr lang="pt-BR" altLang="zh-CN" sz="2400" i="1" spc="-30" dirty="0">
                        <a:latin typeface="Cambria Math" panose="02040503050406030204" pitchFamily="18" charset="0"/>
                        <a:cs typeface="微软雅黑" panose="020B0503020204020204" pitchFamily="34" charset="-122"/>
                      </a:rPr>
                      <m:t>)</m:t>
                    </m:r>
                  </m:oMath>
                </a14:m>
                <a:r>
                  <a:rPr sz="2400" dirty="0">
                    <a:latin typeface="微软雅黑" panose="020B0503020204020204" pitchFamily="34" charset="-122"/>
                    <a:cs typeface="微软雅黑" panose="020B0503020204020204" pitchFamily="34" charset="-122"/>
                  </a:rPr>
                  <a:t>在点</a:t>
                </a:r>
                <a:r>
                  <a:rPr sz="2400" spc="-30" dirty="0">
                    <a:latin typeface="微软雅黑" panose="020B0503020204020204" pitchFamily="34" charset="-122"/>
                    <a:cs typeface="微软雅黑" panose="020B0503020204020204" pitchFamily="34" charset="-122"/>
                  </a:rPr>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0</m:t>
                        </m:r>
                      </m:sub>
                    </m:sSub>
                  </m:oMath>
                </a14:m>
                <a:r>
                  <a:rPr sz="2400" dirty="0">
                    <a:latin typeface="微软雅黑" panose="020B0503020204020204" pitchFamily="34" charset="-122"/>
                    <a:cs typeface="微软雅黑" panose="020B0503020204020204" pitchFamily="34" charset="-122"/>
                  </a:rPr>
                  <a:t>处连续。</a:t>
                </a:r>
                <a:endParaRPr sz="2400" dirty="0">
                  <a:latin typeface="微软雅黑" panose="020B0503020204020204" pitchFamily="34" charset="-122"/>
                  <a:cs typeface="微软雅黑" panose="020B0503020204020204" pitchFamily="34" charset="-122"/>
                </a:endParaRPr>
              </a:p>
            </p:txBody>
          </p:sp>
        </mc:Choice>
        <mc:Fallback>
          <p:sp>
            <p:nvSpPr>
              <p:cNvPr id="14" name="object 4"/>
              <p:cNvSpPr txBox="1">
                <a:spLocks noRot="1" noChangeAspect="1" noMove="1" noResize="1" noEditPoints="1" noAdjustHandles="1" noChangeArrowheads="1" noChangeShapeType="1" noTextEdit="1"/>
              </p:cNvSpPr>
              <p:nvPr/>
            </p:nvSpPr>
            <p:spPr>
              <a:xfrm>
                <a:off x="432056" y="1465199"/>
                <a:ext cx="10554970" cy="975011"/>
              </a:xfrm>
              <a:prstGeom prst="rect">
                <a:avLst/>
              </a:prstGeom>
              <a:blipFill rotWithShape="1">
                <a:blip r:embed="rId1"/>
                <a:stretch>
                  <a:fillRect l="-2" t="-26" r="2" b="-1312"/>
                </a:stretch>
              </a:blipFill>
            </p:spPr>
            <p:txBody>
              <a:bodyPr/>
              <a:lstStyle/>
              <a:p>
                <a:r>
                  <a:rPr lang="zh-CN" altLang="en-US">
                    <a:noFill/>
                  </a:rPr>
                  <a:t> </a:t>
                </a:r>
              </a:p>
            </p:txBody>
          </p:sp>
        </mc:Fallback>
      </mc:AlternateContent>
      <p:sp>
        <p:nvSpPr>
          <p:cNvPr id="16" name="object 7"/>
          <p:cNvSpPr/>
          <p:nvPr/>
        </p:nvSpPr>
        <p:spPr>
          <a:xfrm>
            <a:off x="2402518" y="3248011"/>
            <a:ext cx="6793992" cy="2878836"/>
          </a:xfrm>
          <a:prstGeom prst="rect">
            <a:avLst/>
          </a:prstGeom>
          <a:blipFill>
            <a:blip r:embed="rId2" cstate="print">
              <a:extLst>
                <a:ext uri="{28A0092B-C50C-407E-A947-70E740481C1C}">
                  <a14:useLocalDpi xmlns:a14="http://schemas.microsoft.com/office/drawing/2010/main" val="0"/>
                </a:ext>
              </a:extLst>
            </a:blip>
            <a:stretch>
              <a:fillRect/>
            </a:stretch>
          </a:blipFill>
        </p:spPr>
        <p:txBody>
          <a:bodyPr wrap="square" lIns="0" tIns="0" rIns="0" bIns="0" rtlCol="0"/>
          <a:lstStyle/>
          <a:p/>
        </p:txBody>
      </p:sp>
      <mc:AlternateContent xmlns:mc="http://schemas.openxmlformats.org/markup-compatibility/2006">
        <mc:Choice xmlns:a14="http://schemas.microsoft.com/office/drawing/2010/main" Requires="a14">
          <p:sp>
            <p:nvSpPr>
              <p:cNvPr id="11" name="文本框 10"/>
              <p:cNvSpPr txBox="1"/>
              <p:nvPr/>
            </p:nvSpPr>
            <p:spPr>
              <a:xfrm>
                <a:off x="1666915" y="2557397"/>
                <a:ext cx="6096654" cy="57342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limLow>
                        <m:limLowPr>
                          <m:ctrlPr>
                            <a:rPr lang="zh-CN" altLang="en-US" i="1" smtClean="0">
                              <a:solidFill>
                                <a:schemeClr val="tx1"/>
                              </a:solidFill>
                              <a:latin typeface="Cambria Math" panose="02040503050406030204" pitchFamily="18" charset="0"/>
                            </a:rPr>
                          </m:ctrlPr>
                        </m:limLowPr>
                        <m:e>
                          <m:r>
                            <m:rPr>
                              <m:sty m:val="p"/>
                            </m:rPr>
                            <a:rPr lang="zh-CN" altLang="en-US">
                              <a:solidFill>
                                <a:schemeClr val="tx1"/>
                              </a:solidFill>
                              <a:latin typeface="Cambria Math" panose="02040503050406030204" pitchFamily="18" charset="0"/>
                            </a:rPr>
                            <m:t>l</m:t>
                          </m:r>
                          <m:r>
                            <m:rPr>
                              <m:sty m:val="p"/>
                            </m:rPr>
                            <a:rPr lang="zh-CN" altLang="en-US" i="0">
                              <a:solidFill>
                                <a:schemeClr val="tx1"/>
                              </a:solidFill>
                              <a:latin typeface="Cambria Math" panose="02040503050406030204" pitchFamily="18" charset="0"/>
                            </a:rPr>
                            <m:t>im</m:t>
                          </m:r>
                        </m:e>
                        <m:lim>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0</m:t>
                          </m:r>
                        </m:lim>
                      </m:limLow>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𝑦</m:t>
                      </m:r>
                      <m:r>
                        <a:rPr lang="zh-CN" altLang="en-US" i="0">
                          <a:solidFill>
                            <a:schemeClr val="tx1"/>
                          </a:solidFill>
                          <a:latin typeface="Cambria Math" panose="02040503050406030204" pitchFamily="18" charset="0"/>
                        </a:rPr>
                        <m:t>=</m:t>
                      </m:r>
                      <m:limLow>
                        <m:limLowPr>
                          <m:ctrlPr>
                            <a:rPr lang="zh-CN" altLang="en-US" i="1">
                              <a:solidFill>
                                <a:schemeClr val="tx1"/>
                              </a:solidFill>
                              <a:latin typeface="Cambria Math" panose="02040503050406030204" pitchFamily="18" charset="0"/>
                            </a:rPr>
                          </m:ctrlPr>
                        </m:limLowPr>
                        <m:e>
                          <m:r>
                            <m:rPr>
                              <m:sty m:val="p"/>
                            </m:rPr>
                            <a:rPr lang="zh-CN" altLang="en-US" i="0">
                              <a:solidFill>
                                <a:schemeClr val="tx1"/>
                              </a:solidFill>
                              <a:latin typeface="Cambria Math" panose="02040503050406030204" pitchFamily="18" charset="0"/>
                            </a:rPr>
                            <m:t>lim</m:t>
                          </m:r>
                        </m:e>
                        <m:lim>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0</m:t>
                          </m:r>
                        </m:lim>
                      </m:limLow>
                      <m:d>
                        <m:dPr>
                          <m:begChr m:val="["/>
                          <m:endChr m:val="]"/>
                          <m:ctrlPr>
                            <a:rPr lang="zh-CN" altLang="en-US"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𝑓</m:t>
                          </m:r>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e>
                          </m:d>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𝑓</m:t>
                          </m:r>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e>
                          </m:d>
                        </m:e>
                      </m:d>
                      <m:r>
                        <a:rPr lang="zh-CN" altLang="en-US" i="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0</m:t>
                      </m:r>
                    </m:oMath>
                  </m:oMathPara>
                </a14:m>
                <a:endParaRPr lang="zh-CN" altLang="en-US" dirty="0">
                  <a:solidFill>
                    <a:schemeClr val="tx1"/>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1666915" y="2557397"/>
                <a:ext cx="6096654" cy="573427"/>
              </a:xfrm>
              <a:prstGeom prst="rect">
                <a:avLst/>
              </a:prstGeom>
              <a:blipFill rotWithShape="1">
                <a:blip r:embed="rId3"/>
                <a:stretch>
                  <a:fillRect l="-1" t="-44" r="1" b="4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046975" y="2377376"/>
            <a:ext cx="292735" cy="292735"/>
          </a:xfrm>
          <a:custGeom>
            <a:avLst/>
            <a:gdLst/>
            <a:ahLst/>
            <a:cxnLst/>
            <a:rect l="l" t="t" r="r" b="b"/>
            <a:pathLst>
              <a:path w="292734" h="292735">
                <a:moveTo>
                  <a:pt x="10350" y="292455"/>
                </a:moveTo>
                <a:lnTo>
                  <a:pt x="7480" y="292455"/>
                </a:lnTo>
                <a:lnTo>
                  <a:pt x="5461" y="291884"/>
                </a:lnTo>
                <a:lnTo>
                  <a:pt x="0" y="282676"/>
                </a:lnTo>
                <a:lnTo>
                  <a:pt x="584" y="280085"/>
                </a:lnTo>
                <a:lnTo>
                  <a:pt x="37350" y="179730"/>
                </a:lnTo>
                <a:lnTo>
                  <a:pt x="204546" y="12077"/>
                </a:lnTo>
                <a:lnTo>
                  <a:pt x="233286" y="0"/>
                </a:lnTo>
                <a:lnTo>
                  <a:pt x="244195" y="0"/>
                </a:lnTo>
                <a:lnTo>
                  <a:pt x="279045" y="18402"/>
                </a:lnTo>
                <a:lnTo>
                  <a:pt x="235000" y="18402"/>
                </a:lnTo>
                <a:lnTo>
                  <a:pt x="231838" y="18986"/>
                </a:lnTo>
                <a:lnTo>
                  <a:pt x="205130" y="37096"/>
                </a:lnTo>
                <a:lnTo>
                  <a:pt x="209727" y="37668"/>
                </a:lnTo>
                <a:lnTo>
                  <a:pt x="214896" y="38531"/>
                </a:lnTo>
                <a:lnTo>
                  <a:pt x="242006" y="55219"/>
                </a:lnTo>
                <a:lnTo>
                  <a:pt x="201968" y="55219"/>
                </a:lnTo>
                <a:lnTo>
                  <a:pt x="194779" y="55791"/>
                </a:lnTo>
                <a:lnTo>
                  <a:pt x="191338" y="56934"/>
                </a:lnTo>
                <a:lnTo>
                  <a:pt x="185013" y="59245"/>
                </a:lnTo>
                <a:lnTo>
                  <a:pt x="179273" y="63271"/>
                </a:lnTo>
                <a:lnTo>
                  <a:pt x="176963" y="65570"/>
                </a:lnTo>
                <a:lnTo>
                  <a:pt x="176682" y="65570"/>
                </a:lnTo>
                <a:lnTo>
                  <a:pt x="67805" y="173697"/>
                </a:lnTo>
                <a:lnTo>
                  <a:pt x="84175" y="173697"/>
                </a:lnTo>
                <a:lnTo>
                  <a:pt x="85902" y="174269"/>
                </a:lnTo>
                <a:lnTo>
                  <a:pt x="87630" y="175412"/>
                </a:lnTo>
                <a:lnTo>
                  <a:pt x="89928" y="177723"/>
                </a:lnTo>
                <a:lnTo>
                  <a:pt x="90500" y="179438"/>
                </a:lnTo>
                <a:lnTo>
                  <a:pt x="91071" y="180886"/>
                </a:lnTo>
                <a:lnTo>
                  <a:pt x="91266" y="182029"/>
                </a:lnTo>
                <a:lnTo>
                  <a:pt x="91363" y="192100"/>
                </a:lnTo>
                <a:lnTo>
                  <a:pt x="52006" y="192100"/>
                </a:lnTo>
                <a:lnTo>
                  <a:pt x="36487" y="234937"/>
                </a:lnTo>
                <a:lnTo>
                  <a:pt x="39941" y="236664"/>
                </a:lnTo>
                <a:lnTo>
                  <a:pt x="43103" y="238963"/>
                </a:lnTo>
                <a:lnTo>
                  <a:pt x="46253" y="240982"/>
                </a:lnTo>
                <a:lnTo>
                  <a:pt x="58318" y="258813"/>
                </a:lnTo>
                <a:lnTo>
                  <a:pt x="109750" y="258813"/>
                </a:lnTo>
                <a:lnTo>
                  <a:pt x="106591" y="261975"/>
                </a:lnTo>
                <a:lnTo>
                  <a:pt x="104863" y="263118"/>
                </a:lnTo>
                <a:lnTo>
                  <a:pt x="102857" y="264274"/>
                </a:lnTo>
                <a:lnTo>
                  <a:pt x="12077" y="292163"/>
                </a:lnTo>
                <a:lnTo>
                  <a:pt x="10350" y="292455"/>
                </a:lnTo>
                <a:close/>
              </a:path>
              <a:path w="292734" h="292735">
                <a:moveTo>
                  <a:pt x="280334" y="87426"/>
                </a:moveTo>
                <a:lnTo>
                  <a:pt x="255117" y="87426"/>
                </a:lnTo>
                <a:lnTo>
                  <a:pt x="266319" y="76212"/>
                </a:lnTo>
                <a:lnTo>
                  <a:pt x="268046" y="73621"/>
                </a:lnTo>
                <a:lnTo>
                  <a:pt x="270052" y="70459"/>
                </a:lnTo>
                <a:lnTo>
                  <a:pt x="271487" y="67297"/>
                </a:lnTo>
                <a:lnTo>
                  <a:pt x="272643" y="63842"/>
                </a:lnTo>
                <a:lnTo>
                  <a:pt x="273215" y="60680"/>
                </a:lnTo>
                <a:lnTo>
                  <a:pt x="274078" y="57226"/>
                </a:lnTo>
                <a:lnTo>
                  <a:pt x="274194" y="55791"/>
                </a:lnTo>
                <a:lnTo>
                  <a:pt x="274293" y="52908"/>
                </a:lnTo>
                <a:lnTo>
                  <a:pt x="274078" y="50037"/>
                </a:lnTo>
                <a:lnTo>
                  <a:pt x="273215" y="46583"/>
                </a:lnTo>
                <a:lnTo>
                  <a:pt x="272643" y="43141"/>
                </a:lnTo>
                <a:lnTo>
                  <a:pt x="242189" y="18402"/>
                </a:lnTo>
                <a:lnTo>
                  <a:pt x="279045" y="18402"/>
                </a:lnTo>
                <a:lnTo>
                  <a:pt x="280111" y="19558"/>
                </a:lnTo>
                <a:lnTo>
                  <a:pt x="283552" y="23863"/>
                </a:lnTo>
                <a:lnTo>
                  <a:pt x="285851" y="28473"/>
                </a:lnTo>
                <a:lnTo>
                  <a:pt x="288442" y="33070"/>
                </a:lnTo>
                <a:lnTo>
                  <a:pt x="289877" y="37960"/>
                </a:lnTo>
                <a:lnTo>
                  <a:pt x="291604" y="43141"/>
                </a:lnTo>
                <a:lnTo>
                  <a:pt x="292176" y="48602"/>
                </a:lnTo>
                <a:lnTo>
                  <a:pt x="292408" y="52908"/>
                </a:lnTo>
                <a:lnTo>
                  <a:pt x="292285" y="56934"/>
                </a:lnTo>
                <a:lnTo>
                  <a:pt x="292176" y="58953"/>
                </a:lnTo>
                <a:lnTo>
                  <a:pt x="291604" y="64135"/>
                </a:lnTo>
                <a:lnTo>
                  <a:pt x="289877" y="69596"/>
                </a:lnTo>
                <a:lnTo>
                  <a:pt x="288442" y="74485"/>
                </a:lnTo>
                <a:lnTo>
                  <a:pt x="285851" y="79082"/>
                </a:lnTo>
                <a:lnTo>
                  <a:pt x="283552" y="83400"/>
                </a:lnTo>
                <a:lnTo>
                  <a:pt x="280334" y="87426"/>
                </a:lnTo>
                <a:close/>
              </a:path>
              <a:path w="292734" h="292735">
                <a:moveTo>
                  <a:pt x="141352" y="227177"/>
                </a:moveTo>
                <a:lnTo>
                  <a:pt x="115493" y="227177"/>
                </a:lnTo>
                <a:lnTo>
                  <a:pt x="229260" y="113296"/>
                </a:lnTo>
                <a:lnTo>
                  <a:pt x="230987" y="110426"/>
                </a:lnTo>
                <a:lnTo>
                  <a:pt x="237299" y="90868"/>
                </a:lnTo>
                <a:lnTo>
                  <a:pt x="237020" y="87426"/>
                </a:lnTo>
                <a:lnTo>
                  <a:pt x="235864" y="80238"/>
                </a:lnTo>
                <a:lnTo>
                  <a:pt x="234429" y="77355"/>
                </a:lnTo>
                <a:lnTo>
                  <a:pt x="232994" y="74193"/>
                </a:lnTo>
                <a:lnTo>
                  <a:pt x="230987" y="71031"/>
                </a:lnTo>
                <a:lnTo>
                  <a:pt x="229260" y="68160"/>
                </a:lnTo>
                <a:lnTo>
                  <a:pt x="226669" y="65849"/>
                </a:lnTo>
                <a:lnTo>
                  <a:pt x="224091" y="63271"/>
                </a:lnTo>
                <a:lnTo>
                  <a:pt x="221208" y="61252"/>
                </a:lnTo>
                <a:lnTo>
                  <a:pt x="218630" y="59245"/>
                </a:lnTo>
                <a:lnTo>
                  <a:pt x="215468" y="58089"/>
                </a:lnTo>
                <a:lnTo>
                  <a:pt x="208572" y="55791"/>
                </a:lnTo>
                <a:lnTo>
                  <a:pt x="201968" y="55219"/>
                </a:lnTo>
                <a:lnTo>
                  <a:pt x="242006" y="55219"/>
                </a:lnTo>
                <a:lnTo>
                  <a:pt x="255117" y="87426"/>
                </a:lnTo>
                <a:lnTo>
                  <a:pt x="280334" y="87426"/>
                </a:lnTo>
                <a:lnTo>
                  <a:pt x="276656" y="91732"/>
                </a:lnTo>
                <a:lnTo>
                  <a:pt x="141352" y="227177"/>
                </a:lnTo>
                <a:close/>
              </a:path>
              <a:path w="292734" h="292735">
                <a:moveTo>
                  <a:pt x="176682" y="65849"/>
                </a:moveTo>
                <a:lnTo>
                  <a:pt x="176682" y="65570"/>
                </a:lnTo>
                <a:lnTo>
                  <a:pt x="176963" y="65570"/>
                </a:lnTo>
                <a:lnTo>
                  <a:pt x="176682" y="65849"/>
                </a:lnTo>
                <a:close/>
              </a:path>
              <a:path w="292734" h="292735">
                <a:moveTo>
                  <a:pt x="120383" y="182600"/>
                </a:moveTo>
                <a:lnTo>
                  <a:pt x="117221" y="182600"/>
                </a:lnTo>
                <a:lnTo>
                  <a:pt x="113766" y="181457"/>
                </a:lnTo>
                <a:lnTo>
                  <a:pt x="112331" y="180301"/>
                </a:lnTo>
                <a:lnTo>
                  <a:pt x="111188" y="178574"/>
                </a:lnTo>
                <a:lnTo>
                  <a:pt x="110324" y="177139"/>
                </a:lnTo>
                <a:lnTo>
                  <a:pt x="109753" y="173697"/>
                </a:lnTo>
                <a:lnTo>
                  <a:pt x="110032" y="171970"/>
                </a:lnTo>
                <a:lnTo>
                  <a:pt x="203695" y="75628"/>
                </a:lnTo>
                <a:lnTo>
                  <a:pt x="208292" y="73329"/>
                </a:lnTo>
                <a:lnTo>
                  <a:pt x="212026" y="73329"/>
                </a:lnTo>
                <a:lnTo>
                  <a:pt x="213461" y="73901"/>
                </a:lnTo>
                <a:lnTo>
                  <a:pt x="215176" y="74764"/>
                </a:lnTo>
                <a:lnTo>
                  <a:pt x="216623" y="75628"/>
                </a:lnTo>
                <a:lnTo>
                  <a:pt x="217766" y="77355"/>
                </a:lnTo>
                <a:lnTo>
                  <a:pt x="218909" y="78790"/>
                </a:lnTo>
                <a:lnTo>
                  <a:pt x="219494" y="82245"/>
                </a:lnTo>
                <a:lnTo>
                  <a:pt x="219202" y="83972"/>
                </a:lnTo>
                <a:lnTo>
                  <a:pt x="218909" y="85979"/>
                </a:lnTo>
                <a:lnTo>
                  <a:pt x="217766" y="87426"/>
                </a:lnTo>
                <a:lnTo>
                  <a:pt x="125260" y="180301"/>
                </a:lnTo>
                <a:lnTo>
                  <a:pt x="123825" y="181457"/>
                </a:lnTo>
                <a:lnTo>
                  <a:pt x="122389" y="182029"/>
                </a:lnTo>
                <a:lnTo>
                  <a:pt x="120383" y="182600"/>
                </a:lnTo>
                <a:close/>
              </a:path>
              <a:path w="292734" h="292735">
                <a:moveTo>
                  <a:pt x="109750" y="258813"/>
                </a:moveTo>
                <a:lnTo>
                  <a:pt x="58318" y="258813"/>
                </a:lnTo>
                <a:lnTo>
                  <a:pt x="92506" y="248462"/>
                </a:lnTo>
                <a:lnTo>
                  <a:pt x="98259" y="219417"/>
                </a:lnTo>
                <a:lnTo>
                  <a:pt x="82169" y="219417"/>
                </a:lnTo>
                <a:lnTo>
                  <a:pt x="78727" y="218833"/>
                </a:lnTo>
                <a:lnTo>
                  <a:pt x="77279" y="217982"/>
                </a:lnTo>
                <a:lnTo>
                  <a:pt x="75844" y="216535"/>
                </a:lnTo>
                <a:lnTo>
                  <a:pt x="74980" y="215392"/>
                </a:lnTo>
                <a:lnTo>
                  <a:pt x="73837" y="213956"/>
                </a:lnTo>
                <a:lnTo>
                  <a:pt x="73266" y="211937"/>
                </a:lnTo>
                <a:lnTo>
                  <a:pt x="72974" y="210210"/>
                </a:lnTo>
                <a:lnTo>
                  <a:pt x="72974" y="192100"/>
                </a:lnTo>
                <a:lnTo>
                  <a:pt x="91363" y="192100"/>
                </a:lnTo>
                <a:lnTo>
                  <a:pt x="91363" y="201294"/>
                </a:lnTo>
                <a:lnTo>
                  <a:pt x="111760" y="201294"/>
                </a:lnTo>
                <a:lnTo>
                  <a:pt x="113766" y="202158"/>
                </a:lnTo>
                <a:lnTo>
                  <a:pt x="115201" y="203022"/>
                </a:lnTo>
                <a:lnTo>
                  <a:pt x="116636" y="204749"/>
                </a:lnTo>
                <a:lnTo>
                  <a:pt x="118084" y="206184"/>
                </a:lnTo>
                <a:lnTo>
                  <a:pt x="118656" y="207911"/>
                </a:lnTo>
                <a:lnTo>
                  <a:pt x="118935" y="210210"/>
                </a:lnTo>
                <a:lnTo>
                  <a:pt x="118656" y="212229"/>
                </a:lnTo>
                <a:lnTo>
                  <a:pt x="115493" y="227177"/>
                </a:lnTo>
                <a:lnTo>
                  <a:pt x="141352" y="227177"/>
                </a:lnTo>
                <a:lnTo>
                  <a:pt x="109750" y="258813"/>
                </a:lnTo>
                <a:close/>
              </a:path>
            </a:pathLst>
          </a:custGeom>
          <a:solidFill>
            <a:srgbClr val="C00000"/>
          </a:solidFill>
        </p:spPr>
        <p:txBody>
          <a:bodyPr wrap="square" lIns="0" tIns="0" rIns="0" bIns="0" rtlCol="0"/>
          <a:lstStyle/>
          <a:p/>
        </p:txBody>
      </p:sp>
      <mc:AlternateContent xmlns:mc="http://schemas.openxmlformats.org/markup-compatibility/2006">
        <mc:Choice xmlns:a14="http://schemas.microsoft.com/office/drawing/2010/main" Requires="a14">
          <p:sp>
            <p:nvSpPr>
              <p:cNvPr id="4" name="object 4"/>
              <p:cNvSpPr txBox="1"/>
              <p:nvPr/>
            </p:nvSpPr>
            <p:spPr>
              <a:xfrm>
                <a:off x="1132154" y="1785635"/>
                <a:ext cx="6457315" cy="943848"/>
              </a:xfrm>
              <a:prstGeom prst="rect">
                <a:avLst/>
              </a:prstGeom>
            </p:spPr>
            <p:txBody>
              <a:bodyPr vert="horz" wrap="square" lIns="0" tIns="12700" rIns="0" bIns="0" rtlCol="0">
                <a:spAutoFit/>
              </a:bodyPr>
              <a:lstStyle/>
              <a:p>
                <a:pPr>
                  <a:lnSpc>
                    <a:spcPct val="100000"/>
                  </a:lnSpc>
                  <a:spcBef>
                    <a:spcPts val="35"/>
                  </a:spcBef>
                </a:pPr>
                <a:endParaRPr sz="3650" dirty="0">
                  <a:latin typeface="Times New Roman" panose="02020603050405020304"/>
                  <a:cs typeface="Times New Roman" panose="02020603050405020304"/>
                </a:endParaRPr>
              </a:p>
              <a:p>
                <a:pPr marL="304800">
                  <a:tabLst>
                    <a:tab pos="1725930" algn="l"/>
                    <a:tab pos="2786380" algn="l"/>
                  </a:tabLst>
                </a:pPr>
                <a:r>
                  <a:rPr sz="2400" dirty="0">
                    <a:latin typeface="微软雅黑" panose="020B0503020204020204" pitchFamily="34" charset="-122"/>
                    <a:cs typeface="微软雅黑" panose="020B0503020204020204" pitchFamily="34" charset="-122"/>
                  </a:rPr>
                  <a:t>函数</a:t>
                </a:r>
                <a14:m>
                  <m:oMath xmlns:m="http://schemas.openxmlformats.org/officeDocument/2006/math">
                    <m:r>
                      <a:rPr lang="zh-CN" altLang="en-US" b="0" i="1" dirty="0" smtClean="0">
                        <a:solidFill>
                          <a:schemeClr val="tx1"/>
                        </a:solidFill>
                        <a:latin typeface="Cambria Math" panose="02040503050406030204" pitchFamily="18" charset="0"/>
                      </a:rPr>
                      <m:t>𝑓</m:t>
                    </m:r>
                    <m:r>
                      <a:rPr lang="en-US" altLang="zh-CN" b="0" i="1" dirty="0" smtClean="0">
                        <a:solidFill>
                          <a:schemeClr val="tx1"/>
                        </a:solidFill>
                        <a:latin typeface="Cambria Math" panose="02040503050406030204" pitchFamily="18" charset="0"/>
                      </a:rPr>
                      <m:t>(</m:t>
                    </m:r>
                    <m:r>
                      <a:rPr lang="zh-CN" altLang="en-US" b="0" i="1" dirty="0" smtClean="0">
                        <a:solidFill>
                          <a:schemeClr val="tx1"/>
                        </a:solidFill>
                        <a:latin typeface="Cambria Math" panose="02040503050406030204" pitchFamily="18" charset="0"/>
                      </a:rPr>
                      <m:t>𝑥</m:t>
                    </m:r>
                    <m:r>
                      <a:rPr lang="en-US" altLang="zh-CN" b="0" i="1" dirty="0" smtClean="0">
                        <a:solidFill>
                          <a:schemeClr val="tx1"/>
                        </a:solidFill>
                        <a:latin typeface="Cambria Math" panose="02040503050406030204" pitchFamily="18" charset="0"/>
                      </a:rPr>
                      <m:t>)</m:t>
                    </m:r>
                  </m:oMath>
                </a14:m>
                <a:r>
                  <a:rPr sz="2400" dirty="0">
                    <a:latin typeface="微软雅黑" panose="020B0503020204020204" pitchFamily="34" charset="-122"/>
                    <a:cs typeface="微软雅黑" panose="020B0503020204020204" pitchFamily="34" charset="-122"/>
                  </a:rPr>
                  <a:t>	在点	处连续，需要满足的条件：</a:t>
                </a:r>
                <a:endParaRPr sz="2400" dirty="0">
                  <a:latin typeface="微软雅黑" panose="020B0503020204020204" pitchFamily="34" charset="-122"/>
                  <a:cs typeface="微软雅黑" panose="020B0503020204020204" pitchFamily="34" charset="-122"/>
                </a:endParaRPr>
              </a:p>
            </p:txBody>
          </p:sp>
        </mc:Choice>
        <mc:Fallback>
          <p:sp>
            <p:nvSpPr>
              <p:cNvPr id="4" name="object 4"/>
              <p:cNvSpPr txBox="1">
                <a:spLocks noRot="1" noChangeAspect="1" noMove="1" noResize="1" noEditPoints="1" noAdjustHandles="1" noChangeArrowheads="1" noChangeShapeType="1" noTextEdit="1"/>
              </p:cNvSpPr>
              <p:nvPr/>
            </p:nvSpPr>
            <p:spPr>
              <a:xfrm>
                <a:off x="1132154" y="1785635"/>
                <a:ext cx="6457315" cy="943848"/>
              </a:xfrm>
              <a:prstGeom prst="rect">
                <a:avLst/>
              </a:prstGeom>
              <a:blipFill rotWithShape="1">
                <a:blip r:embed="rId1"/>
                <a:stretch>
                  <a:fillRect l="-9" t="-2" r="9" b="27"/>
                </a:stretch>
              </a:blipFill>
            </p:spPr>
            <p:txBody>
              <a:bodyPr/>
              <a:lstStyle/>
              <a:p>
                <a:r>
                  <a:rPr lang="zh-CN" altLang="en-US">
                    <a:noFill/>
                  </a:rPr>
                  <a:t> </a:t>
                </a:r>
              </a:p>
            </p:txBody>
          </p:sp>
        </mc:Fallback>
      </mc:AlternateContent>
      <p:sp>
        <p:nvSpPr>
          <p:cNvPr id="5" name="object 5"/>
          <p:cNvSpPr txBox="1"/>
          <p:nvPr/>
        </p:nvSpPr>
        <p:spPr>
          <a:xfrm>
            <a:off x="5371045" y="3762387"/>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存在</a:t>
            </a:r>
            <a:endParaRPr sz="2400">
              <a:latin typeface="微软雅黑" panose="020B0503020204020204" pitchFamily="34" charset="-122"/>
              <a:cs typeface="微软雅黑" panose="020B0503020204020204" pitchFamily="34" charset="-122"/>
            </a:endParaRPr>
          </a:p>
        </p:txBody>
      </p:sp>
      <p:sp>
        <p:nvSpPr>
          <p:cNvPr id="6" name="object 6"/>
          <p:cNvSpPr txBox="1"/>
          <p:nvPr/>
        </p:nvSpPr>
        <p:spPr>
          <a:xfrm>
            <a:off x="1418170" y="3030867"/>
            <a:ext cx="3110865" cy="1671320"/>
          </a:xfrm>
          <a:prstGeom prst="rect">
            <a:avLst/>
          </a:prstGeom>
        </p:spPr>
        <p:txBody>
          <a:bodyPr vert="horz" wrap="square" lIns="0" tIns="195580" rIns="0" bIns="0" rtlCol="0">
            <a:spAutoFit/>
          </a:bodyPr>
          <a:lstStyle/>
          <a:p>
            <a:pPr marL="354965" indent="-342265">
              <a:lnSpc>
                <a:spcPct val="100000"/>
              </a:lnSpc>
              <a:spcBef>
                <a:spcPts val="1540"/>
              </a:spcBef>
              <a:buAutoNum type="arabicPeriod"/>
              <a:tabLst>
                <a:tab pos="354965" algn="l"/>
              </a:tabLst>
            </a:pPr>
            <a:r>
              <a:rPr sz="2400" dirty="0">
                <a:latin typeface="微软雅黑" panose="020B0503020204020204" pitchFamily="34" charset="-122"/>
                <a:cs typeface="微软雅黑" panose="020B0503020204020204" pitchFamily="34" charset="-122"/>
              </a:rPr>
              <a:t>函数在该点处有定义</a:t>
            </a:r>
            <a:endParaRPr sz="2400">
              <a:latin typeface="微软雅黑" panose="020B0503020204020204" pitchFamily="34" charset="-122"/>
              <a:cs typeface="微软雅黑" panose="020B0503020204020204" pitchFamily="34" charset="-122"/>
            </a:endParaRPr>
          </a:p>
          <a:p>
            <a:pPr marL="354965" indent="-342265">
              <a:lnSpc>
                <a:spcPct val="100000"/>
              </a:lnSpc>
              <a:spcBef>
                <a:spcPts val="1440"/>
              </a:spcBef>
              <a:buAutoNum type="arabicPeriod"/>
              <a:tabLst>
                <a:tab pos="354965" algn="l"/>
              </a:tabLst>
            </a:pPr>
            <a:r>
              <a:rPr sz="2400" dirty="0">
                <a:latin typeface="微软雅黑" panose="020B0503020204020204" pitchFamily="34" charset="-122"/>
                <a:cs typeface="微软雅黑" panose="020B0503020204020204" pitchFamily="34" charset="-122"/>
              </a:rPr>
              <a:t>函数在该点处极限</a:t>
            </a:r>
            <a:endParaRPr sz="2400">
              <a:latin typeface="微软雅黑" panose="020B0503020204020204" pitchFamily="34" charset="-122"/>
              <a:cs typeface="微软雅黑" panose="020B0503020204020204" pitchFamily="34" charset="-122"/>
            </a:endParaRPr>
          </a:p>
          <a:p>
            <a:pPr marL="354965" indent="-342265">
              <a:lnSpc>
                <a:spcPct val="100000"/>
              </a:lnSpc>
              <a:spcBef>
                <a:spcPts val="1440"/>
              </a:spcBef>
              <a:buAutoNum type="arabicPeriod"/>
              <a:tabLst>
                <a:tab pos="354965" algn="l"/>
              </a:tabLst>
            </a:pPr>
            <a:r>
              <a:rPr sz="2400" dirty="0">
                <a:latin typeface="微软雅黑" panose="020B0503020204020204" pitchFamily="34" charset="-122"/>
                <a:cs typeface="微软雅黑" panose="020B0503020204020204" pitchFamily="34" charset="-122"/>
              </a:rPr>
              <a:t>极限值等于函数值</a:t>
            </a:r>
            <a:endParaRPr sz="2400">
              <a:latin typeface="微软雅黑" panose="020B0503020204020204" pitchFamily="34" charset="-122"/>
              <a:cs typeface="微软雅黑" panose="020B0503020204020204" pitchFamily="34" charset="-122"/>
            </a:endParaRPr>
          </a:p>
        </p:txBody>
      </p:sp>
      <p:sp>
        <p:nvSpPr>
          <p:cNvPr id="24" name="文本框 22"/>
          <p:cNvSpPr txBox="1">
            <a:spLocks noChangeArrowheads="1"/>
          </p:cNvSpPr>
          <p:nvPr/>
        </p:nvSpPr>
        <p:spPr bwMode="auto">
          <a:xfrm>
            <a:off x="623664" y="189632"/>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函数的连续性</a:t>
            </a:r>
            <a:br>
              <a:rPr lang="zh-CN" altLang="en-US" dirty="0"/>
            </a:br>
            <a:endParaRPr lang="zh-CN" altLang="en-US" dirty="0"/>
          </a:p>
        </p:txBody>
      </p:sp>
      <mc:AlternateContent xmlns:mc="http://schemas.openxmlformats.org/markup-compatibility/2006">
        <mc:Choice xmlns:a14="http://schemas.microsoft.com/office/drawing/2010/main" Requires="a14">
          <p:sp>
            <p:nvSpPr>
              <p:cNvPr id="12" name="文本框 11"/>
              <p:cNvSpPr txBox="1"/>
              <p:nvPr/>
            </p:nvSpPr>
            <p:spPr>
              <a:xfrm>
                <a:off x="3343464" y="2206263"/>
                <a:ext cx="802184" cy="52322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2800" i="1" smtClean="0">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𝑥</m:t>
                          </m:r>
                        </m:e>
                        <m:sub>
                          <m:r>
                            <a:rPr lang="zh-CN" altLang="en-US" sz="2800" i="0">
                              <a:solidFill>
                                <a:schemeClr val="tx1"/>
                              </a:solidFill>
                              <a:latin typeface="Cambria Math" panose="02040503050406030204" pitchFamily="18" charset="0"/>
                            </a:rPr>
                            <m:t>0</m:t>
                          </m:r>
                        </m:sub>
                      </m:sSub>
                    </m:oMath>
                  </m:oMathPara>
                </a14:m>
                <a:endParaRPr lang="zh-CN" altLang="en-US" sz="2800" dirty="0"/>
              </a:p>
            </p:txBody>
          </p:sp>
        </mc:Choice>
        <mc:Fallback>
          <p:sp>
            <p:nvSpPr>
              <p:cNvPr id="12" name="文本框 11"/>
              <p:cNvSpPr txBox="1">
                <a:spLocks noRot="1" noChangeAspect="1" noMove="1" noResize="1" noEditPoints="1" noAdjustHandles="1" noChangeArrowheads="1" noChangeShapeType="1" noTextEdit="1"/>
              </p:cNvSpPr>
              <p:nvPr/>
            </p:nvSpPr>
            <p:spPr>
              <a:xfrm>
                <a:off x="3343464" y="2206263"/>
                <a:ext cx="802184" cy="523220"/>
              </a:xfrm>
              <a:prstGeom prst="rect">
                <a:avLst/>
              </a:prstGeom>
              <a:blipFill rotWithShape="1">
                <a:blip r:embed="rId2"/>
                <a:stretch>
                  <a:fillRect l="-24" t="-52" r="46"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3927407" y="4221611"/>
                <a:ext cx="1390241"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b="0" i="1" dirty="0" smtClean="0">
                          <a:solidFill>
                            <a:schemeClr val="tx1"/>
                          </a:solidFill>
                          <a:latin typeface="Cambria Math" panose="02040503050406030204" pitchFamily="18" charset="0"/>
                        </a:rPr>
                        <m:t>𝑓</m:t>
                      </m:r>
                      <m:r>
                        <a:rPr lang="en-US" altLang="zh-CN" b="0" i="1" dirty="0" smtClean="0">
                          <a:solidFill>
                            <a:schemeClr val="tx1"/>
                          </a:solidFill>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0</m:t>
                          </m:r>
                        </m:sub>
                      </m:sSub>
                      <m:r>
                        <a:rPr lang="en-US" altLang="zh-CN" b="0" i="1" dirty="0" smtClean="0">
                          <a:solidFill>
                            <a:schemeClr val="tx1"/>
                          </a:solidFill>
                          <a:latin typeface="Cambria Math" panose="02040503050406030204" pitchFamily="18" charset="0"/>
                        </a:rPr>
                        <m:t>)</m:t>
                      </m:r>
                    </m:oMath>
                  </m:oMathPara>
                </a14:m>
                <a:endParaRPr lang="zh-CN" altLang="en-US" dirty="0"/>
              </a:p>
            </p:txBody>
          </p:sp>
        </mc:Choice>
        <mc:Fallback>
          <p:sp>
            <p:nvSpPr>
              <p:cNvPr id="16" name="文本框 15"/>
              <p:cNvSpPr txBox="1">
                <a:spLocks noRot="1" noChangeAspect="1" noMove="1" noResize="1" noEditPoints="1" noAdjustHandles="1" noChangeArrowheads="1" noChangeShapeType="1" noTextEdit="1"/>
              </p:cNvSpPr>
              <p:nvPr/>
            </p:nvSpPr>
            <p:spPr>
              <a:xfrm>
                <a:off x="3927407" y="4221611"/>
                <a:ext cx="1390241" cy="461665"/>
              </a:xfrm>
              <a:prstGeom prst="rect">
                <a:avLst/>
              </a:prstGeom>
              <a:blipFill rotWithShape="1">
                <a:blip r:embed="rId3"/>
                <a:stretch>
                  <a:fillRect l="-41" t="-28" r="11"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4078915" y="3713099"/>
                <a:ext cx="1292130" cy="61895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limLow>
                        <m:limLowPr>
                          <m:ctrlPr>
                            <a:rPr lang="zh-CN" altLang="en-US" i="1" smtClean="0">
                              <a:solidFill>
                                <a:srgbClr val="836967"/>
                              </a:solidFill>
                              <a:latin typeface="Cambria Math" panose="02040503050406030204" pitchFamily="18" charset="0"/>
                            </a:rPr>
                          </m:ctrlPr>
                        </m:limLowPr>
                        <m:e>
                          <m:r>
                            <m:rPr>
                              <m:sty m:val="p"/>
                            </m:rPr>
                            <a:rPr lang="zh-CN" altLang="en-US">
                              <a:latin typeface="Cambria Math" panose="02040503050406030204" pitchFamily="18" charset="0"/>
                            </a:rPr>
                            <m:t>l</m:t>
                          </m:r>
                          <m:r>
                            <m:rPr>
                              <m:sty m:val="p"/>
                            </m:rPr>
                            <a:rPr lang="zh-CN" altLang="en-US" i="0">
                              <a:latin typeface="Cambria Math" panose="02040503050406030204" pitchFamily="18" charset="0"/>
                            </a:rPr>
                            <m:t>im</m:t>
                          </m:r>
                        </m:e>
                        <m:lim>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0</m:t>
                              </m:r>
                            </m:sub>
                          </m:sSub>
                        </m:lim>
                      </m:limLow>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1">
                              <a:latin typeface="Cambria Math" panose="02040503050406030204" pitchFamily="18" charset="0"/>
                            </a:rPr>
                            <m:t>𝑥</m:t>
                          </m:r>
                        </m:e>
                      </m:d>
                    </m:oMath>
                  </m:oMathPara>
                </a14:m>
                <a:endParaRPr lang="zh-CN" altLang="en-US" dirty="0"/>
              </a:p>
            </p:txBody>
          </p:sp>
        </mc:Choice>
        <mc:Fallback>
          <p:sp>
            <p:nvSpPr>
              <p:cNvPr id="19" name="文本框 18"/>
              <p:cNvSpPr txBox="1">
                <a:spLocks noRot="1" noChangeAspect="1" noMove="1" noResize="1" noEditPoints="1" noAdjustHandles="1" noChangeArrowheads="1" noChangeShapeType="1" noTextEdit="1"/>
              </p:cNvSpPr>
              <p:nvPr/>
            </p:nvSpPr>
            <p:spPr>
              <a:xfrm>
                <a:off x="4078915" y="3713099"/>
                <a:ext cx="1292130" cy="618952"/>
              </a:xfrm>
              <a:prstGeom prst="rect">
                <a:avLst/>
              </a:prstGeom>
              <a:blipFill rotWithShape="1">
                <a:blip r:embed="rId4"/>
                <a:stretch>
                  <a:fillRect l="-24" t="-41" r="17" b="13"/>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46975" y="2377376"/>
            <a:ext cx="292735" cy="292735"/>
          </a:xfrm>
          <a:custGeom>
            <a:avLst/>
            <a:gdLst/>
            <a:ahLst/>
            <a:cxnLst/>
            <a:rect l="l" t="t" r="r" b="b"/>
            <a:pathLst>
              <a:path w="292734" h="292735">
                <a:moveTo>
                  <a:pt x="10350" y="292455"/>
                </a:moveTo>
                <a:lnTo>
                  <a:pt x="7480" y="292455"/>
                </a:lnTo>
                <a:lnTo>
                  <a:pt x="5461" y="291884"/>
                </a:lnTo>
                <a:lnTo>
                  <a:pt x="0" y="282676"/>
                </a:lnTo>
                <a:lnTo>
                  <a:pt x="584" y="280085"/>
                </a:lnTo>
                <a:lnTo>
                  <a:pt x="37350" y="179730"/>
                </a:lnTo>
                <a:lnTo>
                  <a:pt x="204546" y="12077"/>
                </a:lnTo>
                <a:lnTo>
                  <a:pt x="233286" y="0"/>
                </a:lnTo>
                <a:lnTo>
                  <a:pt x="244195" y="0"/>
                </a:lnTo>
                <a:lnTo>
                  <a:pt x="279045" y="18402"/>
                </a:lnTo>
                <a:lnTo>
                  <a:pt x="235000" y="18402"/>
                </a:lnTo>
                <a:lnTo>
                  <a:pt x="231838" y="18986"/>
                </a:lnTo>
                <a:lnTo>
                  <a:pt x="205130" y="37096"/>
                </a:lnTo>
                <a:lnTo>
                  <a:pt x="209727" y="37668"/>
                </a:lnTo>
                <a:lnTo>
                  <a:pt x="214896" y="38531"/>
                </a:lnTo>
                <a:lnTo>
                  <a:pt x="242006" y="55219"/>
                </a:lnTo>
                <a:lnTo>
                  <a:pt x="201968" y="55219"/>
                </a:lnTo>
                <a:lnTo>
                  <a:pt x="194779" y="55791"/>
                </a:lnTo>
                <a:lnTo>
                  <a:pt x="191338" y="56934"/>
                </a:lnTo>
                <a:lnTo>
                  <a:pt x="185013" y="59245"/>
                </a:lnTo>
                <a:lnTo>
                  <a:pt x="179273" y="63271"/>
                </a:lnTo>
                <a:lnTo>
                  <a:pt x="176963" y="65570"/>
                </a:lnTo>
                <a:lnTo>
                  <a:pt x="176682" y="65570"/>
                </a:lnTo>
                <a:lnTo>
                  <a:pt x="67805" y="173697"/>
                </a:lnTo>
                <a:lnTo>
                  <a:pt x="84175" y="173697"/>
                </a:lnTo>
                <a:lnTo>
                  <a:pt x="85902" y="174269"/>
                </a:lnTo>
                <a:lnTo>
                  <a:pt x="87630" y="175412"/>
                </a:lnTo>
                <a:lnTo>
                  <a:pt x="89928" y="177723"/>
                </a:lnTo>
                <a:lnTo>
                  <a:pt x="90500" y="179438"/>
                </a:lnTo>
                <a:lnTo>
                  <a:pt x="91071" y="180886"/>
                </a:lnTo>
                <a:lnTo>
                  <a:pt x="91266" y="182029"/>
                </a:lnTo>
                <a:lnTo>
                  <a:pt x="91363" y="192100"/>
                </a:lnTo>
                <a:lnTo>
                  <a:pt x="52006" y="192100"/>
                </a:lnTo>
                <a:lnTo>
                  <a:pt x="36487" y="234937"/>
                </a:lnTo>
                <a:lnTo>
                  <a:pt x="39941" y="236664"/>
                </a:lnTo>
                <a:lnTo>
                  <a:pt x="43103" y="238963"/>
                </a:lnTo>
                <a:lnTo>
                  <a:pt x="46253" y="240982"/>
                </a:lnTo>
                <a:lnTo>
                  <a:pt x="58318" y="258813"/>
                </a:lnTo>
                <a:lnTo>
                  <a:pt x="109750" y="258813"/>
                </a:lnTo>
                <a:lnTo>
                  <a:pt x="106591" y="261975"/>
                </a:lnTo>
                <a:lnTo>
                  <a:pt x="104863" y="263118"/>
                </a:lnTo>
                <a:lnTo>
                  <a:pt x="102857" y="264274"/>
                </a:lnTo>
                <a:lnTo>
                  <a:pt x="12077" y="292163"/>
                </a:lnTo>
                <a:lnTo>
                  <a:pt x="10350" y="292455"/>
                </a:lnTo>
                <a:close/>
              </a:path>
              <a:path w="292734" h="292735">
                <a:moveTo>
                  <a:pt x="280334" y="87426"/>
                </a:moveTo>
                <a:lnTo>
                  <a:pt x="255117" y="87426"/>
                </a:lnTo>
                <a:lnTo>
                  <a:pt x="266319" y="76212"/>
                </a:lnTo>
                <a:lnTo>
                  <a:pt x="268046" y="73621"/>
                </a:lnTo>
                <a:lnTo>
                  <a:pt x="270052" y="70459"/>
                </a:lnTo>
                <a:lnTo>
                  <a:pt x="271487" y="67297"/>
                </a:lnTo>
                <a:lnTo>
                  <a:pt x="272643" y="63842"/>
                </a:lnTo>
                <a:lnTo>
                  <a:pt x="273215" y="60680"/>
                </a:lnTo>
                <a:lnTo>
                  <a:pt x="274078" y="57226"/>
                </a:lnTo>
                <a:lnTo>
                  <a:pt x="274194" y="55791"/>
                </a:lnTo>
                <a:lnTo>
                  <a:pt x="274293" y="52908"/>
                </a:lnTo>
                <a:lnTo>
                  <a:pt x="274078" y="50037"/>
                </a:lnTo>
                <a:lnTo>
                  <a:pt x="273215" y="46583"/>
                </a:lnTo>
                <a:lnTo>
                  <a:pt x="272643" y="43141"/>
                </a:lnTo>
                <a:lnTo>
                  <a:pt x="242189" y="18402"/>
                </a:lnTo>
                <a:lnTo>
                  <a:pt x="279045" y="18402"/>
                </a:lnTo>
                <a:lnTo>
                  <a:pt x="280111" y="19558"/>
                </a:lnTo>
                <a:lnTo>
                  <a:pt x="283552" y="23863"/>
                </a:lnTo>
                <a:lnTo>
                  <a:pt x="285851" y="28473"/>
                </a:lnTo>
                <a:lnTo>
                  <a:pt x="288442" y="33070"/>
                </a:lnTo>
                <a:lnTo>
                  <a:pt x="289877" y="37960"/>
                </a:lnTo>
                <a:lnTo>
                  <a:pt x="291604" y="43141"/>
                </a:lnTo>
                <a:lnTo>
                  <a:pt x="292176" y="48602"/>
                </a:lnTo>
                <a:lnTo>
                  <a:pt x="292408" y="52908"/>
                </a:lnTo>
                <a:lnTo>
                  <a:pt x="292285" y="56934"/>
                </a:lnTo>
                <a:lnTo>
                  <a:pt x="292176" y="58953"/>
                </a:lnTo>
                <a:lnTo>
                  <a:pt x="291604" y="64135"/>
                </a:lnTo>
                <a:lnTo>
                  <a:pt x="289877" y="69596"/>
                </a:lnTo>
                <a:lnTo>
                  <a:pt x="288442" y="74485"/>
                </a:lnTo>
                <a:lnTo>
                  <a:pt x="285851" y="79082"/>
                </a:lnTo>
                <a:lnTo>
                  <a:pt x="283552" y="83400"/>
                </a:lnTo>
                <a:lnTo>
                  <a:pt x="280334" y="87426"/>
                </a:lnTo>
                <a:close/>
              </a:path>
              <a:path w="292734" h="292735">
                <a:moveTo>
                  <a:pt x="141352" y="227177"/>
                </a:moveTo>
                <a:lnTo>
                  <a:pt x="115493" y="227177"/>
                </a:lnTo>
                <a:lnTo>
                  <a:pt x="229260" y="113296"/>
                </a:lnTo>
                <a:lnTo>
                  <a:pt x="230987" y="110426"/>
                </a:lnTo>
                <a:lnTo>
                  <a:pt x="237299" y="90868"/>
                </a:lnTo>
                <a:lnTo>
                  <a:pt x="237020" y="87426"/>
                </a:lnTo>
                <a:lnTo>
                  <a:pt x="235864" y="80238"/>
                </a:lnTo>
                <a:lnTo>
                  <a:pt x="234429" y="77355"/>
                </a:lnTo>
                <a:lnTo>
                  <a:pt x="232994" y="74193"/>
                </a:lnTo>
                <a:lnTo>
                  <a:pt x="230987" y="71031"/>
                </a:lnTo>
                <a:lnTo>
                  <a:pt x="229260" y="68160"/>
                </a:lnTo>
                <a:lnTo>
                  <a:pt x="226669" y="65849"/>
                </a:lnTo>
                <a:lnTo>
                  <a:pt x="224091" y="63271"/>
                </a:lnTo>
                <a:lnTo>
                  <a:pt x="221208" y="61252"/>
                </a:lnTo>
                <a:lnTo>
                  <a:pt x="218630" y="59245"/>
                </a:lnTo>
                <a:lnTo>
                  <a:pt x="215468" y="58089"/>
                </a:lnTo>
                <a:lnTo>
                  <a:pt x="208572" y="55791"/>
                </a:lnTo>
                <a:lnTo>
                  <a:pt x="201968" y="55219"/>
                </a:lnTo>
                <a:lnTo>
                  <a:pt x="242006" y="55219"/>
                </a:lnTo>
                <a:lnTo>
                  <a:pt x="255117" y="87426"/>
                </a:lnTo>
                <a:lnTo>
                  <a:pt x="280334" y="87426"/>
                </a:lnTo>
                <a:lnTo>
                  <a:pt x="276656" y="91732"/>
                </a:lnTo>
                <a:lnTo>
                  <a:pt x="141352" y="227177"/>
                </a:lnTo>
                <a:close/>
              </a:path>
              <a:path w="292734" h="292735">
                <a:moveTo>
                  <a:pt x="176682" y="65849"/>
                </a:moveTo>
                <a:lnTo>
                  <a:pt x="176682" y="65570"/>
                </a:lnTo>
                <a:lnTo>
                  <a:pt x="176963" y="65570"/>
                </a:lnTo>
                <a:lnTo>
                  <a:pt x="176682" y="65849"/>
                </a:lnTo>
                <a:close/>
              </a:path>
              <a:path w="292734" h="292735">
                <a:moveTo>
                  <a:pt x="120383" y="182600"/>
                </a:moveTo>
                <a:lnTo>
                  <a:pt x="117221" y="182600"/>
                </a:lnTo>
                <a:lnTo>
                  <a:pt x="113766" y="181457"/>
                </a:lnTo>
                <a:lnTo>
                  <a:pt x="112331" y="180301"/>
                </a:lnTo>
                <a:lnTo>
                  <a:pt x="111188" y="178574"/>
                </a:lnTo>
                <a:lnTo>
                  <a:pt x="110324" y="177139"/>
                </a:lnTo>
                <a:lnTo>
                  <a:pt x="109753" y="173697"/>
                </a:lnTo>
                <a:lnTo>
                  <a:pt x="110032" y="171970"/>
                </a:lnTo>
                <a:lnTo>
                  <a:pt x="203695" y="75628"/>
                </a:lnTo>
                <a:lnTo>
                  <a:pt x="208292" y="73329"/>
                </a:lnTo>
                <a:lnTo>
                  <a:pt x="212026" y="73329"/>
                </a:lnTo>
                <a:lnTo>
                  <a:pt x="213461" y="73901"/>
                </a:lnTo>
                <a:lnTo>
                  <a:pt x="215176" y="74764"/>
                </a:lnTo>
                <a:lnTo>
                  <a:pt x="216623" y="75628"/>
                </a:lnTo>
                <a:lnTo>
                  <a:pt x="217766" y="77355"/>
                </a:lnTo>
                <a:lnTo>
                  <a:pt x="218909" y="78790"/>
                </a:lnTo>
                <a:lnTo>
                  <a:pt x="219494" y="82245"/>
                </a:lnTo>
                <a:lnTo>
                  <a:pt x="219202" y="83972"/>
                </a:lnTo>
                <a:lnTo>
                  <a:pt x="218909" y="85979"/>
                </a:lnTo>
                <a:lnTo>
                  <a:pt x="217766" y="87426"/>
                </a:lnTo>
                <a:lnTo>
                  <a:pt x="125260" y="180301"/>
                </a:lnTo>
                <a:lnTo>
                  <a:pt x="123825" y="181457"/>
                </a:lnTo>
                <a:lnTo>
                  <a:pt x="122389" y="182029"/>
                </a:lnTo>
                <a:lnTo>
                  <a:pt x="120383" y="182600"/>
                </a:lnTo>
                <a:close/>
              </a:path>
              <a:path w="292734" h="292735">
                <a:moveTo>
                  <a:pt x="109750" y="258813"/>
                </a:moveTo>
                <a:lnTo>
                  <a:pt x="58318" y="258813"/>
                </a:lnTo>
                <a:lnTo>
                  <a:pt x="92506" y="248462"/>
                </a:lnTo>
                <a:lnTo>
                  <a:pt x="98259" y="219417"/>
                </a:lnTo>
                <a:lnTo>
                  <a:pt x="82169" y="219417"/>
                </a:lnTo>
                <a:lnTo>
                  <a:pt x="78727" y="218833"/>
                </a:lnTo>
                <a:lnTo>
                  <a:pt x="77279" y="217982"/>
                </a:lnTo>
                <a:lnTo>
                  <a:pt x="75844" y="216535"/>
                </a:lnTo>
                <a:lnTo>
                  <a:pt x="74980" y="215392"/>
                </a:lnTo>
                <a:lnTo>
                  <a:pt x="73837" y="213956"/>
                </a:lnTo>
                <a:lnTo>
                  <a:pt x="73266" y="211937"/>
                </a:lnTo>
                <a:lnTo>
                  <a:pt x="72974" y="210210"/>
                </a:lnTo>
                <a:lnTo>
                  <a:pt x="72974" y="192100"/>
                </a:lnTo>
                <a:lnTo>
                  <a:pt x="91363" y="192100"/>
                </a:lnTo>
                <a:lnTo>
                  <a:pt x="91363" y="201294"/>
                </a:lnTo>
                <a:lnTo>
                  <a:pt x="111760" y="201294"/>
                </a:lnTo>
                <a:lnTo>
                  <a:pt x="113766" y="202158"/>
                </a:lnTo>
                <a:lnTo>
                  <a:pt x="115201" y="203022"/>
                </a:lnTo>
                <a:lnTo>
                  <a:pt x="116636" y="204749"/>
                </a:lnTo>
                <a:lnTo>
                  <a:pt x="118084" y="206184"/>
                </a:lnTo>
                <a:lnTo>
                  <a:pt x="118656" y="207911"/>
                </a:lnTo>
                <a:lnTo>
                  <a:pt x="118935" y="210210"/>
                </a:lnTo>
                <a:lnTo>
                  <a:pt x="118656" y="212229"/>
                </a:lnTo>
                <a:lnTo>
                  <a:pt x="115493" y="227177"/>
                </a:lnTo>
                <a:lnTo>
                  <a:pt x="141352" y="227177"/>
                </a:lnTo>
                <a:lnTo>
                  <a:pt x="109750" y="258813"/>
                </a:lnTo>
                <a:close/>
              </a:path>
            </a:pathLst>
          </a:custGeom>
          <a:solidFill>
            <a:srgbClr val="C00000"/>
          </a:solidFill>
        </p:spPr>
        <p:txBody>
          <a:bodyPr wrap="square" lIns="0" tIns="0" rIns="0" bIns="0" rtlCol="0"/>
          <a:lstStyle/>
          <a:p/>
        </p:txBody>
      </p:sp>
      <p:sp>
        <p:nvSpPr>
          <p:cNvPr id="5" name="object 5"/>
          <p:cNvSpPr txBox="1"/>
          <p:nvPr/>
        </p:nvSpPr>
        <p:spPr>
          <a:xfrm>
            <a:off x="5088470" y="2324817"/>
            <a:ext cx="304800" cy="402590"/>
          </a:xfrm>
          <a:prstGeom prst="rect">
            <a:avLst/>
          </a:prstGeom>
        </p:spPr>
        <p:txBody>
          <a:bodyPr vert="horz" wrap="square" lIns="0" tIns="17780" rIns="0" bIns="0" rtlCol="0">
            <a:spAutoFit/>
          </a:bodyPr>
          <a:lstStyle/>
          <a:p>
            <a:pPr>
              <a:lnSpc>
                <a:spcPct val="100000"/>
              </a:lnSpc>
              <a:spcBef>
                <a:spcPts val="140"/>
              </a:spcBef>
            </a:pPr>
            <a:r>
              <a:rPr sz="2400" dirty="0">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object 6"/>
              <p:cNvSpPr txBox="1"/>
              <p:nvPr/>
            </p:nvSpPr>
            <p:spPr>
              <a:xfrm>
                <a:off x="1418170" y="2329827"/>
                <a:ext cx="4185964" cy="1136208"/>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微软雅黑" panose="020B0503020204020204" pitchFamily="34" charset="-122"/>
                    <a:cs typeface="微软雅黑" panose="020B0503020204020204" pitchFamily="34" charset="-122"/>
                  </a:rPr>
                  <a:t>如果平均变化率的极限存在</a:t>
                </a:r>
                <a:endParaRPr lang="zh-CN" altLang="en-US" sz="2400" dirty="0">
                  <a:latin typeface="微软雅黑" panose="020B0503020204020204" pitchFamily="34" charset="-122"/>
                  <a:cs typeface="微软雅黑" panose="020B0503020204020204" pitchFamily="34" charset="-122"/>
                </a:endParaRPr>
              </a:p>
              <a:p>
                <a:pPr>
                  <a:lnSpc>
                    <a:spcPct val="100000"/>
                  </a:lnSpc>
                  <a:spcBef>
                    <a:spcPts val="5"/>
                  </a:spcBef>
                </a:pPr>
                <a:endParaRPr lang="zh-CN" altLang="en-US" sz="2500" dirty="0">
                  <a:latin typeface="Times New Roman" panose="02020603050405020304"/>
                  <a:cs typeface="Times New Roman" panose="02020603050405020304"/>
                </a:endParaRPr>
              </a:p>
              <a:p>
                <a:pPr marL="12700">
                  <a:lnSpc>
                    <a:spcPct val="100000"/>
                  </a:lnSpc>
                </a:pPr>
                <a:r>
                  <a:rPr lang="zh-CN" altLang="en-US" sz="2400" dirty="0">
                    <a:latin typeface="微软雅黑" panose="020B0503020204020204" pitchFamily="34" charset="-122"/>
                    <a:cs typeface="微软雅黑" panose="020B0503020204020204" pitchFamily="34" charset="-122"/>
                  </a:rPr>
                  <a:t>则称此极限为函数</a:t>
                </a:r>
                <a14:m>
                  <m:oMath xmlns:m="http://schemas.openxmlformats.org/officeDocument/2006/math">
                    <m:r>
                      <a:rPr lang="en-US" altLang="zh-CN" b="0" i="0" dirty="0" smtClean="0">
                        <a:solidFill>
                          <a:schemeClr val="tx1"/>
                        </a:solidFill>
                        <a:latin typeface="Cambria Math" panose="02040503050406030204" pitchFamily="18" charset="0"/>
                      </a:rPr>
                      <m:t> </m:t>
                    </m:r>
                    <m:r>
                      <a:rPr lang="en-US" altLang="zh-CN" b="0" i="1" dirty="0" smtClean="0">
                        <a:solidFill>
                          <a:schemeClr val="tx1"/>
                        </a:solidFill>
                        <a:latin typeface="Cambria Math" panose="02040503050406030204" pitchFamily="18" charset="0"/>
                      </a:rPr>
                      <m:t>𝑦</m:t>
                    </m:r>
                    <m:r>
                      <a:rPr lang="en-US" altLang="zh-CN" b="0" i="1" dirty="0" smtClean="0">
                        <a:solidFill>
                          <a:schemeClr val="tx1"/>
                        </a:solidFill>
                        <a:latin typeface="Cambria Math" panose="02040503050406030204" pitchFamily="18" charset="0"/>
                      </a:rPr>
                      <m:t>=</m:t>
                    </m:r>
                    <m:r>
                      <a:rPr lang="zh-CN" altLang="en-US" b="0" i="1" dirty="0" smtClean="0">
                        <a:solidFill>
                          <a:schemeClr val="tx1"/>
                        </a:solidFill>
                        <a:latin typeface="Cambria Math" panose="02040503050406030204" pitchFamily="18" charset="0"/>
                      </a:rPr>
                      <m:t>𝑓</m:t>
                    </m:r>
                    <m:r>
                      <a:rPr lang="en-US" altLang="zh-CN" b="0" i="1" dirty="0" smtClean="0">
                        <a:solidFill>
                          <a:schemeClr val="tx1"/>
                        </a:solidFill>
                        <a:latin typeface="Cambria Math" panose="02040503050406030204" pitchFamily="18" charset="0"/>
                      </a:rPr>
                      <m:t>(</m:t>
                    </m:r>
                    <m:r>
                      <a:rPr lang="zh-CN" altLang="en-US" b="0" i="1" dirty="0" smtClean="0">
                        <a:solidFill>
                          <a:schemeClr val="tx1"/>
                        </a:solidFill>
                        <a:latin typeface="Cambria Math" panose="02040503050406030204" pitchFamily="18" charset="0"/>
                      </a:rPr>
                      <m:t>𝑥</m:t>
                    </m:r>
                    <m:r>
                      <a:rPr lang="en-US" altLang="zh-CN" b="0" i="1" dirty="0" smtClean="0">
                        <a:solidFill>
                          <a:schemeClr val="tx1"/>
                        </a:solidFill>
                        <a:latin typeface="Cambria Math" panose="02040503050406030204" pitchFamily="18" charset="0"/>
                      </a:rPr>
                      <m:t>)</m:t>
                    </m:r>
                  </m:oMath>
                </a14:m>
                <a:endParaRPr sz="2400" dirty="0">
                  <a:latin typeface="微软雅黑" panose="020B0503020204020204" pitchFamily="34" charset="-122"/>
                  <a:cs typeface="微软雅黑" panose="020B0503020204020204" pitchFamily="34" charset="-122"/>
                </a:endParaRPr>
              </a:p>
            </p:txBody>
          </p:sp>
        </mc:Choice>
        <mc:Fallback>
          <p:sp>
            <p:nvSpPr>
              <p:cNvPr id="6" name="object 6"/>
              <p:cNvSpPr txBox="1">
                <a:spLocks noRot="1" noChangeAspect="1" noMove="1" noResize="1" noEditPoints="1" noAdjustHandles="1" noChangeArrowheads="1" noChangeShapeType="1" noTextEdit="1"/>
              </p:cNvSpPr>
              <p:nvPr/>
            </p:nvSpPr>
            <p:spPr>
              <a:xfrm>
                <a:off x="1418170" y="2329827"/>
                <a:ext cx="4185964" cy="1136208"/>
              </a:xfrm>
              <a:prstGeom prst="rect">
                <a:avLst/>
              </a:prstGeom>
              <a:blipFill rotWithShape="1">
                <a:blip r:embed="rId1"/>
                <a:stretch>
                  <a:fillRect l="-5" t="-1175" r="6" b="18"/>
                </a:stretch>
              </a:blipFill>
            </p:spPr>
            <p:txBody>
              <a:bodyPr/>
              <a:lstStyle/>
              <a:p>
                <a:r>
                  <a:rPr lang="zh-CN" altLang="en-US">
                    <a:noFill/>
                  </a:rPr>
                  <a:t> </a:t>
                </a:r>
              </a:p>
            </p:txBody>
          </p:sp>
        </mc:Fallback>
      </mc:AlternateContent>
      <p:sp>
        <p:nvSpPr>
          <p:cNvPr id="7" name="object 7"/>
          <p:cNvSpPr txBox="1"/>
          <p:nvPr/>
        </p:nvSpPr>
        <p:spPr>
          <a:xfrm>
            <a:off x="5299290" y="3061347"/>
            <a:ext cx="2395220" cy="391160"/>
          </a:xfrm>
          <a:prstGeom prst="rect">
            <a:avLst/>
          </a:prstGeom>
        </p:spPr>
        <p:txBody>
          <a:bodyPr vert="horz" wrap="square" lIns="0" tIns="12700" rIns="0" bIns="0" rtlCol="0">
            <a:spAutoFit/>
          </a:bodyPr>
          <a:lstStyle/>
          <a:p>
            <a:pPr marL="12700">
              <a:lnSpc>
                <a:spcPct val="100000"/>
              </a:lnSpc>
              <a:spcBef>
                <a:spcPts val="100"/>
              </a:spcBef>
              <a:tabLst>
                <a:tab pos="1162685" algn="l"/>
              </a:tabLst>
            </a:pPr>
            <a:r>
              <a:rPr sz="2400" dirty="0">
                <a:latin typeface="微软雅黑" panose="020B0503020204020204" pitchFamily="34" charset="-122"/>
                <a:cs typeface="微软雅黑" panose="020B0503020204020204" pitchFamily="34" charset="-122"/>
              </a:rPr>
              <a:t>在点	处的导数</a:t>
            </a:r>
            <a:endParaRPr sz="2400" dirty="0">
              <a:latin typeface="微软雅黑" panose="020B0503020204020204" pitchFamily="34" charset="-122"/>
              <a:cs typeface="微软雅黑" panose="020B0503020204020204" pitchFamily="34" charset="-122"/>
            </a:endParaRPr>
          </a:p>
        </p:txBody>
      </p:sp>
      <p:sp>
        <p:nvSpPr>
          <p:cNvPr id="8" name="object 8"/>
          <p:cNvSpPr txBox="1"/>
          <p:nvPr/>
        </p:nvSpPr>
        <p:spPr>
          <a:xfrm>
            <a:off x="7681810" y="3056337"/>
            <a:ext cx="304800" cy="402590"/>
          </a:xfrm>
          <a:prstGeom prst="rect">
            <a:avLst/>
          </a:prstGeom>
        </p:spPr>
        <p:txBody>
          <a:bodyPr vert="horz" wrap="square" lIns="0" tIns="17780" rIns="0" bIns="0" rtlCol="0">
            <a:spAutoFit/>
          </a:bodyPr>
          <a:lstStyle/>
          <a:p>
            <a:pPr>
              <a:lnSpc>
                <a:spcPct val="100000"/>
              </a:lnSpc>
              <a:spcBef>
                <a:spcPts val="140"/>
              </a:spcBef>
            </a:pPr>
            <a:r>
              <a:rPr sz="2400" dirty="0">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20" name="文本框 22"/>
          <p:cNvSpPr txBox="1">
            <a:spLocks noChangeArrowheads="1"/>
          </p:cNvSpPr>
          <p:nvPr/>
        </p:nvSpPr>
        <p:spPr bwMode="auto">
          <a:xfrm>
            <a:off x="596163" y="22209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导数</a:t>
            </a:r>
            <a:br>
              <a:rPr lang="zh-CN" altLang="en-US" dirty="0"/>
            </a:br>
            <a:endParaRPr lang="zh-CN" altLang="en-US" dirty="0"/>
          </a:p>
        </p:txBody>
      </p:sp>
      <mc:AlternateContent xmlns:mc="http://schemas.openxmlformats.org/markup-compatibility/2006">
        <mc:Choice xmlns:a14="http://schemas.microsoft.com/office/drawing/2010/main" Requires="a14">
          <p:sp>
            <p:nvSpPr>
              <p:cNvPr id="15" name="文本框 14"/>
              <p:cNvSpPr txBox="1"/>
              <p:nvPr/>
            </p:nvSpPr>
            <p:spPr>
              <a:xfrm>
                <a:off x="5088470" y="2101270"/>
                <a:ext cx="6096654" cy="8091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l</m:t>
                          </m:r>
                          <m:r>
                            <m:rPr>
                              <m:sty m:val="p"/>
                            </m:rPr>
                            <a:rPr lang="zh-CN" altLang="en-US" i="0">
                              <a:solidFill>
                                <a:schemeClr val="tx1"/>
                              </a:solidFill>
                              <a:latin typeface="Cambria Math" panose="02040503050406030204" pitchFamily="18" charset="0"/>
                            </a:rPr>
                            <m:t>im</m:t>
                          </m:r>
                        </m:e>
                        <m:sub>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0</m:t>
                          </m:r>
                        </m:sub>
                      </m:sSub>
                      <m:r>
                        <a:rPr lang="zh-CN" altLang="en-US" i="0">
                          <a:solidFill>
                            <a:schemeClr val="tx1"/>
                          </a:solidFill>
                          <a:latin typeface="Cambria Math" panose="02040503050406030204" pitchFamily="18" charset="0"/>
                        </a:rPr>
                        <m:t> </m:t>
                      </m:r>
                      <m:f>
                        <m:fPr>
                          <m:ctrlPr>
                            <a:rPr lang="zh-CN" altLang="en-US" i="1">
                              <a:solidFill>
                                <a:schemeClr val="tx1"/>
                              </a:solidFill>
                              <a:latin typeface="Cambria Math" panose="02040503050406030204" pitchFamily="18" charset="0"/>
                            </a:rPr>
                          </m:ctrlPr>
                        </m:fPr>
                        <m:num>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𝑦</m:t>
                          </m:r>
                        </m:num>
                        <m:den>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den>
                      </m:f>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m:rPr>
                              <m:sty m:val="p"/>
                            </m:rPr>
                            <a:rPr lang="zh-CN" altLang="en-US" i="0">
                              <a:solidFill>
                                <a:schemeClr val="tx1"/>
                              </a:solidFill>
                              <a:latin typeface="Cambria Math" panose="02040503050406030204" pitchFamily="18" charset="0"/>
                            </a:rPr>
                            <m:t>lim</m:t>
                          </m:r>
                        </m:e>
                        <m:sub>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0</m:t>
                          </m:r>
                        </m:sub>
                      </m:sSub>
                      <m:r>
                        <a:rPr lang="zh-CN" altLang="en-US" i="0">
                          <a:solidFill>
                            <a:schemeClr val="tx1"/>
                          </a:solidFill>
                          <a:latin typeface="Cambria Math" panose="02040503050406030204" pitchFamily="18" charset="0"/>
                        </a:rPr>
                        <m:t> </m:t>
                      </m:r>
                      <m:f>
                        <m:fPr>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𝑓</m:t>
                          </m:r>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e>
                          </m:d>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𝑓</m:t>
                          </m:r>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e>
                          </m:d>
                        </m:num>
                        <m:den>
                          <m:r>
                            <m:rPr>
                              <m:sty m:val="p"/>
                            </m:rPr>
                            <a:rPr lang="zh-CN" altLang="en-US" i="0">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𝑥</m:t>
                          </m:r>
                        </m:den>
                      </m:f>
                    </m:oMath>
                  </m:oMathPara>
                </a14:m>
                <a:endParaRPr lang="zh-CN" altLang="en-US" dirty="0">
                  <a:solidFill>
                    <a:schemeClr val="tx1"/>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5088470" y="2101270"/>
                <a:ext cx="6096654" cy="809132"/>
              </a:xfrm>
              <a:prstGeom prst="rect">
                <a:avLst/>
              </a:prstGeom>
              <a:blipFill rotWithShape="1">
                <a:blip r:embed="rId2"/>
                <a:stretch>
                  <a:fillRect l="-4" t="-7" r="4"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113567" y="3662607"/>
                <a:ext cx="2865839" cy="101002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d>
                            <m:dPr>
                              <m:begChr m:val=""/>
                              <m:endChr m:val="|"/>
                              <m:ctrlPr>
                                <a:rPr lang="zh-CN" altLang="en-US" i="1">
                                  <a:solidFill>
                                    <a:schemeClr val="tx1"/>
                                  </a:solidFill>
                                  <a:latin typeface="Cambria Math" panose="02040503050406030204" pitchFamily="18" charset="0"/>
                                </a:rPr>
                              </m:ctrlPr>
                            </m:dPr>
                            <m:e>
                              <m:sSup>
                                <m:sSupPr>
                                  <m:ctrlPr>
                                    <a:rPr lang="zh-CN" altLang="en-US" i="1">
                                      <a:solidFill>
                                        <a:schemeClr val="tx1"/>
                                      </a:solidFill>
                                      <a:latin typeface="Cambria Math" panose="02040503050406030204" pitchFamily="18" charset="0"/>
                                    </a:rPr>
                                  </m:ctrlPr>
                                </m:sSupPr>
                                <m:e>
                                  <m:r>
                                    <a:rPr lang="zh-CN" altLang="en-US" i="1">
                                      <a:solidFill>
                                        <a:schemeClr val="tx1"/>
                                      </a:solidFill>
                                      <a:latin typeface="Cambria Math" panose="02040503050406030204" pitchFamily="18" charset="0"/>
                                    </a:rPr>
                                    <m:t>𝑦</m:t>
                                  </m:r>
                                </m:e>
                                <m:sup>
                                  <m:r>
                                    <a:rPr lang="zh-CN" altLang="en-US" i="0">
                                      <a:solidFill>
                                        <a:schemeClr val="tx1"/>
                                      </a:solidFill>
                                      <a:latin typeface="Cambria Math" panose="02040503050406030204" pitchFamily="18" charset="0"/>
                                    </a:rPr>
                                    <m:t>′</m:t>
                                  </m:r>
                                </m:sup>
                              </m:sSup>
                            </m:e>
                          </m:d>
                        </m:e>
                        <m:sub>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sub>
                      </m:sSub>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d>
                            <m:dPr>
                              <m:begChr m:val=""/>
                              <m:endChr m:val="|"/>
                              <m:ctrlPr>
                                <a:rPr lang="zh-CN" altLang="en-US" i="1">
                                  <a:solidFill>
                                    <a:schemeClr val="tx1"/>
                                  </a:solidFill>
                                  <a:latin typeface="Cambria Math" panose="02040503050406030204" pitchFamily="18" charset="0"/>
                                </a:rPr>
                              </m:ctrlPr>
                            </m:dPr>
                            <m:e>
                              <m:f>
                                <m:fPr>
                                  <m:ctrlPr>
                                    <a:rPr lang="zh-CN" altLang="en-US" i="1">
                                      <a:solidFill>
                                        <a:schemeClr val="tx1"/>
                                      </a:solidFill>
                                      <a:latin typeface="Cambria Math" panose="02040503050406030204" pitchFamily="18" charset="0"/>
                                    </a:rPr>
                                  </m:ctrlPr>
                                </m:fPr>
                                <m:num>
                                  <m:r>
                                    <m:rPr>
                                      <m:sty m:val="p"/>
                                    </m:rPr>
                                    <a:rPr lang="zh-CN" altLang="en-US" i="0">
                                      <a:solidFill>
                                        <a:schemeClr val="tx1"/>
                                      </a:solidFill>
                                      <a:latin typeface="Cambria Math" panose="02040503050406030204" pitchFamily="18" charset="0"/>
                                    </a:rPr>
                                    <m:t>d</m:t>
                                  </m:r>
                                  <m:r>
                                    <a:rPr lang="zh-CN" altLang="en-US" i="1">
                                      <a:solidFill>
                                        <a:schemeClr val="tx1"/>
                                      </a:solidFill>
                                      <a:latin typeface="Cambria Math" panose="02040503050406030204" pitchFamily="18" charset="0"/>
                                    </a:rPr>
                                    <m:t>𝑦</m:t>
                                  </m:r>
                                </m:num>
                                <m:den>
                                  <m:r>
                                    <m:rPr>
                                      <m:sty m:val="p"/>
                                    </m:rPr>
                                    <a:rPr lang="zh-CN" altLang="en-US" i="0">
                                      <a:solidFill>
                                        <a:schemeClr val="tx1"/>
                                      </a:solidFill>
                                      <a:latin typeface="Cambria Math" panose="02040503050406030204" pitchFamily="18" charset="0"/>
                                    </a:rPr>
                                    <m:t>d</m:t>
                                  </m:r>
                                  <m:r>
                                    <a:rPr lang="zh-CN" altLang="en-US" i="1">
                                      <a:solidFill>
                                        <a:schemeClr val="tx1"/>
                                      </a:solidFill>
                                      <a:latin typeface="Cambria Math" panose="02040503050406030204" pitchFamily="18" charset="0"/>
                                    </a:rPr>
                                    <m:t>𝑥</m:t>
                                  </m:r>
                                </m:den>
                              </m:f>
                            </m:e>
                          </m:d>
                        </m:e>
                        <m:sub>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sub>
                      </m:sSub>
                    </m:oMath>
                  </m:oMathPara>
                </a14:m>
                <a:endParaRPr lang="zh-CN" altLang="en-US" dirty="0">
                  <a:solidFill>
                    <a:schemeClr val="tx1"/>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1113567" y="3662607"/>
                <a:ext cx="2865839" cy="1010020"/>
              </a:xfrm>
              <a:prstGeom prst="rect">
                <a:avLst/>
              </a:prstGeom>
              <a:blipFill rotWithShape="1">
                <a:blip r:embed="rId3"/>
                <a:stretch>
                  <a:fillRect l="-14" t="-56" r="17" b="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4564990" y="3678381"/>
                <a:ext cx="1072359" cy="101002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d>
                            <m:dPr>
                              <m:begChr m:val=""/>
                              <m:endChr m:val="|"/>
                              <m:ctrlPr>
                                <a:rPr lang="zh-CN" altLang="en-US" i="1">
                                  <a:solidFill>
                                    <a:schemeClr val="tx1"/>
                                  </a:solidFill>
                                  <a:latin typeface="Cambria Math" panose="02040503050406030204" pitchFamily="18" charset="0"/>
                                </a:rPr>
                              </m:ctrlPr>
                            </m:dPr>
                            <m:e>
                              <m:f>
                                <m:fPr>
                                  <m:ctrlPr>
                                    <a:rPr lang="zh-CN" altLang="en-US" i="1">
                                      <a:solidFill>
                                        <a:schemeClr val="tx1"/>
                                      </a:solidFill>
                                      <a:latin typeface="Cambria Math" panose="02040503050406030204" pitchFamily="18" charset="0"/>
                                    </a:rPr>
                                  </m:ctrlPr>
                                </m:fPr>
                                <m:num>
                                  <m:r>
                                    <m:rPr>
                                      <m:sty m:val="p"/>
                                    </m:rPr>
                                    <a:rPr lang="zh-CN" altLang="en-US" i="0">
                                      <a:solidFill>
                                        <a:schemeClr val="tx1"/>
                                      </a:solidFill>
                                      <a:latin typeface="Cambria Math" panose="02040503050406030204" pitchFamily="18" charset="0"/>
                                    </a:rPr>
                                    <m:t>d</m:t>
                                  </m:r>
                                  <m:r>
                                    <a:rPr lang="en-US" altLang="zh-CN" b="0" i="1" smtClean="0">
                                      <a:solidFill>
                                        <a:schemeClr val="tx1"/>
                                      </a:solidFill>
                                      <a:latin typeface="Cambria Math" panose="02040503050406030204" pitchFamily="18" charset="0"/>
                                    </a:rPr>
                                    <m:t>𝑓</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m:t>
                                  </m:r>
                                </m:num>
                                <m:den>
                                  <m:r>
                                    <m:rPr>
                                      <m:sty m:val="p"/>
                                    </m:rPr>
                                    <a:rPr lang="zh-CN" altLang="en-US" i="0">
                                      <a:solidFill>
                                        <a:schemeClr val="tx1"/>
                                      </a:solidFill>
                                      <a:latin typeface="Cambria Math" panose="02040503050406030204" pitchFamily="18" charset="0"/>
                                    </a:rPr>
                                    <m:t>d</m:t>
                                  </m:r>
                                  <m:r>
                                    <a:rPr lang="zh-CN" altLang="en-US" i="1">
                                      <a:solidFill>
                                        <a:schemeClr val="tx1"/>
                                      </a:solidFill>
                                      <a:latin typeface="Cambria Math" panose="02040503050406030204" pitchFamily="18" charset="0"/>
                                    </a:rPr>
                                    <m:t>𝑥</m:t>
                                  </m:r>
                                </m:den>
                              </m:f>
                            </m:e>
                          </m:d>
                        </m:e>
                        <m:sub>
                          <m:r>
                            <a:rPr lang="zh-CN" altLang="en-US" i="1">
                              <a:solidFill>
                                <a:schemeClr val="tx1"/>
                              </a:solidFill>
                              <a:latin typeface="Cambria Math" panose="02040503050406030204" pitchFamily="18" charset="0"/>
                            </a:rPr>
                            <m:t>𝑥</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sub>
                      </m:sSub>
                    </m:oMath>
                  </m:oMathPara>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4564990" y="3678381"/>
                <a:ext cx="1072359" cy="1010020"/>
              </a:xfrm>
              <a:prstGeom prst="rect">
                <a:avLst/>
              </a:prstGeom>
              <a:blipFill rotWithShape="1">
                <a:blip r:embed="rId4"/>
                <a:stretch>
                  <a:fillRect l="-57" t="-46" r="-39040" b="19"/>
                </a:stretch>
              </a:blipFill>
            </p:spPr>
            <p:txBody>
              <a:bodyPr/>
              <a:lstStyle/>
              <a:p>
                <a:r>
                  <a:rPr lang="zh-CN" altLang="en-US">
                    <a:noFill/>
                  </a:rPr>
                  <a:t> </a:t>
                </a:r>
              </a:p>
            </p:txBody>
          </p:sp>
        </mc:Fallback>
      </mc:AlternateContent>
      <p:sp>
        <p:nvSpPr>
          <p:cNvPr id="22" name="文本框 21"/>
          <p:cNvSpPr txBox="1"/>
          <p:nvPr/>
        </p:nvSpPr>
        <p:spPr>
          <a:xfrm>
            <a:off x="3850511" y="3911770"/>
            <a:ext cx="589650" cy="461665"/>
          </a:xfrm>
          <a:prstGeom prst="rect">
            <a:avLst/>
          </a:prstGeom>
          <a:noFill/>
        </p:spPr>
        <p:txBody>
          <a:bodyPr wrap="square">
            <a:spAutoFit/>
          </a:bodyPr>
          <a:lstStyle/>
          <a:p>
            <a:r>
              <a:rPr lang="zh-CN" altLang="en-US" dirty="0">
                <a:latin typeface="微软雅黑" panose="020B0503020204020204" pitchFamily="34" charset="-122"/>
              </a:rPr>
              <a:t>或</a:t>
            </a:r>
            <a:endParaRPr lang="zh-CN" altLang="en-US" dirty="0"/>
          </a:p>
        </p:txBody>
      </p:sp>
      <mc:AlternateContent xmlns:mc="http://schemas.openxmlformats.org/markup-compatibility/2006">
        <mc:Choice xmlns:a14="http://schemas.microsoft.com/office/drawing/2010/main" Requires="a14">
          <p:sp>
            <p:nvSpPr>
              <p:cNvPr id="25" name="文本框 24"/>
              <p:cNvSpPr txBox="1"/>
              <p:nvPr/>
            </p:nvSpPr>
            <p:spPr>
              <a:xfrm>
                <a:off x="7387246" y="2997262"/>
                <a:ext cx="1835243"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tx1"/>
                              </a:solidFill>
                              <a:latin typeface="Cambria Math" panose="02040503050406030204" pitchFamily="18" charset="0"/>
                            </a:rPr>
                          </m:ctrlPr>
                        </m:sSupPr>
                        <m:e>
                          <m:r>
                            <a:rPr lang="zh-CN" altLang="en-US" i="1">
                              <a:solidFill>
                                <a:schemeClr val="tx1"/>
                              </a:solidFill>
                              <a:latin typeface="Cambria Math" panose="02040503050406030204" pitchFamily="18" charset="0"/>
                            </a:rPr>
                            <m:t>𝑓</m:t>
                          </m:r>
                        </m:e>
                        <m:sup>
                          <m:r>
                            <a:rPr lang="zh-CN" altLang="en-US" i="0">
                              <a:solidFill>
                                <a:schemeClr val="tx1"/>
                              </a:solidFill>
                              <a:latin typeface="Cambria Math" panose="02040503050406030204" pitchFamily="18" charset="0"/>
                            </a:rPr>
                            <m:t>′</m:t>
                          </m:r>
                        </m:sup>
                      </m:sSup>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0">
                                  <a:solidFill>
                                    <a:schemeClr val="tx1"/>
                                  </a:solidFill>
                                  <a:latin typeface="Cambria Math" panose="02040503050406030204" pitchFamily="18" charset="0"/>
                                </a:rPr>
                                <m:t>0</m:t>
                              </m:r>
                            </m:sub>
                          </m:sSub>
                        </m:e>
                      </m:d>
                    </m:oMath>
                  </m:oMathPara>
                </a14:m>
                <a:endParaRPr lang="zh-CN" altLang="en-US" dirty="0">
                  <a:solidFill>
                    <a:schemeClr val="tx1"/>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7387246" y="2997262"/>
                <a:ext cx="1835243" cy="461665"/>
              </a:xfrm>
              <a:prstGeom prst="rect">
                <a:avLst/>
              </a:prstGeom>
              <a:blipFill rotWithShape="1">
                <a:blip r:embed="rId5"/>
                <a:stretch>
                  <a:fillRect l="-16" t="-13" r="21"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5785684" y="2942815"/>
                <a:ext cx="802184" cy="52322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2800" i="1" smtClean="0">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𝑥</m:t>
                          </m:r>
                        </m:e>
                        <m:sub>
                          <m:r>
                            <a:rPr lang="zh-CN" altLang="en-US" sz="2800" i="0">
                              <a:solidFill>
                                <a:schemeClr val="tx1"/>
                              </a:solidFill>
                              <a:latin typeface="Cambria Math" panose="02040503050406030204" pitchFamily="18" charset="0"/>
                            </a:rPr>
                            <m:t>0</m:t>
                          </m:r>
                        </m:sub>
                      </m:sSub>
                    </m:oMath>
                  </m:oMathPara>
                </a14:m>
                <a:endParaRPr lang="zh-CN" altLang="en-US" sz="2800" dirty="0"/>
              </a:p>
            </p:txBody>
          </p:sp>
        </mc:Choice>
        <mc:Fallback>
          <p:sp>
            <p:nvSpPr>
              <p:cNvPr id="27" name="文本框 26"/>
              <p:cNvSpPr txBox="1">
                <a:spLocks noRot="1" noChangeAspect="1" noMove="1" noResize="1" noEditPoints="1" noAdjustHandles="1" noChangeArrowheads="1" noChangeShapeType="1" noTextEdit="1"/>
              </p:cNvSpPr>
              <p:nvPr/>
            </p:nvSpPr>
            <p:spPr>
              <a:xfrm>
                <a:off x="5785684" y="2942815"/>
                <a:ext cx="802184" cy="523220"/>
              </a:xfrm>
              <a:prstGeom prst="rect">
                <a:avLst/>
              </a:prstGeom>
              <a:blipFill rotWithShape="1">
                <a:blip r:embed="rId6"/>
                <a:stretch>
                  <a:fillRect l="-25" t="-43" r="47" b="39"/>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矩形 6"/>
              <p:cNvSpPr/>
              <p:nvPr/>
            </p:nvSpPr>
            <p:spPr>
              <a:xfrm>
                <a:off x="597016" y="1173440"/>
                <a:ext cx="6813755" cy="5617885"/>
              </a:xfrm>
              <a:prstGeom prst="rect">
                <a:avLst/>
              </a:prstGeom>
            </p:spPr>
            <p:txBody>
              <a:bodyPr wrap="square">
                <a:spAutoFit/>
              </a:bodyPr>
              <a:lstStyle/>
              <a:p>
                <a:pPr>
                  <a:lnSpc>
                    <a:spcPct val="150000"/>
                  </a:lnSpc>
                  <a:spcBef>
                    <a:spcPts val="900"/>
                  </a:spcBef>
                  <a:spcAft>
                    <a:spcPts val="900"/>
                  </a:spcAft>
                </a:pPr>
                <a:r>
                  <a:rPr lang="en-US" altLang="zh-CN" sz="1800" b="0" kern="100" dirty="0">
                    <a:effectLst/>
                    <a:latin typeface="Cambria Math" panose="02040503050406030204" pitchFamily="18" charset="0"/>
                    <a:cs typeface="宋体" panose="02010600030101010101" pitchFamily="2" charset="-122"/>
                  </a:rPr>
                  <a:t>(1)</a:t>
                </a:r>
                <a14:m>
                  <m:oMath xmlns:m="http://schemas.openxmlformats.org/officeDocument/2006/math">
                    <m:r>
                      <a:rPr lang="en-US" altLang="zh-CN" sz="1800" b="0" i="0" kern="100" smtClean="0">
                        <a:effectLst/>
                        <a:latin typeface="Cambria Math" panose="02040503050406030204" pitchFamily="18" charset="0"/>
                        <a:ea typeface="宋体" panose="02010600030101010101" pitchFamily="2" charset="-122"/>
                        <a:cs typeface="宋体" panose="02010600030101010101" pitchFamily="2" charset="-122"/>
                      </a:rPr>
                      <m:t> </m:t>
                    </m:r>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𝑐</m:t>
                    </m:r>
                  </m:oMath>
                </a14:m>
                <a:r>
                  <a:rPr lang="zh-CN" altLang="zh-CN" sz="1800" kern="100" dirty="0">
                    <a:effectLst/>
                    <a:latin typeface="微软雅黑" panose="020B0503020204020204" pitchFamily="34" charset="-122"/>
                    <a:cs typeface="宋体" panose="02010600030101010101" pitchFamily="2" charset="-122"/>
                  </a:rPr>
                  <a:t>（常数）</a:t>
                </a:r>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 </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0</m:t>
                    </m:r>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(2)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𝛼</m:t>
                        </m:r>
                      </m:sup>
                    </m:sSup>
                  </m:oMath>
                </a14:m>
                <a:r>
                  <a:rPr lang="en-US"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𝛼</m:t>
                    </m:r>
                  </m:oMath>
                </a14:m>
                <a:r>
                  <a:rPr lang="zh-CN" altLang="zh-CN" sz="1800" kern="100" dirty="0">
                    <a:effectLst/>
                    <a:latin typeface="微软雅黑" panose="020B0503020204020204" pitchFamily="34" charset="-122"/>
                    <a:cs typeface="宋体" panose="02010600030101010101" pitchFamily="2" charset="-122"/>
                  </a:rPr>
                  <a:t>为实数</a:t>
                </a:r>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𝛼</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𝛼</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sup>
                    </m:sSup>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(3)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sup>
                    </m:sSup>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sup>
                    </m:sSup>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ln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特例</a:t>
                </a:r>
                <a:r>
                  <a:rPr lang="en-US" altLang="zh-CN" sz="18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e</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sup>
                    </m:s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e</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sup>
                    </m:sSup>
                  </m:oMath>
                </a14:m>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(4)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log</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2400" kern="100" dirty="0">
                    <a:effectLst/>
                    <a:latin typeface="微软雅黑" panose="020B0503020204020204" pitchFamily="34" charset="-122"/>
                    <a:cs typeface="宋体" panose="02010600030101010101" pitchFamily="2" charset="-122"/>
                  </a:rPr>
                  <a:t>则：</a:t>
                </a:r>
                <a:r>
                  <a:rPr lang="en-US" altLang="zh-CN" sz="18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𝑥</m:t>
                        </m:r>
                        <m:r>
                          <m:rPr>
                            <m:sty m:val="p"/>
                          </m:rPr>
                          <a:rPr lang="en-US" altLang="zh-CN" sz="2000" kern="100">
                            <a:effectLst/>
                            <a:latin typeface="Cambria Math" panose="02040503050406030204" pitchFamily="18" charset="0"/>
                            <a:ea typeface="宋体" panose="02010600030101010101" pitchFamily="2" charset="-122"/>
                            <a:cs typeface="宋体" panose="02010600030101010101" pitchFamily="2" charset="-122"/>
                          </a:rPr>
                          <m:t>ln</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𝑎</m:t>
                        </m:r>
                      </m:den>
                    </m:f>
                  </m:oMath>
                </a14:m>
                <a:r>
                  <a:rPr lang="en-US" altLang="zh-CN" sz="2400" kern="100" dirty="0">
                    <a:effectLst/>
                    <a:latin typeface="微软雅黑" panose="020B0503020204020204" pitchFamily="34" charset="-122"/>
                    <a:cs typeface="宋体" panose="02010600030101010101" pitchFamily="2" charset="-122"/>
                  </a:rPr>
                  <a:t> </a:t>
                </a:r>
                <a:r>
                  <a:rPr lang="zh-CN" altLang="zh-CN" sz="2400" kern="100" dirty="0">
                    <a:effectLst/>
                    <a:latin typeface="微软雅黑" panose="020B0503020204020204" pitchFamily="34" charset="-122"/>
                    <a:cs typeface="宋体" panose="02010600030101010101" pitchFamily="2" charset="-122"/>
                  </a:rPr>
                  <a:t>，</a:t>
                </a:r>
                <a:r>
                  <a:rPr lang="zh-CN" altLang="zh-CN" sz="1800" kern="100" dirty="0">
                    <a:effectLst/>
                    <a:latin typeface="微软雅黑" panose="020B0503020204020204" pitchFamily="34" charset="-122"/>
                    <a:cs typeface="宋体" panose="02010600030101010101" pitchFamily="2" charset="-122"/>
                  </a:rPr>
                  <a:t>特例</a:t>
                </a:r>
                <a:r>
                  <a:rPr lang="en-US" altLang="zh-CN" sz="18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ln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den>
                    </m:f>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(5)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sin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cos</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(6)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cos</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sin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(7)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tan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 </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num>
                      <m:den>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cos</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den>
                    </m:f>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sec</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(8)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cot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num>
                      <m:den>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sin</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den>
                    </m:f>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csc</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7" name="矩形 6"/>
              <p:cNvSpPr>
                <a:spLocks noRot="1" noChangeAspect="1" noMove="1" noResize="1" noEditPoints="1" noAdjustHandles="1" noChangeArrowheads="1" noChangeShapeType="1" noTextEdit="1"/>
              </p:cNvSpPr>
              <p:nvPr/>
            </p:nvSpPr>
            <p:spPr>
              <a:xfrm>
                <a:off x="597016" y="1173440"/>
                <a:ext cx="6813755" cy="5617885"/>
              </a:xfrm>
              <a:prstGeom prst="rect">
                <a:avLst/>
              </a:prstGeom>
              <a:blipFill rotWithShape="1">
                <a:blip r:embed="rId1"/>
                <a:stretch>
                  <a:fillRect l="-2" t="-11" r="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6236629" y="1173440"/>
                <a:ext cx="6096000" cy="5387180"/>
              </a:xfrm>
              <a:prstGeom prst="rect">
                <a:avLst/>
              </a:prstGeom>
            </p:spPr>
            <p:txBody>
              <a:bodyPr>
                <a:spAutoFit/>
              </a:bodyPr>
              <a:lstStyle/>
              <a:p>
                <a:pPr>
                  <a:lnSpc>
                    <a:spcPct val="150000"/>
                  </a:lnSpc>
                  <a:spcBef>
                    <a:spcPts val="900"/>
                  </a:spcBef>
                  <a:spcAft>
                    <a:spcPts val="900"/>
                  </a:spcAft>
                </a:pPr>
                <a14:m>
                  <m:oMath xmlns:m="http://schemas.openxmlformats.org/officeDocument/2006/math">
                    <m:r>
                      <a:rPr lang="en-US" altLang="zh-CN" sz="1800" i="1" kern="100" smtClean="0">
                        <a:effectLst/>
                        <a:latin typeface="Cambria Math" panose="02040503050406030204" pitchFamily="18" charset="0"/>
                        <a:ea typeface="宋体" panose="02010600030101010101" pitchFamily="2" charset="-122"/>
                        <a:cs typeface="宋体" panose="02010600030101010101" pitchFamily="2" charset="-122"/>
                      </a:rPr>
                      <m:t> </m:t>
                    </m:r>
                  </m:oMath>
                </a14:m>
                <a:r>
                  <a:rPr lang="en-US" altLang="zh-CN" sz="1800" kern="100" dirty="0">
                    <a:effectLst/>
                    <a:latin typeface="微软雅黑" panose="020B0503020204020204" pitchFamily="34" charset="-122"/>
                    <a:cs typeface="宋体" panose="02010600030101010101" pitchFamily="2" charset="-122"/>
                  </a:rPr>
                  <a:t>(9)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sec</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sec</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tan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(10)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csc</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sSup>
                      <m:sSupPr>
                        <m:ctrlP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csc</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cot</m:t>
                    </m:r>
                    <m:r>
                      <m:rPr>
                        <m:sty m:val="p"/>
                      </m:rPr>
                      <a:rPr lang="en-US" altLang="zh-CN" i="1" kern="100" smtClean="0">
                        <a:latin typeface="Cambria Math" panose="02040503050406030204" pitchFamily="18" charset="0"/>
                        <a:ea typeface="宋体" panose="02010600030101010101" pitchFamily="2" charset="-122"/>
                        <a:cs typeface="宋体" panose="02010600030101010101" pitchFamily="2" charset="-122"/>
                      </a:rPr>
                      <m:t>x</m:t>
                    </m:r>
                  </m:oMath>
                </a14:m>
                <a:endParaRPr lang="en-US" altLang="zh-CN" i="1" kern="100" dirty="0">
                  <a:latin typeface="Cambria Math" panose="02040503050406030204" pitchFamily="18" charset="0"/>
                  <a:cs typeface="宋体" panose="02010600030101010101" pitchFamily="2" charset="-122"/>
                </a:endParaRPr>
              </a:p>
              <a:p>
                <a:pPr>
                  <a:lnSpc>
                    <a:spcPct val="150000"/>
                  </a:lnSpc>
                  <a:spcBef>
                    <a:spcPts val="900"/>
                  </a:spcBef>
                  <a:spcAft>
                    <a:spcPts val="900"/>
                  </a:spcAft>
                </a:pPr>
                <a14:m>
                  <m:oMath xmlns:m="http://schemas.openxmlformats.org/officeDocument/2006/math">
                    <m:r>
                      <a:rPr lang="en-US" altLang="zh-CN" sz="1800" i="1" kern="100" smtClean="0">
                        <a:effectLst/>
                        <a:latin typeface="Cambria Math" panose="02040503050406030204" pitchFamily="18" charset="0"/>
                        <a:ea typeface="宋体" panose="02010600030101010101" pitchFamily="2" charset="-122"/>
                        <a:cs typeface="宋体" panose="02010600030101010101" pitchFamily="2" charset="-122"/>
                      </a:rPr>
                      <m:t> </m:t>
                    </m:r>
                  </m:oMath>
                </a14:m>
                <a:r>
                  <a:rPr lang="en-US" altLang="zh-CN" sz="1800" kern="100" dirty="0">
                    <a:effectLst/>
                    <a:latin typeface="微软雅黑" panose="020B0503020204020204" pitchFamily="34" charset="-122"/>
                    <a:cs typeface="宋体" panose="02010600030101010101" pitchFamily="2" charset="-122"/>
                  </a:rPr>
                  <a:t>(11)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arcsin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num>
                      <m:den>
                        <m:rad>
                          <m:radPr>
                            <m:deg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e>
                        </m:rad>
                      </m:den>
                    </m:f>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(12)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arccos</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num>
                      <m:den>
                        <m:rad>
                          <m:radPr>
                            <m:degHide m:val="on"/>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2</m:t>
                                </m:r>
                              </m:sup>
                            </m:sSup>
                          </m:e>
                        </m:rad>
                      </m:den>
                    </m:f>
                  </m:oMath>
                </a14:m>
                <a:r>
                  <a:rPr lang="en-US" altLang="zh-CN" sz="2000" kern="100" dirty="0">
                    <a:effectLst/>
                    <a:latin typeface="微软雅黑" panose="020B0503020204020204" pitchFamily="34" charset="-122"/>
                    <a:cs typeface="宋体" panose="02010600030101010101" pitchFamily="2" charset="-122"/>
                  </a:rPr>
                  <a:t> </a:t>
                </a:r>
                <a:endParaRPr lang="en-US" altLang="zh-CN" sz="20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(13)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arctan</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2</m:t>
                            </m:r>
                          </m:sup>
                        </m:sSup>
                      </m:den>
                    </m:f>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(14)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m:rPr>
                        <m:sty m:val="p"/>
                      </m:rPr>
                      <a:rPr lang="en-US" altLang="zh-CN" sz="1800" kern="100">
                        <a:effectLst/>
                        <a:latin typeface="Cambria Math" panose="02040503050406030204" pitchFamily="18" charset="0"/>
                        <a:ea typeface="宋体" panose="02010600030101010101" pitchFamily="2" charset="-122"/>
                        <a:cs typeface="宋体" panose="02010600030101010101" pitchFamily="2" charset="-122"/>
                      </a:rPr>
                      <m:t>arccot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2</m:t>
                            </m:r>
                          </m:sup>
                        </m:sSup>
                      </m:den>
                    </m:f>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(15)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𝑠ℎ𝑥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𝑐ℎ𝑥</m:t>
                    </m:r>
                  </m:oMath>
                </a14:m>
                <a:r>
                  <a:rPr lang="zh-CN" altLang="en-US" sz="1800" kern="100" dirty="0">
                    <a:effectLst/>
                    <a:latin typeface="微软雅黑" panose="020B0503020204020204" pitchFamily="34" charset="-122"/>
                    <a:cs typeface="宋体" panose="02010600030101010101" pitchFamily="2" charset="-122"/>
                  </a:rPr>
                  <a:t>，</a:t>
                </a:r>
                <a:r>
                  <a:rPr lang="en-US" altLang="zh-CN" sz="1800" kern="100" dirty="0">
                    <a:effectLst/>
                    <a:latin typeface="微软雅黑" panose="020B0503020204020204" pitchFamily="34" charset="-122"/>
                    <a:cs typeface="宋体" panose="02010600030101010101" pitchFamily="2" charset="-122"/>
                  </a:rPr>
                  <a:t>(16)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𝑐ℎ𝑥</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𝑦</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𝑠ℎ𝑥</m:t>
                    </m:r>
                  </m:oMath>
                </a14:m>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8" name="矩形 7"/>
              <p:cNvSpPr>
                <a:spLocks noRot="1" noChangeAspect="1" noMove="1" noResize="1" noEditPoints="1" noAdjustHandles="1" noChangeArrowheads="1" noChangeShapeType="1" noTextEdit="1"/>
              </p:cNvSpPr>
              <p:nvPr/>
            </p:nvSpPr>
            <p:spPr>
              <a:xfrm>
                <a:off x="6236629" y="1173440"/>
                <a:ext cx="6096000" cy="5387180"/>
              </a:xfrm>
              <a:prstGeom prst="rect">
                <a:avLst/>
              </a:prstGeom>
              <a:blipFill rotWithShape="1">
                <a:blip r:embed="rId2"/>
                <a:stretch>
                  <a:fillRect l="-5" t="-11" r="5" b="8"/>
                </a:stretch>
              </a:blipFill>
            </p:spPr>
            <p:txBody>
              <a:bodyPr/>
              <a:lstStyle/>
              <a:p>
                <a:r>
                  <a:rPr lang="zh-CN" altLang="en-US">
                    <a:noFill/>
                  </a:rPr>
                  <a:t> </a:t>
                </a:r>
              </a:p>
            </p:txBody>
          </p:sp>
        </mc:Fallback>
      </mc:AlternateContent>
      <p:sp>
        <p:nvSpPr>
          <p:cNvPr id="27" name="文本框 22"/>
          <p:cNvSpPr txBox="1">
            <a:spLocks noChangeArrowheads="1"/>
          </p:cNvSpPr>
          <p:nvPr/>
        </p:nvSpPr>
        <p:spPr bwMode="auto">
          <a:xfrm>
            <a:off x="597016" y="218941"/>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基本导数与微分表</a:t>
            </a:r>
            <a:br>
              <a:rPr lang="zh-CN" altLang="en-US" dirty="0"/>
            </a:b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矩形 5"/>
              <p:cNvSpPr/>
              <p:nvPr/>
            </p:nvSpPr>
            <p:spPr>
              <a:xfrm>
                <a:off x="1331490" y="2999622"/>
                <a:ext cx="7511845" cy="2459712"/>
              </a:xfrm>
              <a:prstGeom prst="rect">
                <a:avLst/>
              </a:prstGeom>
            </p:spPr>
            <p:txBody>
              <a:bodyPr wrap="square">
                <a:spAutoFit/>
              </a:bodyPr>
              <a:lstStyle/>
              <a:p>
                <a:pPr>
                  <a:lnSpc>
                    <a:spcPct val="150000"/>
                  </a:lnSpc>
                  <a:spcBef>
                    <a:spcPts val="900"/>
                  </a:spcBef>
                  <a:spcAft>
                    <a:spcPts val="900"/>
                  </a:spcAft>
                </a:pPr>
                <a:r>
                  <a:rPr lang="en-US" altLang="zh-CN" sz="2400" kern="100" dirty="0">
                    <a:latin typeface="微软雅黑" panose="020B0503020204020204" pitchFamily="34" charset="-122"/>
                    <a:cs typeface="宋体" panose="02010600030101010101" pitchFamily="2" charset="-122"/>
                  </a:rPr>
                  <a:t>(1) </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pPr>
                      <m:e>
                        <m:d>
                          <m:d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e>
                        </m:d>
                      </m:e>
                      <m:sup>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e>
                      <m:sup>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e>
                      <m:sup>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sup>
                    </m:sSup>
                  </m:oMath>
                </a14:m>
                <a:r>
                  <a:rPr lang="en-US" altLang="zh-CN" sz="24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    </m:t>
                    </m:r>
                  </m:oMath>
                </a14:m>
                <a:r>
                  <a:rPr lang="en-US" altLang="zh-CN" sz="2400" kern="100" dirty="0">
                    <a:effectLst/>
                    <a:latin typeface="微软雅黑" panose="020B0503020204020204" pitchFamily="34" charset="-122"/>
                    <a:cs typeface="宋体" panose="02010600030101010101" pitchFamily="2" charset="-122"/>
                  </a:rPr>
                  <a:t>   </a:t>
                </a:r>
                <a:endParaRPr lang="zh-CN" altLang="zh-CN" sz="24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2400" kern="100" dirty="0">
                    <a:effectLst/>
                    <a:latin typeface="微软雅黑" panose="020B0503020204020204" pitchFamily="34" charset="-122"/>
                    <a:cs typeface="宋体" panose="02010600030101010101" pitchFamily="2" charset="-122"/>
                  </a:rPr>
                  <a:t>(2) </a:t>
                </a:r>
                <a14:m>
                  <m:oMath xmlns:m="http://schemas.openxmlformats.org/officeDocument/2006/math">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𝑢𝑣</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𝑣𝑢</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400" kern="100" dirty="0">
                    <a:effectLst/>
                    <a:latin typeface="微软雅黑" panose="020B0503020204020204" pitchFamily="34" charset="-122"/>
                    <a:cs typeface="宋体" panose="02010600030101010101" pitchFamily="2" charset="-122"/>
                  </a:rPr>
                  <a:t>       </a:t>
                </a:r>
                <a14:m>
                  <m:oMath xmlns:m="http://schemas.openxmlformats.org/officeDocument/2006/math">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oMath>
                </a14:m>
                <a:r>
                  <a:rPr lang="en-US" altLang="zh-CN" sz="2400" kern="100" dirty="0">
                    <a:effectLst/>
                    <a:latin typeface="微软雅黑" panose="020B0503020204020204" pitchFamily="34" charset="-122"/>
                    <a:cs typeface="宋体" panose="02010600030101010101" pitchFamily="2" charset="-122"/>
                  </a:rPr>
                  <a:t> </a:t>
                </a:r>
                <a:endParaRPr lang="zh-CN" altLang="zh-CN" sz="24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2400" kern="100" dirty="0">
                    <a:effectLst/>
                    <a:latin typeface="微软雅黑" panose="020B0503020204020204" pitchFamily="34" charset="-122"/>
                    <a:cs typeface="宋体" panose="02010600030101010101" pitchFamily="2" charset="-122"/>
                  </a:rPr>
                  <a:t>(3) </a:t>
                </a:r>
                <a14:m>
                  <m:oMath xmlns:m="http://schemas.openxmlformats.org/officeDocument/2006/math">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num>
                      <m:den>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den>
                    </m:f>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𝑣𝑢</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𝑢𝑣</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num>
                      <m:den>
                        <m:sSup>
                          <m:sSup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e>
                          <m:sup>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2</m:t>
                            </m:r>
                          </m:sup>
                        </m:sSup>
                      </m:den>
                    </m:f>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400" kern="100" dirty="0">
                    <a:effectLst/>
                    <a:latin typeface="微软雅黑" panose="020B0503020204020204" pitchFamily="34" charset="-122"/>
                    <a:cs typeface="宋体" panose="02010600030101010101" pitchFamily="2" charset="-122"/>
                  </a:rPr>
                  <a:t>    </a:t>
                </a:r>
                <a14:m>
                  <m:oMath xmlns:m="http://schemas.openxmlformats.org/officeDocument/2006/math">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num>
                      <m:den>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den>
                    </m:f>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m:rPr>
                            <m:sty m:val="p"/>
                          </m:rPr>
                          <a:rPr lang="en-US" altLang="zh-CN" sz="2400" i="0" kern="100">
                            <a:effectLst/>
                            <a:latin typeface="Cambria Math" panose="02040503050406030204" pitchFamily="18" charset="0"/>
                            <a:ea typeface="宋体" panose="02010600030101010101" pitchFamily="2" charset="-122"/>
                            <a:cs typeface="宋体" panose="02010600030101010101" pitchFamily="2" charset="-122"/>
                          </a:rPr>
                          <m:t>d</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num>
                      <m:den>
                        <m:sSup>
                          <m:sSup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e>
                          <m:sup>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2</m:t>
                            </m:r>
                          </m:sup>
                        </m:sSup>
                      </m:den>
                    </m:f>
                  </m:oMath>
                </a14:m>
                <a:endParaRPr lang="zh-CN" altLang="zh-CN" sz="2400" kern="100" dirty="0">
                  <a:effectLst/>
                  <a:latin typeface="微软雅黑" panose="020B0503020204020204" pitchFamily="34" charset="-122"/>
                  <a:cs typeface="宋体" panose="02010600030101010101" pitchFamily="2" charset="-122"/>
                </a:endParaRPr>
              </a:p>
            </p:txBody>
          </p:sp>
        </mc:Choice>
        <mc:Fallback>
          <p:sp>
            <p:nvSpPr>
              <p:cNvPr id="6" name="矩形 5"/>
              <p:cNvSpPr>
                <a:spLocks noRot="1" noChangeAspect="1" noMove="1" noResize="1" noEditPoints="1" noAdjustHandles="1" noChangeArrowheads="1" noChangeShapeType="1" noTextEdit="1"/>
              </p:cNvSpPr>
              <p:nvPr/>
            </p:nvSpPr>
            <p:spPr>
              <a:xfrm>
                <a:off x="1331490" y="2999622"/>
                <a:ext cx="7511845" cy="2459712"/>
              </a:xfrm>
              <a:prstGeom prst="rect">
                <a:avLst/>
              </a:prstGeom>
              <a:blipFill rotWithShape="1">
                <a:blip r:embed="rId1"/>
                <a:stretch>
                  <a:fillRect l="-7" t="-21" r="4"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369536" y="1481007"/>
                <a:ext cx="6096000" cy="1431161"/>
              </a:xfrm>
              <a:prstGeom prst="rect">
                <a:avLst/>
              </a:prstGeom>
            </p:spPr>
            <p:txBody>
              <a:bodyPr>
                <a:spAutoFit/>
              </a:bodyPr>
              <a:lstStyle/>
              <a:p>
                <a:pPr>
                  <a:lnSpc>
                    <a:spcPct val="150000"/>
                  </a:lnSpc>
                  <a:spcBef>
                    <a:spcPts val="900"/>
                  </a:spcBef>
                  <a:spcAft>
                    <a:spcPts val="900"/>
                  </a:spcAft>
                </a:pPr>
                <a:r>
                  <a:rPr lang="zh-CN" altLang="zh-CN" sz="2400" b="1" kern="100" dirty="0">
                    <a:solidFill>
                      <a:srgbClr val="FF0000"/>
                    </a:solidFill>
                    <a:latin typeface="微软雅黑" panose="020B0503020204020204" pitchFamily="34" charset="-122"/>
                    <a:cs typeface="宋体" panose="02010600030101010101" pitchFamily="2" charset="-122"/>
                  </a:rPr>
                  <a:t>四则运算法则</a:t>
                </a:r>
                <a:r>
                  <a:rPr lang="zh-CN" altLang="zh-CN" sz="2400" kern="100" dirty="0">
                    <a:solidFill>
                      <a:srgbClr val="FF0000"/>
                    </a:solidFill>
                    <a:effectLst/>
                    <a:latin typeface="微软雅黑" panose="020B0503020204020204" pitchFamily="34" charset="-122"/>
                    <a:cs typeface="宋体" panose="02010600030101010101" pitchFamily="2" charset="-122"/>
                  </a:rPr>
                  <a:t> </a:t>
                </a:r>
                <a:endParaRPr lang="zh-CN" altLang="zh-CN" sz="2400" kern="100" dirty="0">
                  <a:solidFill>
                    <a:srgbClr val="FF0000"/>
                  </a:solidFill>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2400" kern="100" dirty="0">
                    <a:effectLst/>
                    <a:latin typeface="微软雅黑" panose="020B0503020204020204" pitchFamily="34" charset="-122"/>
                    <a:cs typeface="宋体" panose="02010600030101010101" pitchFamily="2" charset="-122"/>
                  </a:rPr>
                  <a:t>设函数</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zh-CN"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kern="100" dirty="0">
                    <a:effectLst/>
                    <a:latin typeface="微软雅黑" panose="020B0503020204020204" pitchFamily="34" charset="-122"/>
                    <a:cs typeface="宋体" panose="02010600030101010101" pitchFamily="2" charset="-122"/>
                  </a:rPr>
                  <a:t>在点</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zh-CN" altLang="zh-CN" sz="2400" kern="100" dirty="0">
                    <a:effectLst/>
                    <a:latin typeface="微软雅黑" panose="020B0503020204020204" pitchFamily="34" charset="-122"/>
                    <a:cs typeface="宋体" panose="02010600030101010101" pitchFamily="2" charset="-122"/>
                  </a:rPr>
                  <a:t>可导，则： </a:t>
                </a:r>
                <a:endParaRPr lang="zh-CN" altLang="zh-CN" sz="2400" kern="100" dirty="0">
                  <a:effectLst/>
                  <a:latin typeface="微软雅黑" panose="020B0503020204020204" pitchFamily="34" charset="-122"/>
                  <a:cs typeface="宋体" panose="02010600030101010101" pitchFamily="2" charset="-122"/>
                </a:endParaRPr>
              </a:p>
            </p:txBody>
          </p:sp>
        </mc:Choice>
        <mc:Fallback>
          <p:sp>
            <p:nvSpPr>
              <p:cNvPr id="7" name="矩形 6"/>
              <p:cNvSpPr>
                <a:spLocks noRot="1" noChangeAspect="1" noMove="1" noResize="1" noEditPoints="1" noAdjustHandles="1" noChangeArrowheads="1" noChangeShapeType="1" noTextEdit="1"/>
              </p:cNvSpPr>
              <p:nvPr/>
            </p:nvSpPr>
            <p:spPr>
              <a:xfrm>
                <a:off x="1369536" y="1481007"/>
                <a:ext cx="6096000" cy="1431161"/>
              </a:xfrm>
              <a:prstGeom prst="rect">
                <a:avLst/>
              </a:prstGeom>
              <a:blipFill rotWithShape="1">
                <a:blip r:embed="rId2"/>
                <a:stretch>
                  <a:fillRect l="-8" t="-13" r="8" b="4"/>
                </a:stretch>
              </a:blipFill>
            </p:spPr>
            <p:txBody>
              <a:bodyPr/>
              <a:lstStyle/>
              <a:p>
                <a:r>
                  <a:rPr lang="zh-CN" altLang="en-US">
                    <a:noFill/>
                  </a:rPr>
                  <a:t> </a:t>
                </a:r>
              </a:p>
            </p:txBody>
          </p:sp>
        </mc:Fallback>
      </mc:AlternateContent>
      <p:sp>
        <p:nvSpPr>
          <p:cNvPr id="11" name="文本框 22"/>
          <p:cNvSpPr txBox="1">
            <a:spLocks noChangeArrowheads="1"/>
          </p:cNvSpPr>
          <p:nvPr/>
        </p:nvSpPr>
        <p:spPr bwMode="auto">
          <a:xfrm>
            <a:off x="591467" y="28067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四则运算法则</a:t>
            </a:r>
            <a:br>
              <a:rPr lang="zh-CN" altLang="en-US" dirty="0"/>
            </a:b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矩形 5"/>
              <p:cNvSpPr/>
              <p:nvPr/>
            </p:nvSpPr>
            <p:spPr>
              <a:xfrm>
                <a:off x="781941" y="1953440"/>
                <a:ext cx="10196052" cy="4798173"/>
              </a:xfrm>
              <a:prstGeom prst="rect">
                <a:avLst/>
              </a:prstGeom>
            </p:spPr>
            <p:txBody>
              <a:bodyPr wrap="square">
                <a:spAutoFit/>
              </a:bodyPr>
              <a:lstStyle/>
              <a:p>
                <a:pPr>
                  <a:lnSpc>
                    <a:spcPct val="150000"/>
                  </a:lnSpc>
                </a:pPr>
                <a:r>
                  <a:rPr lang="zh-CN" altLang="zh-CN" dirty="0"/>
                  <a:t>设函数</a:t>
                </a:r>
                <a14:m>
                  <m:oMath xmlns:m="http://schemas.openxmlformats.org/officeDocument/2006/math">
                    <m:r>
                      <a:rPr lang="en-US" altLang="zh-CN" i="1">
                        <a:latin typeface="Cambria Math" panose="02040503050406030204" pitchFamily="18" charset="0"/>
                      </a:rPr>
                      <m:t>𝑓</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oMath>
                </a14:m>
                <a:r>
                  <a:rPr lang="zh-CN" altLang="zh-CN" dirty="0"/>
                  <a:t>在点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oMath>
                </a14:m>
                <a:r>
                  <a:rPr lang="zh-CN" altLang="zh-CN" dirty="0"/>
                  <a:t>处的某邻域内具有</a:t>
                </a:r>
                <a14:m>
                  <m:oMath xmlns:m="http://schemas.openxmlformats.org/officeDocument/2006/math">
                    <m:r>
                      <a:rPr lang="en-US" altLang="zh-CN" i="1">
                        <a:latin typeface="Cambria Math" panose="02040503050406030204" pitchFamily="18" charset="0"/>
                      </a:rPr>
                      <m:t>𝑛</m:t>
                    </m:r>
                    <m:r>
                      <a:rPr lang="en-US" altLang="zh-CN">
                        <a:latin typeface="Cambria Math" panose="02040503050406030204" pitchFamily="18" charset="0"/>
                      </a:rPr>
                      <m:t>+</m:t>
                    </m:r>
                    <m:r>
                      <a:rPr lang="en-US" altLang="zh-CN">
                        <a:latin typeface="Cambria Math" panose="02040503050406030204" pitchFamily="18" charset="0"/>
                      </a:rPr>
                      <m:t>1</m:t>
                    </m:r>
                  </m:oMath>
                </a14:m>
                <a:r>
                  <a:rPr lang="zh-CN" altLang="zh-CN" dirty="0"/>
                  <a:t>阶导数，则对该邻域内异于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oMath>
                </a14:m>
                <a:r>
                  <a:rPr lang="zh-CN" altLang="zh-CN" dirty="0"/>
                  <a:t>的任意点</a:t>
                </a:r>
                <a14:m>
                  <m:oMath xmlns:m="http://schemas.openxmlformats.org/officeDocument/2006/math">
                    <m:r>
                      <a:rPr lang="en-US" altLang="zh-CN" i="1">
                        <a:latin typeface="Cambria Math" panose="02040503050406030204" pitchFamily="18" charset="0"/>
                      </a:rPr>
                      <m:t>𝑥</m:t>
                    </m:r>
                  </m:oMath>
                </a14:m>
                <a:r>
                  <a:rPr lang="zh-CN" altLang="zh-CN" dirty="0"/>
                  <a:t>，在</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oMath>
                </a14:m>
                <a:r>
                  <a:rPr lang="zh-CN" altLang="zh-CN" dirty="0"/>
                  <a:t>与</a:t>
                </a:r>
                <a14:m>
                  <m:oMath xmlns:m="http://schemas.openxmlformats.org/officeDocument/2006/math">
                    <m:r>
                      <a:rPr lang="en-US" altLang="zh-CN" i="1">
                        <a:latin typeface="Cambria Math" panose="02040503050406030204" pitchFamily="18" charset="0"/>
                      </a:rPr>
                      <m:t>𝑥</m:t>
                    </m:r>
                  </m:oMath>
                </a14:m>
                <a:r>
                  <a:rPr lang="zh-CN" altLang="zh-CN" dirty="0"/>
                  <a:t>之间至少存在一个</a:t>
                </a:r>
                <a14:m>
                  <m:oMath xmlns:m="http://schemas.openxmlformats.org/officeDocument/2006/math">
                    <m:r>
                      <a:rPr lang="en-US" altLang="zh-CN" i="1">
                        <a:latin typeface="Cambria Math" panose="02040503050406030204" pitchFamily="18" charset="0"/>
                      </a:rPr>
                      <m:t>𝜉</m:t>
                    </m:r>
                  </m:oMath>
                </a14:m>
                <a:r>
                  <a:rPr lang="zh-CN" altLang="zh-CN" dirty="0"/>
                  <a:t>，使得：</a:t>
                </a:r>
                <a:endParaRPr lang="zh-CN" altLang="zh-CN" dirty="0"/>
              </a:p>
              <a:p>
                <a:r>
                  <a:rPr lang="en-US" altLang="zh-CN" dirty="0"/>
                  <a:t> </a:t>
                </a:r>
                <a14:m>
                  <m:oMath xmlns:m="http://schemas.openxmlformats.org/officeDocument/2006/math">
                    <m:r>
                      <a:rPr lang="en-US" altLang="zh-CN" i="1">
                        <a:latin typeface="Cambria Math" panose="02040503050406030204" pitchFamily="18" charset="0"/>
                      </a:rPr>
                      <m:t>𝑓</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r>
                      <a:rPr lang="en-US" altLang="zh-CN" i="1">
                        <a:latin typeface="Cambria Math" panose="02040503050406030204" pitchFamily="18" charset="0"/>
                      </a:rPr>
                      <m:t>𝑓</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1</m:t>
                        </m:r>
                      </m:num>
                      <m:den>
                        <m:r>
                          <a:rPr lang="en-US" altLang="zh-CN">
                            <a:latin typeface="Cambria Math" panose="02040503050406030204" pitchFamily="18" charset="0"/>
                          </a:rPr>
                          <m:t>2</m:t>
                        </m:r>
                        <m:r>
                          <a:rPr lang="en-US" altLang="zh-CN">
                            <a:latin typeface="Cambria Math" panose="02040503050406030204" pitchFamily="18" charset="0"/>
                          </a:rPr>
                          <m:t>!</m:t>
                        </m:r>
                      </m:den>
                    </m:f>
                    <m:r>
                      <a:rPr lang="en-US" altLang="zh-CN" i="1">
                        <a:latin typeface="Cambria Math" panose="02040503050406030204" pitchFamily="18" charset="0"/>
                      </a:rPr>
                      <m:t>𝑓</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e>
                      <m:sup>
                        <m:r>
                          <a:rPr lang="en-US" altLang="zh-CN">
                            <a:latin typeface="Cambria Math" panose="02040503050406030204" pitchFamily="18" charset="0"/>
                          </a:rPr>
                          <m:t>2</m:t>
                        </m:r>
                      </m:sup>
                    </m:sSup>
                    <m:r>
                      <a:rPr lang="en-US" altLang="zh-CN">
                        <a:latin typeface="Cambria Math" panose="02040503050406030204" pitchFamily="18" charset="0"/>
                      </a:rPr>
                      <m:t>+⋯</m:t>
                    </m:r>
                  </m:oMath>
                </a14:m>
                <a:r>
                  <a:rPr lang="en-US" altLang="zh-CN" dirty="0"/>
                  <a:t>  </a:t>
                </a:r>
                <a14:m>
                  <m:oMath xmlns:m="http://schemas.openxmlformats.org/officeDocument/2006/math">
                    <m:r>
                      <a:rPr lang="en-US" altLang="zh-CN">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𝑓</m:t>
                            </m:r>
                          </m:e>
                          <m:sup>
                            <m:r>
                              <a:rPr lang="en-US" altLang="zh-CN">
                                <a:latin typeface="Cambria Math" panose="02040503050406030204" pitchFamily="18" charset="0"/>
                              </a:rPr>
                              <m:t>(</m:t>
                            </m:r>
                            <m:r>
                              <a:rPr lang="en-US" altLang="zh-CN" i="1">
                                <a:latin typeface="Cambria Math" panose="02040503050406030204" pitchFamily="18" charset="0"/>
                              </a:rPr>
                              <m:t>𝑛</m:t>
                            </m:r>
                            <m:r>
                              <a:rPr lang="en-US" altLang="zh-CN">
                                <a:latin typeface="Cambria Math" panose="02040503050406030204" pitchFamily="18" charset="0"/>
                              </a:rPr>
                              <m:t>)</m:t>
                            </m:r>
                          </m:sup>
                        </m:sSup>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num>
                      <m:den>
                        <m:r>
                          <a:rPr lang="en-US" altLang="zh-CN" i="1">
                            <a:latin typeface="Cambria Math" panose="02040503050406030204" pitchFamily="18" charset="0"/>
                          </a:rPr>
                          <m:t>𝑛</m:t>
                        </m:r>
                        <m:r>
                          <a:rPr lang="en-US" altLang="zh-CN">
                            <a:latin typeface="Cambria Math" panose="02040503050406030204" pitchFamily="18" charset="0"/>
                          </a:rPr>
                          <m:t>!</m:t>
                        </m:r>
                      </m:den>
                    </m:f>
                    <m:sSup>
                      <m:sSupPr>
                        <m:ctrlPr>
                          <a:rPr lang="zh-CN" altLang="zh-CN" i="1">
                            <a:latin typeface="Cambria Math" panose="02040503050406030204" pitchFamily="18" charset="0"/>
                          </a:rPr>
                        </m:ctrlPr>
                      </m:sSupPr>
                      <m:e>
                        <m:r>
                          <a:rPr lang="en-US" altLang="zh-CN">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e>
                      <m:sup>
                        <m:r>
                          <a:rPr lang="en-US" altLang="zh-CN" i="1">
                            <a:latin typeface="Cambria Math" panose="02040503050406030204" pitchFamily="18" charset="0"/>
                          </a:rPr>
                          <m:t>𝑛</m:t>
                        </m:r>
                      </m:sup>
                    </m:sSup>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𝑛</m:t>
                        </m:r>
                      </m:sub>
                    </m:sSub>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oMath>
                </a14:m>
                <a:r>
                  <a:rPr lang="en-US" altLang="zh-CN" dirty="0"/>
                  <a:t>  </a:t>
                </a:r>
                <a:endParaRPr lang="en-US" altLang="zh-CN" dirty="0"/>
              </a:p>
              <a:p>
                <a:pPr>
                  <a:lnSpc>
                    <a:spcPct val="150000"/>
                  </a:lnSpc>
                </a:pPr>
                <a:r>
                  <a:rPr lang="zh-CN" altLang="zh-CN" dirty="0"/>
                  <a:t>其中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𝑛</m:t>
                        </m:r>
                      </m:sub>
                    </m:sSub>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𝑓</m:t>
                            </m:r>
                          </m:e>
                          <m:sup>
                            <m:r>
                              <a:rPr lang="en-US" altLang="zh-CN">
                                <a:latin typeface="Cambria Math" panose="02040503050406030204" pitchFamily="18" charset="0"/>
                              </a:rPr>
                              <m:t>(</m:t>
                            </m:r>
                            <m:r>
                              <a:rPr lang="en-US" altLang="zh-CN" i="1">
                                <a:latin typeface="Cambria Math" panose="02040503050406030204" pitchFamily="18" charset="0"/>
                              </a:rPr>
                              <m:t>𝑛</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i="1">
                            <a:latin typeface="Cambria Math" panose="02040503050406030204" pitchFamily="18" charset="0"/>
                          </a:rPr>
                          <m:t>𝜉</m:t>
                        </m:r>
                        <m:r>
                          <a:rPr lang="en-US" altLang="zh-CN">
                            <a:latin typeface="Cambria Math" panose="02040503050406030204" pitchFamily="18" charset="0"/>
                          </a:rPr>
                          <m:t>)</m:t>
                        </m:r>
                      </m:num>
                      <m:den>
                        <m:r>
                          <a:rPr lang="en-US" altLang="zh-CN">
                            <a:latin typeface="Cambria Math" panose="02040503050406030204" pitchFamily="18" charset="0"/>
                          </a:rPr>
                          <m:t>(</m:t>
                        </m:r>
                        <m:r>
                          <a:rPr lang="en-US" altLang="zh-CN" i="1">
                            <a:latin typeface="Cambria Math" panose="02040503050406030204" pitchFamily="18" charset="0"/>
                          </a:rPr>
                          <m:t>𝑛</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den>
                    </m:f>
                    <m:sSup>
                      <m:sSupPr>
                        <m:ctrlPr>
                          <a:rPr lang="zh-CN" altLang="zh-CN" i="1">
                            <a:latin typeface="Cambria Math" panose="02040503050406030204" pitchFamily="18" charset="0"/>
                          </a:rPr>
                        </m:ctrlPr>
                      </m:sSupPr>
                      <m:e>
                        <m:r>
                          <a:rPr lang="en-US" altLang="zh-CN">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e>
                      <m:sup>
                        <m:r>
                          <a:rPr lang="en-US" altLang="zh-CN" i="1">
                            <a:latin typeface="Cambria Math" panose="02040503050406030204" pitchFamily="18" charset="0"/>
                          </a:rPr>
                          <m:t>𝑛</m:t>
                        </m:r>
                        <m:r>
                          <a:rPr lang="en-US" altLang="zh-CN">
                            <a:latin typeface="Cambria Math" panose="02040503050406030204" pitchFamily="18" charset="0"/>
                          </a:rPr>
                          <m:t>+</m:t>
                        </m:r>
                        <m:r>
                          <a:rPr lang="en-US" altLang="zh-CN">
                            <a:latin typeface="Cambria Math" panose="02040503050406030204" pitchFamily="18" charset="0"/>
                          </a:rPr>
                          <m:t>1</m:t>
                        </m:r>
                      </m:sup>
                    </m:sSup>
                  </m:oMath>
                </a14:m>
                <a:r>
                  <a:rPr lang="zh-CN" altLang="zh-CN" dirty="0"/>
                  <a:t>称为</a:t>
                </a:r>
                <a14:m>
                  <m:oMath xmlns:m="http://schemas.openxmlformats.org/officeDocument/2006/math">
                    <m:r>
                      <a:rPr lang="en-US" altLang="zh-CN" i="1">
                        <a:latin typeface="Cambria Math" panose="02040503050406030204" pitchFamily="18" charset="0"/>
                      </a:rPr>
                      <m:t>𝑓</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oMath>
                </a14:m>
                <a:r>
                  <a:rPr lang="zh-CN" altLang="zh-CN" dirty="0"/>
                  <a:t>在点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oMath>
                </a14:m>
                <a:r>
                  <a:rPr lang="zh-CN" altLang="zh-CN" dirty="0"/>
                  <a:t>处的</a:t>
                </a:r>
                <a14:m>
                  <m:oMath xmlns:m="http://schemas.openxmlformats.org/officeDocument/2006/math">
                    <m:r>
                      <a:rPr lang="en-US" altLang="zh-CN" i="1">
                        <a:latin typeface="Cambria Math" panose="02040503050406030204" pitchFamily="18" charset="0"/>
                      </a:rPr>
                      <m:t>𝑛</m:t>
                    </m:r>
                  </m:oMath>
                </a14:m>
                <a:r>
                  <a:rPr lang="zh-CN" altLang="zh-CN" dirty="0"/>
                  <a:t>阶泰勒余项。令</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0</m:t>
                        </m:r>
                      </m:sub>
                    </m:sSub>
                    <m:r>
                      <a:rPr lang="en-US" altLang="zh-CN">
                        <a:latin typeface="Cambria Math" panose="02040503050406030204" pitchFamily="18" charset="0"/>
                      </a:rPr>
                      <m:t>=</m:t>
                    </m:r>
                    <m:r>
                      <a:rPr lang="en-US" altLang="zh-CN">
                        <a:latin typeface="Cambria Math" panose="02040503050406030204" pitchFamily="18" charset="0"/>
                      </a:rPr>
                      <m:t>0</m:t>
                    </m:r>
                  </m:oMath>
                </a14:m>
                <a:r>
                  <a:rPr lang="zh-CN" altLang="zh-CN" dirty="0"/>
                  <a:t>，则</a:t>
                </a:r>
                <a14:m>
                  <m:oMath xmlns:m="http://schemas.openxmlformats.org/officeDocument/2006/math">
                    <m:r>
                      <a:rPr lang="en-US" altLang="zh-CN" i="1">
                        <a:latin typeface="Cambria Math" panose="02040503050406030204" pitchFamily="18" charset="0"/>
                      </a:rPr>
                      <m:t>𝑛</m:t>
                    </m:r>
                  </m:oMath>
                </a14:m>
                <a:r>
                  <a:rPr lang="zh-CN" altLang="zh-CN" dirty="0"/>
                  <a:t>阶泰勒公式：</a:t>
                </a:r>
                <a:endParaRPr lang="en-US" altLang="zh-CN" dirty="0"/>
              </a:p>
              <a:p>
                <a:r>
                  <a:rPr lang="en-US" altLang="zh-CN" dirty="0"/>
                  <a:t> </a:t>
                </a:r>
                <a14:m>
                  <m:oMath xmlns:m="http://schemas.openxmlformats.org/officeDocument/2006/math">
                    <m:r>
                      <a:rPr lang="en-US" altLang="zh-CN" i="1">
                        <a:latin typeface="Cambria Math" panose="02040503050406030204" pitchFamily="18" charset="0"/>
                      </a:rPr>
                      <m:t>𝑓</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r>
                      <a:rPr lang="en-US" altLang="zh-CN" i="1">
                        <a:latin typeface="Cambria Math" panose="02040503050406030204" pitchFamily="18" charset="0"/>
                      </a:rPr>
                      <m:t>𝑓</m:t>
                    </m:r>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1</m:t>
                        </m:r>
                      </m:num>
                      <m:den>
                        <m:r>
                          <a:rPr lang="en-US" altLang="zh-CN">
                            <a:latin typeface="Cambria Math" panose="02040503050406030204" pitchFamily="18" charset="0"/>
                          </a:rPr>
                          <m:t>2</m:t>
                        </m:r>
                        <m:r>
                          <a:rPr lang="en-US" altLang="zh-CN">
                            <a:latin typeface="Cambria Math" panose="02040503050406030204" pitchFamily="18" charset="0"/>
                          </a:rPr>
                          <m:t>!</m:t>
                        </m:r>
                      </m:den>
                    </m:f>
                    <m:r>
                      <a:rPr lang="en-US" altLang="zh-CN" i="1">
                        <a:latin typeface="Cambria Math" panose="02040503050406030204" pitchFamily="18" charset="0"/>
                      </a:rPr>
                      <m:t>𝑓</m:t>
                    </m:r>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a:latin typeface="Cambria Math" panose="02040503050406030204" pitchFamily="18" charset="0"/>
                          </a:rPr>
                          <m:t>2</m:t>
                        </m:r>
                      </m:sup>
                    </m:sSup>
                    <m:r>
                      <a:rPr lang="en-US" altLang="zh-CN">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𝑓</m:t>
                            </m:r>
                          </m:e>
                          <m:sup>
                            <m:r>
                              <a:rPr lang="en-US" altLang="zh-CN">
                                <a:latin typeface="Cambria Math" panose="02040503050406030204" pitchFamily="18" charset="0"/>
                              </a:rPr>
                              <m:t>(</m:t>
                            </m:r>
                            <m:r>
                              <a:rPr lang="en-US" altLang="zh-CN" i="1">
                                <a:latin typeface="Cambria Math" panose="02040503050406030204" pitchFamily="18" charset="0"/>
                              </a:rPr>
                              <m:t>𝑛</m:t>
                            </m:r>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num>
                      <m:den>
                        <m:r>
                          <a:rPr lang="en-US" altLang="zh-CN" i="1">
                            <a:latin typeface="Cambria Math" panose="02040503050406030204" pitchFamily="18" charset="0"/>
                          </a:rPr>
                          <m:t>𝑛</m:t>
                        </m:r>
                        <m:r>
                          <a:rPr lang="en-US" altLang="zh-CN">
                            <a:latin typeface="Cambria Math" panose="02040503050406030204" pitchFamily="18" charset="0"/>
                          </a:rPr>
                          <m:t>!</m:t>
                        </m:r>
                      </m:den>
                    </m:f>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𝑛</m:t>
                        </m:r>
                      </m:sup>
                    </m:sSup>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𝑛</m:t>
                        </m:r>
                      </m:sub>
                    </m:sSub>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oMath>
                </a14:m>
                <a:r>
                  <a:rPr lang="en-US" altLang="zh-CN" dirty="0"/>
                  <a:t>……</a:t>
                </a:r>
                <a:endParaRPr lang="zh-CN" altLang="zh-CN" dirty="0"/>
              </a:p>
              <a:p>
                <a:endParaRPr lang="zh-CN" altLang="zh-CN" dirty="0"/>
              </a:p>
            </p:txBody>
          </p:sp>
        </mc:Choice>
        <mc:Fallback>
          <p:sp>
            <p:nvSpPr>
              <p:cNvPr id="6" name="矩形 5"/>
              <p:cNvSpPr>
                <a:spLocks noRot="1" noChangeAspect="1" noMove="1" noResize="1" noEditPoints="1" noAdjustHandles="1" noChangeArrowheads="1" noChangeShapeType="1" noTextEdit="1"/>
              </p:cNvSpPr>
              <p:nvPr/>
            </p:nvSpPr>
            <p:spPr>
              <a:xfrm>
                <a:off x="781941" y="1953440"/>
                <a:ext cx="10196052" cy="4798173"/>
              </a:xfrm>
              <a:prstGeom prst="rect">
                <a:avLst/>
              </a:prstGeom>
              <a:blipFill rotWithShape="1">
                <a:blip r:embed="rId1"/>
                <a:stretch>
                  <a:fillRect l="-3" t="-4" r="1"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781941" y="1257747"/>
                <a:ext cx="7364362" cy="581057"/>
              </a:xfrm>
              <a:prstGeom prst="rect">
                <a:avLst/>
              </a:prstGeom>
            </p:spPr>
            <p:txBody>
              <a:bodyPr wrap="square">
                <a:spAutoFit/>
              </a:bodyPr>
              <a:lstStyle/>
              <a:p>
                <a:pPr>
                  <a:lnSpc>
                    <a:spcPct val="150000"/>
                  </a:lnSpc>
                  <a:spcBef>
                    <a:spcPts val="900"/>
                  </a:spcBef>
                  <a:spcAft>
                    <a:spcPts val="900"/>
                  </a:spcAft>
                </a:pPr>
                <a:r>
                  <a:rPr lang="zh-CN" altLang="zh-CN" sz="2400" kern="100" dirty="0">
                    <a:effectLst/>
                    <a:latin typeface="微软雅黑" panose="020B0503020204020204" pitchFamily="34" charset="-122"/>
                    <a:cs typeface="宋体" panose="02010600030101010101" pitchFamily="2" charset="-122"/>
                  </a:rPr>
                  <a:t>设函数</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𝑢</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zh-CN"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𝑣</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kern="100" dirty="0">
                    <a:effectLst/>
                    <a:latin typeface="微软雅黑" panose="020B0503020204020204" pitchFamily="34" charset="-122"/>
                    <a:cs typeface="宋体" panose="02010600030101010101" pitchFamily="2" charset="-122"/>
                  </a:rPr>
                  <a:t>在点</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𝑥</m:t>
                    </m:r>
                  </m:oMath>
                </a14:m>
                <a:r>
                  <a:rPr lang="zh-CN" altLang="zh-CN" sz="2400" kern="100" dirty="0">
                    <a:effectLst/>
                    <a:latin typeface="微软雅黑" panose="020B0503020204020204" pitchFamily="34" charset="-122"/>
                    <a:cs typeface="宋体" panose="02010600030101010101" pitchFamily="2" charset="-122"/>
                  </a:rPr>
                  <a:t>可导，则： </a:t>
                </a:r>
                <a:endParaRPr lang="zh-CN" altLang="zh-CN" sz="2400" kern="100" dirty="0">
                  <a:effectLst/>
                  <a:latin typeface="微软雅黑" panose="020B0503020204020204" pitchFamily="34" charset="-122"/>
                  <a:cs typeface="宋体" panose="02010600030101010101" pitchFamily="2" charset="-122"/>
                </a:endParaRPr>
              </a:p>
            </p:txBody>
          </p:sp>
        </mc:Choice>
        <mc:Fallback>
          <p:sp>
            <p:nvSpPr>
              <p:cNvPr id="7" name="矩形 6"/>
              <p:cNvSpPr>
                <a:spLocks noRot="1" noChangeAspect="1" noMove="1" noResize="1" noEditPoints="1" noAdjustHandles="1" noChangeArrowheads="1" noChangeShapeType="1" noTextEdit="1"/>
              </p:cNvSpPr>
              <p:nvPr/>
            </p:nvSpPr>
            <p:spPr>
              <a:xfrm>
                <a:off x="781941" y="1257747"/>
                <a:ext cx="7364362" cy="581057"/>
              </a:xfrm>
              <a:prstGeom prst="rect">
                <a:avLst/>
              </a:prstGeom>
              <a:blipFill rotWithShape="1">
                <a:blip r:embed="rId2"/>
                <a:stretch>
                  <a:fillRect l="-3" t="-77" r="7" b="-2213"/>
                </a:stretch>
              </a:blipFill>
            </p:spPr>
            <p:txBody>
              <a:bodyPr/>
              <a:lstStyle/>
              <a:p>
                <a:r>
                  <a:rPr lang="zh-CN" altLang="en-US">
                    <a:noFill/>
                  </a:rPr>
                  <a:t> </a:t>
                </a:r>
              </a:p>
            </p:txBody>
          </p:sp>
        </mc:Fallback>
      </mc:AlternateContent>
      <p:sp>
        <p:nvSpPr>
          <p:cNvPr id="12" name="文本框 22"/>
          <p:cNvSpPr txBox="1">
            <a:spLocks noChangeArrowheads="1"/>
          </p:cNvSpPr>
          <p:nvPr/>
        </p:nvSpPr>
        <p:spPr bwMode="auto">
          <a:xfrm>
            <a:off x="591466" y="287117"/>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泰勒公式</a:t>
            </a:r>
            <a:br>
              <a:rPr lang="zh-CN" altLang="en-US" dirty="0"/>
            </a:b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1243018" y="1784526"/>
                <a:ext cx="9851923" cy="3187155"/>
              </a:xfrm>
              <a:prstGeom prst="rect">
                <a:avLst/>
              </a:prstGeom>
            </p:spPr>
            <p:txBody>
              <a:bodyPr wrap="square">
                <a:spAutoFit/>
              </a:bodyPr>
              <a:lstStyle/>
              <a:p>
                <a:pPr>
                  <a:lnSpc>
                    <a:spcPct val="150000"/>
                  </a:lnSpc>
                  <a:spcBef>
                    <a:spcPts val="900"/>
                  </a:spcBef>
                  <a:spcAft>
                    <a:spcPts val="900"/>
                  </a:spcAft>
                </a:pPr>
                <a:r>
                  <a:rPr lang="zh-CN" altLang="zh-CN" sz="3200" b="1" kern="100" dirty="0">
                    <a:solidFill>
                      <a:srgbClr val="FF0000"/>
                    </a:solidFill>
                    <a:latin typeface="微软雅黑" panose="020B0503020204020204" pitchFamily="34" charset="-122"/>
                    <a:cs typeface="宋体" panose="02010600030101010101" pitchFamily="2" charset="-122"/>
                  </a:rPr>
                  <a:t>常用函数在</a:t>
                </a:r>
                <a14:m>
                  <m:oMath xmlns:m="http://schemas.openxmlformats.org/officeDocument/2006/math">
                    <m:sSub>
                      <m:sSubPr>
                        <m:ctrlPr>
                          <a:rPr lang="zh-CN" altLang="zh-CN" sz="3200" b="1" i="1" kern="100">
                            <a:solidFill>
                              <a:srgbClr val="FF0000"/>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3200" b="1" i="1" kern="100">
                            <a:solidFill>
                              <a:srgbClr val="FF0000"/>
                            </a:solidFill>
                            <a:effectLst/>
                            <a:latin typeface="Cambria Math" panose="02040503050406030204" pitchFamily="18" charset="0"/>
                            <a:ea typeface="宋体" panose="02010600030101010101" pitchFamily="2" charset="-122"/>
                            <a:cs typeface="宋体" panose="02010600030101010101" pitchFamily="2" charset="-122"/>
                          </a:rPr>
                          <m:t>𝒙</m:t>
                        </m:r>
                      </m:e>
                      <m:sub>
                        <m:r>
                          <a:rPr lang="en-US" altLang="zh-CN" sz="3200" b="1" i="1" kern="100">
                            <a:solidFill>
                              <a:srgbClr val="FF0000"/>
                            </a:solidFill>
                            <a:effectLst/>
                            <a:latin typeface="Cambria Math" panose="02040503050406030204" pitchFamily="18" charset="0"/>
                            <a:ea typeface="宋体" panose="02010600030101010101" pitchFamily="2" charset="-122"/>
                            <a:cs typeface="宋体" panose="02010600030101010101" pitchFamily="2" charset="-122"/>
                          </a:rPr>
                          <m:t>𝟎</m:t>
                        </m:r>
                      </m:sub>
                    </m:sSub>
                    <m:r>
                      <a:rPr lang="en-US" altLang="zh-CN" sz="3200" b="1" kern="100">
                        <a:solidFill>
                          <a:srgbClr val="FF0000"/>
                        </a:solidFill>
                        <a:effectLst/>
                        <a:latin typeface="Cambria Math" panose="02040503050406030204" pitchFamily="18" charset="0"/>
                        <a:ea typeface="宋体" panose="02010600030101010101" pitchFamily="2" charset="-122"/>
                        <a:cs typeface="宋体" panose="02010600030101010101" pitchFamily="2" charset="-122"/>
                      </a:rPr>
                      <m:t>=</m:t>
                    </m:r>
                    <m:r>
                      <a:rPr lang="en-US" altLang="zh-CN" sz="3200" b="1" i="1" kern="100">
                        <a:solidFill>
                          <a:srgbClr val="FF0000"/>
                        </a:solidFill>
                        <a:effectLst/>
                        <a:latin typeface="Cambria Math" panose="02040503050406030204" pitchFamily="18" charset="0"/>
                        <a:ea typeface="宋体" panose="02010600030101010101" pitchFamily="2" charset="-122"/>
                        <a:cs typeface="宋体" panose="02010600030101010101" pitchFamily="2" charset="-122"/>
                      </a:rPr>
                      <m:t>𝟎</m:t>
                    </m:r>
                  </m:oMath>
                </a14:m>
                <a:r>
                  <a:rPr lang="zh-CN" altLang="zh-CN" sz="3200" b="1" kern="100" dirty="0">
                    <a:solidFill>
                      <a:srgbClr val="FF0000"/>
                    </a:solidFill>
                    <a:effectLst/>
                    <a:latin typeface="微软雅黑" panose="020B0503020204020204" pitchFamily="34" charset="-122"/>
                    <a:cs typeface="宋体" panose="02010600030101010101" pitchFamily="2" charset="-122"/>
                  </a:rPr>
                  <a:t>处的泰勒公式 ：</a:t>
                </a:r>
                <a:endParaRPr lang="zh-CN" altLang="zh-CN" sz="3200" b="1" kern="100" dirty="0">
                  <a:solidFill>
                    <a:srgbClr val="FF0000"/>
                  </a:solidFill>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effectLst/>
                    <a:latin typeface="微软雅黑" panose="020B0503020204020204" pitchFamily="34" charset="-122"/>
                    <a:cs typeface="宋体" panose="02010600030101010101" pitchFamily="2" charset="-122"/>
                  </a:rPr>
                  <a:t>1) </a:t>
                </a:r>
                <a14:m>
                  <m:oMath xmlns:m="http://schemas.openxmlformats.org/officeDocument/2006/math">
                    <m:sSup>
                      <m:sSupPr>
                        <m:ctrlPr>
                          <a:rPr lang="zh-CN" altLang="zh-CN" sz="2800" i="1" kern="100" smtClean="0">
                            <a:effectLst/>
                            <a:latin typeface="Cambria Math" panose="02040503050406030204" pitchFamily="18" charset="0"/>
                            <a:ea typeface="Cambria Math" panose="02040503050406030204" pitchFamily="18" charset="0"/>
                            <a:cs typeface="宋体" panose="02010600030101010101" pitchFamily="2" charset="-122"/>
                          </a:rPr>
                        </m:ctrlPr>
                      </m:sSupPr>
                      <m:e>
                        <m:r>
                          <m:rPr>
                            <m:sty m:val="p"/>
                          </m:rPr>
                          <a:rPr lang="en-US" altLang="zh-CN" sz="2800" kern="100">
                            <a:effectLst/>
                            <a:latin typeface="Cambria Math" panose="02040503050406030204" pitchFamily="18" charset="0"/>
                            <a:ea typeface="宋体" panose="02010600030101010101" pitchFamily="2" charset="-122"/>
                            <a:cs typeface="宋体" panose="02010600030101010101" pitchFamily="2" charset="-122"/>
                          </a:rPr>
                          <m:t>e</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den>
                    </m:f>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den>
                    </m:f>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𝑜</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000" kern="100" dirty="0">
                    <a:effectLst/>
                    <a:latin typeface="微软雅黑" panose="020B0503020204020204" pitchFamily="34" charset="-122"/>
                    <a:cs typeface="宋体" panose="02010600030101010101" pitchFamily="2" charset="-122"/>
                  </a:rPr>
                  <a:t> </a:t>
                </a:r>
                <a:endParaRPr lang="zh-CN" altLang="zh-CN" sz="20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effectLst/>
                    <a:latin typeface="微软雅黑" panose="020B0503020204020204" pitchFamily="34" charset="-122"/>
                    <a:cs typeface="宋体" panose="02010600030101010101" pitchFamily="2" charset="-122"/>
                  </a:rPr>
                  <a:t>2</a:t>
                </a:r>
                <a:r>
                  <a:rPr lang="en-US" altLang="zh-CN" sz="2000" kern="100" dirty="0">
                    <a:effectLst/>
                    <a:latin typeface="微软雅黑" panose="020B0503020204020204" pitchFamily="34" charset="-122"/>
                    <a:cs typeface="宋体" panose="02010600030101010101" pitchFamily="2" charset="-122"/>
                  </a:rPr>
                  <a:t>) </a:t>
                </a:r>
                <a14:m>
                  <m:oMath xmlns:m="http://schemas.openxmlformats.org/officeDocument/2006/math">
                    <m:r>
                      <m:rPr>
                        <m:sty m:val="p"/>
                      </m:rPr>
                      <a:rPr lang="en-US" altLang="zh-CN" sz="2800" kern="100">
                        <a:effectLst/>
                        <a:latin typeface="Cambria Math" panose="02040503050406030204" pitchFamily="18" charset="0"/>
                        <a:ea typeface="宋体" panose="02010600030101010101" pitchFamily="2" charset="-122"/>
                        <a:cs typeface="宋体" panose="02010600030101010101" pitchFamily="2" charset="-122"/>
                      </a:rPr>
                      <m:t>ln</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2</m:t>
                        </m:r>
                      </m:den>
                    </m:f>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num>
                      <m:den>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3</m:t>
                        </m:r>
                      </m:den>
                    </m:f>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3</m:t>
                        </m:r>
                      </m:sup>
                    </m:s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1</m:t>
                        </m:r>
                      </m:sup>
                    </m:sSup>
                    <m:f>
                      <m:f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fPr>
                      <m:num>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sup>
                        </m:sSup>
                      </m:num>
                      <m:den>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den>
                    </m:f>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𝑜</m:t>
                    </m:r>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cs typeface="宋体" panose="02010600030101010101" pitchFamily="2" charset="-122"/>
                          </a:rPr>
                          <m:t>𝑛</m:t>
                        </m:r>
                      </m:sup>
                    </m:sSup>
                    <m:r>
                      <a:rPr lang="en-US" altLang="zh-CN" sz="2800"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000" kern="100" dirty="0">
                    <a:effectLst/>
                    <a:latin typeface="微软雅黑" panose="020B0503020204020204" pitchFamily="34" charset="-122"/>
                    <a:cs typeface="宋体" panose="02010600030101010101" pitchFamily="2" charset="-122"/>
                  </a:rPr>
                  <a:t> </a:t>
                </a:r>
                <a:endParaRPr lang="zh-CN" altLang="zh-CN" sz="2000" kern="100" dirty="0">
                  <a:effectLst/>
                  <a:latin typeface="微软雅黑" panose="020B0503020204020204" pitchFamily="34" charset="-122"/>
                  <a:cs typeface="宋体" panose="02010600030101010101" pitchFamily="2" charset="-122"/>
                </a:endParaRPr>
              </a:p>
            </p:txBody>
          </p:sp>
        </mc:Choice>
        <mc:Fallback>
          <p:sp>
            <p:nvSpPr>
              <p:cNvPr id="2" name="矩形 1"/>
              <p:cNvSpPr>
                <a:spLocks noRot="1" noChangeAspect="1" noMove="1" noResize="1" noEditPoints="1" noAdjustHandles="1" noChangeArrowheads="1" noChangeShapeType="1" noTextEdit="1"/>
              </p:cNvSpPr>
              <p:nvPr/>
            </p:nvSpPr>
            <p:spPr>
              <a:xfrm>
                <a:off x="1243018" y="1784526"/>
                <a:ext cx="9851923" cy="3187155"/>
              </a:xfrm>
              <a:prstGeom prst="rect">
                <a:avLst/>
              </a:prstGeom>
              <a:blipFill rotWithShape="1">
                <a:blip r:embed="rId1"/>
                <a:stretch>
                  <a:fillRect l="-3" t="-6" r="2" b="8"/>
                </a:stretch>
              </a:blipFill>
            </p:spPr>
            <p:txBody>
              <a:bodyPr/>
              <a:lstStyle/>
              <a:p>
                <a:r>
                  <a:rPr lang="zh-CN" altLang="en-US">
                    <a:noFill/>
                  </a:rPr>
                  <a:t> </a:t>
                </a:r>
              </a:p>
            </p:txBody>
          </p:sp>
        </mc:Fallback>
      </mc:AlternateContent>
      <p:sp>
        <p:nvSpPr>
          <p:cNvPr id="14" name="文本框 22"/>
          <p:cNvSpPr txBox="1">
            <a:spLocks noChangeArrowheads="1"/>
          </p:cNvSpPr>
          <p:nvPr/>
        </p:nvSpPr>
        <p:spPr bwMode="auto">
          <a:xfrm>
            <a:off x="726610" y="252912"/>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高等数学</a:t>
            </a:r>
            <a:r>
              <a:rPr lang="en-US" altLang="zh-CN" dirty="0"/>
              <a:t>-</a:t>
            </a:r>
            <a:r>
              <a:rPr lang="zh-CN" altLang="en-US" dirty="0"/>
              <a:t>泰勒公式</a:t>
            </a:r>
            <a:br>
              <a:rPr lang="zh-CN" altLang="en-US" dirty="0"/>
            </a:b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34328" y="31319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线性代数</a:t>
            </a:r>
            <a:r>
              <a:rPr lang="en-US" altLang="zh-CN" dirty="0"/>
              <a:t>-</a:t>
            </a:r>
            <a:r>
              <a:rPr lang="zh-CN" altLang="en-US" dirty="0"/>
              <a:t>行列式</a:t>
            </a:r>
            <a:br>
              <a:rPr lang="zh-CN" altLang="en-US" dirty="0"/>
            </a:br>
            <a:endParaRPr lang="zh-CN" altLang="en-US" dirty="0"/>
          </a:p>
        </p:txBody>
      </p:sp>
      <p:sp>
        <p:nvSpPr>
          <p:cNvPr id="2" name="文本框 1"/>
          <p:cNvSpPr txBox="1"/>
          <p:nvPr/>
        </p:nvSpPr>
        <p:spPr>
          <a:xfrm>
            <a:off x="5638800" y="2974258"/>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634328" y="1451242"/>
                <a:ext cx="5176537" cy="5174815"/>
              </a:xfrm>
              <a:prstGeom prst="rect">
                <a:avLst/>
              </a:prstGeom>
            </p:spPr>
            <p:txBody>
              <a:bodyPr wrap="square">
                <a:spAutoFit/>
              </a:bodyPr>
              <a:lstStyle/>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设</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d>
                          <m:d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e>
                        </m:d>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oMath>
                </a14:m>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𝑖𝑛</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𝑗𝑛</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e>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
                      </m:e>
                    </m:d>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或</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e>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
                      </m:e>
                    </m:d>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即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其中：</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14:m>
                  <m:oMath xmlns:m="http://schemas.openxmlformats.org/officeDocument/2006/math">
                    <m:sSup>
                      <m:sSup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d>
                      <m:d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dPr>
                      <m:e>
                        <m:m>
                          <m:mPr>
                            <m:mcs>
                              <m:mc>
                                <m:mcPr>
                                  <m:count m:val="4"/>
                                  <m:mcJc m:val="center"/>
                                </m:mcPr>
                              </m:mc>
                            </m:mcs>
                            <m:plcHide m:val="on"/>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11</m:t>
                                  </m:r>
                                </m:sub>
                              </m:sSub>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21</m:t>
                                  </m:r>
                                </m:sub>
                              </m:sSub>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𝑛</m:t>
                                  </m:r>
                                  <m:r>
                                    <a:rPr lang="en-US" altLang="zh-CN" sz="1800" i="1" kern="100">
                                      <a:latin typeface="Cambria Math" panose="02040503050406030204" pitchFamily="18" charset="0"/>
                                      <a:ea typeface="宋体" panose="02010600030101010101" pitchFamily="2" charset="-122"/>
                                      <a:cs typeface="宋体" panose="02010600030101010101" pitchFamily="2" charset="-122"/>
                                    </a:rPr>
                                    <m:t>1</m:t>
                                  </m:r>
                                </m:sub>
                              </m:sSub>
                            </m:e>
                          </m:mr>
                          <m:mr>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12</m:t>
                                  </m:r>
                                </m:sub>
                              </m:sSub>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22</m:t>
                                  </m:r>
                                </m:sub>
                              </m:sSub>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𝑛</m:t>
                                  </m:r>
                                  <m:r>
                                    <a:rPr lang="en-US" altLang="zh-CN" sz="1800" i="1" kern="100">
                                      <a:latin typeface="Cambria Math" panose="02040503050406030204" pitchFamily="18" charset="0"/>
                                      <a:ea typeface="宋体" panose="02010600030101010101" pitchFamily="2" charset="-122"/>
                                      <a:cs typeface="宋体" panose="02010600030101010101" pitchFamily="2" charset="-122"/>
                                    </a:rPr>
                                    <m:t>2</m:t>
                                  </m:r>
                                </m:sub>
                              </m:sSub>
                            </m:e>
                          </m:mr>
                          <m:mr>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mr>
                          <m:mr>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latin typeface="Cambria Math" panose="02040503050406030204" pitchFamily="18" charset="0"/>
                                      <a:ea typeface="宋体" panose="02010600030101010101" pitchFamily="2" charset="-122"/>
                                      <a:cs typeface="宋体" panose="02010600030101010101" pitchFamily="2" charset="-122"/>
                                    </a:rPr>
                                    <m:t>𝑛</m:t>
                                  </m:r>
                                </m:sub>
                              </m:sSub>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latin typeface="Cambria Math" panose="02040503050406030204" pitchFamily="18" charset="0"/>
                                      <a:ea typeface="宋体" panose="02010600030101010101" pitchFamily="2" charset="-122"/>
                                      <a:cs typeface="宋体" panose="02010600030101010101" pitchFamily="2" charset="-122"/>
                                    </a:rPr>
                                    <m:t>𝑛</m:t>
                                  </m:r>
                                </m:sub>
                              </m:sSub>
                            </m:e>
                            <m:e>
                              <m:r>
                                <a:rPr lang="en-US" altLang="zh-CN" sz="1800" i="1" kern="100">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latin typeface="Cambria Math" panose="02040503050406030204" pitchFamily="18" charset="0"/>
                                      <a:ea typeface="宋体" panose="02010600030101010101" pitchFamily="2" charset="-122"/>
                                      <a:cs typeface="宋体" panose="02010600030101010101" pitchFamily="2" charset="-122"/>
                                    </a:rPr>
                                    <m:t>𝑛𝑛</m:t>
                                  </m:r>
                                </m:sub>
                              </m:sSub>
                            </m:e>
                          </m:mr>
                        </m:m>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𝑗𝑖</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𝑇</m:t>
                        </m:r>
                      </m:sup>
                    </m:sSup>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634328" y="1451242"/>
                <a:ext cx="5176537" cy="5174815"/>
              </a:xfrm>
              <a:prstGeom prst="rect">
                <a:avLst/>
              </a:prstGeom>
              <a:blipFill rotWithShape="1">
                <a:blip r:embed="rId1"/>
                <a:stretch>
                  <a:fillRect l="-12" t="-5" r="12"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6160394" y="1713504"/>
                <a:ext cx="5801032" cy="3875228"/>
              </a:xfrm>
              <a:prstGeom prst="rect">
                <a:avLst/>
              </a:prstGeom>
            </p:spPr>
            <p:txBody>
              <a:bodyPr wrap="square">
                <a:spAutoFit/>
              </a:bodyPr>
              <a:lstStyle/>
              <a:p>
                <a:pPr marL="143510">
                  <a:spcBef>
                    <a:spcPts val="1235"/>
                  </a:spcBef>
                  <a:spcAft>
                    <a:spcPts val="0"/>
                  </a:spcAft>
                </a:pPr>
                <a:r>
                  <a:rPr lang="zh-CN" altLang="en-US" b="1" dirty="0">
                    <a:solidFill>
                      <a:srgbClr val="3B6CDE"/>
                    </a:solidFill>
                    <a:latin typeface="+mj-ea"/>
                    <a:ea typeface="+mj-ea"/>
                    <a:cs typeface="仿宋" panose="02010609060101010101" pitchFamily="49" charset="-122"/>
                  </a:rPr>
                  <a:t>行</a:t>
                </a:r>
                <a:r>
                  <a:rPr lang="en-US" altLang="zh-CN" b="1" dirty="0" err="1">
                    <a:solidFill>
                      <a:srgbClr val="3B6CDE"/>
                    </a:solidFill>
                    <a:latin typeface="+mj-ea"/>
                    <a:ea typeface="+mj-ea"/>
                    <a:cs typeface="仿宋" panose="02010609060101010101" pitchFamily="49" charset="-122"/>
                  </a:rPr>
                  <a:t>列式的性质</a:t>
                </a:r>
                <a:r>
                  <a:rPr lang="en-US" altLang="zh-CN" b="1" dirty="0">
                    <a:solidFill>
                      <a:srgbClr val="3B6CDE"/>
                    </a:solidFill>
                    <a:latin typeface="+mj-ea"/>
                    <a:ea typeface="+mj-ea"/>
                    <a:cs typeface="仿宋" panose="02010609060101010101" pitchFamily="49" charset="-122"/>
                  </a:rPr>
                  <a:t> </a:t>
                </a:r>
                <a:endParaRPr lang="en-US" altLang="zh-CN" b="1" dirty="0">
                  <a:latin typeface="+mj-ea"/>
                  <a:ea typeface="+mj-ea"/>
                  <a:cs typeface="仿宋" panose="02010609060101010101" pitchFamily="49" charset="-122"/>
                </a:endParaRPr>
              </a:p>
              <a:p>
                <a:pPr marL="143510">
                  <a:spcBef>
                    <a:spcPts val="1235"/>
                  </a:spcBef>
                  <a:spcAft>
                    <a:spcPts val="0"/>
                  </a:spcAft>
                </a:pPr>
                <a:r>
                  <a:rPr lang="en-US" altLang="zh-CN" sz="2000" dirty="0" err="1">
                    <a:latin typeface="+mj-ea"/>
                    <a:ea typeface="+mj-ea"/>
                    <a:cs typeface="仿宋" panose="02010609060101010101" pitchFamily="49" charset="-122"/>
                  </a:rPr>
                  <a:t>单位阵的行列式为1，</a:t>
                </a:r>
                <a14:m>
                  <m:oMath xmlns:m="http://schemas.openxmlformats.org/officeDocument/2006/math">
                    <m:r>
                      <m:rPr>
                        <m:sty m:val="p"/>
                      </m:rPr>
                      <a:rPr lang="en-US" altLang="zh-CN" sz="2000" i="1" dirty="0" smtClean="0">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仿宋" panose="02010609060101010101" pitchFamily="49" charset="-122"/>
                      </a:rPr>
                      <m:t>𝐼</m:t>
                    </m:r>
                    <m:r>
                      <a:rPr lang="en-US" altLang="zh-CN" sz="2000" i="1" dirty="0">
                        <a:latin typeface="Cambria Math" panose="02040503050406030204" pitchFamily="18" charset="0"/>
                        <a:ea typeface="+mj-ea"/>
                        <a:cs typeface="仿宋" panose="02010609060101010101" pitchFamily="49" charset="-122"/>
                      </a:rPr>
                      <m:t>) = </m:t>
                    </m:r>
                    <m:r>
                      <a:rPr lang="en-US" altLang="zh-CN" sz="2000" i="1" dirty="0">
                        <a:latin typeface="Cambria Math" panose="02040503050406030204" pitchFamily="18" charset="0"/>
                        <a:ea typeface="+mj-ea"/>
                        <a:cs typeface="仿宋" panose="02010609060101010101" pitchFamily="49" charset="-122"/>
                      </a:rPr>
                      <m:t>1</m:t>
                    </m:r>
                  </m:oMath>
                </a14:m>
                <a:r>
                  <a:rPr lang="en-US" altLang="zh-CN" sz="2000" dirty="0">
                    <a:latin typeface="+mj-ea"/>
                    <a:ea typeface="+mj-ea"/>
                    <a:cs typeface="仿宋" panose="02010609060101010101" pitchFamily="49" charset="-122"/>
                  </a:rPr>
                  <a:t>.</a:t>
                </a:r>
                <a:endParaRPr lang="zh-CN" altLang="zh-CN" sz="1100" dirty="0">
                  <a:latin typeface="+mj-ea"/>
                  <a:ea typeface="+mj-ea"/>
                  <a:cs typeface="仿宋" panose="02010609060101010101" pitchFamily="49" charset="-122"/>
                </a:endParaRPr>
              </a:p>
              <a:p>
                <a:pPr marL="342900" marR="142240" lvl="0" indent="-342900">
                  <a:lnSpc>
                    <a:spcPct val="150000"/>
                  </a:lnSpc>
                  <a:spcBef>
                    <a:spcPts val="380"/>
                  </a:spcBef>
                  <a:spcAft>
                    <a:spcPts val="0"/>
                  </a:spcAft>
                  <a:buClr>
                    <a:srgbClr val="0E1A35"/>
                  </a:buClr>
                  <a:buSzPts val="1500"/>
                  <a:buFont typeface="Wingdings" panose="05000000000000000000" pitchFamily="2" charset="2"/>
                  <a:buChar char="l"/>
                  <a:tabLst>
                    <a:tab pos="428625" algn="l"/>
                    <a:tab pos="429260" algn="l"/>
                  </a:tabLst>
                </a:pPr>
                <a:r>
                  <a:rPr lang="en-US" altLang="zh-CN" sz="2000" spc="25" dirty="0" err="1">
                    <a:latin typeface="+mj-ea"/>
                    <a:ea typeface="+mj-ea"/>
                    <a:cs typeface="MS UI Gothic" panose="020B0600070205080204" pitchFamily="34" charset="-128"/>
                  </a:rPr>
                  <a:t>行列式的某一行</a:t>
                </a:r>
                <a:r>
                  <a:rPr lang="en-US" altLang="zh-CN" sz="2000" dirty="0" err="1">
                    <a:latin typeface="+mj-ea"/>
                    <a:ea typeface="+mj-ea"/>
                    <a:cs typeface="MS UI Gothic" panose="020B0600070205080204" pitchFamily="34" charset="-128"/>
                  </a:rPr>
                  <a:t>（列</a:t>
                </a:r>
                <a:r>
                  <a:rPr lang="en-US" altLang="zh-CN" sz="2000" spc="25" dirty="0" err="1">
                    <a:latin typeface="+mj-ea"/>
                    <a:ea typeface="+mj-ea"/>
                    <a:cs typeface="MS UI Gothic" panose="020B0600070205080204" pitchFamily="34" charset="-128"/>
                  </a:rPr>
                  <a:t>）的所有的元素都乘以同一数</a:t>
                </a:r>
                <a14:m>
                  <m:oMath xmlns:m="http://schemas.openxmlformats.org/officeDocument/2006/math">
                    <m:r>
                      <a:rPr lang="en-US" altLang="zh-CN" sz="2000" i="1" spc="25" dirty="0" smtClean="0">
                        <a:latin typeface="Cambria Math" panose="02040503050406030204" pitchFamily="18" charset="0"/>
                        <a:ea typeface="+mj-ea"/>
                        <a:cs typeface="MS UI Gothic" panose="020B0600070205080204" pitchFamily="34" charset="-128"/>
                      </a:rPr>
                      <m:t>𝑘</m:t>
                    </m:r>
                  </m:oMath>
                </a14:m>
                <a:r>
                  <a:rPr lang="en-US" altLang="zh-CN" sz="2000" dirty="0" err="1">
                    <a:latin typeface="+mj-ea"/>
                    <a:ea typeface="+mj-ea"/>
                    <a:cs typeface="MS UI Gothic" panose="020B0600070205080204" pitchFamily="34" charset="-128"/>
                  </a:rPr>
                  <a:t>，等于用数</a:t>
                </a:r>
                <a14:m>
                  <m:oMath xmlns:m="http://schemas.openxmlformats.org/officeDocument/2006/math">
                    <m:r>
                      <a:rPr lang="en-US" altLang="zh-CN" sz="2000" i="1" spc="50" dirty="0" smtClean="0">
                        <a:latin typeface="Cambria Math" panose="02040503050406030204" pitchFamily="18" charset="0"/>
                        <a:ea typeface="+mj-ea"/>
                        <a:cs typeface="MS UI Gothic" panose="020B0600070205080204" pitchFamily="34" charset="-128"/>
                      </a:rPr>
                      <m:t>𝑘</m:t>
                    </m:r>
                  </m:oMath>
                </a14:m>
                <a:r>
                  <a:rPr lang="en-US" altLang="zh-CN" sz="2000" dirty="0" err="1">
                    <a:latin typeface="+mj-ea"/>
                    <a:ea typeface="+mj-ea"/>
                    <a:cs typeface="MS UI Gothic" panose="020B0600070205080204" pitchFamily="34" charset="-128"/>
                  </a:rPr>
                  <a:t>乘此行列式</a:t>
                </a:r>
                <a:r>
                  <a:rPr lang="zh-CN" altLang="en-US" sz="2000" dirty="0">
                    <a:latin typeface="+mj-ea"/>
                    <a:ea typeface="+mj-ea"/>
                    <a:cs typeface="MS UI Gothic" panose="020B0600070205080204" pitchFamily="34" charset="-128"/>
                  </a:rPr>
                  <a:t>。</a:t>
                </a:r>
                <a:endParaRPr lang="zh-CN" altLang="zh-CN" sz="1100" dirty="0">
                  <a:latin typeface="+mj-ea"/>
                  <a:ea typeface="+mj-ea"/>
                  <a:cs typeface="MS UI Gothic" panose="020B0600070205080204" pitchFamily="34" charset="-128"/>
                </a:endParaRPr>
              </a:p>
              <a:p>
                <a:pPr marL="342900" lvl="0" indent="-342900">
                  <a:lnSpc>
                    <a:spcPct val="150000"/>
                  </a:lnSpc>
                  <a:spcAft>
                    <a:spcPts val="0"/>
                  </a:spcAft>
                  <a:buClr>
                    <a:srgbClr val="0E1A35"/>
                  </a:buClr>
                  <a:buSzPts val="1500"/>
                  <a:buFont typeface="Wingdings" panose="05000000000000000000" pitchFamily="2" charset="2"/>
                  <a:buChar char="l"/>
                  <a:tabLst>
                    <a:tab pos="388620" algn="l"/>
                  </a:tabLst>
                </a:pPr>
                <a14:m>
                  <m:oMath xmlns:m="http://schemas.openxmlformats.org/officeDocument/2006/math">
                    <m:r>
                      <a:rPr lang="en-US" altLang="zh-CN" sz="2000" i="1" dirty="0" smtClean="0">
                        <a:latin typeface="Cambria Math" panose="02040503050406030204" pitchFamily="18" charset="0"/>
                        <a:ea typeface="+mj-ea"/>
                        <a:cs typeface="MS UI Gothic" panose="020B0600070205080204" pitchFamily="34" charset="-128"/>
                      </a:rPr>
                      <m:t>𝐴</m:t>
                    </m:r>
                    <m:r>
                      <a:rPr lang="en-US" altLang="zh-CN" sz="1800" i="1" kern="100" smtClean="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a:effectLst/>
                            <a:latin typeface="Cambria Math" panose="02040503050406030204" pitchFamily="18" charset="0"/>
                            <a:ea typeface="Cambria Math" panose="020405030504060302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p>
                    </m:sSup>
                  </m:oMath>
                </a14:m>
                <a:r>
                  <a:rPr lang="en-US" altLang="zh-CN" sz="2000" i="1" dirty="0">
                    <a:latin typeface="+mj-ea"/>
                    <a:ea typeface="+mj-ea"/>
                    <a:cs typeface="MS UI Gothic" panose="020B0600070205080204" pitchFamily="34" charset="-128"/>
                  </a:rPr>
                  <a:t>,</a:t>
                </a:r>
                <a:r>
                  <a:rPr lang="en-US" altLang="zh-CN" sz="2000" i="1" spc="-245" dirty="0">
                    <a:latin typeface="+mj-ea"/>
                    <a:ea typeface="+mj-ea"/>
                    <a:cs typeface="MS UI Gothic" panose="020B0600070205080204" pitchFamily="34" charset="-128"/>
                  </a:rPr>
                  <a:t> </a:t>
                </a:r>
                <a14:m>
                  <m:oMath xmlns:m="http://schemas.openxmlformats.org/officeDocument/2006/math">
                    <m:r>
                      <m:rPr>
                        <m:sty m:val="p"/>
                      </m:rPr>
                      <a:rPr lang="en-US" altLang="zh-CN" sz="2000" i="1" dirty="0" smtClean="0">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𝐴</m:t>
                    </m:r>
                    <m:r>
                      <a:rPr lang="en-US" altLang="zh-CN" sz="2000" i="1" dirty="0">
                        <a:latin typeface="Cambria Math" panose="02040503050406030204" pitchFamily="18" charset="0"/>
                        <a:ea typeface="+mj-ea"/>
                        <a:cs typeface="仿宋" panose="02010609060101010101" pitchFamily="49" charset="-122"/>
                      </a:rPr>
                      <m:t>)</m:t>
                    </m:r>
                    <m:r>
                      <a:rPr lang="en-US" altLang="zh-CN" sz="2000" i="1" spc="-110" dirty="0">
                        <a:latin typeface="Cambria Math" panose="02040503050406030204" pitchFamily="18" charset="0"/>
                        <a:ea typeface="+mj-ea"/>
                        <a:cs typeface="仿宋" panose="02010609060101010101" pitchFamily="49" charset="-122"/>
                      </a:rPr>
                      <m:t> </m:t>
                    </m:r>
                    <m:r>
                      <a:rPr lang="en-US" altLang="zh-CN" sz="2000" i="1" dirty="0">
                        <a:latin typeface="Cambria Math" panose="02040503050406030204" pitchFamily="18" charset="0"/>
                        <a:ea typeface="+mj-ea"/>
                        <a:cs typeface="仿宋" panose="02010609060101010101" pitchFamily="49" charset="-122"/>
                      </a:rPr>
                      <m:t>=</m:t>
                    </m:r>
                    <m:r>
                      <a:rPr lang="en-US" altLang="zh-CN" sz="2000" i="1" spc="-110" dirty="0">
                        <a:latin typeface="Cambria Math" panose="02040503050406030204" pitchFamily="18" charset="0"/>
                        <a:ea typeface="+mj-ea"/>
                        <a:cs typeface="仿宋" panose="02010609060101010101" pitchFamily="49" charset="-122"/>
                      </a:rPr>
                      <m:t> </m:t>
                    </m:r>
                    <m:r>
                      <m:rPr>
                        <m:sty m:val="p"/>
                      </m:rPr>
                      <a:rPr lang="en-US" altLang="zh-CN" sz="2000" i="1" dirty="0" err="1">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𝐴</m:t>
                    </m:r>
                    <m:r>
                      <m:rPr>
                        <m:sty m:val="p"/>
                      </m:rPr>
                      <a:rPr lang="en-US" altLang="zh-CN" sz="2000" i="0" baseline="30000" dirty="0">
                        <a:latin typeface="Cambria Math" panose="02040503050406030204" pitchFamily="18" charset="0"/>
                        <a:ea typeface="+mj-ea"/>
                        <a:cs typeface="MS UI Gothic" panose="020B0600070205080204" pitchFamily="34" charset="-128"/>
                      </a:rPr>
                      <m:t>T</m:t>
                    </m:r>
                    <m:r>
                      <a:rPr lang="en-US" altLang="zh-CN" sz="1050" i="1" spc="-185" dirty="0">
                        <a:latin typeface="Cambria Math" panose="02040503050406030204" pitchFamily="18" charset="0"/>
                        <a:ea typeface="+mj-ea"/>
                        <a:cs typeface="MS UI Gothic" panose="020B0600070205080204" pitchFamily="34" charset="-128"/>
                      </a:rPr>
                      <m:t> </m:t>
                    </m:r>
                    <m:r>
                      <a:rPr lang="en-US" altLang="zh-CN" sz="2000" i="1" dirty="0">
                        <a:latin typeface="Cambria Math" panose="02040503050406030204" pitchFamily="18" charset="0"/>
                        <a:ea typeface="+mj-ea"/>
                        <a:cs typeface="仿宋" panose="02010609060101010101" pitchFamily="49" charset="-122"/>
                      </a:rPr>
                      <m:t>)</m:t>
                    </m:r>
                  </m:oMath>
                </a14:m>
                <a:r>
                  <a:rPr lang="en-US" altLang="zh-CN" sz="2000" dirty="0">
                    <a:latin typeface="+mj-ea"/>
                    <a:ea typeface="+mj-ea"/>
                    <a:cs typeface="MS UI Gothic" panose="020B0600070205080204" pitchFamily="34" charset="-128"/>
                  </a:rPr>
                  <a:t>.</a:t>
                </a:r>
                <a:endParaRPr lang="zh-CN" altLang="zh-CN" sz="1100" dirty="0">
                  <a:latin typeface="+mj-ea"/>
                  <a:ea typeface="+mj-ea"/>
                  <a:cs typeface="MS UI Gothic" panose="020B0600070205080204" pitchFamily="34" charset="-128"/>
                </a:endParaRPr>
              </a:p>
              <a:p>
                <a:pPr marL="342900" lvl="0" indent="-342900">
                  <a:lnSpc>
                    <a:spcPct val="150000"/>
                  </a:lnSpc>
                  <a:spcBef>
                    <a:spcPts val="405"/>
                  </a:spcBef>
                  <a:spcAft>
                    <a:spcPts val="0"/>
                  </a:spcAft>
                  <a:buClr>
                    <a:srgbClr val="0E1A35"/>
                  </a:buClr>
                  <a:buSzPts val="1500"/>
                  <a:buFont typeface="Wingdings" panose="05000000000000000000" pitchFamily="2" charset="2"/>
                  <a:buChar char="l"/>
                  <a:tabLst>
                    <a:tab pos="388620" algn="l"/>
                  </a:tabLst>
                </a:pPr>
                <a14:m>
                  <m:oMath xmlns:m="http://schemas.openxmlformats.org/officeDocument/2006/math">
                    <m:r>
                      <a:rPr lang="en-US" altLang="zh-CN" sz="2000" i="1" dirty="0" smtClean="0">
                        <a:latin typeface="Cambria Math" panose="02040503050406030204" pitchFamily="18" charset="0"/>
                        <a:ea typeface="+mj-ea"/>
                        <a:cs typeface="MS UI Gothic" panose="020B0600070205080204" pitchFamily="34" charset="-128"/>
                      </a:rPr>
                      <m:t>𝐴</m:t>
                    </m:r>
                    <m:r>
                      <a:rPr lang="en-US" altLang="zh-CN" sz="2000" i="1" dirty="0" smtClean="0">
                        <a:latin typeface="Cambria Math" panose="02040503050406030204" pitchFamily="18" charset="0"/>
                        <a:ea typeface="+mj-ea"/>
                        <a:cs typeface="MS UI Gothic" panose="020B0600070205080204" pitchFamily="34" charset="-128"/>
                      </a:rPr>
                      <m:t>, </m:t>
                    </m:r>
                    <m:r>
                      <a:rPr lang="en-US" altLang="zh-CN" sz="2000" i="1" dirty="0" smtClean="0">
                        <a:latin typeface="Cambria Math" panose="02040503050406030204" pitchFamily="18" charset="0"/>
                        <a:ea typeface="+mj-ea"/>
                        <a:cs typeface="MS UI Gothic" panose="020B0600070205080204" pitchFamily="34" charset="-128"/>
                      </a:rPr>
                      <m:t>𝐵</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m:ctrlPr>
                      </m:sSupPr>
                      <m:e>
                        <m:r>
                          <a:rPr lang="en-US" altLang="zh-CN" i="1">
                            <a:latin typeface="Cambria Math" panose="02040503050406030204" pitchFamily="18" charset="0"/>
                          </a:rPr>
                          <m:t>ℝ</m:t>
                        </m:r>
                      </m:e>
                      <m:sup>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sup>
                    </m:sSup>
                  </m:oMath>
                </a14:m>
                <a:r>
                  <a:rPr lang="en-US" altLang="zh-CN" sz="2000" i="1" spc="-150" dirty="0">
                    <a:latin typeface="+mj-ea"/>
                    <a:ea typeface="+mj-ea"/>
                    <a:cs typeface="仿宋" panose="02010609060101010101" pitchFamily="49" charset="-122"/>
                  </a:rPr>
                  <a:t>, </a:t>
                </a:r>
                <a:r>
                  <a:rPr lang="en-US" altLang="zh-CN" sz="2000" i="1" spc="-235" dirty="0">
                    <a:latin typeface="+mj-ea"/>
                    <a:ea typeface="+mj-ea"/>
                    <a:cs typeface="MS UI Gothic" panose="020B0600070205080204" pitchFamily="34" charset="-128"/>
                  </a:rPr>
                  <a:t> </a:t>
                </a:r>
                <a14:m>
                  <m:oMath xmlns:m="http://schemas.openxmlformats.org/officeDocument/2006/math">
                    <m:r>
                      <m:rPr>
                        <m:sty m:val="p"/>
                      </m:rPr>
                      <a:rPr lang="en-US" altLang="zh-CN" sz="2000" i="1" dirty="0" smtClean="0">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𝐴𝐵</m:t>
                    </m:r>
                    <m:r>
                      <a:rPr lang="en-US" altLang="zh-CN" sz="2000" i="1" dirty="0">
                        <a:latin typeface="Cambria Math" panose="02040503050406030204" pitchFamily="18" charset="0"/>
                        <a:ea typeface="+mj-ea"/>
                        <a:cs typeface="仿宋" panose="02010609060101010101" pitchFamily="49" charset="-122"/>
                      </a:rPr>
                      <m:t>)</m:t>
                    </m:r>
                    <m:r>
                      <a:rPr lang="en-US" altLang="zh-CN" sz="2000" i="1" spc="-95" dirty="0">
                        <a:latin typeface="Cambria Math" panose="02040503050406030204" pitchFamily="18" charset="0"/>
                        <a:ea typeface="+mj-ea"/>
                        <a:cs typeface="仿宋" panose="02010609060101010101" pitchFamily="49" charset="-122"/>
                      </a:rPr>
                      <m:t> </m:t>
                    </m:r>
                    <m:r>
                      <a:rPr lang="en-US" altLang="zh-CN" sz="2000" i="1" dirty="0">
                        <a:latin typeface="Cambria Math" panose="02040503050406030204" pitchFamily="18" charset="0"/>
                        <a:ea typeface="+mj-ea"/>
                        <a:cs typeface="仿宋" panose="02010609060101010101" pitchFamily="49" charset="-122"/>
                      </a:rPr>
                      <m:t>=</m:t>
                    </m:r>
                    <m:r>
                      <a:rPr lang="en-US" altLang="zh-CN" sz="2000" i="1" spc="-95" dirty="0">
                        <a:latin typeface="Cambria Math" panose="02040503050406030204" pitchFamily="18" charset="0"/>
                        <a:ea typeface="+mj-ea"/>
                        <a:cs typeface="仿宋" panose="02010609060101010101" pitchFamily="49" charset="-122"/>
                      </a:rPr>
                      <m:t> </m:t>
                    </m:r>
                    <m:r>
                      <m:rPr>
                        <m:sty m:val="p"/>
                      </m:rPr>
                      <a:rPr lang="en-US" altLang="zh-CN" sz="2000" i="1" dirty="0" smtClean="0">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𝐴</m:t>
                    </m:r>
                    <m:r>
                      <a:rPr lang="en-US" altLang="zh-CN" sz="2000" i="1" dirty="0">
                        <a:latin typeface="Cambria Math" panose="02040503050406030204" pitchFamily="18" charset="0"/>
                        <a:ea typeface="+mj-ea"/>
                        <a:cs typeface="仿宋" panose="02010609060101010101" pitchFamily="49" charset="-122"/>
                      </a:rPr>
                      <m:t>)</m:t>
                    </m:r>
                    <m:r>
                      <m:rPr>
                        <m:sty m:val="p"/>
                      </m:rPr>
                      <a:rPr lang="en-US" altLang="zh-CN" sz="2000" i="1" dirty="0" err="1">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𝐵</m:t>
                    </m:r>
                    <m:r>
                      <a:rPr lang="en-US" altLang="zh-CN" sz="2000" i="1" dirty="0">
                        <a:latin typeface="Cambria Math" panose="02040503050406030204" pitchFamily="18" charset="0"/>
                        <a:ea typeface="+mj-ea"/>
                        <a:cs typeface="仿宋" panose="02010609060101010101" pitchFamily="49" charset="-122"/>
                      </a:rPr>
                      <m:t>)</m:t>
                    </m:r>
                  </m:oMath>
                </a14:m>
                <a:endParaRPr lang="zh-CN" altLang="zh-CN" sz="1100" dirty="0">
                  <a:latin typeface="+mj-ea"/>
                  <a:ea typeface="+mj-ea"/>
                  <a:cs typeface="MS UI Gothic" panose="020B0600070205080204" pitchFamily="34" charset="-128"/>
                </a:endParaRPr>
              </a:p>
              <a:p>
                <a:pPr marL="342900" lvl="0" indent="-342900">
                  <a:lnSpc>
                    <a:spcPct val="150000"/>
                  </a:lnSpc>
                  <a:spcBef>
                    <a:spcPts val="405"/>
                  </a:spcBef>
                  <a:spcAft>
                    <a:spcPts val="0"/>
                  </a:spcAft>
                  <a:buClr>
                    <a:srgbClr val="0E1A35"/>
                  </a:buClr>
                  <a:buSzPts val="1500"/>
                  <a:buFont typeface="Wingdings" panose="05000000000000000000" pitchFamily="2" charset="2"/>
                  <a:buChar char="l"/>
                  <a:tabLst>
                    <a:tab pos="388620" algn="l"/>
                  </a:tabLst>
                </a:pPr>
                <a:r>
                  <a:rPr lang="en-US" altLang="zh-CN" sz="2000" dirty="0" err="1">
                    <a:latin typeface="+mj-ea"/>
                    <a:ea typeface="+mj-ea"/>
                    <a:cs typeface="MS UI Gothic" panose="020B0600070205080204" pitchFamily="34" charset="-128"/>
                  </a:rPr>
                  <a:t>当且仅当</a:t>
                </a:r>
                <a14:m>
                  <m:oMath xmlns:m="http://schemas.openxmlformats.org/officeDocument/2006/math">
                    <m:r>
                      <a:rPr lang="en-US" altLang="zh-CN" sz="2000" i="1" dirty="0" smtClean="0">
                        <a:latin typeface="Cambria Math" panose="02040503050406030204" pitchFamily="18" charset="0"/>
                        <a:ea typeface="+mj-ea"/>
                        <a:cs typeface="MS UI Gothic" panose="020B0600070205080204" pitchFamily="34" charset="-128"/>
                      </a:rPr>
                      <m:t>𝐴</m:t>
                    </m:r>
                  </m:oMath>
                </a14:m>
                <a:r>
                  <a:rPr lang="en-US" altLang="zh-CN" sz="2000" dirty="0" err="1">
                    <a:latin typeface="+mj-ea"/>
                    <a:ea typeface="+mj-ea"/>
                    <a:cs typeface="MS UI Gothic" panose="020B0600070205080204" pitchFamily="34" charset="-128"/>
                  </a:rPr>
                  <a:t>为奇异方阵时，</a:t>
                </a:r>
                <a14:m>
                  <m:oMath xmlns:m="http://schemas.openxmlformats.org/officeDocument/2006/math">
                    <m:r>
                      <m:rPr>
                        <m:sty m:val="p"/>
                      </m:rPr>
                      <a:rPr lang="en-US" altLang="zh-CN" sz="2000" i="1" dirty="0" smtClean="0">
                        <a:latin typeface="Cambria Math" panose="02040503050406030204" pitchFamily="18" charset="0"/>
                        <a:ea typeface="+mj-ea"/>
                        <a:cs typeface="仿宋" panose="02010609060101010101" pitchFamily="49" charset="-122"/>
                      </a:rPr>
                      <m:t>det</m:t>
                    </m:r>
                    <m:r>
                      <a:rPr lang="en-US" altLang="zh-CN" sz="2000" i="1" dirty="0">
                        <a:latin typeface="Cambria Math" panose="02040503050406030204" pitchFamily="18" charset="0"/>
                        <a:ea typeface="+mj-ea"/>
                        <a:cs typeface="仿宋" panose="02010609060101010101" pitchFamily="49" charset="-122"/>
                      </a:rPr>
                      <m:t>⁡(</m:t>
                    </m:r>
                    <m:r>
                      <a:rPr lang="en-US" altLang="zh-CN" sz="2000" i="1" dirty="0">
                        <a:latin typeface="Cambria Math" panose="02040503050406030204" pitchFamily="18" charset="0"/>
                        <a:ea typeface="+mj-ea"/>
                        <a:cs typeface="MS UI Gothic" panose="020B0600070205080204" pitchFamily="34" charset="-128"/>
                      </a:rPr>
                      <m:t>𝐴</m:t>
                    </m:r>
                    <m:r>
                      <a:rPr lang="en-US" altLang="zh-CN" sz="2000" i="1" spc="80" dirty="0">
                        <a:latin typeface="Cambria Math" panose="02040503050406030204" pitchFamily="18" charset="0"/>
                        <a:ea typeface="+mj-ea"/>
                        <a:cs typeface="仿宋" panose="02010609060101010101" pitchFamily="49" charset="-122"/>
                      </a:rPr>
                      <m:t>) = </m:t>
                    </m:r>
                    <m:r>
                      <a:rPr lang="en-US" altLang="zh-CN" sz="2000" i="1" dirty="0">
                        <a:latin typeface="Cambria Math" panose="02040503050406030204" pitchFamily="18" charset="0"/>
                        <a:ea typeface="+mj-ea"/>
                        <a:cs typeface="仿宋" panose="02010609060101010101" pitchFamily="49" charset="-122"/>
                      </a:rPr>
                      <m:t>0</m:t>
                    </m:r>
                  </m:oMath>
                </a14:m>
                <a:endParaRPr lang="zh-CN" altLang="zh-CN" sz="1100" dirty="0">
                  <a:latin typeface="+mj-ea"/>
                  <a:ea typeface="+mj-ea"/>
                  <a:cs typeface="MS UI Gothic" panose="020B0600070205080204" pitchFamily="34" charset="-128"/>
                </a:endParaRPr>
              </a:p>
              <a:p>
                <a:pPr marL="342900" lvl="0" indent="-342900">
                  <a:lnSpc>
                    <a:spcPct val="150000"/>
                  </a:lnSpc>
                  <a:spcBef>
                    <a:spcPts val="410"/>
                  </a:spcBef>
                  <a:spcAft>
                    <a:spcPts val="0"/>
                  </a:spcAft>
                  <a:buClr>
                    <a:srgbClr val="0E1A35"/>
                  </a:buClr>
                  <a:buSzPts val="1500"/>
                  <a:buFont typeface="Wingdings" panose="05000000000000000000" pitchFamily="2" charset="2"/>
                  <a:buChar char="l"/>
                  <a:tabLst>
                    <a:tab pos="388620" algn="l"/>
                  </a:tabLst>
                </a:pPr>
                <a:r>
                  <a:rPr lang="en-US" altLang="zh-CN" sz="2000" dirty="0" err="1">
                    <a:latin typeface="+mj-ea"/>
                    <a:ea typeface="+mj-ea"/>
                    <a:cs typeface="MS UI Gothic" panose="020B0600070205080204" pitchFamily="34" charset="-128"/>
                  </a:rPr>
                  <a:t>当</a:t>
                </a:r>
                <a14:m>
                  <m:oMath xmlns:m="http://schemas.openxmlformats.org/officeDocument/2006/math">
                    <m:r>
                      <a:rPr lang="en-US" altLang="zh-CN" sz="2000" i="1" dirty="0" smtClean="0">
                        <a:latin typeface="Cambria Math" panose="02040503050406030204" pitchFamily="18" charset="0"/>
                        <a:ea typeface="+mj-ea"/>
                        <a:cs typeface="MS UI Gothic" panose="020B0600070205080204" pitchFamily="34" charset="-128"/>
                      </a:rPr>
                      <m:t>𝐴</m:t>
                    </m:r>
                  </m:oMath>
                </a14:m>
                <a:r>
                  <a:rPr lang="en-US" altLang="zh-CN" sz="2000" dirty="0" err="1">
                    <a:latin typeface="+mj-ea"/>
                    <a:ea typeface="+mj-ea"/>
                    <a:cs typeface="MS UI Gothic" panose="020B0600070205080204" pitchFamily="34" charset="-128"/>
                  </a:rPr>
                  <a:t>为非奇异方阵时，</a:t>
                </a:r>
                <a14:m>
                  <m:oMath xmlns:m="http://schemas.openxmlformats.org/officeDocument/2006/math">
                    <m:r>
                      <m:rPr>
                        <m:sty m:val="p"/>
                      </m:rPr>
                      <a:rPr lang="en-US" altLang="zh-CN" sz="1800" i="1" dirty="0" smtClean="0">
                        <a:latin typeface="Cambria Math" panose="02040503050406030204" pitchFamily="18" charset="0"/>
                        <a:ea typeface="+mj-ea"/>
                        <a:cs typeface="仿宋" panose="02010609060101010101" pitchFamily="49" charset="-122"/>
                      </a:rPr>
                      <m:t>det</m:t>
                    </m:r>
                    <m:r>
                      <a:rPr lang="en-US" altLang="zh-CN" sz="1800" i="1" dirty="0" smtClean="0">
                        <a:latin typeface="Cambria Math" panose="02040503050406030204" pitchFamily="18" charset="0"/>
                        <a:ea typeface="+mj-ea"/>
                        <a:cs typeface="仿宋" panose="02010609060101010101" pitchFamily="49" charset="-122"/>
                      </a:rPr>
                      <m:t>⁡(</m:t>
                    </m:r>
                    <m:sSup>
                      <m:sSupPr>
                        <m:ctrlPr>
                          <a:rPr lang="zh-CN" altLang="zh-CN" sz="2000" i="1"/>
                        </m:ctrlPr>
                      </m:sSupPr>
                      <m:e>
                        <m:r>
                          <a:rPr lang="en-US" altLang="zh-CN" sz="2000" b="0" i="1">
                            <a:latin typeface="Cambria Math" panose="02040503050406030204" pitchFamily="18" charset="0"/>
                          </a:rPr>
                          <m:t>𝐴</m:t>
                        </m:r>
                      </m:e>
                      <m:sup>
                        <m:r>
                          <a:rPr lang="en-US" altLang="zh-CN" sz="2000" i="1">
                            <a:latin typeface="Cambria Math" panose="02040503050406030204" pitchFamily="18" charset="0"/>
                          </a:rPr>
                          <m:t>−</m:t>
                        </m:r>
                        <m:r>
                          <a:rPr lang="en-US" altLang="zh-CN" sz="2000">
                            <a:latin typeface="Cambria Math" panose="02040503050406030204" pitchFamily="18" charset="0"/>
                          </a:rPr>
                          <m:t>1</m:t>
                        </m:r>
                      </m:sup>
                    </m:sSup>
                    <m:r>
                      <a:rPr lang="en-US" altLang="zh-CN" sz="1800" i="1" spc="90" dirty="0" smtClean="0">
                        <a:latin typeface="Cambria Math" panose="02040503050406030204" pitchFamily="18" charset="0"/>
                        <a:ea typeface="+mj-ea"/>
                        <a:cs typeface="仿宋" panose="02010609060101010101" pitchFamily="49" charset="-122"/>
                      </a:rPr>
                      <m:t>) = </m:t>
                    </m:r>
                    <m:r>
                      <a:rPr lang="en-US" altLang="zh-CN" sz="1800" i="1" dirty="0" smtClean="0">
                        <a:latin typeface="Cambria Math" panose="02040503050406030204" pitchFamily="18" charset="0"/>
                        <a:ea typeface="+mj-ea"/>
                        <a:cs typeface="仿宋" panose="02010609060101010101" pitchFamily="49" charset="-122"/>
                      </a:rPr>
                      <m:t>1</m:t>
                    </m:r>
                    <m:r>
                      <a:rPr lang="en-US" altLang="zh-CN" sz="1800" i="1" dirty="0" smtClean="0">
                        <a:latin typeface="Cambria Math" panose="02040503050406030204" pitchFamily="18" charset="0"/>
                        <a:ea typeface="+mj-ea"/>
                        <a:cs typeface="MS UI Gothic" panose="020B0600070205080204" pitchFamily="34" charset="-128"/>
                      </a:rPr>
                      <m:t>/</m:t>
                    </m:r>
                    <m:r>
                      <m:rPr>
                        <m:sty m:val="p"/>
                      </m:rPr>
                      <a:rPr lang="en-US" altLang="zh-CN" sz="1800" i="1" dirty="0" smtClean="0">
                        <a:latin typeface="Cambria Math" panose="02040503050406030204" pitchFamily="18" charset="0"/>
                        <a:ea typeface="+mj-ea"/>
                        <a:cs typeface="仿宋" panose="02010609060101010101" pitchFamily="49" charset="-122"/>
                      </a:rPr>
                      <m:t>det</m:t>
                    </m:r>
                    <m:r>
                      <a:rPr lang="en-US" altLang="zh-CN" sz="1800" i="1" dirty="0" smtClean="0">
                        <a:latin typeface="Cambria Math" panose="02040503050406030204" pitchFamily="18" charset="0"/>
                        <a:ea typeface="+mj-ea"/>
                        <a:cs typeface="仿宋" panose="02010609060101010101" pitchFamily="49" charset="-122"/>
                      </a:rPr>
                      <m:t>⁡(</m:t>
                    </m:r>
                    <m:r>
                      <a:rPr lang="en-US" altLang="zh-CN" sz="1800" i="1" dirty="0" smtClean="0">
                        <a:latin typeface="Cambria Math" panose="02040503050406030204" pitchFamily="18" charset="0"/>
                        <a:ea typeface="+mj-ea"/>
                        <a:cs typeface="MS UI Gothic" panose="020B0600070205080204" pitchFamily="34" charset="-128"/>
                      </a:rPr>
                      <m:t>𝐴</m:t>
                    </m:r>
                    <m:r>
                      <a:rPr lang="en-US" altLang="zh-CN" sz="1800" i="1" dirty="0" smtClean="0">
                        <a:latin typeface="Cambria Math" panose="02040503050406030204" pitchFamily="18" charset="0"/>
                        <a:ea typeface="+mj-ea"/>
                        <a:cs typeface="仿宋" panose="02010609060101010101" pitchFamily="49" charset="-122"/>
                      </a:rPr>
                      <m:t>)</m:t>
                    </m:r>
                  </m:oMath>
                </a14:m>
                <a:endParaRPr lang="zh-CN" altLang="zh-CN" sz="1100" dirty="0">
                  <a:effectLst/>
                  <a:latin typeface="+mj-ea"/>
                  <a:ea typeface="+mj-ea"/>
                  <a:cs typeface="MS UI Gothic" panose="020B0600070205080204" pitchFamily="34" charset="-128"/>
                </a:endParaRPr>
              </a:p>
            </p:txBody>
          </p:sp>
        </mc:Choice>
        <mc:Fallback>
          <p:sp>
            <p:nvSpPr>
              <p:cNvPr id="4" name="矩形 3"/>
              <p:cNvSpPr>
                <a:spLocks noRot="1" noChangeAspect="1" noMove="1" noResize="1" noEditPoints="1" noAdjustHandles="1" noChangeArrowheads="1" noChangeShapeType="1" noTextEdit="1"/>
              </p:cNvSpPr>
              <p:nvPr/>
            </p:nvSpPr>
            <p:spPr>
              <a:xfrm>
                <a:off x="6160394" y="1713504"/>
                <a:ext cx="5801032" cy="3875228"/>
              </a:xfrm>
              <a:prstGeom prst="rect">
                <a:avLst/>
              </a:prstGeom>
              <a:blipFill rotWithShape="1">
                <a:blip r:embed="rId2"/>
                <a:stretch>
                  <a:fillRect l="-4" t="-7" r="10" b="3"/>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06693" y="2532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线性代数</a:t>
            </a:r>
            <a:r>
              <a:rPr lang="en-US" altLang="zh-CN" dirty="0"/>
              <a:t>-</a:t>
            </a:r>
            <a:r>
              <a:rPr lang="zh-CN" altLang="en-US" dirty="0"/>
              <a:t>矩阵</a:t>
            </a:r>
            <a:br>
              <a:rPr lang="zh-CN" altLang="en-US" dirty="0"/>
            </a:br>
            <a:endParaRPr lang="zh-CN" altLang="en-US" dirty="0"/>
          </a:p>
        </p:txBody>
      </p:sp>
      <p:sp>
        <p:nvSpPr>
          <p:cNvPr id="2" name="文本框 1"/>
          <p:cNvSpPr txBox="1"/>
          <p:nvPr/>
        </p:nvSpPr>
        <p:spPr>
          <a:xfrm>
            <a:off x="5638800" y="2974258"/>
            <a:ext cx="45719" cy="276999"/>
          </a:xfrm>
          <a:prstGeom prst="rect">
            <a:avLst/>
          </a:prstGeom>
          <a:noFill/>
        </p:spPr>
        <p:txBody>
          <a:bodyPr wrap="squar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993059" y="787710"/>
                <a:ext cx="9232490" cy="2240613"/>
              </a:xfrm>
              <a:prstGeom prst="rect">
                <a:avLst/>
              </a:prstGeom>
            </p:spPr>
            <p:txBody>
              <a:bodyPr wrap="square">
                <a:spAutoFit/>
              </a:bodyPr>
              <a:lstStyle/>
              <a:p>
                <a:pPr algn="just">
                  <a:lnSpc>
                    <a:spcPct val="156000"/>
                  </a:lnSpc>
                  <a:spcBef>
                    <a:spcPts val="1400"/>
                  </a:spcBef>
                  <a:spcAft>
                    <a:spcPts val="1450"/>
                  </a:spcAft>
                </a:pPr>
                <a:r>
                  <a:rPr lang="zh-CN" altLang="zh-CN" sz="2400" b="1" kern="100" dirty="0">
                    <a:solidFill>
                      <a:srgbClr val="FF0000"/>
                    </a:solidFill>
                    <a:latin typeface="Calibri Light" panose="020F0302020204030204" pitchFamily="34" charset="0"/>
                    <a:cs typeface="Times New Roman" panose="02020603050405020304" pitchFamily="18" charset="0"/>
                  </a:rPr>
                  <a:t>矩阵</a:t>
                </a:r>
                <a:r>
                  <a:rPr lang="zh-CN"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个数</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oMath>
                </a14:m>
                <a:r>
                  <a:rPr lang="zh-CN" altLang="zh-CN" sz="1800" kern="100" dirty="0">
                    <a:effectLst/>
                    <a:latin typeface="微软雅黑" panose="020B0503020204020204" pitchFamily="34" charset="-122"/>
                    <a:cs typeface="宋体" panose="02010600030101010101" pitchFamily="2" charset="-122"/>
                  </a:rPr>
                  <a:t>排成</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oMath>
                </a14:m>
                <a:r>
                  <a:rPr lang="zh-CN" altLang="zh-CN" sz="1800" kern="100" dirty="0">
                    <a:effectLst/>
                    <a:latin typeface="微软雅黑" panose="020B0503020204020204" pitchFamily="34" charset="-122"/>
                    <a:cs typeface="宋体" panose="02010600030101010101" pitchFamily="2" charset="-122"/>
                  </a:rPr>
                  <a:t>行</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列的表格</a:t>
                </a:r>
                <a14:m>
                  <m:oMath xmlns:m="http://schemas.openxmlformats.org/officeDocument/2006/math">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e>
                          </m:mr>
                          <m: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e>
                          </m:mr>
                          <m: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m:t>
                              </m:r>
                            </m:e>
                          </m:mr>
                          <m: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 ⋯ </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𝑚𝑛</m:t>
                                  </m:r>
                                </m:sub>
                              </m:sSub>
                            </m:e>
                          </m:mr>
                        </m:m>
                      </m:e>
                    </m:d>
                  </m:oMath>
                </a14:m>
                <a:r>
                  <a:rPr lang="zh-CN" altLang="zh-CN" sz="1800" kern="100" dirty="0">
                    <a:effectLst/>
                    <a:latin typeface="微软雅黑" panose="020B0503020204020204" pitchFamily="34" charset="-122"/>
                    <a:cs typeface="宋体" panose="02010600030101010101" pitchFamily="2" charset="-122"/>
                  </a:rPr>
                  <a:t>称为矩阵，简记为</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，或者</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d>
                          <m:d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e>
                        </m:d>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。若</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，则称</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是</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阶矩阵或</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阶方阵。 </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993059" y="787710"/>
                <a:ext cx="9232490" cy="2240613"/>
              </a:xfrm>
              <a:prstGeom prst="rect">
                <a:avLst/>
              </a:prstGeom>
              <a:blipFill rotWithShape="1">
                <a:blip r:embed="rId1"/>
                <a:stretch>
                  <a:fillRect l="-6" t="-14" r="2" b="-134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993059" y="3028323"/>
                <a:ext cx="6611916" cy="1544269"/>
              </a:xfrm>
              <a:prstGeom prst="rect">
                <a:avLst/>
              </a:prstGeom>
            </p:spPr>
            <p:txBody>
              <a:bodyPr wrap="square">
                <a:spAutoFit/>
              </a:bodyPr>
              <a:lstStyle/>
              <a:p>
                <a:pPr>
                  <a:lnSpc>
                    <a:spcPct val="150000"/>
                  </a:lnSpc>
                  <a:spcBef>
                    <a:spcPts val="900"/>
                  </a:spcBef>
                  <a:spcAft>
                    <a:spcPts val="900"/>
                  </a:spcAft>
                </a:pPr>
                <a:r>
                  <a:rPr lang="zh-CN" altLang="zh-CN" b="1" kern="100" dirty="0">
                    <a:solidFill>
                      <a:srgbClr val="FF0000"/>
                    </a:solidFill>
                    <a:latin typeface="微软雅黑" panose="020B0503020204020204" pitchFamily="34" charset="-122"/>
                    <a:cs typeface="宋体" panose="02010600030101010101" pitchFamily="2" charset="-122"/>
                  </a:rPr>
                  <a:t>矩阵的</a:t>
                </a:r>
                <a:r>
                  <a:rPr lang="zh-CN" altLang="zh-CN" sz="2400" b="1" kern="100" dirty="0">
                    <a:solidFill>
                      <a:srgbClr val="FF0000"/>
                    </a:solidFill>
                    <a:latin typeface="微软雅黑" panose="020B0503020204020204" pitchFamily="34" charset="-122"/>
                    <a:cs typeface="宋体" panose="02010600030101010101" pitchFamily="2" charset="-122"/>
                  </a:rPr>
                  <a:t>乘法 </a:t>
                </a:r>
                <a:r>
                  <a:rPr lang="zh-CN" altLang="en-US" sz="2400" b="1" kern="100" dirty="0">
                    <a:latin typeface="微软雅黑" panose="020B0503020204020204" pitchFamily="34" charset="-122"/>
                    <a:cs typeface="宋体" panose="02010600030101010101" pitchFamily="2" charset="-122"/>
                  </a:rPr>
                  <a:t>：</a:t>
                </a:r>
                <a:r>
                  <a:rPr lang="zh-CN" altLang="zh-CN" sz="1800" kern="100" dirty="0">
                    <a:effectLst/>
                    <a:latin typeface="微软雅黑" panose="020B0503020204020204" pitchFamily="34" charset="-122"/>
                    <a:cs typeface="宋体" panose="02010600030101010101" pitchFamily="2" charset="-122"/>
                  </a:rPr>
                  <a:t>设</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是</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zh-CN" altLang="zh-CN" sz="1800" kern="100" dirty="0">
                    <a:effectLst/>
                    <a:latin typeface="微软雅黑" panose="020B0503020204020204" pitchFamily="34" charset="-122"/>
                    <a:cs typeface="宋体" panose="02010600030101010101" pitchFamily="2" charset="-122"/>
                  </a:rPr>
                  <a:t>矩阵，</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是</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𝑠</m:t>
                    </m:r>
                  </m:oMath>
                </a14:m>
                <a:r>
                  <a:rPr lang="zh-CN" altLang="zh-CN" sz="1800" kern="100" dirty="0">
                    <a:effectLst/>
                    <a:latin typeface="微软雅黑" panose="020B0503020204020204" pitchFamily="34" charset="-122"/>
                    <a:cs typeface="宋体" panose="02010600030101010101" pitchFamily="2" charset="-122"/>
                  </a:rPr>
                  <a:t>矩阵，那么</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𝑚</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𝑠</m:t>
                    </m:r>
                  </m:oMath>
                </a14:m>
                <a:r>
                  <a:rPr lang="zh-CN" altLang="zh-CN" sz="1800" kern="100" dirty="0">
                    <a:effectLst/>
                    <a:latin typeface="微软雅黑" panose="020B0503020204020204" pitchFamily="34" charset="-122"/>
                    <a:cs typeface="宋体" panose="02010600030101010101" pitchFamily="2" charset="-122"/>
                  </a:rPr>
                  <a:t>矩阵</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𝑐</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，其中 </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𝑐</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𝑖𝑛</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nary>
                      <m:naryPr>
                        <m:chr m:val="∑"/>
                        <m:limLoc m:val="undOv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naryPr>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p>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𝑖𝑘</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𝑘𝑗</m:t>
                            </m:r>
                          </m:sub>
                        </m:sSub>
                      </m:e>
                    </m:nary>
                  </m:oMath>
                </a14:m>
                <a:r>
                  <a:rPr lang="zh-CN" altLang="zh-CN" sz="1800" kern="100" dirty="0">
                    <a:effectLst/>
                    <a:latin typeface="微软雅黑" panose="020B0503020204020204" pitchFamily="34" charset="-122"/>
                    <a:cs typeface="宋体" panose="02010600030101010101" pitchFamily="2" charset="-122"/>
                  </a:rPr>
                  <a:t>称为</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𝐴𝐵</m:t>
                    </m:r>
                  </m:oMath>
                </a14:m>
                <a:r>
                  <a:rPr lang="zh-CN" altLang="zh-CN" sz="1800" kern="100" dirty="0">
                    <a:effectLst/>
                    <a:latin typeface="微软雅黑" panose="020B0503020204020204" pitchFamily="34" charset="-122"/>
                    <a:cs typeface="宋体" panose="02010600030101010101" pitchFamily="2" charset="-122"/>
                  </a:rPr>
                  <a:t>的乘积，记为</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𝐴𝐵</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6" name="矩形 5"/>
              <p:cNvSpPr>
                <a:spLocks noRot="1" noChangeAspect="1" noMove="1" noResize="1" noEditPoints="1" noAdjustHandles="1" noChangeArrowheads="1" noChangeShapeType="1" noTextEdit="1"/>
              </p:cNvSpPr>
              <p:nvPr/>
            </p:nvSpPr>
            <p:spPr>
              <a:xfrm>
                <a:off x="993059" y="3028323"/>
                <a:ext cx="6611916" cy="1544269"/>
              </a:xfrm>
              <a:prstGeom prst="rect">
                <a:avLst/>
              </a:prstGeom>
              <a:blipFill rotWithShape="1">
                <a:blip r:embed="rId2"/>
                <a:stretch>
                  <a:fillRect l="-8" t="-1" r="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865238" y="5107057"/>
                <a:ext cx="12205877" cy="366703"/>
              </a:xfrm>
              <a:prstGeom prst="rect">
                <a:avLst/>
              </a:prstGeom>
            </p:spPr>
            <p:txBody>
              <a:bodyPr wrap="square">
                <a:spAutoFit/>
              </a:bodyPr>
              <a:lstStyle/>
              <a:p>
                <a:pPr marL="143510">
                  <a:lnSpc>
                    <a:spcPts val="2070"/>
                  </a:lnSpc>
                  <a:spcBef>
                    <a:spcPts val="190"/>
                  </a:spcBef>
                  <a:spcAft>
                    <a:spcPts val="0"/>
                  </a:spcAft>
                  <a:tabLst>
                    <a:tab pos="2491105" algn="l"/>
                  </a:tabLst>
                </a:pPr>
                <a:r>
                  <a:rPr lang="en-US" altLang="zh-CN" b="1" spc="-65" dirty="0" err="1">
                    <a:solidFill>
                      <a:srgbClr val="3B6CDE"/>
                    </a:solidFill>
                    <a:latin typeface="+mj-ea"/>
                    <a:ea typeface="+mj-ea"/>
                    <a:cs typeface="Microsoft JhengHei Light" panose="020B0304030504040204" pitchFamily="34" charset="-120"/>
                  </a:rPr>
                  <a:t>矩阵乘法的性质</a:t>
                </a:r>
                <a:r>
                  <a:rPr lang="en-US" altLang="zh-CN" dirty="0">
                    <a:latin typeface="仿宋" panose="02010609060101010101" pitchFamily="49" charset="-122"/>
                    <a:ea typeface="仿宋" panose="02010609060101010101" pitchFamily="49" charset="-122"/>
                    <a:cs typeface="仿宋" panose="02010609060101010101" pitchFamily="49" charset="-122"/>
                  </a:rPr>
                  <a:t>：</a:t>
                </a:r>
                <a14:m>
                  <m:oMath xmlns:m="http://schemas.openxmlformats.org/officeDocument/2006/math">
                    <m:r>
                      <a:rPr lang="en-US" altLang="zh-CN" i="1" spc="-150" dirty="0" smtClean="0">
                        <a:solidFill>
                          <a:srgbClr val="0E1A35"/>
                        </a:solidFill>
                        <a:latin typeface="Cambria Math" panose="02040503050406030204" pitchFamily="18" charset="0"/>
                        <a:ea typeface="仿宋" panose="02010609060101010101" pitchFamily="49" charset="-122"/>
                        <a:cs typeface="仿宋" panose="02010609060101010101" pitchFamily="49" charset="-122"/>
                      </a:rPr>
                      <m:t> </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𝐴𝐵</m:t>
                    </m:r>
                    <m:r>
                      <a:rPr lang="en-US" altLang="zh-CN" i="1" spc="50" dirty="0">
                        <a:latin typeface="Cambria Math" panose="02040503050406030204" pitchFamily="18" charset="0"/>
                        <a:ea typeface="Bookman Old Style" panose="02050604050505020204" pitchFamily="18" charset="0"/>
                        <a:cs typeface="仿宋" panose="02010609060101010101" pitchFamily="49" charset="-122"/>
                      </a:rPr>
                      <m:t> </m:t>
                    </m:r>
                    <m:r>
                      <a:rPr lang="en-US" altLang="zh-CN" i="1" spc="-1105" dirty="0">
                        <a:latin typeface="Cambria Math" panose="02040503050406030204" pitchFamily="18" charset="0"/>
                        <a:ea typeface="Tahoma" panose="020B0604030504040204" pitchFamily="34" charset="0"/>
                        <a:cs typeface="仿宋" panose="02010609060101010101" pitchFamily="49" charset="-122"/>
                      </a:rPr>
                      <m:t>= </m:t>
                    </m:r>
                    <m:r>
                      <a:rPr lang="en-US" altLang="zh-CN" i="1" dirty="0">
                        <a:latin typeface="Cambria Math" panose="02040503050406030204" pitchFamily="18" charset="0"/>
                        <a:ea typeface="DejaVu Sans Mono" panose="020B0609030804020204" pitchFamily="49" charset="0"/>
                        <a:cs typeface="仿宋" panose="02010609060101010101" pitchFamily="49" charset="-122"/>
                      </a:rPr>
                      <m:t≯</m:t>
                    </m:r>
                    <m:r>
                      <a:rPr lang="en-US" altLang="zh-CN" i="1" dirty="0">
                        <a:latin typeface="Cambria Math" panose="02040503050406030204" pitchFamily="18" charset="0"/>
                        <a:ea typeface="DejaVu Sans Mono" panose="020B0609030804020204" pitchFamily="49" charset="0"/>
                        <a:cs typeface="仿宋" panose="02010609060101010101" pitchFamily="49" charset="-122"/>
                      </a:rPr>
                      <m:t>	</m:t>
                    </m:r>
                    <m:r>
                      <a:rPr lang="en-US" altLang="zh-CN" i="1" spc="75" dirty="0">
                        <a:latin typeface="Cambria Math" panose="02040503050406030204" pitchFamily="18" charset="0"/>
                        <a:ea typeface="Bookman Old Style" panose="02050604050505020204" pitchFamily="18" charset="0"/>
                        <a:cs typeface="仿宋" panose="02010609060101010101" pitchFamily="49" charset="-122"/>
                      </a:rPr>
                      <m:t>𝐵</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 </m:t>
                    </m:r>
                  </m:oMath>
                </a14:m>
                <a:r>
                  <a:rPr lang="zh-CN" altLang="en-US" i="1" dirty="0">
                    <a:latin typeface="Bookman Old Style" panose="02050604050505020204" pitchFamily="18" charset="0"/>
                    <a:ea typeface="Bookman Old Style" panose="02050604050505020204" pitchFamily="18" charset="0"/>
                    <a:cs typeface="仿宋" panose="02010609060101010101" pitchFamily="49" charset="-122"/>
                  </a:rPr>
                  <a:t>，</a:t>
                </a:r>
                <a14:m>
                  <m:oMath xmlns:m="http://schemas.openxmlformats.org/officeDocument/2006/math">
                    <m:r>
                      <a:rPr lang="en-US" altLang="zh-CN" i="1" dirty="0" smtClean="0">
                        <a:latin typeface="Cambria Math" panose="02040503050406030204" pitchFamily="18" charset="0"/>
                        <a:ea typeface="Tahoma" panose="020B0604030504040204" pitchFamily="34" charset="0"/>
                        <a:cs typeface="仿宋" panose="02010609060101010101" pitchFamily="49" charset="-122"/>
                      </a:rPr>
                      <m:t>(</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m:t>
                    </m:r>
                    <m:r>
                      <a:rPr lang="en-US" altLang="zh-CN" i="1" spc="75" dirty="0">
                        <a:latin typeface="Cambria Math" panose="02040503050406030204" pitchFamily="18" charset="0"/>
                        <a:ea typeface="Bookman Old Style" panose="02050604050505020204" pitchFamily="18" charset="0"/>
                        <a:cs typeface="仿宋" panose="02010609060101010101" pitchFamily="49" charset="-122"/>
                      </a:rPr>
                      <m:t>𝐵</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𝐶</m:t>
                    </m:r>
                    <m:r>
                      <a:rPr lang="en-US" altLang="zh-CN" i="1" spc="80" dirty="0">
                        <a:latin typeface="Cambria Math" panose="02040503050406030204" pitchFamily="18" charset="0"/>
                        <a:ea typeface="Bookman Old Style" panose="02050604050505020204" pitchFamily="18" charset="0"/>
                        <a:cs typeface="仿宋" panose="02010609060101010101" pitchFamily="49" charset="-122"/>
                      </a:rPr>
                      <m:t> </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45" dirty="0">
                        <a:latin typeface="Cambria Math" panose="02040503050406030204" pitchFamily="18" charset="0"/>
                        <a:ea typeface="Tahoma" panose="020B0604030504040204" pitchFamily="34" charset="0"/>
                        <a:cs typeface="仿宋" panose="02010609060101010101" pitchFamily="49" charset="-122"/>
                      </a:rPr>
                      <m:t> </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75" dirty="0">
                        <a:latin typeface="Cambria Math" panose="02040503050406030204" pitchFamily="18" charset="0"/>
                        <a:ea typeface="Bookman Old Style" panose="02050604050505020204" pitchFamily="18" charset="0"/>
                        <a:cs typeface="仿宋" panose="02010609060101010101" pitchFamily="49" charset="-122"/>
                      </a:rPr>
                      <m:t>𝐵</m:t>
                    </m:r>
                    <m:r>
                      <a:rPr lang="en-US" altLang="zh-CN" i="1" spc="105" dirty="0">
                        <a:latin typeface="Cambria Math" panose="02040503050406030204" pitchFamily="18" charset="0"/>
                        <a:ea typeface="Bookman Old Style" panose="02050604050505020204" pitchFamily="18" charset="0"/>
                        <a:cs typeface="仿宋" panose="02010609060101010101" pitchFamily="49" charset="-122"/>
                      </a:rPr>
                      <m:t>𝐶</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𝐵</m:t>
                    </m:r>
                    <m:r>
                      <a:rPr lang="en-US" altLang="zh-CN" i="1" spc="-35" dirty="0">
                        <a:latin typeface="Cambria Math" panose="02040503050406030204" pitchFamily="18" charset="0"/>
                        <a:ea typeface="Bookman Old Style" panose="02050604050505020204" pitchFamily="18" charset="0"/>
                        <a:cs typeface="仿宋" panose="02010609060101010101" pitchFamily="49" charset="-122"/>
                      </a:rPr>
                      <m:t> </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130" dirty="0">
                        <a:latin typeface="Cambria Math" panose="02040503050406030204" pitchFamily="18" charset="0"/>
                        <a:ea typeface="Tahoma" panose="020B0604030504040204" pitchFamily="34" charset="0"/>
                        <a:cs typeface="仿宋" panose="02010609060101010101" pitchFamily="49" charset="-122"/>
                      </a:rPr>
                      <m:t> </m:t>
                    </m:r>
                    <m:r>
                      <a:rPr lang="en-US" altLang="zh-CN" i="1" spc="100" dirty="0">
                        <a:latin typeface="Cambria Math" panose="02040503050406030204" pitchFamily="18" charset="0"/>
                        <a:ea typeface="Bookman Old Style" panose="02050604050505020204" pitchFamily="18" charset="0"/>
                        <a:cs typeface="仿宋" panose="02010609060101010101" pitchFamily="49" charset="-122"/>
                      </a:rPr>
                      <m:t>𝐶</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45" dirty="0">
                        <a:latin typeface="Cambria Math" panose="02040503050406030204" pitchFamily="18" charset="0"/>
                        <a:ea typeface="Tahoma" panose="020B0604030504040204" pitchFamily="34" charset="0"/>
                        <a:cs typeface="仿宋" panose="02010609060101010101" pitchFamily="49" charset="-122"/>
                      </a:rPr>
                      <m:t> </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45" dirty="0">
                        <a:latin typeface="Cambria Math" panose="02040503050406030204" pitchFamily="18" charset="0"/>
                        <a:ea typeface="Tahoma" panose="020B0604030504040204" pitchFamily="34" charset="0"/>
                        <a:cs typeface="仿宋" panose="02010609060101010101" pitchFamily="49" charset="-122"/>
                      </a:rPr>
                      <m:t> </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𝐴𝐵</m:t>
                    </m:r>
                    <m:r>
                      <a:rPr lang="en-US" altLang="zh-CN" i="1" spc="-35" dirty="0">
                        <a:latin typeface="Cambria Math" panose="02040503050406030204" pitchFamily="18" charset="0"/>
                        <a:ea typeface="Bookman Old Style" panose="02050604050505020204" pitchFamily="18" charset="0"/>
                        <a:cs typeface="仿宋" panose="02010609060101010101" pitchFamily="49" charset="-122"/>
                      </a:rPr>
                      <m:t> </m:t>
                    </m:r>
                    <m:r>
                      <a:rPr lang="en-US" altLang="zh-CN" i="1" dirty="0">
                        <a:latin typeface="Cambria Math" panose="02040503050406030204" pitchFamily="18" charset="0"/>
                        <a:ea typeface="Tahoma" panose="020B0604030504040204" pitchFamily="34" charset="0"/>
                        <a:cs typeface="仿宋" panose="02010609060101010101" pitchFamily="49" charset="-122"/>
                      </a:rPr>
                      <m:t>+</m:t>
                    </m:r>
                    <m:r>
                      <a:rPr lang="en-US" altLang="zh-CN" i="1" spc="-130" dirty="0">
                        <a:latin typeface="Cambria Math" panose="02040503050406030204" pitchFamily="18" charset="0"/>
                        <a:ea typeface="Tahoma" panose="020B0604030504040204" pitchFamily="34" charset="0"/>
                        <a:cs typeface="仿宋" panose="02010609060101010101" pitchFamily="49" charset="-122"/>
                      </a:rPr>
                      <m:t> </m:t>
                    </m:r>
                    <m:r>
                      <a:rPr lang="en-US" altLang="zh-CN" i="1" dirty="0">
                        <a:latin typeface="Cambria Math" panose="02040503050406030204" pitchFamily="18" charset="0"/>
                        <a:ea typeface="Bookman Old Style" panose="02050604050505020204" pitchFamily="18" charset="0"/>
                        <a:cs typeface="仿宋" panose="02010609060101010101" pitchFamily="49" charset="-122"/>
                      </a:rPr>
                      <m:t>𝐴𝐶</m:t>
                    </m:r>
                  </m:oMath>
                </a14:m>
                <a:endParaRPr lang="zh-CN" altLang="zh-CN" sz="1200" dirty="0">
                  <a:effectLst/>
                  <a:latin typeface="仿宋" panose="02010609060101010101" pitchFamily="49" charset="-122"/>
                  <a:ea typeface="仿宋" panose="02010609060101010101" pitchFamily="49" charset="-122"/>
                  <a:cs typeface="仿宋" panose="02010609060101010101" pitchFamily="49" charset="-122"/>
                </a:endParaRPr>
              </a:p>
            </p:txBody>
          </p:sp>
        </mc:Choice>
        <mc:Fallback>
          <p:sp>
            <p:nvSpPr>
              <p:cNvPr id="7" name="矩形 6"/>
              <p:cNvSpPr>
                <a:spLocks noRot="1" noChangeAspect="1" noMove="1" noResize="1" noEditPoints="1" noAdjustHandles="1" noChangeArrowheads="1" noChangeShapeType="1" noTextEdit="1"/>
              </p:cNvSpPr>
              <p:nvPr/>
            </p:nvSpPr>
            <p:spPr>
              <a:xfrm>
                <a:off x="865238" y="5107057"/>
                <a:ext cx="12205877" cy="366703"/>
              </a:xfrm>
              <a:prstGeom prst="rect">
                <a:avLst/>
              </a:prstGeom>
              <a:blipFill rotWithShape="1">
                <a:blip r:embed="rId3"/>
                <a:stretch>
                  <a:fillRect l="-3" t="-18115" r="2"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865237" y="5655790"/>
                <a:ext cx="11627269" cy="374461"/>
              </a:xfrm>
              <a:prstGeom prst="rect">
                <a:avLst/>
              </a:prstGeom>
            </p:spPr>
            <p:txBody>
              <a:bodyPr wrap="square">
                <a:spAutoFit/>
              </a:bodyPr>
              <a:lstStyle/>
              <a:p>
                <a:pPr marL="143510">
                  <a:lnSpc>
                    <a:spcPts val="2180"/>
                  </a:lnSpc>
                  <a:spcAft>
                    <a:spcPts val="0"/>
                  </a:spcAft>
                </a:pPr>
                <a:r>
                  <a:rPr lang="en-US" altLang="zh-CN" sz="2400" b="1" spc="-65" dirty="0">
                    <a:solidFill>
                      <a:srgbClr val="3B6CDE"/>
                    </a:solidFill>
                    <a:latin typeface="+mj-ea"/>
                    <a:ea typeface="+mj-ea"/>
                    <a:cs typeface="Microsoft JhengHei Light" panose="020B0304030504040204" pitchFamily="34" charset="-120"/>
                  </a:rPr>
                  <a:t>内积</a:t>
                </a:r>
                <a:r>
                  <a:rPr lang="en-US" altLang="zh-CN" sz="2400" b="1" spc="-65" dirty="0">
                    <a:solidFill>
                      <a:srgbClr val="3B6CDE"/>
                    </a:solidFill>
                    <a:latin typeface="+mn-ea"/>
                    <a:ea typeface="+mn-ea"/>
                    <a:cs typeface="Microsoft JhengHei Light" panose="020B0304030504040204" pitchFamily="34" charset="-120"/>
                  </a:rPr>
                  <a:t> </a:t>
                </a:r>
                <a:r>
                  <a:rPr lang="zh-CN" altLang="en-US" dirty="0">
                    <a:latin typeface="仿宋" panose="02010609060101010101" pitchFamily="49" charset="-122"/>
                    <a:ea typeface="仿宋" panose="02010609060101010101" pitchFamily="49" charset="-122"/>
                    <a:cs typeface="仿宋" panose="02010609060101010101" pitchFamily="49" charset="-122"/>
                  </a:rPr>
                  <a:t>：</a:t>
                </a:r>
                <a:r>
                  <a:rPr lang="en-US" altLang="zh-CN" spc="-175" dirty="0" err="1">
                    <a:latin typeface="+mj-ea"/>
                    <a:ea typeface="+mj-ea"/>
                    <a:cs typeface="仿宋" panose="02010609060101010101" pitchFamily="49" charset="-122"/>
                  </a:rPr>
                  <a:t>给定</a:t>
                </a:r>
                <a:r>
                  <a:rPr lang="en-US" altLang="zh-CN" sz="1800" b="1" kern="100" dirty="0">
                    <a:effectLst/>
                    <a:ea typeface="宋体" panose="02010600030101010101" pitchFamily="2" charset="-122"/>
                    <a:cs typeface="Times New Roman" panose="02020603050405020304" pitchFamily="18" charset="0"/>
                  </a:rPr>
                  <a:t> </a:t>
                </a:r>
                <a14:m>
                  <m:oMath xmlns:m="http://schemas.openxmlformats.org/officeDocument/2006/math">
                    <m:r>
                      <a:rPr lang="en-US" altLang="zh-CN" b="0" i="1" kern="100" dirty="0" smtClean="0">
                        <a:latin typeface="Cambria Math" panose="02040503050406030204" pitchFamily="18" charset="0"/>
                        <a:ea typeface="宋体" panose="02010600030101010101" pitchFamily="2" charset="-122"/>
                        <a:cs typeface="Times New Roman" panose="02020603050405020304" pitchFamily="18" charset="0"/>
                      </a:rPr>
                      <m:t>𝑥</m:t>
                    </m:r>
                    <m:r>
                      <a:rPr lang="en-US" altLang="zh-CN" b="0" i="1" kern="100" dirty="0" smtClean="0">
                        <a:latin typeface="Cambria Math" panose="02040503050406030204" pitchFamily="18" charset="0"/>
                        <a:ea typeface="宋体" panose="02010600030101010101" pitchFamily="2" charset="-122"/>
                        <a:cs typeface="Times New Roman" panose="02020603050405020304" pitchFamily="18" charset="0"/>
                      </a:rPr>
                      <m:t>,</m:t>
                    </m:r>
                    <m:r>
                      <a:rPr lang="en-US" altLang="zh-CN" b="0" i="1" kern="100" dirty="0" smtClean="0">
                        <a:latin typeface="Cambria Math" panose="02040503050406030204" pitchFamily="18" charset="0"/>
                        <a:ea typeface="宋体" panose="02010600030101010101" pitchFamily="2" charset="-122"/>
                        <a:cs typeface="Times New Roman" panose="02020603050405020304" pitchFamily="18" charset="0"/>
                      </a:rPr>
                      <m:t>𝑦</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3200" i="1">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 </m:t>
                    </m:r>
                  </m:oMath>
                </a14:m>
                <a:r>
                  <a:rPr lang="en-US" altLang="zh-CN" dirty="0">
                    <a:latin typeface="+mj-ea"/>
                    <a:ea typeface="+mj-ea"/>
                    <a:cs typeface="仿宋" panose="02010609060101010101" pitchFamily="49" charset="-122"/>
                  </a:rPr>
                  <a:t>，</a:t>
                </a:r>
                <a14:m>
                  <m:oMath xmlns:m="http://schemas.openxmlformats.org/officeDocument/2006/math">
                    <m:r>
                      <a:rPr lang="en-US" altLang="zh-CN" i="1" dirty="0" smtClean="0">
                        <a:latin typeface="Cambria Math" panose="02040503050406030204" pitchFamily="18" charset="0"/>
                        <a:ea typeface="+mj-ea"/>
                        <a:cs typeface="Bookman Old Style" panose="02050604050505020204" pitchFamily="18" charset="0"/>
                      </a:rPr>
                      <m:t>𝑥</m:t>
                    </m:r>
                    <m:r>
                      <m:rPr>
                        <m:sty m:val="p"/>
                      </m:rPr>
                      <a:rPr lang="en-US" altLang="zh-CN" sz="2000" i="0" baseline="30000" dirty="0">
                        <a:latin typeface="Cambria Math" panose="02040503050406030204" pitchFamily="18" charset="0"/>
                        <a:ea typeface="+mj-ea"/>
                        <a:cs typeface="Bookman Old Style" panose="02050604050505020204" pitchFamily="18" charset="0"/>
                      </a:rPr>
                      <m:t>T</m:t>
                    </m:r>
                    <m:r>
                      <a:rPr lang="en-US" altLang="zh-CN" sz="2000" i="1" spc="-275" baseline="30000" dirty="0">
                        <a:latin typeface="Cambria Math" panose="02040503050406030204" pitchFamily="18" charset="0"/>
                        <a:ea typeface="+mj-ea"/>
                        <a:cs typeface="Bookman Old Style" panose="02050604050505020204" pitchFamily="18" charset="0"/>
                      </a:rPr>
                      <m:t> </m:t>
                    </m:r>
                    <m:r>
                      <a:rPr lang="en-US" altLang="zh-CN" i="1" spc="50" dirty="0" err="1">
                        <a:latin typeface="Cambria Math" panose="02040503050406030204" pitchFamily="18" charset="0"/>
                        <a:ea typeface="+mj-ea"/>
                        <a:cs typeface="Bookman Old Style" panose="02050604050505020204" pitchFamily="18" charset="0"/>
                      </a:rPr>
                      <m:t>𝑦</m:t>
                    </m:r>
                  </m:oMath>
                </a14:m>
                <a:r>
                  <a:rPr lang="en-US" altLang="zh-CN" spc="-30" dirty="0" err="1">
                    <a:latin typeface="+mj-ea"/>
                    <a:ea typeface="+mj-ea"/>
                    <a:cs typeface="仿宋" panose="02010609060101010101" pitchFamily="49" charset="-122"/>
                  </a:rPr>
                  <a:t>为一个标量，称为向量的内积或点积</a:t>
                </a:r>
                <a:r>
                  <a:rPr lang="en-US" altLang="zh-CN" spc="-30" dirty="0">
                    <a:latin typeface="+mj-ea"/>
                    <a:ea typeface="+mj-ea"/>
                    <a:cs typeface="仿宋" panose="02010609060101010101" pitchFamily="49" charset="-122"/>
                  </a:rPr>
                  <a:t>, </a:t>
                </a:r>
                <a:r>
                  <a:rPr lang="en-US" altLang="zh-CN" spc="-30" dirty="0" err="1">
                    <a:latin typeface="+mj-ea"/>
                    <a:ea typeface="+mj-ea"/>
                    <a:cs typeface="仿宋" panose="02010609060101010101" pitchFamily="49" charset="-122"/>
                  </a:rPr>
                  <a:t>记为</a:t>
                </a:r>
                <a14:m>
                  <m:oMath xmlns:m="http://schemas.openxmlformats.org/officeDocument/2006/math">
                    <m:r>
                      <a:rPr lang="en-US" altLang="zh-CN" i="1" dirty="0" smtClean="0">
                        <a:latin typeface="Cambria Math" panose="02040503050406030204" pitchFamily="18" charset="0"/>
                        <a:ea typeface="+mj-ea"/>
                        <a:cs typeface="仿宋" panose="02010609060101010101" pitchFamily="49" charset="-122"/>
                      </a:rPr>
                      <m:t>&lt;</m:t>
                    </m:r>
                    <m:r>
                      <a:rPr lang="en-US" altLang="zh-CN" i="1" dirty="0" err="1" smtClean="0">
                        <a:latin typeface="Cambria Math" panose="02040503050406030204" pitchFamily="18" charset="0"/>
                        <a:ea typeface="+mj-ea"/>
                        <a:cs typeface="仿宋" panose="02010609060101010101" pitchFamily="49" charset="-122"/>
                      </a:rPr>
                      <m:t>𝑥</m:t>
                    </m:r>
                    <m:r>
                      <a:rPr lang="en-US" altLang="zh-CN" i="1" dirty="0" err="1" smtClean="0">
                        <a:latin typeface="Cambria Math" panose="02040503050406030204" pitchFamily="18" charset="0"/>
                        <a:ea typeface="+mj-ea"/>
                        <a:cs typeface="仿宋" panose="02010609060101010101" pitchFamily="49" charset="-122"/>
                      </a:rPr>
                      <m:t>,</m:t>
                    </m:r>
                    <m:r>
                      <a:rPr lang="en-US" altLang="zh-CN" i="1" dirty="0" err="1" smtClean="0">
                        <a:latin typeface="Cambria Math" panose="02040503050406030204" pitchFamily="18" charset="0"/>
                        <a:ea typeface="+mj-ea"/>
                        <a:cs typeface="仿宋" panose="02010609060101010101" pitchFamily="49" charset="-122"/>
                      </a:rPr>
                      <m:t>𝑦</m:t>
                    </m:r>
                    <m:r>
                      <a:rPr lang="en-US" altLang="zh-CN" i="1" dirty="0" smtClean="0">
                        <a:latin typeface="Cambria Math" panose="02040503050406030204" pitchFamily="18" charset="0"/>
                        <a:ea typeface="+mj-ea"/>
                        <a:cs typeface="仿宋" panose="02010609060101010101" pitchFamily="49" charset="-122"/>
                      </a:rPr>
                      <m:t>&gt;</m:t>
                    </m:r>
                  </m:oMath>
                </a14:m>
                <a:endParaRPr lang="zh-CN" altLang="zh-CN" sz="1200" dirty="0">
                  <a:effectLst/>
                  <a:latin typeface="+mj-ea"/>
                  <a:ea typeface="+mj-ea"/>
                  <a:cs typeface="仿宋" panose="02010609060101010101" pitchFamily="49" charset="-122"/>
                </a:endParaRPr>
              </a:p>
            </p:txBody>
          </p:sp>
        </mc:Choice>
        <mc:Fallback>
          <p:sp>
            <p:nvSpPr>
              <p:cNvPr id="9" name="矩形 8"/>
              <p:cNvSpPr>
                <a:spLocks noRot="1" noChangeAspect="1" noMove="1" noResize="1" noEditPoints="1" noAdjustHandles="1" noChangeArrowheads="1" noChangeShapeType="1" noTextEdit="1"/>
              </p:cNvSpPr>
              <p:nvPr/>
            </p:nvSpPr>
            <p:spPr>
              <a:xfrm>
                <a:off x="865237" y="5655790"/>
                <a:ext cx="11627269" cy="374461"/>
              </a:xfrm>
              <a:prstGeom prst="rect">
                <a:avLst/>
              </a:prstGeom>
              <a:blipFill rotWithShape="1">
                <a:blip r:embed="rId4"/>
                <a:stretch>
                  <a:fillRect l="-3" t="-33704" r="1" b="78"/>
                </a:stretch>
              </a:blipFill>
            </p:spPr>
            <p:txBody>
              <a:bodyPr/>
              <a:lstStyle/>
              <a:p>
                <a:r>
                  <a:rPr lang="zh-CN" altLang="en-US">
                    <a:noFill/>
                  </a:rPr>
                  <a:t> </a:t>
                </a:r>
              </a:p>
            </p:txBody>
          </p:sp>
        </mc:Fallback>
      </mc:AlternateContent>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7984" y="2230826"/>
            <a:ext cx="3560516" cy="2663923"/>
          </a:xfrm>
          <a:prstGeom prst="rect">
            <a:avLst/>
          </a:prstGeom>
        </p:spPr>
      </p:pic>
      <p:sp>
        <p:nvSpPr>
          <p:cNvPr id="12" name="右箭头 11"/>
          <p:cNvSpPr/>
          <p:nvPr/>
        </p:nvSpPr>
        <p:spPr>
          <a:xfrm>
            <a:off x="8356728" y="3562787"/>
            <a:ext cx="1074558" cy="2654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013015" y="1571472"/>
            <a:ext cx="3724951" cy="546300"/>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32786" name="文本框 22"/>
          <p:cNvSpPr txBox="1">
            <a:spLocks noChangeArrowheads="1"/>
          </p:cNvSpPr>
          <p:nvPr/>
        </p:nvSpPr>
        <p:spPr bwMode="auto">
          <a:xfrm>
            <a:off x="800125" y="371143"/>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线性代数</a:t>
            </a:r>
            <a:r>
              <a:rPr lang="en-US" altLang="zh-CN" dirty="0"/>
              <a:t>-</a:t>
            </a:r>
            <a:r>
              <a:rPr lang="zh-CN" altLang="en-US" dirty="0"/>
              <a:t>求导</a:t>
            </a:r>
            <a:br>
              <a:rPr lang="zh-CN" altLang="en-US" dirty="0"/>
            </a:br>
            <a:endParaRPr lang="zh-CN" altLang="en-US" dirty="0"/>
          </a:p>
        </p:txBody>
      </p:sp>
      <p:sp>
        <p:nvSpPr>
          <p:cNvPr id="2" name="文本框 1"/>
          <p:cNvSpPr txBox="1"/>
          <p:nvPr/>
        </p:nvSpPr>
        <p:spPr>
          <a:xfrm>
            <a:off x="5570562" y="3320001"/>
            <a:ext cx="65" cy="369332"/>
          </a:xfrm>
          <a:prstGeom prst="rect">
            <a:avLst/>
          </a:prstGeom>
          <a:noFill/>
        </p:spPr>
        <p:txBody>
          <a:bodyPr wrap="none" lIns="0" tIns="0" rIns="0" bIns="0" rtlCol="0">
            <a:spAutoFit/>
          </a:bodyPr>
          <a:lstStyle/>
          <a:p>
            <a:endParaRPr lang="zh-CN" altLang="en-US" sz="2400" dirty="0"/>
          </a:p>
        </p:txBody>
      </p:sp>
      <mc:AlternateContent xmlns:mc="http://schemas.openxmlformats.org/markup-compatibility/2006">
        <mc:Choice xmlns:a14="http://schemas.microsoft.com/office/drawing/2010/main" Requires="a14">
          <p:sp>
            <p:nvSpPr>
              <p:cNvPr id="3" name="矩形 2"/>
              <p:cNvSpPr/>
              <p:nvPr/>
            </p:nvSpPr>
            <p:spPr>
              <a:xfrm>
                <a:off x="1141130" y="1372093"/>
                <a:ext cx="6096000" cy="1442639"/>
              </a:xfrm>
              <a:prstGeom prst="rect">
                <a:avLst/>
              </a:prstGeom>
            </p:spPr>
            <p:txBody>
              <a:bodyPr>
                <a:spAutoFit/>
              </a:bodyPr>
              <a:lstStyle/>
              <a:p>
                <a:pPr>
                  <a:spcBef>
                    <a:spcPts val="900"/>
                  </a:spcBef>
                  <a:spcAft>
                    <a:spcPts val="900"/>
                  </a:spcAft>
                </a:pPr>
                <a14:m>
                  <m:oMath xmlns:m="http://schemas.openxmlformats.org/officeDocument/2006/math">
                    <m:f>
                      <m:fPr>
                        <m:ctrlPr>
                          <a:rPr lang="zh-CN" altLang="zh-CN" sz="2400"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𝐼</m:t>
                    </m:r>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𝐼</m:t>
                    </m:r>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oMath>
                </a14:m>
                <a:r>
                  <a:rPr lang="en-US" altLang="zh-CN" sz="2400" dirty="0">
                    <a:effectLst/>
                    <a:latin typeface="Cambria" panose="02040503050406030204" pitchFamily="18" charset="0"/>
                    <a:cs typeface="Times New Roman" panose="02020603050405020304" pitchFamily="18" charset="0"/>
                  </a:rPr>
                  <a:t> </a:t>
                </a:r>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𝐴𝑥</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𝐴𝑥</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𝑥𝐴</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endParaRPr lang="zh-CN" altLang="zh-CN" sz="2400" dirty="0">
                  <a:effectLst/>
                  <a:latin typeface="Cambria" panose="020405030504060302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1141130" y="1372093"/>
                <a:ext cx="6096000" cy="1442639"/>
              </a:xfrm>
              <a:prstGeom prst="rect">
                <a:avLst/>
              </a:prstGeom>
              <a:blipFill rotWithShape="1">
                <a:blip r:embed="rId1"/>
                <a:stretch>
                  <a:fillRect l="-1" t="-34" r="1" b="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141130" y="2960031"/>
                <a:ext cx="9311148" cy="818622"/>
              </a:xfrm>
              <a:prstGeom prst="rect">
                <a:avLst/>
              </a:prstGeom>
            </p:spPr>
            <p:txBody>
              <a:bodyPr wrap="square">
                <a:spAutoFit/>
              </a:bodyPr>
              <a:lstStyle/>
              <a:p>
                <a:pPr>
                  <a:spcBef>
                    <a:spcPts val="900"/>
                  </a:spcBef>
                  <a:spcAft>
                    <a:spcPts val="900"/>
                  </a:spcAft>
                </a:pPr>
                <a14:m>
                  <m:oMath xmlns:m="http://schemas.openxmlformats.org/officeDocument/2006/math">
                    <m:f>
                      <m:fPr>
                        <m:ctrlPr>
                          <a:rPr lang="zh-CN" altLang="zh-CN" sz="24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e>
                        </m:d>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oMath>
                </a14:m>
                <a:r>
                  <a:rPr lang="en-US" altLang="zh-CN" sz="2400" dirty="0">
                    <a:effectLst/>
                    <a:latin typeface="Cambria" panose="02040503050406030204" pitchFamily="18" charset="0"/>
                    <a:cs typeface="Times New Roman" panose="02020603050405020304" pitchFamily="18" charset="0"/>
                  </a:rPr>
                  <a:t> </a:t>
                </a:r>
                <a:endParaRPr lang="zh-CN" altLang="zh-CN" sz="2400" dirty="0">
                  <a:effectLst/>
                  <a:latin typeface="Cambria" panose="020405030504060302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141130" y="2960031"/>
                <a:ext cx="9311148" cy="818622"/>
              </a:xfrm>
              <a:prstGeom prst="rect">
                <a:avLst/>
              </a:prstGeom>
              <a:blipFill rotWithShape="1">
                <a:blip r:embed="rId2"/>
                <a:stretch>
                  <a:fillRect t="-36" r="2"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141130" y="4026695"/>
                <a:ext cx="4834593" cy="679866"/>
              </a:xfrm>
              <a:prstGeom prst="rect">
                <a:avLst/>
              </a:prstGeom>
            </p:spPr>
            <p:txBody>
              <a:bodyPr wrap="none">
                <a:spAutoFit/>
              </a:bodyPr>
              <a:lstStyle/>
              <a:p>
                <a:pPr>
                  <a:spcBef>
                    <a:spcPts val="900"/>
                  </a:spcBef>
                  <a:spcAft>
                    <a:spcPts val="900"/>
                  </a:spcAft>
                </a:pPr>
                <a14:m>
                  <m:oMath xmlns:m="http://schemas.openxmlformats.org/officeDocument/2006/math">
                    <m:f>
                      <m:fPr>
                        <m:ctrlPr>
                          <a:rPr lang="zh-CN" altLang="zh-CN" sz="2400"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𝐴𝑥</m:t>
                        </m:r>
                      </m:num>
                      <m:den>
                        <m:r>
                          <m:rPr>
                            <m:sty m:val="p"/>
                          </m:rPr>
                          <a:rPr lang="en-US" altLang="zh-CN" sz="2400" i="0">
                            <a:effectLst/>
                            <a:latin typeface="Cambria Math" panose="02040503050406030204" pitchFamily="18" charset="0"/>
                            <a:ea typeface="宋体" panose="02010600030101010101" pitchFamily="2" charset="-122"/>
                            <a:cs typeface="Times New Roman" panose="02020603050405020304" pitchFamily="18" charset="0"/>
                          </a:rPr>
                          <m:t>d</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e>
                    </m:d>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oMath>
                </a14:m>
                <a:r>
                  <a:rPr lang="en-US" altLang="zh-CN" sz="2400" dirty="0">
                    <a:effectLst/>
                    <a:latin typeface="Cambria" panose="02040503050406030204" pitchFamily="18" charset="0"/>
                    <a:cs typeface="Times New Roman" panose="02020603050405020304" pitchFamily="18" charset="0"/>
                  </a:rPr>
                  <a:t> </a:t>
                </a:r>
                <a:endParaRPr lang="zh-CN" altLang="zh-CN" sz="2400" dirty="0">
                  <a:effectLst/>
                  <a:latin typeface="Cambria" panose="02040503050406030204" pitchFamily="18" charset="0"/>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1141130" y="4026695"/>
                <a:ext cx="4834593" cy="679866"/>
              </a:xfrm>
              <a:prstGeom prst="rect">
                <a:avLst/>
              </a:prstGeom>
              <a:blipFill rotWithShape="1">
                <a:blip r:embed="rId3"/>
                <a:stretch>
                  <a:fillRect l="-1" t="-24" r="8"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141130" y="4938425"/>
                <a:ext cx="5083828" cy="679866"/>
              </a:xfrm>
              <a:prstGeom prst="rect">
                <a:avLst/>
              </a:prstGeom>
            </p:spPr>
            <p:txBody>
              <a:bodyPr wrap="none">
                <a:spAutoFit/>
              </a:bodyPr>
              <a:lstStyle/>
              <a:p>
                <a:pPr>
                  <a:spcBef>
                    <a:spcPts val="900"/>
                  </a:spcBef>
                  <a:spcAft>
                    <a:spcPts val="900"/>
                  </a:spcAft>
                </a:pPr>
                <a14:m>
                  <m:oMath xmlns:m="http://schemas.openxmlformats.org/officeDocument/2006/math">
                    <m:f>
                      <m:fPr>
                        <m:ctrlPr>
                          <a:rPr lang="zh-CN" altLang="zh-CN" sz="24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𝐴𝐵</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𝐴</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𝐵</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𝑥</m:t>
                        </m:r>
                      </m:den>
                    </m:f>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𝑋𝑣</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endParaRPr lang="zh-CN" altLang="zh-CN" sz="2400" dirty="0">
                  <a:effectLst/>
                  <a:latin typeface="Cambria" panose="02040503050406030204" pitchFamily="18" charset="0"/>
                  <a:cs typeface="Times New Roman" panose="020206030504050203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1141130" y="4938425"/>
                <a:ext cx="5083828" cy="679866"/>
              </a:xfrm>
              <a:prstGeom prst="rect">
                <a:avLst/>
              </a:prstGeom>
              <a:blipFill rotWithShape="1">
                <a:blip r:embed="rId4"/>
                <a:stretch>
                  <a:fillRect l="-1" t="-4" r="1"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141130" y="5900895"/>
                <a:ext cx="7158370" cy="689035"/>
              </a:xfrm>
              <a:prstGeom prst="rect">
                <a:avLst/>
              </a:prstGeom>
            </p:spPr>
            <p:txBody>
              <a:bodyPr wrap="none">
                <a:spAutoFit/>
              </a:bodyPr>
              <a:lstStyle/>
              <a:p>
                <a:pPr>
                  <a:spcBef>
                    <a:spcPts val="900"/>
                  </a:spcBef>
                  <a:spcAft>
                    <a:spcPts val="900"/>
                  </a:spcAft>
                </a:pPr>
                <a14:m>
                  <m:oMath xmlns:m="http://schemas.openxmlformats.org/officeDocument/2006/math">
                    <m:f>
                      <m:fPr>
                        <m:ctrlPr>
                          <a:rPr lang="zh-CN" altLang="zh-CN" sz="24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𝑋𝑢</m:t>
                        </m:r>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𝑋𝑢</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en-US" altLang="zh-CN" sz="2400" dirty="0">
                    <a:effectLst/>
                    <a:latin typeface="Cambria" panose="02040503050406030204" pitchFamily="18" charset="0"/>
                    <a:cs typeface="Times New Roman" panose="02020603050405020304" pitchFamily="18" charset="0"/>
                  </a:rPr>
                  <a:t>        </a:t>
                </a:r>
                <a14:m>
                  <m:oMath xmlns:m="http://schemas.openxmlformats.org/officeDocument/2006/math">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𝑋𝑢</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𝑋𝑢</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e>
                        </m:d>
                      </m:num>
                      <m:den>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m:t>
                        </m:r>
                      </m:den>
                    </m:f>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𝑋𝑢</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𝑢</m:t>
                        </m:r>
                      </m:e>
                      <m:sup>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endParaRPr lang="zh-CN" altLang="zh-CN" sz="2400" dirty="0">
                  <a:effectLst/>
                  <a:latin typeface="Cambria" panose="02040503050406030204" pitchFamily="18" charset="0"/>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141130" y="5900895"/>
                <a:ext cx="7158370" cy="689035"/>
              </a:xfrm>
              <a:prstGeom prst="rect">
                <a:avLst/>
              </a:prstGeom>
              <a:blipFill rotWithShape="1">
                <a:blip r:embed="rId5"/>
                <a:stretch>
                  <a:fillRect t="-69" r="1" b="-84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156683" y="4073125"/>
                <a:ext cx="4502836" cy="679866"/>
              </a:xfrm>
              <a:prstGeom prst="rect">
                <a:avLst/>
              </a:prstGeom>
            </p:spPr>
            <p:txBody>
              <a:bodyPr wrap="none">
                <a:spAutoFit/>
              </a:bodyPr>
              <a:lstStyle/>
              <a:p>
                <a14:m>
                  <m:oMath xmlns:m="http://schemas.openxmlformats.org/officeDocument/2006/math">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d</m:t>
                        </m:r>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i="1">
                                <a:latin typeface="Cambria Math" panose="02040503050406030204" pitchFamily="18" charset="0"/>
                                <a:ea typeface="宋体" panose="02010600030101010101" pitchFamily="2" charset="-122"/>
                                <a:cs typeface="Times New Roman" panose="02020603050405020304" pitchFamily="18" charset="0"/>
                              </a:rPr>
                              <m:t>𝑇</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𝐴𝑥</m:t>
                        </m:r>
                      </m:num>
                      <m:den>
                        <m:r>
                          <m:rPr>
                            <m:sty m:val="p"/>
                          </m:rPr>
                          <a:rPr lang="en-US" altLang="zh-CN" i="0">
                            <a:latin typeface="Cambria Math" panose="02040503050406030204" pitchFamily="18" charset="0"/>
                            <a:ea typeface="宋体" panose="02010600030101010101" pitchFamily="2" charset="-122"/>
                            <a:cs typeface="Times New Roman" panose="02020603050405020304" pitchFamily="18" charset="0"/>
                          </a:rPr>
                          <m:t>d</m:t>
                        </m:r>
                        <m:r>
                          <a:rPr lang="en-US" altLang="zh-CN" i="1">
                            <a:latin typeface="Cambria Math" panose="02040503050406030204" pitchFamily="18" charset="0"/>
                            <a:ea typeface="宋体" panose="02010600030101010101" pitchFamily="2" charset="-122"/>
                            <a:cs typeface="Times New Roman" panose="02020603050405020304" pitchFamily="18" charset="0"/>
                          </a:rPr>
                          <m:t>𝑥</m:t>
                        </m:r>
                      </m:den>
                    </m:f>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2</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𝐴𝑥</m:t>
                    </m:r>
                  </m:oMath>
                </a14:m>
                <a:r>
                  <a:rPr lang="zh-CN" altLang="en-US" kern="100" dirty="0">
                    <a:latin typeface="微软雅黑" panose="020B0503020204020204" pitchFamily="34" charset="-122"/>
                    <a:cs typeface="Times New Roman" panose="02020603050405020304" pitchFamily="18" charset="0"/>
                  </a:rPr>
                  <a:t>（如果</a:t>
                </a:r>
                <a14:m>
                  <m:oMath xmlns:m="http://schemas.openxmlformats.org/officeDocument/2006/math">
                    <m:r>
                      <a:rPr lang="en-US" altLang="zh-CN" i="1" kern="100" dirty="0" smtClean="0">
                        <a:latin typeface="Cambria Math" panose="02040503050406030204" pitchFamily="18" charset="0"/>
                        <a:cs typeface="Times New Roman" panose="02020603050405020304" pitchFamily="18" charset="0"/>
                      </a:rPr>
                      <m:t>𝐴</m:t>
                    </m:r>
                  </m:oMath>
                </a14:m>
                <a:r>
                  <a:rPr lang="zh-CN" altLang="en-US" kern="100" dirty="0">
                    <a:latin typeface="微软雅黑" panose="020B0503020204020204" pitchFamily="34" charset="-122"/>
                    <a:cs typeface="Times New Roman" panose="02020603050405020304" pitchFamily="18" charset="0"/>
                  </a:rPr>
                  <a:t>为对称阵）</a:t>
                </a:r>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6156683" y="4073125"/>
                <a:ext cx="4502836" cy="679866"/>
              </a:xfrm>
              <a:prstGeom prst="rect">
                <a:avLst/>
              </a:prstGeom>
              <a:blipFill rotWithShape="1">
                <a:blip r:embed="rId6"/>
                <a:stretch>
                  <a:fillRect l="-8" t="-35" r="9"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7060798" y="1636077"/>
                <a:ext cx="5061386" cy="461665"/>
              </a:xfrm>
              <a:prstGeom prst="rect">
                <a:avLst/>
              </a:prstGeom>
              <a:noFill/>
            </p:spPr>
            <p:txBody>
              <a:bodyPr wrap="none">
                <a:spAutoFit/>
              </a:bodyPr>
              <a:lstStyle/>
              <a:p>
                <a14:m>
                  <m:oMath xmlns:m="http://schemas.openxmlformats.org/officeDocument/2006/math">
                    <m:r>
                      <a:rPr lang="en-US" altLang="zh-CN" i="1" smtClean="0">
                        <a:latin typeface="Cambria Math" panose="02040503050406030204" pitchFamily="18" charset="0"/>
                        <a:ea typeface="宋体" panose="02010600030101010101" pitchFamily="2" charset="-122"/>
                        <a:cs typeface="Times New Roman" panose="02020603050405020304" pitchFamily="18" charset="0"/>
                      </a:rPr>
                      <m:t>𝐴</m:t>
                    </m:r>
                  </m:oMath>
                </a14:m>
                <a:r>
                  <a:rPr lang="zh-CN" altLang="en-US" dirty="0"/>
                  <a:t>为</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oMath>
                </a14:m>
                <a:r>
                  <a:rPr lang="zh-CN" altLang="en-US" dirty="0"/>
                  <a:t>的矩阵，</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𝑥</m:t>
                    </m:r>
                  </m:oMath>
                </a14:m>
                <a:r>
                  <a:rPr lang="zh-CN" altLang="en-US" dirty="0"/>
                  <a:t>为</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1</m:t>
                    </m:r>
                    <m:r>
                      <a:rPr lang="zh-CN" altLang="en-US" i="1">
                        <a:latin typeface="Cambria Math" panose="02040503050406030204" pitchFamily="18" charset="0"/>
                      </a:rPr>
                      <m:t>的</m:t>
                    </m:r>
                  </m:oMath>
                </a14:m>
                <a:r>
                  <a:rPr lang="zh-CN" altLang="en-US" dirty="0"/>
                  <a:t>列向量</a:t>
                </a:r>
                <a:endParaRPr lang="zh-CN" altLang="zh-CN" dirty="0"/>
              </a:p>
            </p:txBody>
          </p:sp>
        </mc:Choice>
        <mc:Fallback>
          <p:sp>
            <p:nvSpPr>
              <p:cNvPr id="10" name="矩形 9"/>
              <p:cNvSpPr>
                <a:spLocks noRot="1" noChangeAspect="1" noMove="1" noResize="1" noEditPoints="1" noAdjustHandles="1" noChangeArrowheads="1" noChangeShapeType="1" noTextEdit="1"/>
              </p:cNvSpPr>
              <p:nvPr/>
            </p:nvSpPr>
            <p:spPr>
              <a:xfrm>
                <a:off x="7060798" y="1636077"/>
                <a:ext cx="5061386" cy="461665"/>
              </a:xfrm>
              <a:prstGeom prst="rect">
                <a:avLst/>
              </a:prstGeom>
              <a:blipFill rotWithShape="1">
                <a:blip r:embed="rId7"/>
                <a:stretch>
                  <a:fillRect l="-5" t="-69" r="1" b="73"/>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23664" y="28297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线性代数</a:t>
            </a:r>
            <a:br>
              <a:rPr lang="zh-CN" altLang="en-US" dirty="0"/>
            </a:br>
            <a:endParaRPr lang="zh-CN" altLang="en-US" dirty="0"/>
          </a:p>
        </p:txBody>
      </p:sp>
      <p:sp>
        <p:nvSpPr>
          <p:cNvPr id="2" name="文本框 1"/>
          <p:cNvSpPr txBox="1"/>
          <p:nvPr/>
        </p:nvSpPr>
        <p:spPr>
          <a:xfrm>
            <a:off x="5638800" y="2974258"/>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517786" y="1483307"/>
                <a:ext cx="10242028" cy="4349909"/>
              </a:xfrm>
              <a:prstGeom prst="rect">
                <a:avLst/>
              </a:prstGeom>
            </p:spPr>
            <p:txBody>
              <a:bodyPr wrap="square">
                <a:spAutoFit/>
              </a:bodyPr>
              <a:lstStyle/>
              <a:p>
                <a:pPr marL="143510" marR="142240" algn="just">
                  <a:lnSpc>
                    <a:spcPts val="2510"/>
                  </a:lnSpc>
                  <a:spcBef>
                    <a:spcPts val="290"/>
                  </a:spcBef>
                  <a:spcAft>
                    <a:spcPts val="0"/>
                  </a:spcAft>
                </a:pPr>
                <a:r>
                  <a:rPr lang="en-US" altLang="zh-CN" b="1" spc="25" dirty="0">
                    <a:solidFill>
                      <a:srgbClr val="FF0000"/>
                    </a:solidFill>
                    <a:latin typeface="+mj-ea"/>
                    <a:ea typeface="+mj-ea"/>
                    <a:cs typeface="仿宋" panose="02010609060101010101" pitchFamily="49" charset="-122"/>
                  </a:rPr>
                  <a:t>正交</a:t>
                </a:r>
                <a:endParaRPr lang="en-US" altLang="zh-CN" b="1" spc="25" dirty="0">
                  <a:latin typeface="+mj-ea"/>
                  <a:ea typeface="+mj-ea"/>
                  <a:cs typeface="仿宋" panose="02010609060101010101" pitchFamily="49" charset="-122"/>
                </a:endParaRPr>
              </a:p>
              <a:p>
                <a:pPr marL="143510" marR="142240" algn="just">
                  <a:lnSpc>
                    <a:spcPct val="150000"/>
                  </a:lnSpc>
                  <a:spcBef>
                    <a:spcPts val="290"/>
                  </a:spcBef>
                  <a:spcAft>
                    <a:spcPts val="0"/>
                  </a:spcAft>
                </a:pPr>
                <a:r>
                  <a:rPr lang="en-US" altLang="zh-CN" sz="2800" spc="25" dirty="0">
                    <a:latin typeface="+mj-ea"/>
                    <a:ea typeface="+mj-ea"/>
                    <a:cs typeface="仿宋" panose="02010609060101010101" pitchFamily="49" charset="-122"/>
                  </a:rPr>
                  <a:t>给定</a:t>
                </a:r>
                <a14:m>
                  <m:oMath xmlns:m="http://schemas.openxmlformats.org/officeDocument/2006/math">
                    <m:r>
                      <a:rPr lang="en-US" altLang="zh-CN" sz="2800" i="1" dirty="0" smtClean="0">
                        <a:latin typeface="Cambria Math" panose="02040503050406030204" pitchFamily="18" charset="0"/>
                        <a:ea typeface="+mj-ea"/>
                        <a:cs typeface="仿宋" panose="02010609060101010101" pitchFamily="49" charset="-122"/>
                      </a:rPr>
                      <m:t>𝑎</m:t>
                    </m:r>
                    <m:r>
                      <a:rPr lang="en-US" altLang="zh-CN" sz="2800" i="1" dirty="0" smtClean="0">
                        <a:latin typeface="Cambria Math" panose="02040503050406030204" pitchFamily="18" charset="0"/>
                        <a:ea typeface="+mj-ea"/>
                        <a:cs typeface="仿宋" panose="02010609060101010101" pitchFamily="49" charset="-122"/>
                      </a:rPr>
                      <m:t>, </m:t>
                    </m:r>
                    <m:r>
                      <a:rPr lang="en-US" altLang="zh-CN" sz="2800" i="1" dirty="0" smtClean="0">
                        <a:latin typeface="Cambria Math" panose="02040503050406030204" pitchFamily="18" charset="0"/>
                        <a:ea typeface="+mj-ea"/>
                        <a:cs typeface="仿宋" panose="02010609060101010101" pitchFamily="49" charset="-122"/>
                      </a:rPr>
                      <m:t>𝑏</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3200" i="1">
                            <a:latin typeface="Cambria Math" panose="02040503050406030204" pitchFamily="18" charset="0"/>
                            <a:ea typeface="Cambria Math" panose="02040503050406030204" pitchFamily="18" charset="0"/>
                          </a:rPr>
                        </m:ctrlPr>
                      </m:sSup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p>
                    </m:sSup>
                  </m:oMath>
                </a14:m>
                <a:r>
                  <a:rPr lang="en-US" altLang="zh-CN" sz="2800" spc="15" dirty="0">
                    <a:latin typeface="+mj-ea"/>
                    <a:ea typeface="+mj-ea"/>
                    <a:cs typeface="仿宋" panose="02010609060101010101" pitchFamily="49" charset="-122"/>
                  </a:rPr>
                  <a:t>，如果</a:t>
                </a:r>
                <a:r>
                  <a:rPr lang="en-US" altLang="zh-CN" sz="2800" i="1" spc="50" dirty="0">
                    <a:latin typeface="+mj-ea"/>
                    <a:ea typeface="+mj-ea"/>
                    <a:cs typeface="仿宋" panose="02010609060101010101" pitchFamily="49" charset="-122"/>
                  </a:rPr>
                  <a:t> </a:t>
                </a:r>
                <a14:m>
                  <m:oMath xmlns:m="http://schemas.openxmlformats.org/officeDocument/2006/math">
                    <m:r>
                      <a:rPr lang="en-US" altLang="zh-CN" sz="2800" i="1" spc="50" dirty="0" smtClean="0">
                        <a:latin typeface="Cambria Math" panose="02040503050406030204" pitchFamily="18" charset="0"/>
                        <a:ea typeface="+mj-ea"/>
                        <a:cs typeface="仿宋" panose="02010609060101010101" pitchFamily="49" charset="-122"/>
                      </a:rPr>
                      <m:t>𝑎</m:t>
                    </m:r>
                    <m:r>
                      <a:rPr lang="en-US" altLang="zh-CN" sz="2800" i="1" spc="50" baseline="30000" dirty="0" err="1">
                        <a:latin typeface="Cambria Math" panose="02040503050406030204" pitchFamily="18" charset="0"/>
                        <a:ea typeface="+mj-ea"/>
                        <a:cs typeface="仿宋" panose="02010609060101010101" pitchFamily="49" charset="-122"/>
                      </a:rPr>
                      <m:t>𝑇</m:t>
                    </m:r>
                    <m:r>
                      <a:rPr lang="en-US" altLang="zh-CN" sz="2800" i="1" spc="50" baseline="30000" dirty="0">
                        <a:latin typeface="Cambria Math" panose="02040503050406030204" pitchFamily="18" charset="0"/>
                        <a:ea typeface="+mj-ea"/>
                        <a:cs typeface="仿宋" panose="02010609060101010101" pitchFamily="49" charset="-122"/>
                      </a:rPr>
                      <m:t> </m:t>
                    </m:r>
                    <m:r>
                      <a:rPr lang="en-US" altLang="zh-CN" sz="2800" i="1" dirty="0">
                        <a:latin typeface="Cambria Math" panose="02040503050406030204" pitchFamily="18" charset="0"/>
                        <a:ea typeface="+mj-ea"/>
                        <a:cs typeface="仿宋" panose="02010609060101010101" pitchFamily="49" charset="-122"/>
                      </a:rPr>
                      <m:t>𝑏</m:t>
                    </m:r>
                    <m:r>
                      <a:rPr lang="en-US" altLang="zh-CN" sz="2800" i="1" dirty="0">
                        <a:latin typeface="Cambria Math" panose="02040503050406030204" pitchFamily="18" charset="0"/>
                        <a:ea typeface="+mj-ea"/>
                        <a:cs typeface="仿宋" panose="02010609060101010101" pitchFamily="49" charset="-122"/>
                      </a:rPr>
                      <m:t> = </m:t>
                    </m:r>
                    <m:r>
                      <a:rPr lang="en-US" altLang="zh-CN" sz="2800" i="1" dirty="0">
                        <a:latin typeface="Cambria Math" panose="02040503050406030204" pitchFamily="18" charset="0"/>
                        <a:ea typeface="+mj-ea"/>
                        <a:cs typeface="仿宋" panose="02010609060101010101" pitchFamily="49" charset="-122"/>
                      </a:rPr>
                      <m:t>0</m:t>
                    </m:r>
                  </m:oMath>
                </a14:m>
                <a:r>
                  <a:rPr lang="en-US" altLang="zh-CN" sz="2800" spc="155" dirty="0">
                    <a:latin typeface="+mj-ea"/>
                    <a:ea typeface="+mj-ea"/>
                    <a:cs typeface="仿宋" panose="02010609060101010101" pitchFamily="49" charset="-122"/>
                  </a:rPr>
                  <a:t>, </a:t>
                </a:r>
                <a:r>
                  <a:rPr lang="en-US" altLang="zh-CN" sz="2800" spc="155" dirty="0" err="1">
                    <a:latin typeface="+mj-ea"/>
                    <a:ea typeface="+mj-ea"/>
                    <a:cs typeface="仿宋" panose="02010609060101010101" pitchFamily="49" charset="-122"/>
                  </a:rPr>
                  <a:t>那么向量</a:t>
                </a:r>
                <a14:m>
                  <m:oMath xmlns:m="http://schemas.openxmlformats.org/officeDocument/2006/math">
                    <m:r>
                      <a:rPr lang="en-US" altLang="zh-CN" sz="2800" i="1" spc="155" dirty="0" smtClean="0">
                        <a:latin typeface="Cambria Math" panose="02040503050406030204" pitchFamily="18" charset="0"/>
                        <a:ea typeface="+mj-ea"/>
                        <a:cs typeface="仿宋" panose="02010609060101010101" pitchFamily="49" charset="-122"/>
                      </a:rPr>
                      <m:t>𝑎</m:t>
                    </m:r>
                    <m:r>
                      <a:rPr lang="en-US" altLang="zh-CN" sz="2800" i="1" spc="155" dirty="0">
                        <a:latin typeface="Cambria Math" panose="02040503050406030204" pitchFamily="18" charset="0"/>
                        <a:ea typeface="+mj-ea"/>
                        <a:cs typeface="仿宋" panose="02010609060101010101" pitchFamily="49" charset="-122"/>
                      </a:rPr>
                      <m:t>,</m:t>
                    </m:r>
                    <m:r>
                      <a:rPr lang="en-US" altLang="zh-CN" sz="2800" i="1" spc="150" dirty="0">
                        <a:latin typeface="Cambria Math" panose="02040503050406030204" pitchFamily="18" charset="0"/>
                        <a:ea typeface="+mj-ea"/>
                        <a:cs typeface="仿宋" panose="02010609060101010101" pitchFamily="49" charset="-122"/>
                      </a:rPr>
                      <m:t> </m:t>
                    </m:r>
                    <m:r>
                      <a:rPr lang="en-US" altLang="zh-CN" sz="2800" i="1" dirty="0" err="1">
                        <a:latin typeface="Cambria Math" panose="02040503050406030204" pitchFamily="18" charset="0"/>
                        <a:ea typeface="+mj-ea"/>
                        <a:cs typeface="仿宋" panose="02010609060101010101" pitchFamily="49" charset="-122"/>
                      </a:rPr>
                      <m:t>𝑏</m:t>
                    </m:r>
                  </m:oMath>
                </a14:m>
                <a:r>
                  <a:rPr lang="en-US" altLang="zh-CN" sz="2800" dirty="0" err="1">
                    <a:latin typeface="+mj-ea"/>
                    <a:ea typeface="+mj-ea"/>
                    <a:cs typeface="仿宋" panose="02010609060101010101" pitchFamily="49" charset="-122"/>
                  </a:rPr>
                  <a:t>正交</a:t>
                </a:r>
                <a:r>
                  <a:rPr lang="zh-CN" altLang="en-US" sz="2800" dirty="0">
                    <a:latin typeface="+mj-ea"/>
                    <a:ea typeface="+mj-ea"/>
                    <a:cs typeface="仿宋" panose="02010609060101010101" pitchFamily="49" charset="-122"/>
                  </a:rPr>
                  <a:t>。</a:t>
                </a:r>
                <a:endParaRPr lang="en-US" altLang="zh-CN" sz="2800" dirty="0">
                  <a:latin typeface="+mj-ea"/>
                  <a:ea typeface="+mj-ea"/>
                  <a:cs typeface="仿宋" panose="02010609060101010101" pitchFamily="49" charset="-122"/>
                </a:endParaRPr>
              </a:p>
              <a:p>
                <a:pPr marL="143510" marR="142240" algn="just">
                  <a:lnSpc>
                    <a:spcPct val="150000"/>
                  </a:lnSpc>
                  <a:spcBef>
                    <a:spcPts val="290"/>
                  </a:spcBef>
                  <a:spcAft>
                    <a:spcPts val="0"/>
                  </a:spcAft>
                </a:pPr>
                <a:r>
                  <a:rPr lang="en-US" altLang="zh-CN" sz="2800" dirty="0">
                    <a:latin typeface="+mj-ea"/>
                    <a:ea typeface="+mj-ea"/>
                    <a:cs typeface="仿宋" panose="02010609060101010101" pitchFamily="49" charset="-122"/>
                  </a:rPr>
                  <a:t>对于方阵</a:t>
                </a:r>
                <a14:m>
                  <m:oMath xmlns:m="http://schemas.openxmlformats.org/officeDocument/2006/math">
                    <m:r>
                      <a:rPr lang="en-US" altLang="zh-CN" sz="2800" b="0" i="1" kern="100" smtClean="0">
                        <a:effectLst/>
                        <a:latin typeface="Cambria Math" panose="02040503050406030204" pitchFamily="18" charset="0"/>
                        <a:ea typeface="宋体" panose="02010600030101010101" pitchFamily="2" charset="-122"/>
                        <a:cs typeface="Times New Roman" panose="02020603050405020304" pitchFamily="18" charset="0"/>
                      </a:rPr>
                      <m:t>𝐴</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3200" i="1">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𝑛</m:t>
                        </m:r>
                      </m:sup>
                    </m:sSup>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 </m:t>
                    </m:r>
                  </m:oMath>
                </a14:m>
                <a:r>
                  <a:rPr lang="en-US" altLang="zh-CN" sz="2800" dirty="0" err="1">
                    <a:latin typeface="+mj-ea"/>
                    <a:ea typeface="+mj-ea"/>
                    <a:cs typeface="仿宋" panose="02010609060101010101" pitchFamily="49" charset="-122"/>
                  </a:rPr>
                  <a:t>来说，如果</a:t>
                </a:r>
                <a14:m>
                  <m:oMath xmlns:m="http://schemas.openxmlformats.org/officeDocument/2006/math">
                    <m:r>
                      <a:rPr lang="en-US" altLang="zh-CN" sz="2800" i="1" dirty="0" smtClean="0">
                        <a:latin typeface="Cambria Math" panose="02040503050406030204" pitchFamily="18" charset="0"/>
                        <a:ea typeface="+mj-ea"/>
                        <a:cs typeface="仿宋" panose="02010609060101010101" pitchFamily="49" charset="-122"/>
                      </a:rPr>
                      <m:t>𝐴</m:t>
                    </m:r>
                  </m:oMath>
                </a14:m>
                <a:r>
                  <a:rPr lang="en-US" altLang="zh-CN" sz="2800" dirty="0" err="1">
                    <a:latin typeface="+mj-ea"/>
                    <a:ea typeface="+mj-ea"/>
                    <a:cs typeface="仿宋" panose="02010609060101010101" pitchFamily="49" charset="-122"/>
                  </a:rPr>
                  <a:t>的列向</a:t>
                </a:r>
                <a:r>
                  <a:rPr lang="en-US" altLang="zh-CN" sz="2800" spc="60" dirty="0" err="1">
                    <a:latin typeface="+mj-ea"/>
                    <a:ea typeface="+mj-ea"/>
                    <a:cs typeface="仿宋" panose="02010609060101010101" pitchFamily="49" charset="-122"/>
                  </a:rPr>
                  <a:t>量两两正交，且</a:t>
                </a:r>
                <a:r>
                  <a:rPr lang="en-US" altLang="zh-CN" sz="2800" i="1" dirty="0">
                    <a:latin typeface="+mj-ea"/>
                    <a:ea typeface="+mj-ea"/>
                    <a:cs typeface="仿宋" panose="02010609060101010101" pitchFamily="49" charset="-122"/>
                  </a:rPr>
                  <a:t>ℓ</a:t>
                </a:r>
                <a:r>
                  <a:rPr lang="en-US" altLang="zh-CN" sz="1600" dirty="0">
                    <a:latin typeface="+mj-ea"/>
                    <a:ea typeface="+mj-ea"/>
                    <a:cs typeface="仿宋" panose="02010609060101010101" pitchFamily="49" charset="-122"/>
                  </a:rPr>
                  <a:t>2</a:t>
                </a:r>
                <a:r>
                  <a:rPr lang="en-US" altLang="zh-CN" sz="2800" spc="100" dirty="0">
                    <a:latin typeface="+mj-ea"/>
                    <a:ea typeface="+mj-ea"/>
                    <a:cs typeface="仿宋" panose="02010609060101010101" pitchFamily="49" charset="-122"/>
                  </a:rPr>
                  <a:t>范数为</a:t>
                </a:r>
                <a:r>
                  <a:rPr lang="en-US" altLang="zh-CN" sz="2800" spc="50" dirty="0">
                    <a:latin typeface="+mj-ea"/>
                    <a:ea typeface="+mj-ea"/>
                    <a:cs typeface="仿宋" panose="02010609060101010101" pitchFamily="49" charset="-122"/>
                  </a:rPr>
                  <a:t>1，那么</a:t>
                </a:r>
                <a:r>
                  <a:rPr lang="en-US" altLang="zh-CN" sz="2800" i="1" dirty="0">
                    <a:latin typeface="+mj-ea"/>
                    <a:ea typeface="+mj-ea"/>
                    <a:cs typeface="仿宋" panose="02010609060101010101" pitchFamily="49" charset="-122"/>
                  </a:rPr>
                  <a:t>A</a:t>
                </a:r>
                <a:r>
                  <a:rPr lang="en-US" altLang="zh-CN" sz="2800" dirty="0">
                    <a:latin typeface="+mj-ea"/>
                    <a:ea typeface="+mj-ea"/>
                    <a:cs typeface="仿宋" panose="02010609060101010101" pitchFamily="49" charset="-122"/>
                  </a:rPr>
                  <a:t>为</a:t>
                </a:r>
                <a:r>
                  <a:rPr lang="en-US" altLang="zh-CN" sz="2800" spc="60" dirty="0">
                    <a:solidFill>
                      <a:srgbClr val="3B6CDE"/>
                    </a:solidFill>
                    <a:latin typeface="+mj-ea"/>
                    <a:ea typeface="+mj-ea"/>
                    <a:cs typeface="仿宋" panose="02010609060101010101" pitchFamily="49" charset="-122"/>
                  </a:rPr>
                  <a:t>正交阵</a:t>
                </a:r>
                <a:r>
                  <a:rPr lang="en-US" altLang="zh-CN" sz="2800" spc="50" dirty="0">
                    <a:latin typeface="+mj-ea"/>
                    <a:ea typeface="+mj-ea"/>
                    <a:cs typeface="仿宋" panose="02010609060101010101" pitchFamily="49" charset="-122"/>
                  </a:rPr>
                  <a:t>，数学描述为</a:t>
                </a:r>
                <a14:m>
                  <m:oMath xmlns:m="http://schemas.openxmlformats.org/officeDocument/2006/math">
                    <m:r>
                      <a:rPr lang="en-US" altLang="zh-CN" sz="2800" i="1" spc="50" dirty="0" smtClean="0">
                        <a:latin typeface="Cambria Math" panose="02040503050406030204" pitchFamily="18" charset="0"/>
                        <a:ea typeface="+mj-ea"/>
                        <a:cs typeface="仿宋" panose="02010609060101010101" pitchFamily="49" charset="-122"/>
                      </a:rPr>
                      <m:t>𝐴</m:t>
                    </m:r>
                    <m:r>
                      <a:rPr lang="en-US" altLang="zh-CN" sz="2800" i="1" spc="50" baseline="30000" dirty="0">
                        <a:latin typeface="Cambria Math" panose="02040503050406030204" pitchFamily="18" charset="0"/>
                        <a:ea typeface="+mj-ea"/>
                        <a:cs typeface="仿宋" panose="02010609060101010101" pitchFamily="49" charset="-122"/>
                      </a:rPr>
                      <m:t>𝑇</m:t>
                    </m:r>
                    <m:r>
                      <a:rPr lang="en-US" altLang="zh-CN" sz="2800" i="1" dirty="0">
                        <a:latin typeface="Cambria Math" panose="02040503050406030204" pitchFamily="18" charset="0"/>
                        <a:ea typeface="+mj-ea"/>
                        <a:cs typeface="仿宋" panose="02010609060101010101" pitchFamily="49" charset="-122"/>
                      </a:rPr>
                      <m:t>𝐴</m:t>
                    </m:r>
                    <m:r>
                      <a:rPr lang="en-US" altLang="zh-CN" sz="2800" i="1" dirty="0">
                        <a:latin typeface="Cambria Math" panose="02040503050406030204" pitchFamily="18" charset="0"/>
                        <a:ea typeface="+mj-ea"/>
                        <a:cs typeface="仿宋" panose="02010609060101010101" pitchFamily="49" charset="-122"/>
                      </a:rPr>
                      <m:t> = </m:t>
                    </m:r>
                    <m:r>
                      <a:rPr lang="en-US" altLang="zh-CN" sz="2800" i="1" dirty="0">
                        <a:latin typeface="Cambria Math" panose="02040503050406030204" pitchFamily="18" charset="0"/>
                        <a:ea typeface="+mj-ea"/>
                        <a:cs typeface="仿宋" panose="02010609060101010101" pitchFamily="49" charset="-122"/>
                      </a:rPr>
                      <m:t>𝐼</m:t>
                    </m:r>
                    <m:r>
                      <a:rPr lang="en-US" altLang="zh-CN" sz="2800" i="1" dirty="0">
                        <a:latin typeface="Cambria Math" panose="02040503050406030204" pitchFamily="18" charset="0"/>
                        <a:ea typeface="+mj-ea"/>
                        <a:cs typeface="仿宋" panose="02010609060101010101" pitchFamily="49" charset="-122"/>
                      </a:rPr>
                      <m:t> = </m:t>
                    </m:r>
                    <m:r>
                      <a:rPr lang="en-US" altLang="zh-CN" sz="2800" i="1" dirty="0">
                        <a:latin typeface="Cambria Math" panose="02040503050406030204" pitchFamily="18" charset="0"/>
                        <a:ea typeface="+mj-ea"/>
                        <a:cs typeface="仿宋" panose="02010609060101010101" pitchFamily="49" charset="-122"/>
                      </a:rPr>
                      <m:t>𝐴𝐴</m:t>
                    </m:r>
                    <m:r>
                      <a:rPr lang="en-US" altLang="zh-CN" sz="2800" i="1" baseline="30000" dirty="0">
                        <a:latin typeface="Cambria Math" panose="02040503050406030204" pitchFamily="18" charset="0"/>
                        <a:ea typeface="+mj-ea"/>
                        <a:cs typeface="仿宋" panose="02010609060101010101" pitchFamily="49" charset="-122"/>
                      </a:rPr>
                      <m:t>𝑇</m:t>
                    </m:r>
                    <m:r>
                      <a:rPr lang="en-US" altLang="zh-CN" sz="2000" i="1" baseline="30000" dirty="0">
                        <a:latin typeface="Cambria Math" panose="02040503050406030204" pitchFamily="18" charset="0"/>
                        <a:ea typeface="+mj-ea"/>
                        <a:cs typeface="仿宋" panose="02010609060101010101" pitchFamily="49" charset="-122"/>
                      </a:rPr>
                      <m:t> </m:t>
                    </m:r>
                  </m:oMath>
                </a14:m>
                <a:r>
                  <a:rPr lang="zh-CN" altLang="en-US" sz="2800" dirty="0">
                    <a:latin typeface="+mj-ea"/>
                    <a:ea typeface="+mj-ea"/>
                    <a:cs typeface="仿宋" panose="02010609060101010101" pitchFamily="49" charset="-122"/>
                  </a:rPr>
                  <a:t>。</a:t>
                </a:r>
                <a:endParaRPr lang="en-US" altLang="zh-CN" sz="2800" dirty="0">
                  <a:latin typeface="+mj-ea"/>
                  <a:ea typeface="+mj-ea"/>
                  <a:cs typeface="仿宋" panose="02010609060101010101" pitchFamily="49" charset="-122"/>
                </a:endParaRPr>
              </a:p>
              <a:p>
                <a:pPr marL="143510" marR="142240" algn="just">
                  <a:lnSpc>
                    <a:spcPts val="2510"/>
                  </a:lnSpc>
                  <a:spcBef>
                    <a:spcPts val="290"/>
                  </a:spcBef>
                  <a:spcAft>
                    <a:spcPts val="0"/>
                  </a:spcAft>
                </a:pPr>
                <a:endParaRPr lang="zh-CN" altLang="zh-CN" sz="1800" dirty="0">
                  <a:latin typeface="+mj-ea"/>
                  <a:ea typeface="+mj-ea"/>
                  <a:cs typeface="仿宋" panose="02010609060101010101" pitchFamily="49" charset="-122"/>
                </a:endParaRPr>
              </a:p>
              <a:p>
                <a:pPr marL="143510" marR="142240" algn="just">
                  <a:lnSpc>
                    <a:spcPts val="2510"/>
                  </a:lnSpc>
                  <a:spcBef>
                    <a:spcPts val="290"/>
                  </a:spcBef>
                  <a:spcAft>
                    <a:spcPts val="0"/>
                  </a:spcAft>
                </a:pPr>
                <a:r>
                  <a:rPr lang="en-US" altLang="zh-CN" b="1" spc="25" dirty="0" err="1">
                    <a:solidFill>
                      <a:srgbClr val="FF0000"/>
                    </a:solidFill>
                    <a:latin typeface="+mj-ea"/>
                    <a:ea typeface="+mj-ea"/>
                  </a:rPr>
                  <a:t>正定性</a:t>
                </a:r>
                <a:endParaRPr lang="en-US" altLang="zh-CN" b="1" spc="25" dirty="0">
                  <a:solidFill>
                    <a:srgbClr val="FF0000"/>
                  </a:solidFill>
                  <a:latin typeface="+mj-ea"/>
                  <a:ea typeface="+mj-ea"/>
                </a:endParaRPr>
              </a:p>
              <a:p>
                <a:pPr marL="143510">
                  <a:lnSpc>
                    <a:spcPct val="150000"/>
                  </a:lnSpc>
                  <a:spcAft>
                    <a:spcPts val="0"/>
                  </a:spcAft>
                </a:pPr>
                <a:r>
                  <a:rPr lang="en-US" altLang="zh-CN" sz="2800" dirty="0" err="1">
                    <a:latin typeface="+mj-ea"/>
                    <a:ea typeface="+mj-ea"/>
                    <a:cs typeface="仿宋" panose="02010609060101010101" pitchFamily="49" charset="-122"/>
                  </a:rPr>
                  <a:t>对于</a:t>
                </a:r>
                <a:r>
                  <a:rPr lang="en-US" altLang="zh-CN" sz="1800" b="1" kern="100" dirty="0">
                    <a:effectLst/>
                    <a:ea typeface="宋体" panose="02010600030101010101" pitchFamily="2" charset="-122"/>
                    <a:cs typeface="Times New Roman" panose="02020603050405020304" pitchFamily="18" charset="0"/>
                  </a:rPr>
                  <a:t> </a:t>
                </a:r>
                <a14:m>
                  <m:oMath xmlns:m="http://schemas.openxmlformats.org/officeDocument/2006/math">
                    <m:r>
                      <a:rPr lang="en-US" altLang="zh-CN" sz="2800" b="0" i="1" kern="100" smtClean="0">
                        <a:effectLst/>
                        <a:latin typeface="Cambria Math" panose="02040503050406030204" pitchFamily="18" charset="0"/>
                        <a:ea typeface="宋体" panose="02010600030101010101" pitchFamily="2" charset="-122"/>
                        <a:cs typeface="Times New Roman" panose="02020603050405020304" pitchFamily="18" charset="0"/>
                      </a:rPr>
                      <m:t>𝐴</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3200" i="1">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𝑛</m:t>
                        </m:r>
                      </m:sup>
                    </m:sSup>
                  </m:oMath>
                </a14:m>
                <a:r>
                  <a:rPr lang="en-US" altLang="zh-CN" sz="2800" i="1" spc="-150" dirty="0">
                    <a:latin typeface="+mj-ea"/>
                    <a:ea typeface="+mj-ea"/>
                    <a:cs typeface="仿宋" panose="02010609060101010101" pitchFamily="49" charset="-122"/>
                  </a:rPr>
                  <a:t>, </a:t>
                </a:r>
                <a14:m>
                  <m:oMath xmlns:m="http://schemas.openxmlformats.org/officeDocument/2006/math">
                    <m:r>
                      <a:rPr lang="en-US" altLang="zh-CN" sz="2800" i="1" dirty="0" smtClean="0">
                        <a:latin typeface="Cambria Math" panose="02040503050406030204" pitchFamily="18" charset="0"/>
                        <a:ea typeface="+mj-ea"/>
                        <a:cs typeface="仿宋" panose="02010609060101010101" pitchFamily="49" charset="-122"/>
                      </a:rPr>
                      <m:t>∀</m:t>
                    </m:r>
                    <m:r>
                      <a:rPr lang="en-US" altLang="zh-CN" sz="2800" i="1" dirty="0" smtClean="0">
                        <a:latin typeface="Cambria Math" panose="02040503050406030204" pitchFamily="18" charset="0"/>
                        <a:ea typeface="+mj-ea"/>
                        <a:cs typeface="仿宋" panose="02010609060101010101" pitchFamily="49" charset="-122"/>
                      </a:rPr>
                      <m:t>𝑤</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3200" i="1">
                            <a:latin typeface="Cambria Math" panose="02040503050406030204" pitchFamily="18" charset="0"/>
                            <a:ea typeface="Cambria Math" panose="02040503050406030204" pitchFamily="18" charset="0"/>
                          </a:rPr>
                        </m:ctrlPr>
                      </m:sSup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ℝ</m:t>
                        </m:r>
                      </m:e>
                      <m:sup>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800" b="0" i="1" kern="100" smtClean="0">
                            <a:latin typeface="Cambria Math" panose="02040503050406030204" pitchFamily="18" charset="0"/>
                            <a:ea typeface="宋体" panose="02010600030101010101" pitchFamily="2" charset="-122"/>
                            <a:cs typeface="Times New Roman" panose="02020603050405020304" pitchFamily="18" charset="0"/>
                          </a:rPr>
                          <m:t>1</m:t>
                        </m:r>
                      </m:sup>
                    </m:sSup>
                  </m:oMath>
                </a14:m>
                <a:r>
                  <a:rPr lang="en-US" altLang="zh-CN" sz="2800" spc="-60" dirty="0">
                    <a:latin typeface="+mj-ea"/>
                    <a:ea typeface="+mj-ea"/>
                    <a:cs typeface="仿宋" panose="02010609060101010101" pitchFamily="49" charset="-122"/>
                  </a:rPr>
                  <a:t>，满足 </a:t>
                </a:r>
                <a14:m>
                  <m:oMath xmlns:m="http://schemas.openxmlformats.org/officeDocument/2006/math">
                    <m:r>
                      <a:rPr lang="en-US" altLang="zh-CN" sz="2800" i="1" spc="10" dirty="0" smtClean="0">
                        <a:latin typeface="Cambria Math" panose="02040503050406030204" pitchFamily="18" charset="0"/>
                        <a:ea typeface="+mj-ea"/>
                        <a:cs typeface="仿宋" panose="02010609060101010101" pitchFamily="49" charset="-122"/>
                      </a:rPr>
                      <m:t>𝑤</m:t>
                    </m:r>
                    <m:r>
                      <a:rPr lang="en-US" altLang="zh-CN" sz="2800" i="1" spc="10" baseline="30000" dirty="0">
                        <a:latin typeface="Cambria Math" panose="02040503050406030204" pitchFamily="18" charset="0"/>
                        <a:ea typeface="+mj-ea"/>
                        <a:cs typeface="仿宋" panose="02010609060101010101" pitchFamily="49" charset="-122"/>
                      </a:rPr>
                      <m:t>𝑇</m:t>
                    </m:r>
                    <m:r>
                      <a:rPr lang="en-US" altLang="zh-CN" sz="1600" i="1" spc="5" dirty="0">
                        <a:latin typeface="Cambria Math" panose="02040503050406030204" pitchFamily="18" charset="0"/>
                        <a:ea typeface="+mj-ea"/>
                        <a:cs typeface="仿宋" panose="02010609060101010101" pitchFamily="49" charset="-122"/>
                      </a:rPr>
                      <m:t> </m:t>
                    </m:r>
                    <m:r>
                      <a:rPr lang="en-US" altLang="zh-CN" sz="2800" i="1" dirty="0">
                        <a:latin typeface="Cambria Math" panose="02040503050406030204" pitchFamily="18" charset="0"/>
                        <a:ea typeface="+mj-ea"/>
                        <a:cs typeface="仿宋" panose="02010609060101010101" pitchFamily="49" charset="-122"/>
                      </a:rPr>
                      <m:t>𝐴𝑤</m:t>
                    </m:r>
                    <m:r>
                      <a:rPr lang="en-US" altLang="zh-CN" sz="2800" i="1" spc="-65" dirty="0">
                        <a:latin typeface="Cambria Math" panose="02040503050406030204" pitchFamily="18" charset="0"/>
                        <a:ea typeface="+mj-ea"/>
                        <a:cs typeface="仿宋" panose="02010609060101010101" pitchFamily="49" charset="-122"/>
                      </a:rPr>
                      <m:t> &gt;</m:t>
                    </m:r>
                    <m:r>
                      <a:rPr lang="en-US" altLang="zh-CN" sz="2800" i="1" dirty="0">
                        <a:latin typeface="Cambria Math" panose="02040503050406030204" pitchFamily="18" charset="0"/>
                        <a:ea typeface="+mj-ea"/>
                        <a:cs typeface="仿宋" panose="02010609060101010101" pitchFamily="49" charset="-122"/>
                      </a:rPr>
                      <m:t>0</m:t>
                    </m:r>
                  </m:oMath>
                </a14:m>
                <a:r>
                  <a:rPr lang="en-US" altLang="zh-CN" sz="2800" i="1" spc="-120" dirty="0">
                    <a:latin typeface="+mj-ea"/>
                    <a:ea typeface="+mj-ea"/>
                    <a:cs typeface="仿宋" panose="02010609060101010101" pitchFamily="49" charset="-122"/>
                  </a:rPr>
                  <a:t>, </a:t>
                </a:r>
                <a:r>
                  <a:rPr lang="en-US" altLang="zh-CN" sz="2800" dirty="0" err="1">
                    <a:latin typeface="+mj-ea"/>
                    <a:ea typeface="+mj-ea"/>
                    <a:cs typeface="仿宋" panose="02010609060101010101" pitchFamily="49" charset="-122"/>
                  </a:rPr>
                  <a:t>A为正定矩阵</a:t>
                </a:r>
                <a:r>
                  <a:rPr lang="en-US" altLang="zh-CN" sz="2800" spc="-130" dirty="0">
                    <a:latin typeface="+mj-ea"/>
                    <a:ea typeface="+mj-ea"/>
                    <a:cs typeface="仿宋" panose="02010609060101010101" pitchFamily="49" charset="-122"/>
                  </a:rPr>
                  <a:t>; </a:t>
                </a:r>
                <a14:m>
                  <m:oMath xmlns:m="http://schemas.openxmlformats.org/officeDocument/2006/math">
                    <m:r>
                      <a:rPr lang="en-US" altLang="zh-CN" sz="2800" i="1" spc="10" dirty="0" smtClean="0">
                        <a:latin typeface="Cambria Math" panose="02040503050406030204" pitchFamily="18" charset="0"/>
                        <a:ea typeface="+mj-ea"/>
                        <a:cs typeface="仿宋" panose="02010609060101010101" pitchFamily="49" charset="-122"/>
                      </a:rPr>
                      <m:t>𝑤</m:t>
                    </m:r>
                    <m:r>
                      <a:rPr lang="en-US" altLang="zh-CN" sz="2800" i="1" spc="10" baseline="30000" dirty="0">
                        <a:latin typeface="Cambria Math" panose="02040503050406030204" pitchFamily="18" charset="0"/>
                        <a:ea typeface="+mj-ea"/>
                        <a:cs typeface="仿宋" panose="02010609060101010101" pitchFamily="49" charset="-122"/>
                      </a:rPr>
                      <m:t>𝑇</m:t>
                    </m:r>
                    <m:r>
                      <a:rPr lang="en-US" altLang="zh-CN" sz="1600" i="1" spc="5" dirty="0">
                        <a:latin typeface="Cambria Math" panose="02040503050406030204" pitchFamily="18" charset="0"/>
                        <a:ea typeface="+mj-ea"/>
                        <a:cs typeface="仿宋" panose="02010609060101010101" pitchFamily="49" charset="-122"/>
                      </a:rPr>
                      <m:t> </m:t>
                    </m:r>
                    <m:r>
                      <a:rPr lang="en-US" altLang="zh-CN" sz="2800" i="1" dirty="0">
                        <a:latin typeface="Cambria Math" panose="02040503050406030204" pitchFamily="18" charset="0"/>
                        <a:ea typeface="+mj-ea"/>
                        <a:cs typeface="仿宋" panose="02010609060101010101" pitchFamily="49" charset="-122"/>
                      </a:rPr>
                      <m:t>𝐴𝑤</m:t>
                    </m:r>
                    <m:r>
                      <a:rPr lang="en-US" altLang="zh-CN" sz="2800" i="1" spc="-65" dirty="0">
                        <a:latin typeface="Cambria Math" panose="02040503050406030204" pitchFamily="18" charset="0"/>
                        <a:ea typeface="+mj-ea"/>
                        <a:cs typeface="仿宋" panose="02010609060101010101" pitchFamily="49" charset="-122"/>
                      </a:rPr>
                      <m:t> </m:t>
                    </m:r>
                    <m:r>
                      <a:rPr lang="en-US" altLang="zh-CN" sz="2800" i="1" spc="-320" dirty="0">
                        <a:latin typeface="Cambria Math" panose="02040503050406030204" pitchFamily="18" charset="0"/>
                        <a:ea typeface="+mj-ea"/>
                        <a:cs typeface="仿宋" panose="02010609060101010101" pitchFamily="49" charset="-122"/>
                      </a:rPr>
                      <m:t>≥ </m:t>
                    </m:r>
                    <m:r>
                      <a:rPr lang="en-US" altLang="zh-CN" sz="2800" i="1" dirty="0">
                        <a:latin typeface="Cambria Math" panose="02040503050406030204" pitchFamily="18" charset="0"/>
                        <a:ea typeface="+mj-ea"/>
                        <a:cs typeface="仿宋" panose="02010609060101010101" pitchFamily="49" charset="-122"/>
                      </a:rPr>
                      <m:t>0</m:t>
                    </m:r>
                  </m:oMath>
                </a14:m>
                <a:r>
                  <a:rPr lang="zh-CN" altLang="en-US" sz="2800" i="1" spc="-120" dirty="0">
                    <a:latin typeface="+mj-ea"/>
                    <a:ea typeface="+mj-ea"/>
                    <a:cs typeface="仿宋" panose="02010609060101010101" pitchFamily="49" charset="-122"/>
                  </a:rPr>
                  <a:t>，</a:t>
                </a:r>
                <a14:m>
                  <m:oMath xmlns:m="http://schemas.openxmlformats.org/officeDocument/2006/math">
                    <m:r>
                      <a:rPr lang="en-US" altLang="zh-CN" sz="2800" i="1" dirty="0" smtClean="0">
                        <a:latin typeface="Cambria Math" panose="02040503050406030204" pitchFamily="18" charset="0"/>
                        <a:ea typeface="+mj-ea"/>
                        <a:cs typeface="仿宋" panose="02010609060101010101" pitchFamily="49" charset="-122"/>
                      </a:rPr>
                      <m:t>𝐴</m:t>
                    </m:r>
                  </m:oMath>
                </a14:m>
                <a:r>
                  <a:rPr lang="en-US" altLang="zh-CN" sz="2800" dirty="0" err="1">
                    <a:latin typeface="+mj-ea"/>
                    <a:ea typeface="+mj-ea"/>
                    <a:cs typeface="仿宋" panose="02010609060101010101" pitchFamily="49" charset="-122"/>
                  </a:rPr>
                  <a:t>为半正定矩阵</a:t>
                </a:r>
                <a:r>
                  <a:rPr lang="zh-CN" altLang="en-US" sz="2800" dirty="0">
                    <a:latin typeface="+mj-ea"/>
                    <a:ea typeface="+mj-ea"/>
                    <a:cs typeface="仿宋" panose="02010609060101010101" pitchFamily="49" charset="-122"/>
                  </a:rPr>
                  <a:t>。</a:t>
                </a:r>
                <a:endParaRPr lang="zh-CN" altLang="zh-CN" sz="1800" dirty="0">
                  <a:latin typeface="+mj-ea"/>
                  <a:ea typeface="+mj-ea"/>
                  <a:cs typeface="仿宋" panose="02010609060101010101" pitchFamily="49" charset="-122"/>
                </a:endParaRPr>
              </a:p>
            </p:txBody>
          </p:sp>
        </mc:Choice>
        <mc:Fallback>
          <p:sp>
            <p:nvSpPr>
              <p:cNvPr id="4" name="矩形 3"/>
              <p:cNvSpPr>
                <a:spLocks noRot="1" noChangeAspect="1" noMove="1" noResize="1" noEditPoints="1" noAdjustHandles="1" noChangeArrowheads="1" noChangeShapeType="1" noTextEdit="1"/>
              </p:cNvSpPr>
              <p:nvPr/>
            </p:nvSpPr>
            <p:spPr>
              <a:xfrm>
                <a:off x="517786" y="1483307"/>
                <a:ext cx="10242028" cy="4349909"/>
              </a:xfrm>
              <a:prstGeom prst="rect">
                <a:avLst/>
              </a:prstGeom>
              <a:blipFill rotWithShape="1">
                <a:blip r:embed="rId1"/>
                <a:stretch>
                  <a:fillRect l="-3" t="-451" r="4" b="-2961"/>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42983" y="313504"/>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线性代数</a:t>
            </a:r>
            <a:br>
              <a:rPr lang="zh-CN" altLang="en-US" dirty="0"/>
            </a:br>
            <a:endParaRPr lang="zh-CN" altLang="en-US" dirty="0"/>
          </a:p>
        </p:txBody>
      </p:sp>
      <p:sp>
        <p:nvSpPr>
          <p:cNvPr id="2" name="文本框 1"/>
          <p:cNvSpPr txBox="1"/>
          <p:nvPr/>
        </p:nvSpPr>
        <p:spPr>
          <a:xfrm>
            <a:off x="5638800" y="2974258"/>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1330400" y="1292372"/>
                <a:ext cx="8996363" cy="4963025"/>
              </a:xfrm>
              <a:prstGeom prst="rect">
                <a:avLst/>
              </a:prstGeom>
            </p:spPr>
            <p:txBody>
              <a:bodyPr wrap="square">
                <a:spAutoFit/>
              </a:bodyPr>
              <a:lstStyle/>
              <a:p>
                <a:pPr>
                  <a:lnSpc>
                    <a:spcPct val="150000"/>
                  </a:lnSpc>
                  <a:spcBef>
                    <a:spcPts val="900"/>
                  </a:spcBef>
                  <a:spcAft>
                    <a:spcPts val="900"/>
                  </a:spcAft>
                </a:pPr>
                <a:r>
                  <a:rPr lang="zh-CN" altLang="zh-CN" sz="2400" b="1" kern="100" dirty="0">
                    <a:solidFill>
                      <a:srgbClr val="FF0000"/>
                    </a:solidFill>
                    <a:effectLst/>
                    <a:latin typeface="微软雅黑" panose="020B0503020204020204" pitchFamily="34" charset="-122"/>
                    <a:cs typeface="宋体" panose="02010600030101010101" pitchFamily="2" charset="-122"/>
                  </a:rPr>
                  <a:t>行列式按行（列）展开定理</a:t>
                </a:r>
                <a:endParaRPr lang="zh-CN" altLang="zh-CN" sz="2400" kern="100" dirty="0">
                  <a:solidFill>
                    <a:srgbClr val="FF0000"/>
                  </a:solidFill>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 </a:t>
                </a:r>
                <a:r>
                  <a:rPr lang="zh-CN" altLang="zh-CN" sz="1800" kern="100" dirty="0">
                    <a:effectLst/>
                    <a:latin typeface="微软雅黑" panose="020B0503020204020204" pitchFamily="34" charset="-122"/>
                    <a:cs typeface="宋体" panose="02010600030101010101" pitchFamily="2" charset="-122"/>
                  </a:rPr>
                  <a:t>设</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d>
                          <m:d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e>
                        </m:d>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oMath>
                </a14:m>
                <a:r>
                  <a:rPr lang="zh-CN" altLang="zh-CN" sz="1800" kern="100" dirty="0">
                    <a:effectLst/>
                    <a:latin typeface="微软雅黑" panose="020B0503020204020204" pitchFamily="34" charset="-122"/>
                    <a:cs typeface="宋体" panose="02010600030101010101" pitchFamily="2" charset="-122"/>
                  </a:rPr>
                  <a:t>，则：</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𝑖𝑛</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𝑗𝑛</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e>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
                      </m:e>
                    </m:d>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或</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e>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m:t>
                              </m:r>
                            </m:e>
                          </m:mr>
                        </m:m>
                      </m:e>
                    </m:d>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即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其中：</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d>
                      <m:d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m>
                          <m:mPr>
                            <m:mcs>
                              <m:mc>
                                <m:mcPr>
                                  <m:count m:val="4"/>
                                  <m:mcJc m:val="center"/>
                                </m:mcPr>
                              </m:mc>
                            </m:mcs>
                            <m:plc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11</m:t>
                                  </m:r>
                                </m:sub>
                              </m:sSub>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21</m:t>
                                  </m:r>
                                </m:sub>
                              </m:sSub>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1</m:t>
                                  </m:r>
                                </m:sub>
                              </m:sSub>
                            </m:e>
                          </m:mr>
                          <m:m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12</m:t>
                                  </m:r>
                                </m:sub>
                              </m:sSub>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22</m:t>
                                  </m:r>
                                </m:sub>
                              </m:sSub>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2</m:t>
                                  </m:r>
                                </m:sub>
                              </m:sSub>
                            </m:e>
                          </m:mr>
                          <m:m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mr>
                          <m:mr>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m:t>
                                  </m:r>
                                </m:sub>
                              </m:sSub>
                            </m:e>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𝑛𝑛</m:t>
                                  </m:r>
                                </m:sub>
                              </m:sSub>
                            </m:e>
                          </m:mr>
                        </m:m>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𝑗𝑖</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𝑖𝑗</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𝑇</m:t>
                        </m:r>
                      </m:sup>
                    </m:sSup>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1330400" y="1292372"/>
                <a:ext cx="8996363" cy="4963025"/>
              </a:xfrm>
              <a:prstGeom prst="rect">
                <a:avLst/>
              </a:prstGeom>
              <a:blipFill rotWithShape="1">
                <a:blip r:embed="rId1"/>
                <a:stretch>
                  <a:fillRect l="-1" t="-3" r="4"/>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36544" y="36062"/>
            <a:ext cx="82498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r>
              <a:rPr lang="en-US" altLang="zh-CN" dirty="0"/>
              <a:t>-</a:t>
            </a:r>
            <a:r>
              <a:rPr lang="zh-CN" altLang="en-US" dirty="0"/>
              <a:t>随机事件和概率</a:t>
            </a:r>
            <a:br>
              <a:rPr lang="zh-CN" altLang="en-US" dirty="0"/>
            </a:br>
            <a:endParaRPr lang="zh-CN" altLang="en-US" dirty="0"/>
          </a:p>
        </p:txBody>
      </p:sp>
      <p:sp>
        <p:nvSpPr>
          <p:cNvPr id="2" name="文本框 1"/>
          <p:cNvSpPr txBox="1"/>
          <p:nvPr/>
        </p:nvSpPr>
        <p:spPr>
          <a:xfrm>
            <a:off x="5638800" y="2974258"/>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858628" y="1321680"/>
                <a:ext cx="6960272" cy="5219634"/>
              </a:xfrm>
              <a:prstGeom prst="rect">
                <a:avLst/>
              </a:prstGeom>
            </p:spPr>
            <p:txBody>
              <a:bodyPr wrap="square">
                <a:spAutoFit/>
              </a:bodyPr>
              <a:lstStyle/>
              <a:p>
                <a:pPr>
                  <a:lnSpc>
                    <a:spcPct val="150000"/>
                  </a:lnSpc>
                  <a:spcBef>
                    <a:spcPts val="900"/>
                  </a:spcBef>
                  <a:spcAft>
                    <a:spcPts val="900"/>
                  </a:spcAft>
                </a:pPr>
                <a:r>
                  <a:rPr lang="zh-CN" altLang="zh-CN" b="1" kern="100" dirty="0">
                    <a:effectLst/>
                    <a:latin typeface="微软雅黑" panose="020B0503020204020204" pitchFamily="34" charset="-122"/>
                    <a:cs typeface="宋体" panose="02010600030101010101" pitchFamily="2" charset="-122"/>
                  </a:rPr>
                  <a:t>事件的关系</a:t>
                </a:r>
                <a:endParaRPr lang="zh-CN" altLang="zh-CN"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 </a:t>
                </a:r>
                <a:r>
                  <a:rPr lang="zh-CN" altLang="zh-CN" sz="1800" kern="100" dirty="0">
                    <a:effectLst/>
                    <a:latin typeface="微软雅黑" panose="020B0503020204020204" pitchFamily="34" charset="-122"/>
                    <a:cs typeface="宋体" panose="02010600030101010101" pitchFamily="2" charset="-122"/>
                  </a:rPr>
                  <a:t>子事件：</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，若</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发生，则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发生。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(2) </a:t>
                </a:r>
                <a:r>
                  <a:rPr lang="zh-CN" altLang="zh-CN" sz="1800" kern="100" dirty="0">
                    <a:effectLst/>
                    <a:latin typeface="微软雅黑" panose="020B0503020204020204" pitchFamily="34" charset="-122"/>
                    <a:cs typeface="宋体" panose="02010600030101010101" pitchFamily="2" charset="-122"/>
                  </a:rPr>
                  <a:t>相等事件：</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，即</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，且</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(3) </a:t>
                </a:r>
                <a:r>
                  <a:rPr lang="zh-CN" altLang="zh-CN" sz="1800" kern="100" dirty="0">
                    <a:effectLst/>
                    <a:latin typeface="微软雅黑" panose="020B0503020204020204" pitchFamily="34" charset="-122"/>
                    <a:cs typeface="宋体" panose="02010600030101010101" pitchFamily="2" charset="-122"/>
                  </a:rPr>
                  <a:t>和事件：</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（或</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与</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中至少有一个发生。</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(4) </a:t>
                </a:r>
                <a:r>
                  <a:rPr lang="zh-CN" altLang="zh-CN" sz="1800" kern="100" dirty="0">
                    <a:effectLst/>
                    <a:latin typeface="微软雅黑" panose="020B0503020204020204" pitchFamily="34" charset="-122"/>
                    <a:cs typeface="宋体" panose="02010600030101010101" pitchFamily="2" charset="-122"/>
                  </a:rPr>
                  <a:t>差事件：</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发生但</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不发生。</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(5) </a:t>
                </a:r>
                <a:r>
                  <a:rPr lang="zh-CN" altLang="zh-CN" sz="1800" kern="100" dirty="0">
                    <a:effectLst/>
                    <a:latin typeface="微软雅黑" panose="020B0503020204020204" pitchFamily="34" charset="-122"/>
                    <a:cs typeface="宋体" panose="02010600030101010101" pitchFamily="2" charset="-122"/>
                  </a:rPr>
                  <a:t>积事件：</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（或</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𝐴𝐵</m:t>
                    </m:r>
                  </m:oMath>
                </a14:m>
                <a:r>
                  <a:rPr lang="zh-CN"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1800" kern="100" dirty="0">
                    <a:effectLst/>
                    <a:latin typeface="微软雅黑" panose="020B0503020204020204" pitchFamily="34" charset="-122"/>
                    <a:cs typeface="宋体" panose="02010600030101010101" pitchFamily="2" charset="-122"/>
                  </a:rPr>
                  <a:t>与</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1800" kern="100" dirty="0">
                    <a:effectLst/>
                    <a:latin typeface="微软雅黑" panose="020B0503020204020204" pitchFamily="34" charset="-122"/>
                    <a:cs typeface="宋体" panose="02010600030101010101" pitchFamily="2" charset="-122"/>
                  </a:rPr>
                  <a:t>同时发生。</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(6) </a:t>
                </a:r>
                <a:r>
                  <a:rPr lang="zh-CN" altLang="zh-CN" sz="1800" kern="100" dirty="0">
                    <a:effectLst/>
                    <a:latin typeface="微软雅黑" panose="020B0503020204020204" pitchFamily="34" charset="-122"/>
                    <a:cs typeface="宋体" panose="02010600030101010101" pitchFamily="2" charset="-122"/>
                  </a:rPr>
                  <a:t>互斥事件（互不相容）：</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en-US" altLang="zh-CN" sz="1800"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(7) </a:t>
                </a:r>
                <a:r>
                  <a:rPr lang="zh-CN" altLang="zh-CN" sz="1800" kern="100" dirty="0">
                    <a:effectLst/>
                    <a:latin typeface="微软雅黑" panose="020B0503020204020204" pitchFamily="34" charset="-122"/>
                    <a:cs typeface="宋体" panose="02010600030101010101" pitchFamily="2" charset="-122"/>
                  </a:rPr>
                  <a:t>互逆事件（对立事件）：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𝛺</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e>
                    </m:ba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bar>
                  </m:oMath>
                </a14:m>
                <a:r>
                  <a:rPr lang="en-US" altLang="zh-CN" sz="1800" kern="100" dirty="0">
                    <a:effectLst/>
                    <a:latin typeface="微软雅黑" panose="020B0503020204020204" pitchFamily="34" charset="-122"/>
                    <a:cs typeface="宋体" panose="02010600030101010101" pitchFamily="2" charset="-122"/>
                  </a:rPr>
                  <a:t> </a:t>
                </a:r>
                <a:r>
                  <a:rPr lang="zh-CN" altLang="zh-CN" sz="1800" kern="100" dirty="0">
                    <a:effectLst/>
                    <a:latin typeface="微软雅黑" panose="020B0503020204020204" pitchFamily="34" charset="-122"/>
                    <a:cs typeface="宋体" panose="02010600030101010101" pitchFamily="2" charset="-122"/>
                  </a:rPr>
                  <a:t>。</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858628" y="1321680"/>
                <a:ext cx="6960272" cy="5219634"/>
              </a:xfrm>
              <a:prstGeom prst="rect">
                <a:avLst/>
              </a:prstGeom>
              <a:blipFill rotWithShape="1">
                <a:blip r:embed="rId1"/>
                <a:stretch>
                  <a:fillRect l="-2" t="-5" r="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7818900" y="1620839"/>
                <a:ext cx="4373100" cy="4490396"/>
              </a:xfrm>
              <a:prstGeom prst="rect">
                <a:avLst/>
              </a:prstGeom>
            </p:spPr>
            <p:txBody>
              <a:bodyPr wrap="square">
                <a:spAutoFit/>
              </a:bodyPr>
              <a:lstStyle/>
              <a:p>
                <a:pPr>
                  <a:lnSpc>
                    <a:spcPct val="150000"/>
                  </a:lnSpc>
                  <a:spcBef>
                    <a:spcPts val="900"/>
                  </a:spcBef>
                  <a:spcAft>
                    <a:spcPts val="900"/>
                  </a:spcAft>
                </a:pPr>
                <a:r>
                  <a:rPr lang="zh-CN" altLang="en-US" b="1" kern="100" dirty="0">
                    <a:latin typeface="微软雅黑" panose="020B0503020204020204" pitchFamily="34" charset="-122"/>
                    <a:cs typeface="宋体" panose="02010600030101010101" pitchFamily="2" charset="-122"/>
                  </a:rPr>
                  <a:t>运算律</a:t>
                </a:r>
                <a:endParaRPr lang="en-US" altLang="zh-CN" b="1" kern="100" dirty="0">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latin typeface="微软雅黑" panose="020B0503020204020204" pitchFamily="34" charset="-122"/>
                    <a:cs typeface="宋体" panose="02010600030101010101" pitchFamily="2" charset="-122"/>
                  </a:rPr>
                  <a:t>(1) </a:t>
                </a:r>
                <a:r>
                  <a:rPr lang="zh-CN" altLang="zh-CN" sz="1800" kern="100" dirty="0">
                    <a:effectLst/>
                    <a:latin typeface="微软雅黑" panose="020B0503020204020204" pitchFamily="34" charset="-122"/>
                    <a:cs typeface="宋体" panose="02010600030101010101" pitchFamily="2" charset="-122"/>
                  </a:rPr>
                  <a:t>交换律：</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(2) </a:t>
                </a:r>
                <a:r>
                  <a:rPr lang="zh-CN" altLang="zh-CN" sz="1800" kern="100" dirty="0">
                    <a:effectLst/>
                    <a:latin typeface="微软雅黑" panose="020B0503020204020204" pitchFamily="34" charset="-122"/>
                    <a:cs typeface="宋体" panose="02010600030101010101" pitchFamily="2" charset="-122"/>
                  </a:rPr>
                  <a:t>结合律：</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18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(3) </a:t>
                </a:r>
                <a:r>
                  <a:rPr lang="zh-CN" altLang="zh-CN" sz="1800" kern="100" dirty="0">
                    <a:effectLst/>
                    <a:latin typeface="微软雅黑" panose="020B0503020204020204" pitchFamily="34" charset="-122"/>
                    <a:cs typeface="宋体" panose="02010600030101010101" pitchFamily="2" charset="-122"/>
                  </a:rPr>
                  <a:t>分配律：</a:t>
                </a: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b="1" kern="100" dirty="0">
                    <a:effectLst/>
                    <a:latin typeface="微软雅黑" panose="020B0503020204020204" pitchFamily="34" charset="-122"/>
                    <a:cs typeface="宋体" panose="02010600030101010101" pitchFamily="2" charset="-122"/>
                  </a:rPr>
                  <a:t>(4) </a:t>
                </a:r>
                <a:r>
                  <a:rPr lang="zh-CN" altLang="zh-CN" b="1" kern="100" dirty="0">
                    <a:effectLst/>
                    <a:latin typeface="微软雅黑" panose="020B0503020204020204" pitchFamily="34" charset="-122"/>
                    <a:cs typeface="宋体" panose="02010600030101010101" pitchFamily="2" charset="-122"/>
                  </a:rPr>
                  <a:t>德</a:t>
                </a:r>
                <a14:m>
                  <m:oMath xmlns:m="http://schemas.openxmlformats.org/officeDocument/2006/math">
                    <m:r>
                      <a:rPr lang="en-US" altLang="zh-CN" b="1"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b="1" kern="100" dirty="0">
                    <a:effectLst/>
                    <a:latin typeface="微软雅黑" panose="020B0503020204020204" pitchFamily="34" charset="-122"/>
                    <a:cs typeface="宋体" panose="02010600030101010101" pitchFamily="2" charset="-122"/>
                  </a:rPr>
                  <a:t>摩根律</a:t>
                </a:r>
                <a:r>
                  <a:rPr lang="en-US" altLang="zh-CN" b="1" kern="100" dirty="0">
                    <a:effectLst/>
                    <a:latin typeface="微软雅黑" panose="020B0503020204020204" pitchFamily="34" charset="-122"/>
                    <a:cs typeface="宋体" panose="02010600030101010101" pitchFamily="2" charset="-122"/>
                  </a:rPr>
                  <a:t>:</a:t>
                </a:r>
                <a:endParaRPr lang="zh-CN" altLang="zh-CN"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14:m>
                  <m:oMath xmlns:m="http://schemas.openxmlformats.org/officeDocument/2006/math">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e>
                    </m:ba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ba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e>
                    </m:bar>
                  </m:oMath>
                </a14:m>
                <a:r>
                  <a:rPr lang="en-US" altLang="zh-CN" sz="1800" kern="100" dirty="0">
                    <a:effectLst/>
                    <a:latin typeface="微软雅黑" panose="020B0503020204020204" pitchFamily="34" charset="-122"/>
                    <a:cs typeface="宋体" panose="02010600030101010101" pitchFamily="2" charset="-122"/>
                  </a:rPr>
                  <a:t>    </a:t>
                </a:r>
                <a14:m>
                  <m:oMath xmlns:m="http://schemas.openxmlformats.org/officeDocument/2006/math">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e>
                    </m:ba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𝐴</m:t>
                        </m:r>
                      </m:e>
                    </m:bar>
                    <m:r>
                      <a:rPr lang="en-US" altLang="zh-CN" sz="1800" kern="100">
                        <a:effectLst/>
                        <a:latin typeface="Cambria Math" panose="02040503050406030204" pitchFamily="18" charset="0"/>
                        <a:ea typeface="宋体" panose="02010600030101010101" pitchFamily="2" charset="-122"/>
                        <a:cs typeface="宋体" panose="02010600030101010101" pitchFamily="2" charset="-122"/>
                      </a:rPr>
                      <m:t>⋃</m:t>
                    </m:r>
                    <m:bar>
                      <m:barPr>
                        <m:pos m:val="to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bar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𝐵</m:t>
                        </m:r>
                      </m:e>
                    </m:ba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7818900" y="1620839"/>
                <a:ext cx="4373100" cy="4490396"/>
              </a:xfrm>
              <a:prstGeom prst="rect">
                <a:avLst/>
              </a:prstGeom>
              <a:blipFill rotWithShape="1">
                <a:blip r:embed="rId2"/>
                <a:stretch>
                  <a:fillRect l="-3" t="-7" b="14"/>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17225" y="237133"/>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r>
              <a:rPr lang="en-US" altLang="zh-CN" dirty="0"/>
              <a:t>-</a:t>
            </a:r>
            <a:r>
              <a:rPr lang="zh-CN" altLang="en-US" dirty="0"/>
              <a:t>古典型概率</a:t>
            </a:r>
            <a:br>
              <a:rPr lang="zh-CN" altLang="en-US" dirty="0"/>
            </a:br>
            <a:endParaRPr lang="zh-CN" altLang="en-US" dirty="0"/>
          </a:p>
        </p:txBody>
      </p:sp>
      <p:sp>
        <p:nvSpPr>
          <p:cNvPr id="2" name="文本框 1"/>
          <p:cNvSpPr txBox="1"/>
          <p:nvPr/>
        </p:nvSpPr>
        <p:spPr>
          <a:xfrm>
            <a:off x="5638800" y="2974258"/>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16" name="object 4"/>
              <p:cNvSpPr txBox="1"/>
              <p:nvPr/>
            </p:nvSpPr>
            <p:spPr>
              <a:xfrm>
                <a:off x="439524" y="1337156"/>
                <a:ext cx="9020175" cy="112082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04800">
                  <a:lnSpc>
                    <a:spcPct val="100000"/>
                  </a:lnSpc>
                </a:pPr>
                <a:endParaRPr lang="en-US" sz="2400" dirty="0">
                  <a:latin typeface="微软雅黑" panose="020B0503020204020204" pitchFamily="34" charset="-122"/>
                  <a:cs typeface="微软雅黑" panose="020B0503020204020204" pitchFamily="34" charset="-122"/>
                </a:endParaRPr>
              </a:p>
              <a:p>
                <a:pPr marL="304800">
                  <a:lnSpc>
                    <a:spcPct val="100000"/>
                  </a:lnSpc>
                </a:pPr>
                <a:r>
                  <a:rPr sz="2400" dirty="0" err="1">
                    <a:latin typeface="+mj-ea"/>
                    <a:ea typeface="+mj-ea"/>
                    <a:cs typeface="微软雅黑" panose="020B0503020204020204" pitchFamily="34" charset="-122"/>
                  </a:rPr>
                  <a:t>定义：试验</a:t>
                </a:r>
                <a14:m>
                  <m:oMath xmlns:m="http://schemas.openxmlformats.org/officeDocument/2006/math">
                    <m:r>
                      <a:rPr lang="zh-CN" altLang="en-US" sz="2400" i="1" dirty="0" smtClean="0">
                        <a:latin typeface="Cambria Math" panose="02040503050406030204" pitchFamily="18" charset="0"/>
                        <a:ea typeface="+mj-ea"/>
                        <a:cs typeface="微软雅黑" panose="020B0503020204020204" pitchFamily="34" charset="-122"/>
                      </a:rPr>
                      <m:t>𝐸</m:t>
                    </m:r>
                  </m:oMath>
                </a14:m>
                <a:r>
                  <a:rPr sz="2400" dirty="0" err="1">
                    <a:latin typeface="+mj-ea"/>
                    <a:ea typeface="+mj-ea"/>
                    <a:cs typeface="微软雅黑" panose="020B0503020204020204" pitchFamily="34" charset="-122"/>
                  </a:rPr>
                  <a:t>中样本点是有限的，出现每一样本点的概率是相同</a:t>
                </a:r>
                <a:r>
                  <a:rPr sz="2400" dirty="0">
                    <a:latin typeface="+mj-ea"/>
                    <a:ea typeface="+mj-ea"/>
                    <a:cs typeface="微软雅黑" panose="020B0503020204020204" pitchFamily="34" charset="-122"/>
                  </a:rPr>
                  <a:t>。</a:t>
                </a:r>
                <a:endParaRPr sz="2400" dirty="0">
                  <a:latin typeface="+mj-ea"/>
                  <a:ea typeface="+mj-ea"/>
                  <a:cs typeface="微软雅黑" panose="020B0503020204020204" pitchFamily="34" charset="-122"/>
                </a:endParaRPr>
              </a:p>
            </p:txBody>
          </p:sp>
        </mc:Choice>
        <mc:Fallback>
          <p:sp>
            <p:nvSpPr>
              <p:cNvPr id="16" name="object 4"/>
              <p:cNvSpPr txBox="1">
                <a:spLocks noRot="1" noChangeAspect="1" noMove="1" noResize="1" noEditPoints="1" noAdjustHandles="1" noChangeArrowheads="1" noChangeShapeType="1" noTextEdit="1"/>
              </p:cNvSpPr>
              <p:nvPr/>
            </p:nvSpPr>
            <p:spPr>
              <a:xfrm>
                <a:off x="439524" y="1337156"/>
                <a:ext cx="9020175" cy="1120820"/>
              </a:xfrm>
              <a:prstGeom prst="rect">
                <a:avLst/>
              </a:prstGeom>
              <a:blipFill rotWithShape="1">
                <a:blip r:embed="rId1"/>
                <a:stretch>
                  <a:fillRect l="-1" t="-1233" r="-104"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object 7"/>
              <p:cNvSpPr txBox="1"/>
              <p:nvPr/>
            </p:nvSpPr>
            <p:spPr>
              <a:xfrm>
                <a:off x="761346" y="3438690"/>
                <a:ext cx="10853395" cy="1115690"/>
              </a:xfrm>
              <a:prstGeom prst="rect">
                <a:avLst/>
              </a:prstGeom>
            </p:spPr>
            <p:txBody>
              <a:bodyPr vert="horz" wrap="square" lIns="0" tIns="19558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540"/>
                  </a:spcBef>
                </a:pPr>
                <a:r>
                  <a:rPr sz="2400" dirty="0">
                    <a:latin typeface="+mj-ea"/>
                    <a:ea typeface="+mj-ea"/>
                    <a:cs typeface="微软雅黑" panose="020B0503020204020204" pitchFamily="34" charset="-122"/>
                  </a:rPr>
                  <a:t>一袋中有</a:t>
                </a:r>
                <a:r>
                  <a:rPr sz="2400" dirty="0">
                    <a:latin typeface="+mj-ea"/>
                    <a:ea typeface="+mj-ea"/>
                    <a:cs typeface="Times New Roman" panose="02020603050405020304"/>
                  </a:rPr>
                  <a:t>8</a:t>
                </a:r>
                <a:r>
                  <a:rPr sz="2400" dirty="0">
                    <a:latin typeface="+mj-ea"/>
                    <a:ea typeface="+mj-ea"/>
                    <a:cs typeface="微软雅黑" panose="020B0503020204020204" pitchFamily="34" charset="-122"/>
                  </a:rPr>
                  <a:t>个球，编号为</a:t>
                </a:r>
                <a:r>
                  <a:rPr sz="2400" dirty="0">
                    <a:latin typeface="+mj-ea"/>
                    <a:ea typeface="+mj-ea"/>
                    <a:cs typeface="Times New Roman" panose="02020603050405020304"/>
                  </a:rPr>
                  <a:t>1</a:t>
                </a:r>
                <a:r>
                  <a:rPr sz="2400" dirty="0">
                    <a:latin typeface="+mj-ea"/>
                    <a:ea typeface="+mj-ea"/>
                    <a:cs typeface="微软雅黑" panose="020B0503020204020204" pitchFamily="34" charset="-122"/>
                  </a:rPr>
                  <a:t>－</a:t>
                </a:r>
                <a:r>
                  <a:rPr sz="2400" dirty="0">
                    <a:latin typeface="+mj-ea"/>
                    <a:ea typeface="+mj-ea"/>
                    <a:cs typeface="Times New Roman" panose="02020603050405020304"/>
                  </a:rPr>
                  <a:t>8</a:t>
                </a:r>
                <a:r>
                  <a:rPr sz="2400" dirty="0">
                    <a:latin typeface="+mj-ea"/>
                    <a:ea typeface="+mj-ea"/>
                    <a:cs typeface="微软雅黑" panose="020B0503020204020204" pitchFamily="34" charset="-122"/>
                  </a:rPr>
                  <a:t>，其中</a:t>
                </a:r>
                <a:r>
                  <a:rPr sz="2400" dirty="0">
                    <a:latin typeface="+mj-ea"/>
                    <a:ea typeface="+mj-ea"/>
                    <a:cs typeface="Times New Roman" panose="02020603050405020304"/>
                  </a:rPr>
                  <a:t>1</a:t>
                </a:r>
                <a:r>
                  <a:rPr sz="2400" dirty="0">
                    <a:latin typeface="+mj-ea"/>
                    <a:ea typeface="+mj-ea"/>
                    <a:cs typeface="微软雅黑" panose="020B0503020204020204" pitchFamily="34" charset="-122"/>
                  </a:rPr>
                  <a:t>－</a:t>
                </a:r>
                <a:r>
                  <a:rPr sz="2400" dirty="0">
                    <a:latin typeface="+mj-ea"/>
                    <a:ea typeface="+mj-ea"/>
                    <a:cs typeface="Times New Roman" panose="02020603050405020304"/>
                  </a:rPr>
                  <a:t>3</a:t>
                </a:r>
                <a:r>
                  <a:rPr sz="2400" dirty="0">
                    <a:latin typeface="+mj-ea"/>
                    <a:ea typeface="+mj-ea"/>
                    <a:cs typeface="微软雅黑" panose="020B0503020204020204" pitchFamily="34" charset="-122"/>
                  </a:rPr>
                  <a:t>号为红球，</a:t>
                </a:r>
                <a:r>
                  <a:rPr sz="2400" dirty="0">
                    <a:latin typeface="+mj-ea"/>
                    <a:ea typeface="+mj-ea"/>
                    <a:cs typeface="Times New Roman" panose="02020603050405020304"/>
                  </a:rPr>
                  <a:t>4</a:t>
                </a:r>
                <a:r>
                  <a:rPr sz="2400" dirty="0">
                    <a:latin typeface="+mj-ea"/>
                    <a:ea typeface="+mj-ea"/>
                    <a:cs typeface="微软雅黑" panose="020B0503020204020204" pitchFamily="34" charset="-122"/>
                  </a:rPr>
                  <a:t>－</a:t>
                </a:r>
                <a:r>
                  <a:rPr sz="2400" dirty="0">
                    <a:latin typeface="+mj-ea"/>
                    <a:ea typeface="+mj-ea"/>
                    <a:cs typeface="Times New Roman" panose="02020603050405020304"/>
                  </a:rPr>
                  <a:t>8</a:t>
                </a:r>
                <a:r>
                  <a:rPr sz="2400" dirty="0">
                    <a:latin typeface="+mj-ea"/>
                    <a:ea typeface="+mj-ea"/>
                    <a:cs typeface="微软雅黑" panose="020B0503020204020204" pitchFamily="34" charset="-122"/>
                  </a:rPr>
                  <a:t>号为黄球，</a:t>
                </a:r>
                <a:endParaRPr sz="2400" dirty="0">
                  <a:latin typeface="+mj-ea"/>
                  <a:ea typeface="+mj-ea"/>
                  <a:cs typeface="微软雅黑" panose="020B0503020204020204" pitchFamily="34" charset="-122"/>
                </a:endParaRPr>
              </a:p>
              <a:p>
                <a:pPr marL="12700">
                  <a:lnSpc>
                    <a:spcPct val="100000"/>
                  </a:lnSpc>
                  <a:spcBef>
                    <a:spcPts val="1440"/>
                  </a:spcBef>
                </a:pPr>
                <a:r>
                  <a:rPr sz="2400" dirty="0">
                    <a:latin typeface="+mj-ea"/>
                    <a:ea typeface="+mj-ea"/>
                    <a:cs typeface="微软雅黑" panose="020B0503020204020204" pitchFamily="34" charset="-122"/>
                  </a:rPr>
                  <a:t>设摸到每一球的可能性相等，从中随机摸一球，记</a:t>
                </a:r>
                <a14:m>
                  <m:oMath xmlns:m="http://schemas.openxmlformats.org/officeDocument/2006/math">
                    <m:r>
                      <a:rPr lang="zh-CN" altLang="en-US" sz="2400" i="1" spc="-5" dirty="0" smtClean="0">
                        <a:latin typeface="Cambria Math" panose="02040503050406030204" pitchFamily="18" charset="0"/>
                        <a:ea typeface="+mj-ea"/>
                        <a:cs typeface="Times New Roman" panose="02020603050405020304"/>
                      </a:rPr>
                      <m:t>𝐴</m:t>
                    </m:r>
                    <m:r>
                      <a:rPr lang="en-US" altLang="zh-CN" sz="2400" i="1" spc="-5" dirty="0">
                        <a:latin typeface="Cambria Math" panose="02040503050406030204" pitchFamily="18" charset="0"/>
                        <a:ea typeface="+mj-ea"/>
                        <a:cs typeface="Times New Roman" panose="02020603050405020304"/>
                      </a:rPr>
                      <m:t>=</m:t>
                    </m:r>
                  </m:oMath>
                </a14:m>
                <a:r>
                  <a:rPr sz="2400" spc="-5" dirty="0">
                    <a:latin typeface="+mj-ea"/>
                    <a:ea typeface="+mj-ea"/>
                    <a:cs typeface="Times New Roman" panose="02020603050405020304"/>
                  </a:rPr>
                  <a:t>{</a:t>
                </a:r>
                <a:r>
                  <a:rPr sz="2400" spc="-45" dirty="0">
                    <a:latin typeface="+mj-ea"/>
                    <a:ea typeface="+mj-ea"/>
                    <a:cs typeface="Times New Roman" panose="02020603050405020304"/>
                  </a:rPr>
                  <a:t> </a:t>
                </a:r>
                <a:r>
                  <a:rPr sz="2400" dirty="0">
                    <a:latin typeface="+mj-ea"/>
                    <a:ea typeface="+mj-ea"/>
                    <a:cs typeface="微软雅黑" panose="020B0503020204020204" pitchFamily="34" charset="-122"/>
                  </a:rPr>
                  <a:t>摸到红球</a:t>
                </a:r>
                <a:r>
                  <a:rPr sz="2400" spc="-155" dirty="0">
                    <a:latin typeface="+mj-ea"/>
                    <a:ea typeface="+mj-ea"/>
                    <a:cs typeface="微软雅黑" panose="020B0503020204020204" pitchFamily="34" charset="-122"/>
                  </a:rPr>
                  <a:t> </a:t>
                </a:r>
                <a:r>
                  <a:rPr sz="2400" spc="-5" dirty="0">
                    <a:latin typeface="+mj-ea"/>
                    <a:ea typeface="+mj-ea"/>
                    <a:cs typeface="Times New Roman" panose="02020603050405020304"/>
                  </a:rPr>
                  <a:t>}</a:t>
                </a:r>
                <a:r>
                  <a:rPr sz="2400" spc="-5" dirty="0">
                    <a:latin typeface="+mj-ea"/>
                    <a:ea typeface="+mj-ea"/>
                    <a:cs typeface="微软雅黑" panose="020B0503020204020204" pitchFamily="34" charset="-122"/>
                  </a:rPr>
                  <a:t>，</a:t>
                </a:r>
                <a:r>
                  <a:rPr sz="2400" dirty="0">
                    <a:latin typeface="+mj-ea"/>
                    <a:ea typeface="+mj-ea"/>
                    <a:cs typeface="微软雅黑" panose="020B0503020204020204" pitchFamily="34" charset="-122"/>
                  </a:rPr>
                  <a:t>求</a:t>
                </a:r>
                <a14:m>
                  <m:oMath xmlns:m="http://schemas.openxmlformats.org/officeDocument/2006/math">
                    <m:r>
                      <a:rPr lang="zh-CN" altLang="en-US" sz="2400" i="1" spc="-5" dirty="0" smtClean="0">
                        <a:latin typeface="Cambria Math" panose="02040503050406030204" pitchFamily="18" charset="0"/>
                        <a:ea typeface="+mj-ea"/>
                        <a:cs typeface="Times New Roman" panose="02020603050405020304"/>
                      </a:rPr>
                      <m:t>𝑃</m:t>
                    </m:r>
                    <m:r>
                      <a:rPr lang="en-US" altLang="zh-CN" sz="2400" i="1" spc="-5" dirty="0">
                        <a:latin typeface="Cambria Math" panose="02040503050406030204" pitchFamily="18" charset="0"/>
                        <a:ea typeface="+mj-ea"/>
                        <a:cs typeface="Times New Roman" panose="02020603050405020304"/>
                      </a:rPr>
                      <m:t>(</m:t>
                    </m:r>
                    <m:r>
                      <a:rPr lang="zh-CN" altLang="en-US" sz="2400" i="1" spc="-5" dirty="0">
                        <a:latin typeface="Cambria Math" panose="02040503050406030204" pitchFamily="18" charset="0"/>
                        <a:ea typeface="+mj-ea"/>
                        <a:cs typeface="Times New Roman" panose="02020603050405020304"/>
                      </a:rPr>
                      <m:t>𝐴</m:t>
                    </m:r>
                    <m:r>
                      <a:rPr lang="en-US" altLang="zh-CN" sz="2400" i="1" spc="-5" dirty="0">
                        <a:latin typeface="Cambria Math" panose="02040503050406030204" pitchFamily="18" charset="0"/>
                        <a:ea typeface="+mj-ea"/>
                        <a:cs typeface="Times New Roman" panose="02020603050405020304"/>
                      </a:rPr>
                      <m:t>)</m:t>
                    </m:r>
                  </m:oMath>
                </a14:m>
                <a:r>
                  <a:rPr sz="2400" dirty="0">
                    <a:latin typeface="+mj-ea"/>
                    <a:ea typeface="+mj-ea"/>
                    <a:cs typeface="微软雅黑" panose="020B0503020204020204" pitchFamily="34" charset="-122"/>
                  </a:rPr>
                  <a:t>。</a:t>
                </a:r>
                <a:endParaRPr sz="2400" dirty="0">
                  <a:latin typeface="+mj-ea"/>
                  <a:ea typeface="+mj-ea"/>
                  <a:cs typeface="微软雅黑" panose="020B0503020204020204" pitchFamily="34" charset="-122"/>
                </a:endParaRPr>
              </a:p>
            </p:txBody>
          </p:sp>
        </mc:Choice>
        <mc:Fallback>
          <p:sp>
            <p:nvSpPr>
              <p:cNvPr id="18" name="object 7"/>
              <p:cNvSpPr txBox="1">
                <a:spLocks noRot="1" noChangeAspect="1" noMove="1" noResize="1" noEditPoints="1" noAdjustHandles="1" noChangeArrowheads="1" noChangeShapeType="1" noTextEdit="1"/>
              </p:cNvSpPr>
              <p:nvPr/>
            </p:nvSpPr>
            <p:spPr>
              <a:xfrm>
                <a:off x="761346" y="3438690"/>
                <a:ext cx="10853395" cy="1115690"/>
              </a:xfrm>
              <a:prstGeom prst="rect">
                <a:avLst/>
              </a:prstGeom>
              <a:blipFill rotWithShape="1">
                <a:blip r:embed="rId2"/>
                <a:stretch>
                  <a:fillRect l="-6" t="-15" r="5"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727036" y="4898657"/>
                <a:ext cx="6096982" cy="1155509"/>
              </a:xfrm>
              <a:prstGeom prst="rect">
                <a:avLst/>
              </a:prstGeom>
              <a:noFill/>
            </p:spPr>
            <p:txBody>
              <a:bodyPr wrap="square">
                <a:spAutoFit/>
              </a:bodyPr>
              <a:lstStyle/>
              <a:p>
                <a:endParaRPr lang="en-US" altLang="zh-CN"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m:rPr>
                          <m:sty m:val="p"/>
                        </m:rPr>
                        <a:rPr lang="zh-CN" altLang="en-US" i="0">
                          <a:latin typeface="Cambria Math" panose="02040503050406030204" pitchFamily="18" charset="0"/>
                        </a:rPr>
                        <m:t>A</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0">
                              <a:latin typeface="Cambria Math" panose="02040503050406030204" pitchFamily="18" charset="0"/>
                            </a:rPr>
                            <m:t>,</m:t>
                          </m:r>
                          <m:r>
                            <a:rPr lang="zh-CN" altLang="en-US" i="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e>
                      </m:d>
                      <m:r>
                        <a:rPr lang="zh-CN" altLang="en-US" i="0">
                          <a:latin typeface="Cambria Math" panose="02040503050406030204" pitchFamily="18" charset="0"/>
                        </a:rPr>
                        <m:t>⇒</m:t>
                      </m:r>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𝐴</m:t>
                          </m:r>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m:t>
                          </m:r>
                        </m:num>
                        <m:den>
                          <m:r>
                            <a:rPr lang="zh-CN" altLang="en-US" i="0">
                              <a:latin typeface="Cambria Math" panose="02040503050406030204" pitchFamily="18" charset="0"/>
                            </a:rPr>
                            <m:t>8</m:t>
                          </m:r>
                        </m:den>
                      </m:f>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1727036" y="4898657"/>
                <a:ext cx="6096982" cy="1155509"/>
              </a:xfrm>
              <a:prstGeom prst="rect">
                <a:avLst/>
              </a:prstGeom>
              <a:blipFill rotWithShape="1">
                <a:blip r:embed="rId3"/>
                <a:stretch>
                  <a:fillRect l="-8" t="-23" r="3"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1449527" y="4898657"/>
                <a:ext cx="6096982"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zh-CN" altLang="en-US" smtClean="0">
                          <a:latin typeface="Cambria Math" panose="02040503050406030204" pitchFamily="18" charset="0"/>
                        </a:rPr>
                        <m:t>S</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0">
                              <a:latin typeface="Cambria Math" panose="02040503050406030204" pitchFamily="18" charset="0"/>
                            </a:rPr>
                            <m:t>,</m:t>
                          </m:r>
                          <m:r>
                            <a:rPr lang="zh-CN" altLang="en-US" i="0">
                              <a:latin typeface="Cambria Math" panose="02040503050406030204" pitchFamily="18" charset="0"/>
                            </a:rPr>
                            <m:t>2</m:t>
                          </m:r>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8</m:t>
                          </m:r>
                        </m:e>
                      </m:d>
                    </m:oMath>
                  </m:oMathPara>
                </a14:m>
                <a:endParaRPr lang="zh-CN" altLang="en-US" dirty="0"/>
              </a:p>
            </p:txBody>
          </p:sp>
        </mc:Choice>
        <mc:Fallback>
          <p:sp>
            <p:nvSpPr>
              <p:cNvPr id="17" name="文本框 16"/>
              <p:cNvSpPr txBox="1">
                <a:spLocks noRot="1" noChangeAspect="1" noMove="1" noResize="1" noEditPoints="1" noAdjustHandles="1" noChangeArrowheads="1" noChangeShapeType="1" noTextEdit="1"/>
              </p:cNvSpPr>
              <p:nvPr/>
            </p:nvSpPr>
            <p:spPr>
              <a:xfrm>
                <a:off x="1449527" y="4898657"/>
                <a:ext cx="6096982" cy="461665"/>
              </a:xfrm>
              <a:prstGeom prst="rect">
                <a:avLst/>
              </a:prstGeom>
              <a:blipFill rotWithShape="1">
                <a:blip r:embed="rId4"/>
                <a:stretch>
                  <a:fillRect l="-7" t="-58" r="3"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1727036" y="2323076"/>
                <a:ext cx="6096982" cy="88973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𝐴</m:t>
                          </m:r>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𝐴</m:t>
                          </m:r>
                          <m:r>
                            <m:rPr>
                              <m:nor/>
                            </m:rPr>
                            <a:rPr lang="zh-CN" altLang="en-US">
                              <a:latin typeface="Cambria Math" panose="02040503050406030204" pitchFamily="18" charset="0"/>
                            </a:rPr>
                            <m:t>所包含的样本点数</m:t>
                          </m:r>
                        </m:num>
                        <m:den>
                          <m:r>
                            <a:rPr lang="zh-CN" altLang="en-US" i="1">
                              <a:latin typeface="Cambria Math" panose="02040503050406030204" pitchFamily="18" charset="0"/>
                            </a:rPr>
                            <m:t>𝑆</m:t>
                          </m:r>
                          <m:r>
                            <m:rPr>
                              <m:nor/>
                            </m:rPr>
                            <a:rPr lang="zh-CN" altLang="en-US">
                              <a:latin typeface="Cambria Math" panose="02040503050406030204" pitchFamily="18" charset="0"/>
                            </a:rPr>
                            <m:t>中的样本点数</m:t>
                          </m:r>
                        </m:den>
                      </m:f>
                    </m:oMath>
                  </m:oMathPara>
                </a14:m>
                <a:endParaRPr lang="zh-CN" altLang="en-US" dirty="0"/>
              </a:p>
            </p:txBody>
          </p:sp>
        </mc:Choice>
        <mc:Fallback>
          <p:sp>
            <p:nvSpPr>
              <p:cNvPr id="28" name="文本框 27"/>
              <p:cNvSpPr txBox="1">
                <a:spLocks noRot="1" noChangeAspect="1" noMove="1" noResize="1" noEditPoints="1" noAdjustHandles="1" noChangeArrowheads="1" noChangeShapeType="1" noTextEdit="1"/>
              </p:cNvSpPr>
              <p:nvPr/>
            </p:nvSpPr>
            <p:spPr>
              <a:xfrm>
                <a:off x="1727036" y="2323076"/>
                <a:ext cx="6096982" cy="889731"/>
              </a:xfrm>
              <a:prstGeom prst="rect">
                <a:avLst/>
              </a:prstGeom>
              <a:blipFill rotWithShape="1">
                <a:blip r:embed="rId5"/>
                <a:stretch>
                  <a:fillRect l="-8" t="-28" r="3" b="38"/>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36543" y="282977"/>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br>
              <a:rPr lang="zh-CN" altLang="en-US" dirty="0"/>
            </a:b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971394" y="1540866"/>
                <a:ext cx="9104670" cy="4740337"/>
              </a:xfrm>
              <a:prstGeom prst="rect">
                <a:avLst/>
              </a:prstGeom>
            </p:spPr>
            <p:txBody>
              <a:bodyPr wrap="square">
                <a:spAutoFit/>
              </a:bodyPr>
              <a:lstStyle/>
              <a:p>
                <a:pPr marL="457200" indent="-457200">
                  <a:lnSpc>
                    <a:spcPct val="150000"/>
                  </a:lnSpc>
                  <a:spcBef>
                    <a:spcPts val="900"/>
                  </a:spcBef>
                  <a:spcAft>
                    <a:spcPts val="900"/>
                  </a:spcAft>
                  <a:buAutoNum type="arabicParenBoth"/>
                </a:pPr>
                <a:r>
                  <a:rPr lang="zh-CN" altLang="zh-CN" sz="2000" kern="100" dirty="0">
                    <a:effectLst/>
                    <a:latin typeface="微软雅黑" panose="020B0503020204020204" pitchFamily="34" charset="-122"/>
                    <a:cs typeface="宋体" panose="02010600030101010101" pitchFamily="2" charset="-122"/>
                  </a:rPr>
                  <a:t>条件概率</a:t>
                </a:r>
                <a:r>
                  <a:rPr lang="en-US" altLang="zh-CN" sz="2000"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𝐴𝐵</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num>
                      <m:den>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den>
                    </m:f>
                  </m:oMath>
                </a14:m>
                <a:r>
                  <a:rPr lang="en-US" altLang="zh-CN" sz="2000" kern="100" dirty="0">
                    <a:effectLst/>
                    <a:latin typeface="微软雅黑" panose="020B0503020204020204" pitchFamily="34" charset="-122"/>
                    <a:cs typeface="宋体" panose="02010600030101010101" pitchFamily="2" charset="-122"/>
                  </a:rPr>
                  <a:t> ,</a:t>
                </a:r>
                <a:r>
                  <a:rPr lang="zh-CN" altLang="zh-CN" sz="2000" kern="100" dirty="0">
                    <a:effectLst/>
                    <a:latin typeface="微软雅黑" panose="020B0503020204020204" pitchFamily="34" charset="-122"/>
                    <a:cs typeface="宋体" panose="02010600030101010101" pitchFamily="2" charset="-122"/>
                  </a:rPr>
                  <a:t>表示</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m:t>
                    </m:r>
                  </m:oMath>
                </a14:m>
                <a:r>
                  <a:rPr lang="zh-CN" altLang="zh-CN" sz="2000" kern="100" dirty="0">
                    <a:effectLst/>
                    <a:latin typeface="微软雅黑" panose="020B0503020204020204" pitchFamily="34" charset="-122"/>
                    <a:cs typeface="宋体" panose="02010600030101010101" pitchFamily="2" charset="-122"/>
                  </a:rPr>
                  <a:t>发生的条件下，</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oMath>
                </a14:m>
                <a:r>
                  <a:rPr lang="zh-CN" altLang="zh-CN" sz="2000" kern="100" dirty="0">
                    <a:effectLst/>
                    <a:latin typeface="微软雅黑" panose="020B0503020204020204" pitchFamily="34" charset="-122"/>
                    <a:cs typeface="宋体" panose="02010600030101010101" pitchFamily="2" charset="-122"/>
                  </a:rPr>
                  <a:t>发生的概率</a:t>
                </a:r>
                <a:endParaRPr lang="en-US" altLang="zh-CN" sz="2000" kern="100" dirty="0">
                  <a:effectLst/>
                  <a:latin typeface="微软雅黑" panose="020B0503020204020204" pitchFamily="34" charset="-122"/>
                  <a:cs typeface="宋体" panose="02010600030101010101" pitchFamily="2" charset="-122"/>
                </a:endParaRPr>
              </a:p>
              <a:p>
                <a:pPr marL="12700">
                  <a:lnSpc>
                    <a:spcPct val="100000"/>
                  </a:lnSpc>
                  <a:spcBef>
                    <a:spcPts val="1540"/>
                  </a:spcBef>
                </a:pPr>
                <a:r>
                  <a:rPr lang="zh-CN" altLang="en-US" sz="2000" dirty="0">
                    <a:latin typeface="微软雅黑" panose="020B0503020204020204" pitchFamily="34" charset="-122"/>
                    <a:cs typeface="微软雅黑" panose="020B0503020204020204" pitchFamily="34" charset="-122"/>
                  </a:rPr>
                  <a:t>一袋中有</a:t>
                </a:r>
                <a:r>
                  <a:rPr lang="en-US" altLang="zh-CN" sz="2000" dirty="0">
                    <a:latin typeface="Times New Roman" panose="02020603050405020304"/>
                    <a:cs typeface="Times New Roman" panose="02020603050405020304"/>
                  </a:rPr>
                  <a:t>8</a:t>
                </a:r>
                <a:r>
                  <a:rPr lang="zh-CN" altLang="en-US" sz="2000" dirty="0">
                    <a:latin typeface="微软雅黑" panose="020B0503020204020204" pitchFamily="34" charset="-122"/>
                    <a:cs typeface="微软雅黑" panose="020B0503020204020204" pitchFamily="34" charset="-122"/>
                  </a:rPr>
                  <a:t>个球，编号为</a:t>
                </a:r>
                <a:r>
                  <a:rPr lang="en-US" altLang="zh-CN" sz="2000" dirty="0">
                    <a:latin typeface="Times New Roman" panose="02020603050405020304"/>
                    <a:cs typeface="Times New Roman" panose="02020603050405020304"/>
                  </a:rPr>
                  <a:t>1</a:t>
                </a:r>
                <a:r>
                  <a:rPr lang="zh-CN" altLang="en-US" sz="2000" dirty="0">
                    <a:latin typeface="微软雅黑" panose="020B0503020204020204" pitchFamily="34" charset="-122"/>
                    <a:cs typeface="微软雅黑" panose="020B0503020204020204" pitchFamily="34" charset="-122"/>
                  </a:rPr>
                  <a:t>－</a:t>
                </a:r>
                <a:r>
                  <a:rPr lang="en-US" altLang="zh-CN" sz="2000" dirty="0">
                    <a:latin typeface="Times New Roman" panose="02020603050405020304"/>
                    <a:cs typeface="Times New Roman" panose="02020603050405020304"/>
                  </a:rPr>
                  <a:t>8</a:t>
                </a:r>
                <a:r>
                  <a:rPr lang="zh-CN" altLang="en-US" sz="2000" dirty="0">
                    <a:latin typeface="微软雅黑" panose="020B0503020204020204" pitchFamily="34" charset="-122"/>
                    <a:cs typeface="微软雅黑" panose="020B0503020204020204" pitchFamily="34" charset="-122"/>
                  </a:rPr>
                  <a:t>，其中</a:t>
                </a:r>
                <a:r>
                  <a:rPr lang="en-US" altLang="zh-CN" sz="2000" dirty="0">
                    <a:latin typeface="Times New Roman" panose="02020603050405020304"/>
                    <a:cs typeface="Times New Roman" panose="02020603050405020304"/>
                  </a:rPr>
                  <a:t>1</a:t>
                </a:r>
                <a:r>
                  <a:rPr lang="zh-CN" altLang="en-US" sz="2000" dirty="0">
                    <a:latin typeface="微软雅黑" panose="020B0503020204020204" pitchFamily="34" charset="-122"/>
                    <a:cs typeface="微软雅黑" panose="020B0503020204020204" pitchFamily="34" charset="-122"/>
                  </a:rPr>
                  <a:t>－</a:t>
                </a:r>
                <a:r>
                  <a:rPr lang="en-US" altLang="zh-CN" sz="2000" dirty="0">
                    <a:latin typeface="Times New Roman" panose="02020603050405020304"/>
                    <a:cs typeface="Times New Roman" panose="02020603050405020304"/>
                  </a:rPr>
                  <a:t>3</a:t>
                </a:r>
                <a:r>
                  <a:rPr lang="zh-CN" altLang="en-US" sz="2000" dirty="0">
                    <a:latin typeface="微软雅黑" panose="020B0503020204020204" pitchFamily="34" charset="-122"/>
                    <a:cs typeface="微软雅黑" panose="020B0503020204020204" pitchFamily="34" charset="-122"/>
                  </a:rPr>
                  <a:t>号为红球，</a:t>
                </a:r>
                <a:r>
                  <a:rPr lang="en-US" altLang="zh-CN" sz="2000" dirty="0">
                    <a:latin typeface="Times New Roman" panose="02020603050405020304"/>
                    <a:cs typeface="Times New Roman" panose="02020603050405020304"/>
                  </a:rPr>
                  <a:t>4</a:t>
                </a:r>
                <a:r>
                  <a:rPr lang="zh-CN" altLang="en-US" sz="2000" dirty="0">
                    <a:latin typeface="微软雅黑" panose="020B0503020204020204" pitchFamily="34" charset="-122"/>
                    <a:cs typeface="微软雅黑" panose="020B0503020204020204" pitchFamily="34" charset="-122"/>
                  </a:rPr>
                  <a:t>－</a:t>
                </a:r>
                <a:r>
                  <a:rPr lang="en-US" altLang="zh-CN" sz="2000" dirty="0">
                    <a:latin typeface="Times New Roman" panose="02020603050405020304"/>
                    <a:cs typeface="Times New Roman" panose="02020603050405020304"/>
                  </a:rPr>
                  <a:t>8</a:t>
                </a:r>
                <a:r>
                  <a:rPr lang="zh-CN" altLang="en-US" sz="2000" dirty="0">
                    <a:latin typeface="微软雅黑" panose="020B0503020204020204" pitchFamily="34" charset="-122"/>
                    <a:cs typeface="微软雅黑" panose="020B0503020204020204" pitchFamily="34" charset="-122"/>
                  </a:rPr>
                  <a:t>号为黄球，</a:t>
                </a:r>
                <a:endParaRPr lang="zh-CN" altLang="en-US" sz="2000" dirty="0">
                  <a:latin typeface="微软雅黑" panose="020B0503020204020204" pitchFamily="34" charset="-122"/>
                  <a:cs typeface="微软雅黑" panose="020B0503020204020204" pitchFamily="34" charset="-122"/>
                </a:endParaRPr>
              </a:p>
              <a:p>
                <a:pPr marL="12700">
                  <a:lnSpc>
                    <a:spcPct val="100000"/>
                  </a:lnSpc>
                  <a:spcBef>
                    <a:spcPts val="1440"/>
                  </a:spcBef>
                </a:pPr>
                <a:r>
                  <a:rPr lang="zh-CN" altLang="en-US" sz="2000" dirty="0">
                    <a:latin typeface="微软雅黑" panose="020B0503020204020204" pitchFamily="34" charset="-122"/>
                    <a:cs typeface="微软雅黑" panose="020B0503020204020204" pitchFamily="34" charset="-122"/>
                  </a:rPr>
                  <a:t>设摸到每一球的可能性相等，从中随机摸一球，记</a:t>
                </a:r>
                <a:r>
                  <a:rPr lang="en-US" altLang="zh-CN" sz="2000" i="1" spc="-5" dirty="0">
                    <a:latin typeface="Times New Roman" panose="02020603050405020304"/>
                    <a:cs typeface="Times New Roman" panose="02020603050405020304"/>
                  </a:rPr>
                  <a:t>A</a:t>
                </a:r>
                <a:r>
                  <a:rPr lang="en-US" altLang="zh-CN" sz="2000" spc="-5" dirty="0">
                    <a:latin typeface="Times New Roman" panose="02020603050405020304"/>
                    <a:cs typeface="Times New Roman" panose="02020603050405020304"/>
                  </a:rPr>
                  <a:t>={</a:t>
                </a:r>
                <a:r>
                  <a:rPr lang="zh-CN" altLang="en-US" sz="2000" spc="-45" dirty="0">
                    <a:latin typeface="Times New Roman" panose="02020603050405020304"/>
                    <a:cs typeface="Times New Roman" panose="02020603050405020304"/>
                  </a:rPr>
                  <a:t> </a:t>
                </a:r>
                <a:r>
                  <a:rPr lang="zh-CN" altLang="en-US" sz="2000" dirty="0">
                    <a:latin typeface="微软雅黑" panose="020B0503020204020204" pitchFamily="34" charset="-122"/>
                    <a:cs typeface="微软雅黑" panose="020B0503020204020204" pitchFamily="34" charset="-122"/>
                  </a:rPr>
                  <a:t>摸到红球</a:t>
                </a:r>
                <a:r>
                  <a:rPr lang="zh-CN" altLang="en-US" sz="2000" spc="-155" dirty="0">
                    <a:latin typeface="微软雅黑" panose="020B0503020204020204" pitchFamily="34" charset="-122"/>
                    <a:cs typeface="微软雅黑" panose="020B0503020204020204" pitchFamily="34" charset="-122"/>
                  </a:rPr>
                  <a:t> </a:t>
                </a:r>
                <a:r>
                  <a:rPr lang="en-US" altLang="zh-CN" sz="2000" spc="-5" dirty="0">
                    <a:latin typeface="Times New Roman" panose="02020603050405020304"/>
                    <a:cs typeface="Times New Roman" panose="02020603050405020304"/>
                  </a:rPr>
                  <a:t>}</a:t>
                </a:r>
                <a:r>
                  <a:rPr lang="zh-CN" altLang="en-US" sz="2000" spc="-5"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求</a:t>
                </a:r>
                <a:r>
                  <a:rPr lang="en-US" altLang="zh-CN" sz="2000" i="1" spc="-5" dirty="0">
                    <a:latin typeface="Times New Roman" panose="02020603050405020304"/>
                    <a:cs typeface="Times New Roman" panose="02020603050405020304"/>
                  </a:rPr>
                  <a:t>P</a:t>
                </a:r>
                <a:r>
                  <a:rPr lang="en-US" altLang="zh-CN" sz="2000" spc="-5" dirty="0">
                    <a:latin typeface="Times New Roman" panose="02020603050405020304"/>
                    <a:cs typeface="Times New Roman" panose="02020603050405020304"/>
                  </a:rPr>
                  <a:t>(</a:t>
                </a:r>
                <a:r>
                  <a:rPr lang="en-US" altLang="zh-CN" sz="2000" i="1" spc="-5" dirty="0">
                    <a:latin typeface="Times New Roman" panose="02020603050405020304"/>
                    <a:cs typeface="Times New Roman" panose="02020603050405020304"/>
                  </a:rPr>
                  <a:t>A</a:t>
                </a:r>
                <a:r>
                  <a:rPr lang="en-US" altLang="zh-CN" sz="2000" spc="-5" dirty="0">
                    <a:latin typeface="Times New Roman" panose="02020603050405020304"/>
                    <a:cs typeface="Times New Roman" panose="02020603050405020304"/>
                  </a:rPr>
                  <a:t>)</a:t>
                </a:r>
                <a:r>
                  <a:rPr lang="zh-CN" altLang="en-US" sz="2000" dirty="0">
                    <a:latin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cs typeface="微软雅黑" panose="020B0503020204020204" pitchFamily="34" charset="-122"/>
                </a:endParaRPr>
              </a:p>
              <a:p>
                <a:pPr>
                  <a:lnSpc>
                    <a:spcPct val="150000"/>
                  </a:lnSpc>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zh-CN" altLang="en-US" i="0" smtClean="0">
                          <a:latin typeface="Cambria Math" panose="02040503050406030204" pitchFamily="18" charset="0"/>
                        </a:rPr>
                        <m:t>A</m:t>
                      </m:r>
                      <m:r>
                        <a:rPr lang="zh-CN" altLang="en-US" i="0" smtClean="0">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0">
                              <a:latin typeface="Cambria Math" panose="02040503050406030204" pitchFamily="18" charset="0"/>
                            </a:rPr>
                            <m:t>,</m:t>
                          </m:r>
                          <m:r>
                            <a:rPr lang="zh-CN" altLang="en-US" i="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e>
                      </m:d>
                      <m:r>
                        <a:rPr lang="zh-CN" altLang="en-US" i="0">
                          <a:latin typeface="Cambria Math" panose="02040503050406030204" pitchFamily="18" charset="0"/>
                        </a:rPr>
                        <m:t>⇒</m:t>
                      </m:r>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𝐴</m:t>
                          </m:r>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m:t>
                          </m:r>
                        </m:num>
                        <m:den>
                          <m:r>
                            <a:rPr lang="zh-CN" altLang="en-US" i="0">
                              <a:latin typeface="Cambria Math" panose="02040503050406030204" pitchFamily="18" charset="0"/>
                            </a:rPr>
                            <m:t>8</m:t>
                          </m:r>
                        </m:den>
                      </m:f>
                    </m:oMath>
                  </m:oMathPara>
                </a14:m>
                <a:endParaRPr lang="zh-CN" altLang="en-US" dirty="0"/>
              </a:p>
              <a:p>
                <a:pPr>
                  <a:lnSpc>
                    <a:spcPct val="150000"/>
                  </a:lnSpc>
                  <a:spcBef>
                    <a:spcPts val="900"/>
                  </a:spcBef>
                  <a:spcAft>
                    <a:spcPts val="900"/>
                  </a:spcAft>
                </a:pPr>
                <a:r>
                  <a:rPr lang="en-US" altLang="zh-CN" sz="2000" kern="100" dirty="0">
                    <a:effectLst/>
                    <a:latin typeface="微软雅黑" panose="020B0503020204020204" pitchFamily="34" charset="-122"/>
                    <a:cs typeface="宋体" panose="02010600030101010101" pitchFamily="2" charset="-122"/>
                  </a:rPr>
                  <a:t>(2) </a:t>
                </a:r>
                <a:r>
                  <a:rPr lang="zh-CN" altLang="zh-CN" sz="2000" kern="100" dirty="0">
                    <a:effectLst/>
                    <a:latin typeface="微软雅黑" panose="020B0503020204020204" pitchFamily="34" charset="-122"/>
                    <a:cs typeface="宋体" panose="02010600030101010101" pitchFamily="2" charset="-122"/>
                  </a:rPr>
                  <a:t>全概率公式：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nary>
                      <m:naryPr>
                        <m:chr m:val="∑"/>
                        <m:limLoc m:val="undOv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naryPr>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sub>
                      <m:sup>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𝑛</m:t>
                        </m:r>
                      </m:sup>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𝑗</m:t>
                            </m:r>
                          </m:sub>
                        </m:sSub>
                      </m:e>
                    </m:nary>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limLow>
                      <m:limLow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limLowPr>
                      <m:e>
                        <m:limUpp>
                          <m:limUpp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limUppPr>
                          <m:e>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e>
                          <m:lim>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𝑛</m:t>
                            </m:r>
                          </m:lim>
                        </m:limUpp>
                      </m:e>
                      <m:lim>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1</m:t>
                        </m:r>
                      </m:lim>
                    </m:limLow>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 </m:t>
                    </m:r>
                    <m:sSub>
                      <m:sSubPr>
                        <m:ctrlPr>
                          <a:rPr lang="zh-CN" altLang="zh-CN" sz="20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cs typeface="宋体" panose="02010600030101010101" pitchFamily="2" charset="-122"/>
                      </a:rPr>
                      <m:t>𝛺</m:t>
                    </m:r>
                    <m:r>
                      <a:rPr lang="en-US" altLang="zh-CN" sz="2000"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2000" kern="100" dirty="0">
                    <a:effectLst/>
                    <a:latin typeface="微软雅黑" panose="020B0503020204020204" pitchFamily="34" charset="-122"/>
                    <a:cs typeface="宋体" panose="02010600030101010101" pitchFamily="2" charset="-122"/>
                  </a:rPr>
                  <a:t> </a:t>
                </a:r>
                <a:endParaRPr lang="zh-CN" altLang="zh-CN" sz="20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endParaRPr lang="zh-CN" altLang="zh-CN" sz="24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971394" y="1540866"/>
                <a:ext cx="9104670" cy="4740337"/>
              </a:xfrm>
              <a:prstGeom prst="rect">
                <a:avLst/>
              </a:prstGeom>
              <a:blipFill rotWithShape="1">
                <a:blip r:embed="rId1"/>
                <a:stretch>
                  <a:fillRect l="-5" t="-8" r="6"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162173" y="3824975"/>
                <a:ext cx="269748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zh-CN" altLang="en-US" smtClean="0">
                          <a:latin typeface="Cambria Math" panose="02040503050406030204" pitchFamily="18" charset="0"/>
                        </a:rPr>
                        <m:t>S</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0">
                              <a:latin typeface="Cambria Math" panose="02040503050406030204" pitchFamily="18" charset="0"/>
                            </a:rPr>
                            <m:t>,</m:t>
                          </m:r>
                          <m:r>
                            <a:rPr lang="zh-CN" altLang="en-US" i="0">
                              <a:latin typeface="Cambria Math" panose="02040503050406030204" pitchFamily="18" charset="0"/>
                            </a:rPr>
                            <m:t>2</m:t>
                          </m:r>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8</m:t>
                          </m:r>
                        </m:e>
                      </m:d>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162173" y="3824975"/>
                <a:ext cx="2697480" cy="461665"/>
              </a:xfrm>
              <a:prstGeom prst="rect">
                <a:avLst/>
              </a:prstGeom>
              <a:blipFill rotWithShape="1">
                <a:blip r:embed="rId2"/>
                <a:stretch>
                  <a:fillRect l="-5" t="-80" r="5" b="84"/>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36543" y="282977"/>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br>
              <a:rPr lang="zh-CN" altLang="en-US" dirty="0"/>
            </a:b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958515" y="1759807"/>
                <a:ext cx="9104670" cy="3174459"/>
              </a:xfrm>
              <a:prstGeom prst="rect">
                <a:avLst/>
              </a:prstGeom>
            </p:spPr>
            <p:txBody>
              <a:bodyPr wrap="square">
                <a:spAutoFit/>
              </a:bodyPr>
              <a:lstStyle/>
              <a:p>
                <a:pPr>
                  <a:lnSpc>
                    <a:spcPct val="150000"/>
                  </a:lnSpc>
                  <a:spcBef>
                    <a:spcPts val="900"/>
                  </a:spcBef>
                  <a:spcAft>
                    <a:spcPts val="900"/>
                  </a:spcAft>
                </a:pPr>
                <a:r>
                  <a:rPr lang="en-US" altLang="zh-CN" sz="2000" kern="100" dirty="0">
                    <a:effectLst/>
                    <a:latin typeface="微软雅黑" panose="020B0503020204020204" pitchFamily="34" charset="-122"/>
                    <a:cs typeface="宋体" panose="02010600030101010101" pitchFamily="2" charset="-122"/>
                  </a:rPr>
                  <a:t>(3) </a:t>
                </a:r>
                <a:r>
                  <a:rPr lang="en-US" altLang="zh-CN" sz="2000" b="1" kern="100" dirty="0">
                    <a:effectLst/>
                    <a:latin typeface="微软雅黑" panose="020B0503020204020204" pitchFamily="34" charset="-122"/>
                    <a:cs typeface="宋体" panose="02010600030101010101" pitchFamily="2" charset="-122"/>
                  </a:rPr>
                  <a:t>Bayes</a:t>
                </a:r>
                <a:r>
                  <a:rPr lang="zh-CN" altLang="zh-CN" sz="2000" kern="100" dirty="0">
                    <a:effectLst/>
                    <a:latin typeface="微软雅黑" panose="020B0503020204020204" pitchFamily="34" charset="-122"/>
                    <a:cs typeface="宋体" panose="02010600030101010101" pitchFamily="2" charset="-122"/>
                  </a:rPr>
                  <a:t>公式：</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𝑗</m:t>
                            </m:r>
                          </m:sub>
                        </m:sSub>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num>
                      <m:den>
                        <m:nary>
                          <m:naryPr>
                            <m:chr m:val="∑"/>
                            <m:limLoc m:val="undOv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naryPr>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𝑖</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1</m:t>
                            </m:r>
                          </m:sub>
                          <m:sup>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𝑛</m:t>
                            </m:r>
                          </m:sup>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𝐴</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𝐵</m:t>
                                </m:r>
                              </m:e>
                              <m:sub>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e>
                        </m:nary>
                      </m:den>
                    </m:f>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𝑗</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sz="2400"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en-US" altLang="zh-CN" sz="2400" kern="100" dirty="0">
                    <a:effectLst/>
                    <a:latin typeface="微软雅黑" panose="020B0503020204020204" pitchFamily="34" charset="-122"/>
                    <a:cs typeface="宋体" panose="02010600030101010101" pitchFamily="2" charset="-122"/>
                  </a:rPr>
                  <a:t> </a:t>
                </a:r>
                <a:endParaRPr lang="en-US" altLang="zh-CN" sz="24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dirty="0"/>
                  <a:t>(4) </a:t>
                </a:r>
                <a:r>
                  <a:rPr lang="zh-CN" altLang="zh-CN" dirty="0"/>
                  <a:t>乘法公式： </a:t>
                </a:r>
                <a14:m>
                  <m:oMath xmlns:m="http://schemas.openxmlformats.org/officeDocument/2006/math">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𝑛</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3</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r>
                      <a:rPr lang="en-US" altLang="zh-CN" i="1">
                        <a:latin typeface="Cambria Math" panose="02040503050406030204" pitchFamily="18" charset="0"/>
                      </a:rPr>
                      <m:t>𝑃</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𝑛</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a:latin typeface="Cambria Math" panose="02040503050406030204" pitchFamily="18" charset="0"/>
                          </a:rPr>
                          <m:t>2</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a:latin typeface="Cambria Math" panose="02040503050406030204" pitchFamily="18" charset="0"/>
                          </a:rPr>
                          <m:t>1</m:t>
                        </m:r>
                      </m:sub>
                    </m:sSub>
                    <m:r>
                      <a:rPr lang="en-US" altLang="zh-CN">
                        <a:latin typeface="Cambria Math" panose="02040503050406030204" pitchFamily="18" charset="0"/>
                      </a:rPr>
                      <m:t>)</m:t>
                    </m:r>
                  </m:oMath>
                </a14:m>
                <a:r>
                  <a:rPr lang="en-US" altLang="zh-CN" dirty="0"/>
                  <a:t> </a:t>
                </a:r>
                <a:endParaRPr lang="zh-CN" altLang="zh-CN" dirty="0"/>
              </a:p>
              <a:p>
                <a:pPr>
                  <a:lnSpc>
                    <a:spcPct val="150000"/>
                  </a:lnSpc>
                  <a:spcBef>
                    <a:spcPts val="900"/>
                  </a:spcBef>
                  <a:spcAft>
                    <a:spcPts val="900"/>
                  </a:spcAft>
                </a:pPr>
                <a:endParaRPr lang="zh-CN" altLang="zh-CN" sz="24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958515" y="1759807"/>
                <a:ext cx="9104670" cy="3174459"/>
              </a:xfrm>
              <a:prstGeom prst="rect">
                <a:avLst/>
              </a:prstGeom>
              <a:blipFill rotWithShape="1">
                <a:blip r:embed="rId1"/>
                <a:stretch>
                  <a:fillRect l="-3" t="-7" r="4" b="10"/>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72149" y="25591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r>
              <a:rPr lang="en-US" altLang="zh-CN" dirty="0"/>
              <a:t>-</a:t>
            </a:r>
            <a:r>
              <a:rPr lang="zh-CN" altLang="en-US" dirty="0"/>
              <a:t>常见分布</a:t>
            </a:r>
            <a:br>
              <a:rPr lang="zh-CN" altLang="en-US" dirty="0"/>
            </a:br>
            <a:endParaRPr lang="zh-CN" altLang="en-US" dirty="0"/>
          </a:p>
        </p:txBody>
      </p:sp>
      <mc:AlternateContent xmlns:mc="http://schemas.openxmlformats.org/markup-compatibility/2006">
        <mc:Choice xmlns:a14="http://schemas.microsoft.com/office/drawing/2010/main" Requires="a14">
          <p:sp>
            <p:nvSpPr>
              <p:cNvPr id="2" name="矩形 1"/>
              <p:cNvSpPr/>
              <p:nvPr/>
            </p:nvSpPr>
            <p:spPr>
              <a:xfrm>
                <a:off x="1338238" y="1777733"/>
                <a:ext cx="9795547" cy="2573333"/>
              </a:xfrm>
              <a:prstGeom prst="rect">
                <a:avLst/>
              </a:prstGeom>
            </p:spPr>
            <p:txBody>
              <a:bodyPr wrap="square">
                <a:spAutoFit/>
              </a:bodyPr>
              <a:lstStyle/>
              <a:p>
                <a:pPr>
                  <a:lnSpc>
                    <a:spcPct val="150000"/>
                  </a:lnSpc>
                  <a:spcBef>
                    <a:spcPts val="900"/>
                  </a:spcBef>
                  <a:spcAft>
                    <a:spcPts val="900"/>
                  </a:spcAft>
                </a:pPr>
                <a:r>
                  <a:rPr lang="en-US" altLang="zh-CN" kern="100" dirty="0">
                    <a:effectLst/>
                    <a:latin typeface="微软雅黑" panose="020B0503020204020204" pitchFamily="34" charset="-122"/>
                    <a:cs typeface="宋体" panose="02010600030101010101" pitchFamily="2" charset="-122"/>
                  </a:rPr>
                  <a:t>(1) 0-1</a:t>
                </a:r>
                <a:r>
                  <a:rPr lang="zh-CN" altLang="zh-CN" kern="100" dirty="0">
                    <a:effectLst/>
                    <a:latin typeface="微软雅黑" panose="020B0503020204020204" pitchFamily="34" charset="-122"/>
                    <a:cs typeface="宋体" panose="02010600030101010101" pitchFamily="2" charset="-122"/>
                  </a:rPr>
                  <a:t>分布</a:t>
                </a:r>
                <a:r>
                  <a:rPr lang="en-US" altLang="zh-CN"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e>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p>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e>
                      <m:sup>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p>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oMath>
                </a14:m>
                <a:r>
                  <a:rPr lang="en-US" altLang="zh-CN" kern="100" dirty="0">
                    <a:effectLst/>
                    <a:latin typeface="微软雅黑" panose="020B0503020204020204" pitchFamily="34" charset="-122"/>
                    <a:cs typeface="宋体" panose="02010600030101010101" pitchFamily="2" charset="-122"/>
                  </a:rPr>
                  <a:t> </a:t>
                </a:r>
                <a:endParaRPr lang="zh-CN" altLang="zh-CN"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effectLst/>
                    <a:latin typeface="微软雅黑" panose="020B0503020204020204" pitchFamily="34" charset="-122"/>
                    <a:cs typeface="宋体" panose="02010600030101010101" pitchFamily="2" charset="-122"/>
                  </a:rPr>
                  <a:t>(2) </a:t>
                </a:r>
                <a:r>
                  <a:rPr lang="zh-CN" altLang="zh-CN" kern="100" dirty="0">
                    <a:effectLst/>
                    <a:latin typeface="微软雅黑" panose="020B0503020204020204" pitchFamily="34" charset="-122"/>
                    <a:cs typeface="宋体" panose="02010600030101010101" pitchFamily="2" charset="-122"/>
                  </a:rPr>
                  <a:t>二项分布</a:t>
                </a:r>
                <a:r>
                  <a:rPr lang="en-US" altLang="zh-CN"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宋体" panose="02010600030101010101" pitchFamily="2" charset="-122"/>
                      </a:rPr>
                      <m:t>𝐵</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kern="100" dirty="0">
                    <a:effectLst/>
                    <a:latin typeface="微软雅黑" panose="020B0503020204020204" pitchFamily="34" charset="-122"/>
                    <a:cs typeface="宋体" panose="02010600030101010101" pitchFamily="2" charset="-122"/>
                  </a:rPr>
                  <a:t>：</a:t>
                </a:r>
                <a:r>
                  <a:rPr lang="en-US" altLang="zh-CN"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sSubSup>
                      <m:sSub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i="1" kern="100">
                            <a:effectLst/>
                            <a:latin typeface="Cambria Math" panose="02040503050406030204" pitchFamily="18" charset="0"/>
                            <a:ea typeface="宋体" panose="02010600030101010101" pitchFamily="2" charset="-122"/>
                            <a:cs typeface="宋体" panose="02010600030101010101" pitchFamily="2" charset="-122"/>
                          </a:rPr>
                          <m:t>𝐶</m:t>
                        </m:r>
                      </m:e>
                      <m:sub>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𝑛</m:t>
                        </m:r>
                      </m:sub>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bSup>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e>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p>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e>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𝑛</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p>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𝑛</m:t>
                    </m:r>
                  </m:oMath>
                </a14:m>
                <a:r>
                  <a:rPr lang="en-US" altLang="zh-CN" kern="100" dirty="0">
                    <a:effectLst/>
                    <a:latin typeface="微软雅黑" panose="020B0503020204020204" pitchFamily="34" charset="-122"/>
                    <a:cs typeface="宋体" panose="02010600030101010101" pitchFamily="2" charset="-122"/>
                  </a:rPr>
                  <a:t> </a:t>
                </a:r>
                <a:endParaRPr lang="zh-CN" altLang="zh-CN"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effectLst/>
                    <a:latin typeface="微软雅黑" panose="020B0503020204020204" pitchFamily="34" charset="-122"/>
                    <a:cs typeface="宋体" panose="02010600030101010101" pitchFamily="2" charset="-122"/>
                  </a:rPr>
                  <a:t>(3)</a:t>
                </a:r>
                <a:r>
                  <a:rPr lang="en-US" altLang="zh-CN" b="1" kern="100" dirty="0">
                    <a:effectLst/>
                    <a:latin typeface="微软雅黑" panose="020B0503020204020204" pitchFamily="34" charset="-122"/>
                    <a:cs typeface="宋体" panose="02010600030101010101" pitchFamily="2" charset="-122"/>
                  </a:rPr>
                  <a:t> Poisson</a:t>
                </a:r>
                <a:r>
                  <a:rPr lang="zh-CN" altLang="zh-CN" kern="100" dirty="0">
                    <a:effectLst/>
                    <a:latin typeface="微软雅黑" panose="020B0503020204020204" pitchFamily="34" charset="-122"/>
                    <a:cs typeface="宋体" panose="02010600030101010101" pitchFamily="2" charset="-122"/>
                  </a:rPr>
                  <a:t>分布</a:t>
                </a:r>
                <a:r>
                  <a:rPr lang="en-US" altLang="zh-CN" kern="100" dirty="0">
                    <a:effectLst/>
                    <a:latin typeface="微软雅黑" panose="020B0503020204020204" pitchFamily="34" charset="-122"/>
                    <a:cs typeface="宋体" panose="02010600030101010101" pitchFamily="2" charset="-122"/>
                  </a:rPr>
                  <a:t>:</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𝑝</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𝜆</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kern="100" dirty="0">
                    <a:effectLst/>
                    <a:latin typeface="微软雅黑" panose="020B0503020204020204" pitchFamily="34" charset="-122"/>
                    <a:cs typeface="宋体" panose="02010600030101010101" pitchFamily="2" charset="-122"/>
                  </a:rPr>
                  <a:t>：</a:t>
                </a:r>
                <a:r>
                  <a:rPr lang="en-US" altLang="zh-CN" kern="100" dirty="0">
                    <a:effectLst/>
                    <a:latin typeface="微软雅黑" panose="020B0503020204020204" pitchFamily="34" charset="-122"/>
                    <a:cs typeface="宋体" panose="02010600030101010101" pitchFamily="2" charset="-122"/>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𝑃</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f>
                      <m:f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fPr>
                      <m:num>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effectLst/>
                                <a:latin typeface="Cambria Math" panose="02040503050406030204" pitchFamily="18" charset="0"/>
                                <a:ea typeface="宋体" panose="02010600030101010101" pitchFamily="2" charset="-122"/>
                                <a:cs typeface="宋体" panose="02010600030101010101" pitchFamily="2" charset="-122"/>
                              </a:rPr>
                              <m:t>𝜆</m:t>
                            </m:r>
                          </m:e>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sup>
                        </m:sSup>
                      </m:num>
                      <m:den>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den>
                    </m:f>
                    <m:sSup>
                      <m:sSupPr>
                        <m:ctrlPr>
                          <a:rPr lang="zh-CN" altLang="zh-CN"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𝑒</m:t>
                        </m:r>
                      </m:e>
                      <m:sup>
                        <m:r>
                          <a:rPr lang="en-US" altLang="zh-CN"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𝜆</m:t>
                        </m:r>
                      </m:sup>
                    </m:sSup>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𝜆</m:t>
                    </m:r>
                    <m:r>
                      <a:rPr lang="en-US" altLang="zh-CN" kern="100">
                        <a:effectLst/>
                        <a:latin typeface="Cambria Math" panose="02040503050406030204" pitchFamily="18" charset="0"/>
                        <a:ea typeface="宋体" panose="02010600030101010101" pitchFamily="2" charset="-122"/>
                        <a:cs typeface="宋体" panose="02010600030101010101" pitchFamily="2" charset="-122"/>
                      </a:rPr>
                      <m:t>&gt;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i="1" kern="100">
                        <a:effectLst/>
                        <a:latin typeface="Cambria Math" panose="02040503050406030204" pitchFamily="18" charset="0"/>
                        <a:ea typeface="宋体" panose="02010600030101010101" pitchFamily="2" charset="-122"/>
                        <a:cs typeface="宋体" panose="02010600030101010101" pitchFamily="2" charset="-122"/>
                      </a:rPr>
                      <m:t>𝑘</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0</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1</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kern="100">
                        <a:effectLst/>
                        <a:latin typeface="Cambria Math" panose="02040503050406030204" pitchFamily="18" charset="0"/>
                        <a:ea typeface="宋体" panose="02010600030101010101" pitchFamily="2" charset="-122"/>
                        <a:cs typeface="宋体" panose="02010600030101010101" pitchFamily="2" charset="-122"/>
                      </a:rPr>
                      <m:t>2</m:t>
                    </m:r>
                    <m:r>
                      <a:rPr lang="en-US" altLang="zh-CN"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kern="100" dirty="0">
                    <a:effectLst/>
                    <a:latin typeface="微软雅黑" panose="020B0503020204020204" pitchFamily="34" charset="-122"/>
                    <a:cs typeface="宋体" panose="02010600030101010101" pitchFamily="2" charset="-122"/>
                  </a:rPr>
                  <a:t> </a:t>
                </a:r>
                <a:endParaRPr lang="zh-CN" altLang="zh-CN" kern="100" dirty="0">
                  <a:effectLst/>
                  <a:latin typeface="微软雅黑" panose="020B0503020204020204" pitchFamily="34" charset="-122"/>
                  <a:cs typeface="宋体" panose="02010600030101010101" pitchFamily="2" charset="-122"/>
                </a:endParaRPr>
              </a:p>
            </p:txBody>
          </p:sp>
        </mc:Choice>
        <mc:Fallback>
          <p:sp>
            <p:nvSpPr>
              <p:cNvPr id="2" name="矩形 1"/>
              <p:cNvSpPr>
                <a:spLocks noRot="1" noChangeAspect="1" noMove="1" noResize="1" noEditPoints="1" noAdjustHandles="1" noChangeArrowheads="1" noChangeShapeType="1" noTextEdit="1"/>
              </p:cNvSpPr>
              <p:nvPr/>
            </p:nvSpPr>
            <p:spPr>
              <a:xfrm>
                <a:off x="1338238" y="1777733"/>
                <a:ext cx="9795547" cy="2573333"/>
              </a:xfrm>
              <a:prstGeom prst="rect">
                <a:avLst/>
              </a:prstGeom>
              <a:blipFill rotWithShape="1">
                <a:blip r:embed="rId1"/>
                <a:stretch>
                  <a:fillRect l="-3" t="-14" r="3"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619796" y="4818459"/>
                <a:ext cx="5884709" cy="646331"/>
              </a:xfrm>
              <a:prstGeom prst="rect">
                <a:avLst/>
              </a:prstGeom>
              <a:noFill/>
            </p:spPr>
            <p:txBody>
              <a:bodyPr wrap="square" rtlCol="0">
                <a:spAutoFit/>
              </a:bodyPr>
              <a:lstStyle/>
              <a:p>
                <a:r>
                  <a:rPr lang="en-US" altLang="zh-CN" b="1" kern="100" dirty="0">
                    <a:solidFill>
                      <a:srgbClr val="FF0000"/>
                    </a:solidFill>
                    <a:latin typeface="微软雅黑" panose="020B0503020204020204" pitchFamily="34" charset="-122"/>
                    <a:cs typeface="宋体" panose="02010600030101010101" pitchFamily="2" charset="-122"/>
                  </a:rPr>
                  <a:t>Poisson</a:t>
                </a:r>
                <a:r>
                  <a:rPr lang="zh-CN" altLang="zh-CN" kern="100" dirty="0">
                    <a:solidFill>
                      <a:srgbClr val="FF0000"/>
                    </a:solidFill>
                    <a:latin typeface="微软雅黑" panose="020B0503020204020204" pitchFamily="34" charset="-122"/>
                    <a:cs typeface="宋体" panose="02010600030101010101" pitchFamily="2" charset="-122"/>
                  </a:rPr>
                  <a:t>分布</a:t>
                </a:r>
                <a:r>
                  <a:rPr lang="zh-CN" altLang="en-US" kern="100" dirty="0">
                    <a:solidFill>
                      <a:srgbClr val="FF0000"/>
                    </a:solidFill>
                    <a:latin typeface="微软雅黑" panose="020B0503020204020204" pitchFamily="34" charset="-122"/>
                    <a:cs typeface="宋体" panose="02010600030101010101" pitchFamily="2" charset="-122"/>
                  </a:rPr>
                  <a:t>的期望和方差都等于参数</a:t>
                </a:r>
                <a14:m>
                  <m:oMath xmlns:m="http://schemas.openxmlformats.org/officeDocument/2006/math">
                    <m:r>
                      <a:rPr lang="en-US" altLang="zh-CN" i="1" kern="100">
                        <a:solidFill>
                          <a:srgbClr val="FF0000"/>
                        </a:solidFill>
                        <a:latin typeface="Cambria Math" panose="02040503050406030204" pitchFamily="18" charset="0"/>
                        <a:ea typeface="宋体" panose="02010600030101010101" pitchFamily="2" charset="-122"/>
                        <a:cs typeface="宋体" panose="02010600030101010101" pitchFamily="2" charset="-122"/>
                      </a:rPr>
                      <m:t>𝜆</m:t>
                    </m:r>
                  </m:oMath>
                </a14:m>
                <a:endParaRPr lang="en-US" altLang="zh-CN" kern="100" dirty="0">
                  <a:solidFill>
                    <a:srgbClr val="FF0000"/>
                  </a:solidFill>
                  <a:latin typeface="微软雅黑" panose="020B0503020204020204" pitchFamily="34" charset="-122"/>
                  <a:cs typeface="宋体" panose="02010600030101010101" pitchFamily="2" charset="-122"/>
                </a:endParaRPr>
              </a:p>
              <a:p>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2619796" y="4818459"/>
                <a:ext cx="5884709" cy="646331"/>
              </a:xfrm>
              <a:prstGeom prst="rect">
                <a:avLst/>
              </a:prstGeom>
              <a:blipFill rotWithShape="1">
                <a:blip r:embed="rId2"/>
                <a:stretch>
                  <a:fillRect l="-7" t="-12" r="10" b="-20242"/>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72149" y="25591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r>
              <a:rPr lang="en-US" altLang="zh-CN" dirty="0"/>
              <a:t>-</a:t>
            </a:r>
            <a:r>
              <a:rPr lang="zh-CN" altLang="en-US" dirty="0"/>
              <a:t>常见分布</a:t>
            </a:r>
            <a:br>
              <a:rPr lang="zh-CN" altLang="en-US" dirty="0"/>
            </a:br>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958313" y="1456247"/>
                <a:ext cx="10379740" cy="3605218"/>
              </a:xfrm>
              <a:prstGeom prst="rect">
                <a:avLst/>
              </a:prstGeom>
            </p:spPr>
            <p:txBody>
              <a:bodyPr wrap="square">
                <a:spAutoFit/>
              </a:bodyPr>
              <a:lstStyle/>
              <a:p>
                <a:pPr>
                  <a:lnSpc>
                    <a:spcPct val="150000"/>
                  </a:lnSpc>
                  <a:spcBef>
                    <a:spcPts val="900"/>
                  </a:spcBef>
                  <a:spcAft>
                    <a:spcPts val="900"/>
                  </a:spcAft>
                </a:pPr>
                <a:r>
                  <a:rPr lang="en-US" altLang="zh-CN" kern="100" dirty="0">
                    <a:latin typeface="微软雅黑" panose="020B0503020204020204" pitchFamily="34" charset="-122"/>
                    <a:cs typeface="宋体" panose="02010600030101010101" pitchFamily="2" charset="-122"/>
                  </a:rPr>
                  <a:t>(4) </a:t>
                </a:r>
                <a:r>
                  <a:rPr lang="zh-CN" altLang="zh-CN" kern="100" dirty="0">
                    <a:latin typeface="微软雅黑" panose="020B0503020204020204" pitchFamily="34" charset="-122"/>
                    <a:cs typeface="宋体" panose="02010600030101010101" pitchFamily="2" charset="-122"/>
                  </a:rPr>
                  <a:t>均匀分布</a:t>
                </a:r>
                <a14:m>
                  <m:oMath xmlns:m="http://schemas.openxmlformats.org/officeDocument/2006/math">
                    <m:r>
                      <a:rPr lang="en-US" altLang="zh-CN" i="1" kern="100">
                        <a:latin typeface="Cambria Math" panose="02040503050406030204" pitchFamily="18" charset="0"/>
                        <a:ea typeface="宋体" panose="02010600030101010101" pitchFamily="2" charset="-122"/>
                        <a:cs typeface="宋体" panose="02010600030101010101" pitchFamily="2" charset="-122"/>
                      </a:rPr>
                      <m:t>𝑈</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𝑎</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𝑏</m:t>
                    </m:r>
                    <m:r>
                      <a:rPr lang="en-US" altLang="zh-CN" kern="100">
                        <a:latin typeface="Cambria Math" panose="02040503050406030204" pitchFamily="18" charset="0"/>
                        <a:ea typeface="宋体" panose="02010600030101010101" pitchFamily="2" charset="-122"/>
                        <a:cs typeface="宋体" panose="02010600030101010101" pitchFamily="2" charset="-122"/>
                      </a:rPr>
                      <m:t>)</m:t>
                    </m:r>
                  </m:oMath>
                </a14:m>
                <a:r>
                  <a:rPr lang="zh-CN" altLang="zh-CN" kern="100" dirty="0">
                    <a:latin typeface="微软雅黑" panose="020B0503020204020204" pitchFamily="34" charset="-122"/>
                    <a:cs typeface="宋体" panose="02010600030101010101" pitchFamily="2" charset="-122"/>
                  </a:rPr>
                  <a:t>：</a:t>
                </a:r>
                <a14:m>
                  <m:oMath xmlns:m="http://schemas.openxmlformats.org/officeDocument/2006/math">
                    <m:r>
                      <a:rPr lang="en-US" altLang="zh-CN" i="1" kern="100">
                        <a:latin typeface="Cambria Math" panose="02040503050406030204" pitchFamily="18" charset="0"/>
                        <a:ea typeface="宋体" panose="02010600030101010101" pitchFamily="2" charset="-122"/>
                        <a:cs typeface="宋体" panose="02010600030101010101" pitchFamily="2" charset="-122"/>
                      </a:rPr>
                      <m:t>𝑓</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𝑥</m:t>
                    </m:r>
                    <m:r>
                      <a:rPr lang="en-US" altLang="zh-CN" kern="100">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mPr>
                          <m:mr>
                            <m:e/>
                            <m:e>
                              <m:f>
                                <m:fPr>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fPr>
                                <m:num>
                                  <m:r>
                                    <a:rPr lang="en-US" altLang="zh-CN" kern="100">
                                      <a:latin typeface="Cambria Math" panose="02040503050406030204" pitchFamily="18" charset="0"/>
                                      <a:ea typeface="宋体" panose="02010600030101010101" pitchFamily="2" charset="-122"/>
                                      <a:cs typeface="宋体" panose="02010600030101010101" pitchFamily="2" charset="-122"/>
                                    </a:rPr>
                                    <m:t>1</m:t>
                                  </m:r>
                                </m:num>
                                <m:den>
                                  <m:r>
                                    <a:rPr lang="en-US" altLang="zh-CN" i="1" kern="100">
                                      <a:latin typeface="Cambria Math" panose="02040503050406030204" pitchFamily="18" charset="0"/>
                                      <a:ea typeface="宋体" panose="02010600030101010101" pitchFamily="2" charset="-122"/>
                                      <a:cs typeface="宋体" panose="02010600030101010101" pitchFamily="2" charset="-122"/>
                                    </a:rPr>
                                    <m:t>𝑏</m:t>
                                  </m:r>
                                  <m:r>
                                    <a:rPr lang="en-US" altLang="zh-CN" i="1"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𝑎</m:t>
                                  </m:r>
                                </m:den>
                              </m:f>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𝑎</m:t>
                              </m:r>
                              <m:r>
                                <a:rPr lang="en-US" altLang="zh-CN" kern="100">
                                  <a:latin typeface="Cambria Math" panose="02040503050406030204" pitchFamily="18" charset="0"/>
                                  <a:ea typeface="宋体" panose="02010600030101010101" pitchFamily="2" charset="-122"/>
                                  <a:cs typeface="宋体" panose="02010600030101010101" pitchFamily="2" charset="-122"/>
                                </a:rPr>
                                <m:t>&lt;</m:t>
                              </m:r>
                              <m:r>
                                <a:rPr lang="en-US" altLang="zh-CN" i="1" kern="100">
                                  <a:latin typeface="Cambria Math" panose="02040503050406030204" pitchFamily="18" charset="0"/>
                                  <a:ea typeface="宋体" panose="02010600030101010101" pitchFamily="2" charset="-122"/>
                                  <a:cs typeface="宋体" panose="02010600030101010101" pitchFamily="2" charset="-122"/>
                                </a:rPr>
                                <m:t>𝑥</m:t>
                              </m:r>
                              <m:r>
                                <a:rPr lang="en-US" altLang="zh-CN" kern="100">
                                  <a:latin typeface="Cambria Math" panose="02040503050406030204" pitchFamily="18" charset="0"/>
                                  <a:ea typeface="宋体" panose="02010600030101010101" pitchFamily="2" charset="-122"/>
                                  <a:cs typeface="宋体" panose="02010600030101010101" pitchFamily="2" charset="-122"/>
                                </a:rPr>
                                <m:t>&lt;</m:t>
                              </m:r>
                              <m:r>
                                <a:rPr lang="en-US" altLang="zh-CN" i="1" kern="100">
                                  <a:latin typeface="Cambria Math" panose="02040503050406030204" pitchFamily="18" charset="0"/>
                                  <a:ea typeface="宋体" panose="02010600030101010101" pitchFamily="2" charset="-122"/>
                                  <a:cs typeface="宋体" panose="02010600030101010101" pitchFamily="2" charset="-122"/>
                                </a:rPr>
                                <m:t>𝑏</m:t>
                              </m:r>
                            </m:e>
                          </m:mr>
                          <m:mr>
                            <m:e/>
                            <m:e>
                              <m:r>
                                <a:rPr lang="en-US" altLang="zh-CN" kern="100">
                                  <a:latin typeface="Cambria Math" panose="02040503050406030204" pitchFamily="18" charset="0"/>
                                  <a:ea typeface="宋体" panose="02010600030101010101" pitchFamily="2" charset="-122"/>
                                  <a:cs typeface="宋体" panose="02010600030101010101" pitchFamily="2" charset="-122"/>
                                </a:rPr>
                                <m:t>0</m:t>
                              </m:r>
                              <m:r>
                                <a:rPr lang="en-US" altLang="zh-CN" kern="100">
                                  <a:latin typeface="Cambria Math" panose="02040503050406030204" pitchFamily="18" charset="0"/>
                                  <a:ea typeface="宋体" panose="02010600030101010101" pitchFamily="2" charset="-122"/>
                                  <a:cs typeface="宋体" panose="02010600030101010101" pitchFamily="2" charset="-122"/>
                                </a:rPr>
                                <m:t>,</m:t>
                              </m:r>
                            </m:e>
                          </m:mr>
                        </m:m>
                      </m:e>
                    </m:d>
                  </m:oMath>
                </a14:m>
                <a:r>
                  <a:rPr lang="en-US" altLang="zh-CN" kern="100" dirty="0">
                    <a:latin typeface="微软雅黑" panose="020B0503020204020204" pitchFamily="34" charset="-122"/>
                    <a:cs typeface="宋体" panose="02010600030101010101" pitchFamily="2" charset="-122"/>
                  </a:rPr>
                  <a:t> </a:t>
                </a:r>
                <a:endParaRPr lang="zh-CN" altLang="zh-CN" kern="100" dirty="0">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latin typeface="微软雅黑" panose="020B0503020204020204" pitchFamily="34" charset="-122"/>
                    <a:cs typeface="宋体" panose="02010600030101010101" pitchFamily="2" charset="-122"/>
                  </a:rPr>
                  <a:t>(5) </a:t>
                </a:r>
                <a:r>
                  <a:rPr lang="zh-CN" altLang="zh-CN" kern="100" dirty="0">
                    <a:latin typeface="微软雅黑" panose="020B0503020204020204" pitchFamily="34" charset="-122"/>
                    <a:cs typeface="宋体" panose="02010600030101010101" pitchFamily="2" charset="-122"/>
                  </a:rPr>
                  <a:t>正态分布</a:t>
                </a:r>
                <a:r>
                  <a:rPr lang="en-US" altLang="zh-CN" kern="100" dirty="0">
                    <a:latin typeface="微软雅黑" panose="020B0503020204020204" pitchFamily="34" charset="-122"/>
                    <a:cs typeface="宋体" panose="02010600030101010101" pitchFamily="2" charset="-122"/>
                  </a:rPr>
                  <a:t>:</a:t>
                </a:r>
                <a14:m>
                  <m:oMath xmlns:m="http://schemas.openxmlformats.org/officeDocument/2006/math">
                    <m:r>
                      <a:rPr lang="en-US" altLang="zh-CN" i="1" kern="100">
                        <a:latin typeface="Cambria Math" panose="02040503050406030204" pitchFamily="18" charset="0"/>
                        <a:ea typeface="宋体" panose="02010600030101010101" pitchFamily="2" charset="-122"/>
                        <a:cs typeface="宋体" panose="02010600030101010101" pitchFamily="2" charset="-122"/>
                      </a:rPr>
                      <m:t>𝑁</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𝜇</m:t>
                    </m:r>
                    <m:r>
                      <a:rPr lang="en-US" altLang="zh-CN" kern="100">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latin typeface="Cambria Math" panose="02040503050406030204" pitchFamily="18" charset="0"/>
                            <a:ea typeface="宋体" panose="02010600030101010101" pitchFamily="2" charset="-122"/>
                            <a:cs typeface="宋体" panose="02010600030101010101" pitchFamily="2" charset="-122"/>
                          </a:rPr>
                          <m:t>𝜎</m:t>
                        </m:r>
                      </m:e>
                      <m:sup>
                        <m:r>
                          <a:rPr lang="en-US" altLang="zh-CN" kern="100">
                            <a:latin typeface="Cambria Math" panose="02040503050406030204" pitchFamily="18" charset="0"/>
                            <a:ea typeface="宋体" panose="02010600030101010101" pitchFamily="2" charset="-122"/>
                            <a:cs typeface="宋体" panose="02010600030101010101" pitchFamily="2" charset="-122"/>
                          </a:rPr>
                          <m:t>2</m:t>
                        </m:r>
                      </m:sup>
                    </m:sSup>
                    <m:r>
                      <a:rPr lang="en-US" altLang="zh-CN" kern="100">
                        <a:latin typeface="Cambria Math" panose="02040503050406030204" pitchFamily="18" charset="0"/>
                        <a:ea typeface="宋体" panose="02010600030101010101" pitchFamily="2" charset="-122"/>
                        <a:cs typeface="宋体" panose="02010600030101010101" pitchFamily="2" charset="-122"/>
                      </a:rPr>
                      <m:t>):</m:t>
                    </m:r>
                  </m:oMath>
                </a14:m>
                <a:r>
                  <a:rPr lang="en-US" altLang="zh-CN" kern="100" dirty="0">
                    <a:latin typeface="微软雅黑" panose="020B0503020204020204" pitchFamily="34" charset="-122"/>
                    <a:cs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宋体" panose="02010600030101010101" pitchFamily="2" charset="-122"/>
                      </a:rPr>
                      <m:t>𝜑</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kern="100">
                            <a:latin typeface="Cambria Math" panose="02040503050406030204" pitchFamily="18" charset="0"/>
                            <a:ea typeface="宋体" panose="02010600030101010101" pitchFamily="2" charset="-122"/>
                            <a:cs typeface="宋体" panose="02010600030101010101" pitchFamily="2" charset="-122"/>
                          </a:rPr>
                          <m:t>1</m:t>
                        </m:r>
                      </m:num>
                      <m:den>
                        <m:rad>
                          <m:radPr>
                            <m:degHide m:val="on"/>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400" kern="100">
                                <a:latin typeface="Cambria Math" panose="02040503050406030204" pitchFamily="18" charset="0"/>
                                <a:ea typeface="宋体" panose="02010600030101010101" pitchFamily="2" charset="-122"/>
                                <a:cs typeface="宋体" panose="02010600030101010101" pitchFamily="2" charset="-122"/>
                              </a:rPr>
                              <m:t>2</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𝜋</m:t>
                            </m:r>
                          </m:e>
                        </m:rad>
                        <m:r>
                          <a:rPr lang="en-US" altLang="zh-CN" sz="2400" i="1" kern="100">
                            <a:latin typeface="Cambria Math" panose="02040503050406030204" pitchFamily="18" charset="0"/>
                            <a:ea typeface="宋体" panose="02010600030101010101" pitchFamily="2" charset="-122"/>
                            <a:cs typeface="宋体" panose="02010600030101010101" pitchFamily="2" charset="-122"/>
                          </a:rPr>
                          <m:t>𝜎</m:t>
                        </m:r>
                      </m:den>
                    </m:f>
                    <m:sSup>
                      <m:sSupPr>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latin typeface="Cambria Math" panose="02040503050406030204" pitchFamily="18" charset="0"/>
                            <a:ea typeface="宋体" panose="02010600030101010101" pitchFamily="2" charset="-122"/>
                            <a:cs typeface="宋体" panose="02010600030101010101" pitchFamily="2" charset="-122"/>
                          </a:rPr>
                          <m:t>𝑒</m:t>
                        </m:r>
                      </m:e>
                      <m:sup>
                        <m:r>
                          <a:rPr lang="en-US" altLang="zh-CN" sz="2400" i="1" kern="100">
                            <a:latin typeface="Cambria Math" panose="02040503050406030204" pitchFamily="18" charset="0"/>
                            <a:ea typeface="宋体" panose="02010600030101010101" pitchFamily="2" charset="-122"/>
                            <a:cs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fPr>
                          <m:num>
                            <m:sSup>
                              <m:sSupPr>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kern="100">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𝜇</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e>
                              <m:sup>
                                <m:r>
                                  <a:rPr lang="en-US" altLang="zh-CN" sz="2400" kern="100">
                                    <a:latin typeface="Cambria Math" panose="02040503050406030204" pitchFamily="18" charset="0"/>
                                    <a:ea typeface="宋体" panose="02010600030101010101" pitchFamily="2" charset="-122"/>
                                    <a:cs typeface="宋体" panose="02010600030101010101" pitchFamily="2" charset="-122"/>
                                  </a:rPr>
                                  <m:t>2</m:t>
                                </m:r>
                              </m:sup>
                            </m:sSup>
                          </m:num>
                          <m:den>
                            <m:r>
                              <a:rPr lang="en-US" altLang="zh-CN" sz="2400" kern="100">
                                <a:latin typeface="Cambria Math" panose="02040503050406030204" pitchFamily="18" charset="0"/>
                                <a:ea typeface="宋体" panose="02010600030101010101" pitchFamily="2" charset="-122"/>
                                <a:cs typeface="宋体" panose="02010600030101010101" pitchFamily="2" charset="-122"/>
                              </a:rPr>
                              <m:t>2</m:t>
                            </m:r>
                            <m:sSup>
                              <m:sSupPr>
                                <m:ctrlPr>
                                  <a:rPr lang="zh-CN" altLang="zh-CN" sz="2400"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400" i="1" kern="100">
                                    <a:latin typeface="Cambria Math" panose="02040503050406030204" pitchFamily="18" charset="0"/>
                                    <a:ea typeface="宋体" panose="02010600030101010101" pitchFamily="2" charset="-122"/>
                                    <a:cs typeface="宋体" panose="02010600030101010101" pitchFamily="2" charset="-122"/>
                                  </a:rPr>
                                  <m:t>𝜎</m:t>
                                </m:r>
                              </m:e>
                              <m:sup>
                                <m:r>
                                  <a:rPr lang="en-US" altLang="zh-CN" sz="2400" kern="100">
                                    <a:latin typeface="Cambria Math" panose="02040503050406030204" pitchFamily="18" charset="0"/>
                                    <a:ea typeface="宋体" panose="02010600030101010101" pitchFamily="2" charset="-122"/>
                                    <a:cs typeface="宋体" panose="02010600030101010101" pitchFamily="2" charset="-122"/>
                                  </a:rPr>
                                  <m:t>2</m:t>
                                </m:r>
                              </m:sup>
                            </m:sSup>
                          </m:den>
                        </m:f>
                      </m:sup>
                    </m:sSup>
                    <m:r>
                      <a:rPr lang="en-US" altLang="zh-CN" sz="2400" kern="100">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𝜎</m:t>
                    </m:r>
                    <m:r>
                      <a:rPr lang="en-US" altLang="zh-CN" sz="2400" kern="100">
                        <a:latin typeface="Cambria Math" panose="02040503050406030204" pitchFamily="18" charset="0"/>
                        <a:ea typeface="宋体" panose="02010600030101010101" pitchFamily="2" charset="-122"/>
                        <a:cs typeface="宋体" panose="02010600030101010101" pitchFamily="2" charset="-122"/>
                      </a:rPr>
                      <m:t>&gt;</m:t>
                    </m:r>
                    <m:r>
                      <a:rPr lang="en-US" altLang="zh-CN" sz="2400" kern="100">
                        <a:latin typeface="Cambria Math" panose="02040503050406030204" pitchFamily="18" charset="0"/>
                        <a:ea typeface="宋体" panose="02010600030101010101" pitchFamily="2" charset="-122"/>
                        <a:cs typeface="宋体" panose="02010600030101010101" pitchFamily="2" charset="-122"/>
                      </a:rPr>
                      <m:t>0</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宋体" panose="02010600030101010101" pitchFamily="2" charset="-122"/>
                      </a:rPr>
                      <m:t>−</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r>
                      <a:rPr lang="en-US" altLang="zh-CN" sz="2400" kern="100">
                        <a:latin typeface="Cambria Math" panose="02040503050406030204" pitchFamily="18" charset="0"/>
                        <a:ea typeface="宋体" panose="02010600030101010101" pitchFamily="2" charset="-122"/>
                        <a:cs typeface="宋体" panose="02010600030101010101" pitchFamily="2" charset="-122"/>
                      </a:rPr>
                      <m:t>&lt;</m:t>
                    </m:r>
                    <m:r>
                      <a:rPr lang="en-US" altLang="zh-CN" sz="2400" i="1" kern="100">
                        <a:latin typeface="Cambria Math" panose="02040503050406030204" pitchFamily="18" charset="0"/>
                        <a:ea typeface="宋体" panose="02010600030101010101" pitchFamily="2" charset="-122"/>
                        <a:cs typeface="宋体" panose="02010600030101010101" pitchFamily="2" charset="-122"/>
                      </a:rPr>
                      <m:t>𝑥</m:t>
                    </m:r>
                    <m:r>
                      <a:rPr lang="en-US" altLang="zh-CN" sz="2400" kern="100">
                        <a:latin typeface="Cambria Math" panose="02040503050406030204" pitchFamily="18" charset="0"/>
                        <a:ea typeface="宋体" panose="02010600030101010101" pitchFamily="2" charset="-122"/>
                        <a:cs typeface="宋体" panose="02010600030101010101" pitchFamily="2" charset="-122"/>
                      </a:rPr>
                      <m:t>&lt;+</m:t>
                    </m:r>
                    <m:r>
                      <a:rPr lang="en-US" altLang="zh-CN" sz="2400" kern="100">
                        <a:latin typeface="Cambria Math" panose="02040503050406030204" pitchFamily="18" charset="0"/>
                        <a:ea typeface="宋体" panose="02010600030101010101" pitchFamily="2" charset="-122"/>
                        <a:cs typeface="宋体" panose="02010600030101010101" pitchFamily="2" charset="-122"/>
                      </a:rPr>
                      <m:t>∞</m:t>
                    </m:r>
                  </m:oMath>
                </a14:m>
                <a:r>
                  <a:rPr lang="en-US" altLang="zh-CN" kern="100" dirty="0">
                    <a:latin typeface="微软雅黑" panose="020B0503020204020204" pitchFamily="34" charset="-122"/>
                    <a:cs typeface="宋体" panose="02010600030101010101" pitchFamily="2" charset="-122"/>
                  </a:rPr>
                  <a:t> </a:t>
                </a:r>
                <a:endParaRPr lang="zh-CN" altLang="zh-CN" kern="100" dirty="0">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kern="100" dirty="0">
                    <a:latin typeface="微软雅黑" panose="020B0503020204020204" pitchFamily="34" charset="-122"/>
                    <a:cs typeface="宋体" panose="02010600030101010101" pitchFamily="2" charset="-122"/>
                  </a:rPr>
                  <a:t>(6)</a:t>
                </a:r>
                <a:r>
                  <a:rPr lang="zh-CN" altLang="zh-CN" kern="100" dirty="0">
                    <a:latin typeface="微软雅黑" panose="020B0503020204020204" pitchFamily="34" charset="-122"/>
                    <a:cs typeface="宋体" panose="02010600030101010101" pitchFamily="2" charset="-122"/>
                  </a:rPr>
                  <a:t>指数分布</a:t>
                </a:r>
                <a:r>
                  <a:rPr lang="en-US" altLang="zh-CN" kern="100" dirty="0">
                    <a:latin typeface="微软雅黑" panose="020B0503020204020204" pitchFamily="34" charset="-122"/>
                    <a:cs typeface="宋体" panose="02010600030101010101" pitchFamily="2" charset="-122"/>
                  </a:rPr>
                  <a:t>:</a:t>
                </a:r>
                <a14:m>
                  <m:oMath xmlns:m="http://schemas.openxmlformats.org/officeDocument/2006/math">
                    <m:r>
                      <a:rPr lang="en-US" altLang="zh-CN" i="1" kern="100">
                        <a:latin typeface="Cambria Math" panose="02040503050406030204" pitchFamily="18" charset="0"/>
                        <a:ea typeface="宋体" panose="02010600030101010101" pitchFamily="2" charset="-122"/>
                        <a:cs typeface="宋体" panose="02010600030101010101" pitchFamily="2" charset="-122"/>
                      </a:rPr>
                      <m:t>𝐸</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𝜆</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𝑓</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𝑥</m:t>
                    </m:r>
                    <m:r>
                      <a:rPr lang="en-US" altLang="zh-CN" kern="100">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mPr>
                          <m:mr>
                            <m:e/>
                            <m:e>
                              <m:r>
                                <a:rPr lang="en-US" altLang="zh-CN" i="1" kern="100">
                                  <a:latin typeface="Cambria Math" panose="02040503050406030204" pitchFamily="18" charset="0"/>
                                  <a:ea typeface="宋体" panose="02010600030101010101" pitchFamily="2" charset="-122"/>
                                  <a:cs typeface="宋体" panose="02010600030101010101" pitchFamily="2" charset="-122"/>
                                </a:rPr>
                                <m:t>𝜆</m:t>
                              </m:r>
                              <m:sSup>
                                <m:sSupPr>
                                  <m:ctrlPr>
                                    <a:rPr lang="zh-CN" altLang="zh-CN" i="1" kern="100">
                                      <a:latin typeface="Cambria Math" panose="02040503050406030204" pitchFamily="18" charset="0"/>
                                      <a:ea typeface="Cambria Math" panose="02040503050406030204" pitchFamily="18" charset="0"/>
                                      <a:cs typeface="宋体" panose="02010600030101010101" pitchFamily="2" charset="-122"/>
                                    </a:rPr>
                                  </m:ctrlPr>
                                </m:sSupPr>
                                <m:e>
                                  <m:r>
                                    <a:rPr lang="en-US" altLang="zh-CN" i="1" kern="100">
                                      <a:latin typeface="Cambria Math" panose="02040503050406030204" pitchFamily="18" charset="0"/>
                                      <a:ea typeface="宋体" panose="02010600030101010101" pitchFamily="2" charset="-122"/>
                                      <a:cs typeface="宋体" panose="02010600030101010101" pitchFamily="2" charset="-122"/>
                                    </a:rPr>
                                    <m:t>𝑒</m:t>
                                  </m:r>
                                </m:e>
                                <m:sup>
                                  <m:r>
                                    <a:rPr lang="en-US" altLang="zh-CN" i="1"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𝜆</m:t>
                                  </m:r>
                                  <m:r>
                                    <a:rPr lang="en-US" altLang="zh-CN" i="1" kern="100">
                                      <a:latin typeface="Cambria Math" panose="02040503050406030204" pitchFamily="18" charset="0"/>
                                      <a:ea typeface="宋体" panose="02010600030101010101" pitchFamily="2" charset="-122"/>
                                      <a:cs typeface="宋体" panose="02010600030101010101" pitchFamily="2" charset="-122"/>
                                    </a:rPr>
                                    <m:t>𝑥</m:t>
                                  </m:r>
                                </m:sup>
                              </m:sSup>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𝑥</m:t>
                              </m:r>
                              <m:r>
                                <a:rPr lang="en-US" altLang="zh-CN" kern="100">
                                  <a:latin typeface="Cambria Math" panose="02040503050406030204" pitchFamily="18" charset="0"/>
                                  <a:ea typeface="宋体" panose="02010600030101010101" pitchFamily="2" charset="-122"/>
                                  <a:cs typeface="宋体" panose="02010600030101010101" pitchFamily="2" charset="-122"/>
                                </a:rPr>
                                <m:t>&gt;</m:t>
                              </m:r>
                              <m:r>
                                <a:rPr lang="en-US" altLang="zh-CN" kern="100">
                                  <a:latin typeface="Cambria Math" panose="02040503050406030204" pitchFamily="18" charset="0"/>
                                  <a:ea typeface="宋体" panose="02010600030101010101" pitchFamily="2" charset="-122"/>
                                  <a:cs typeface="宋体" panose="02010600030101010101" pitchFamily="2" charset="-122"/>
                                </a:rPr>
                                <m:t>0</m:t>
                              </m:r>
                              <m:r>
                                <a:rPr lang="en-US" altLang="zh-CN" kern="100">
                                  <a:latin typeface="Cambria Math" panose="02040503050406030204" pitchFamily="18" charset="0"/>
                                  <a:ea typeface="宋体" panose="02010600030101010101" pitchFamily="2" charset="-122"/>
                                  <a:cs typeface="宋体" panose="02010600030101010101" pitchFamily="2" charset="-122"/>
                                </a:rPr>
                                <m:t>,</m:t>
                              </m:r>
                              <m:r>
                                <a:rPr lang="en-US" altLang="zh-CN" i="1" kern="100">
                                  <a:latin typeface="Cambria Math" panose="02040503050406030204" pitchFamily="18" charset="0"/>
                                  <a:ea typeface="宋体" panose="02010600030101010101" pitchFamily="2" charset="-122"/>
                                  <a:cs typeface="宋体" panose="02010600030101010101" pitchFamily="2" charset="-122"/>
                                </a:rPr>
                                <m:t>𝜆</m:t>
                              </m:r>
                              <m:r>
                                <a:rPr lang="en-US" altLang="zh-CN" kern="100">
                                  <a:latin typeface="Cambria Math" panose="02040503050406030204" pitchFamily="18" charset="0"/>
                                  <a:ea typeface="宋体" panose="02010600030101010101" pitchFamily="2" charset="-122"/>
                                  <a:cs typeface="宋体" panose="02010600030101010101" pitchFamily="2" charset="-122"/>
                                </a:rPr>
                                <m:t>&gt;</m:t>
                              </m:r>
                              <m:r>
                                <a:rPr lang="en-US" altLang="zh-CN" kern="100">
                                  <a:latin typeface="Cambria Math" panose="02040503050406030204" pitchFamily="18" charset="0"/>
                                  <a:ea typeface="宋体" panose="02010600030101010101" pitchFamily="2" charset="-122"/>
                                  <a:cs typeface="宋体" panose="02010600030101010101" pitchFamily="2" charset="-122"/>
                                </a:rPr>
                                <m:t>0</m:t>
                              </m:r>
                            </m:e>
                          </m:mr>
                          <m:mr>
                            <m:e/>
                            <m:e>
                              <m:r>
                                <a:rPr lang="en-US" altLang="zh-CN" kern="100">
                                  <a:latin typeface="Cambria Math" panose="02040503050406030204" pitchFamily="18" charset="0"/>
                                  <a:ea typeface="宋体" panose="02010600030101010101" pitchFamily="2" charset="-122"/>
                                  <a:cs typeface="宋体" panose="02010600030101010101" pitchFamily="2" charset="-122"/>
                                </a:rPr>
                                <m:t>0</m:t>
                              </m:r>
                              <m:r>
                                <a:rPr lang="en-US" altLang="zh-CN" kern="100">
                                  <a:latin typeface="Cambria Math" panose="02040503050406030204" pitchFamily="18" charset="0"/>
                                  <a:ea typeface="宋体" panose="02010600030101010101" pitchFamily="2" charset="-122"/>
                                  <a:cs typeface="宋体" panose="02010600030101010101" pitchFamily="2" charset="-122"/>
                                </a:rPr>
                                <m:t>,</m:t>
                              </m:r>
                            </m:e>
                          </m:mr>
                        </m:m>
                      </m:e>
                    </m:d>
                  </m:oMath>
                </a14:m>
                <a:r>
                  <a:rPr lang="en-US" altLang="zh-CN" kern="100" dirty="0">
                    <a:latin typeface="微软雅黑" panose="020B0503020204020204" pitchFamily="34" charset="-122"/>
                    <a:cs typeface="宋体" panose="02010600030101010101" pitchFamily="2" charset="-122"/>
                  </a:rPr>
                  <a:t> </a:t>
                </a:r>
                <a:endParaRPr lang="zh-CN" altLang="zh-CN" kern="100" dirty="0">
                  <a:latin typeface="微软雅黑" panose="020B0503020204020204" pitchFamily="34" charset="-122"/>
                  <a:cs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958313" y="1456247"/>
                <a:ext cx="10379740" cy="3605218"/>
              </a:xfrm>
              <a:prstGeom prst="rect">
                <a:avLst/>
              </a:prstGeom>
              <a:blipFill rotWithShape="1">
                <a:blip r:embed="rId1"/>
                <a:stretch>
                  <a:fillRect l="-1" t="-5" r="1" b="-7700"/>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10785" y="295857"/>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概率论与数理统计</a:t>
            </a:r>
            <a:br>
              <a:rPr lang="zh-CN" altLang="en-US" dirty="0"/>
            </a:b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1045680" y="1228656"/>
                <a:ext cx="4871469" cy="5304081"/>
              </a:xfrm>
              <a:prstGeom prst="rect">
                <a:avLst/>
              </a:prstGeom>
            </p:spPr>
            <p:txBody>
              <a:bodyPr wrap="square">
                <a:spAutoFit/>
              </a:bodyPr>
              <a:lstStyle/>
              <a:p>
                <a:pPr>
                  <a:lnSpc>
                    <a:spcPct val="150000"/>
                  </a:lnSpc>
                  <a:spcBef>
                    <a:spcPts val="900"/>
                  </a:spcBef>
                  <a:spcAft>
                    <a:spcPts val="900"/>
                  </a:spcAft>
                </a:pPr>
                <a:r>
                  <a:rPr lang="zh-CN" altLang="zh-CN" sz="2400" b="1" kern="100" dirty="0">
                    <a:solidFill>
                      <a:srgbClr val="FF0000"/>
                    </a:solidFill>
                    <a:latin typeface="微软雅黑" panose="020B0503020204020204" pitchFamily="34" charset="-122"/>
                    <a:cs typeface="宋体" panose="02010600030101010101" pitchFamily="2" charset="-122"/>
                  </a:rPr>
                  <a:t>数学期望 </a:t>
                </a:r>
                <a:endParaRPr lang="zh-CN" altLang="zh-CN" sz="1800" kern="100" dirty="0">
                  <a:solidFill>
                    <a:srgbClr val="FF0000"/>
                  </a:solidFill>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离散型：</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𝑃</m:t>
                    </m:r>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e>
                    </m:d>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𝑝</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naryPr>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up/>
                      <m:e>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𝑝</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𝑖</m:t>
                            </m:r>
                          </m:sub>
                        </m:sSub>
                      </m:e>
                    </m:nary>
                  </m:oMath>
                </a14:m>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连续型：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𝑓</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nary>
                      <m:naryPr>
                        <m:limLoc m:val="subSup"/>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naryPr>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b>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up>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𝑥𝑓</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𝑥</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𝑑𝑥</m:t>
                        </m:r>
                      </m:e>
                    </m:nary>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zh-CN" altLang="zh-CN" sz="1800" kern="100" dirty="0">
                    <a:effectLst/>
                    <a:latin typeface="微软雅黑" panose="020B0503020204020204" pitchFamily="34" charset="-122"/>
                    <a:cs typeface="宋体" panose="02010600030101010101" pitchFamily="2" charset="-122"/>
                  </a:rPr>
                  <a:t>性质：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(1)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(2)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m:t>
                        </m:r>
                      </m:e>
                      <m: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(3) </a:t>
                </a:r>
                <a:r>
                  <a:rPr lang="zh-CN" altLang="zh-CN" sz="1800" kern="100" dirty="0">
                    <a:effectLst/>
                    <a:latin typeface="微软雅黑" panose="020B0503020204020204" pitchFamily="34" charset="-122"/>
                    <a:cs typeface="宋体" panose="02010600030101010101" pitchFamily="2" charset="-122"/>
                  </a:rPr>
                  <a:t>若</a:t>
                </a:r>
                <a14:m>
                  <m:oMath xmlns:m="http://schemas.openxmlformats.org/officeDocument/2006/math">
                    <m:r>
                      <a:rPr lang="en-US" altLang="zh-CN" sz="1800" i="1" kern="100" dirty="0" smtClean="0">
                        <a:effectLst/>
                        <a:latin typeface="Cambria Math" panose="02040503050406030204" pitchFamily="18" charset="0"/>
                        <a:cs typeface="宋体" panose="02010600030101010101" pitchFamily="2" charset="-122"/>
                      </a:rPr>
                      <m:t>𝑋</m:t>
                    </m:r>
                  </m:oMath>
                </a14:m>
                <a:r>
                  <a:rPr lang="zh-CN" altLang="zh-CN" sz="1800" kern="100" dirty="0">
                    <a:effectLst/>
                    <a:latin typeface="微软雅黑" panose="020B0503020204020204" pitchFamily="34" charset="-122"/>
                    <a:cs typeface="宋体" panose="02010600030101010101" pitchFamily="2" charset="-122"/>
                  </a:rPr>
                  <a:t>和</a:t>
                </a:r>
                <a14:m>
                  <m:oMath xmlns:m="http://schemas.openxmlformats.org/officeDocument/2006/math">
                    <m:r>
                      <a:rPr lang="en-US" altLang="zh-CN" sz="1800" i="1" kern="100" dirty="0" smtClean="0">
                        <a:effectLst/>
                        <a:latin typeface="Cambria Math" panose="02040503050406030204" pitchFamily="18" charset="0"/>
                        <a:cs typeface="宋体" panose="02010600030101010101" pitchFamily="2" charset="-122"/>
                      </a:rPr>
                      <m:t>𝑌</m:t>
                    </m:r>
                  </m:oMath>
                </a14:m>
                <a:r>
                  <a:rPr lang="zh-CN" altLang="zh-CN" sz="1800" kern="100" dirty="0">
                    <a:effectLst/>
                    <a:latin typeface="微软雅黑" panose="020B0503020204020204" pitchFamily="34" charset="-122"/>
                    <a:cs typeface="宋体" panose="02010600030101010101" pitchFamily="2" charset="-122"/>
                  </a:rPr>
                  <a:t>独立，则</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a:lnSpc>
                    <a:spcPct val="150000"/>
                  </a:lnSpc>
                  <a:spcBef>
                    <a:spcPts val="900"/>
                  </a:spcBef>
                  <a:spcAft>
                    <a:spcPts val="900"/>
                  </a:spcAft>
                </a:pPr>
                <a:r>
                  <a:rPr lang="en-US" altLang="zh-CN" sz="1800" kern="100" dirty="0">
                    <a:effectLst/>
                    <a:latin typeface="微软雅黑" panose="020B0503020204020204" pitchFamily="34" charset="-122"/>
                    <a:cs typeface="宋体" panose="02010600030101010101" pitchFamily="2" charset="-122"/>
                  </a:rPr>
                  <a:t>(4) </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d>
                          <m:dPr>
                            <m:begChr m:val="["/>
                            <m:endChr m:val="]"/>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d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e>
                        </m:d>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𝐸</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𝑌</m:t>
                        </m:r>
                      </m:e>
                      <m: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2</m:t>
                        </m:r>
                      </m:sup>
                    </m:sSup>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zh-CN" altLang="zh-CN" sz="1800" kern="100" dirty="0">
                  <a:effectLst/>
                  <a:latin typeface="微软雅黑" panose="020B0503020204020204" pitchFamily="34" charset="-122"/>
                  <a:cs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1045680" y="1228656"/>
                <a:ext cx="4871469" cy="5304081"/>
              </a:xfrm>
              <a:prstGeom prst="rect">
                <a:avLst/>
              </a:prstGeom>
              <a:blipFill rotWithShape="1">
                <a:blip r:embed="rId1"/>
                <a:stretch>
                  <a:fillRect l="-10" t="-11" r="4"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6728464" y="1330565"/>
                <a:ext cx="4095417" cy="1151405"/>
              </a:xfrm>
              <a:prstGeom prst="rect">
                <a:avLst/>
              </a:prstGeom>
            </p:spPr>
            <p:txBody>
              <a:bodyPr wrap="none">
                <a:spAutoFit/>
              </a:bodyPr>
              <a:lstStyle/>
              <a:p>
                <a:r>
                  <a:rPr lang="zh-CN" altLang="zh-CN" sz="2400" b="1" kern="100" dirty="0">
                    <a:solidFill>
                      <a:srgbClr val="FF0000"/>
                    </a:solidFill>
                    <a:latin typeface="微软雅黑" panose="020B0503020204020204" pitchFamily="34" charset="-122"/>
                    <a:cs typeface="Times New Roman" panose="02020603050405020304" pitchFamily="18" charset="0"/>
                  </a:rPr>
                  <a:t>协方差</a:t>
                </a:r>
                <a:r>
                  <a:rPr lang="zh-CN" altLang="zh-CN" sz="2400" b="1" kern="100" dirty="0">
                    <a:solidFill>
                      <a:srgbClr val="FF0000"/>
                    </a:solidFill>
                    <a:effectLst/>
                    <a:cs typeface="Times New Roman" panose="02020603050405020304" pitchFamily="18" charset="0"/>
                  </a:rPr>
                  <a:t> </a:t>
                </a:r>
                <a:r>
                  <a:rPr lang="en-US" altLang="zh-CN" sz="2400" b="1" kern="100" dirty="0">
                    <a:solidFill>
                      <a:srgbClr val="FF0000"/>
                    </a:solidFill>
                    <a:effectLst/>
                    <a:cs typeface="Times New Roman" panose="02020603050405020304" pitchFamily="18" charset="0"/>
                  </a:rPr>
                  <a:t>  </a:t>
                </a:r>
                <a:endParaRPr lang="en-US" altLang="zh-CN" sz="2400" b="1" kern="100" dirty="0">
                  <a:solidFill>
                    <a:srgbClr val="FF0000"/>
                  </a:solidFill>
                  <a:effectLst/>
                  <a:cs typeface="Times New Roman" panose="02020603050405020304" pitchFamily="18" charset="0"/>
                </a:endParaRPr>
              </a:p>
              <a:p>
                <a:endParaRPr lang="en-US" altLang="zh-CN" sz="2400" b="1" kern="100" dirty="0">
                  <a:latin typeface="微软雅黑" panose="020B0503020204020204" pitchFamily="34" charset="-122"/>
                  <a:cs typeface="Times New Roman" panose="02020603050405020304" pitchFamily="18" charset="0"/>
                </a:endParaRPr>
              </a:p>
              <a:p>
                <a:r>
                  <a:rPr lang="en-US" altLang="zh-CN" sz="1800" kern="100" dirty="0">
                    <a:effectLst/>
                    <a:latin typeface="微软雅黑" panose="020B0503020204020204" pitchFamily="34" charset="-122"/>
                    <a:cs typeface="Times New Roman" panose="02020603050405020304" pitchFamily="18" charset="0"/>
                  </a:rPr>
                  <a:t>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𝐶𝑜𝑣</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𝐸</m:t>
                    </m:r>
                    <m:d>
                      <m:dPr>
                        <m:begChr m:val="["/>
                        <m:endChr m:val="]"/>
                        <m:ctrlPr>
                          <a:rPr lang="zh-CN" altLang="zh-CN" i="1">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𝐸</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𝐸</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d>
                  </m:oMath>
                </a14:m>
                <a:r>
                  <a:rPr lang="en-US" altLang="zh-CN" sz="1800" kern="100" dirty="0">
                    <a:effectLst/>
                    <a:latin typeface="微软雅黑" panose="020B0503020204020204" pitchFamily="34" charset="-122"/>
                    <a:cs typeface="Times New Roman" panose="02020603050405020304" pitchFamily="18" charset="0"/>
                  </a:rPr>
                  <a:t> </a:t>
                </a:r>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6728464" y="1330565"/>
                <a:ext cx="4095417" cy="1151405"/>
              </a:xfrm>
              <a:prstGeom prst="rect">
                <a:avLst/>
              </a:prstGeom>
              <a:blipFill rotWithShape="1">
                <a:blip r:embed="rId2"/>
                <a:stretch>
                  <a:fillRect t="-21" r="7"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6805307" y="2714992"/>
                <a:ext cx="4975123" cy="2585323"/>
              </a:xfrm>
              <a:prstGeom prst="rect">
                <a:avLst/>
              </a:prstGeom>
            </p:spPr>
            <p:txBody>
              <a:bodyPr wrap="square">
                <a:spAutoFit/>
              </a:bodyPr>
              <a:lstStyle/>
              <a:p>
                <a:pPr>
                  <a:lnSpc>
                    <a:spcPct val="150000"/>
                  </a:lnSpc>
                  <a:spcBef>
                    <a:spcPts val="900"/>
                  </a:spcBef>
                  <a:spcAft>
                    <a:spcPts val="900"/>
                  </a:spcAft>
                </a:pPr>
                <a:r>
                  <a:rPr lang="zh-CN" altLang="en-US" kern="100" dirty="0">
                    <a:latin typeface="微软雅黑" panose="020B0503020204020204" pitchFamily="34" charset="-122"/>
                    <a:cs typeface="宋体" panose="02010600030101010101" pitchFamily="2" charset="-122"/>
                  </a:rPr>
                  <a:t>性质：</a:t>
                </a:r>
                <a:endParaRPr lang="en-US" altLang="zh-CN" kern="100" dirty="0">
                  <a:latin typeface="微软雅黑" panose="020B0503020204020204" pitchFamily="34" charset="-122"/>
                  <a:cs typeface="宋体" panose="02010600030101010101" pitchFamily="2" charset="-122"/>
                </a:endParaRPr>
              </a:p>
              <a:p>
                <a:pPr marL="342900" indent="-342900">
                  <a:lnSpc>
                    <a:spcPct val="150000"/>
                  </a:lnSpc>
                  <a:spcBef>
                    <a:spcPts val="900"/>
                  </a:spcBef>
                  <a:spcAft>
                    <a:spcPts val="900"/>
                  </a:spcAft>
                  <a:buAutoNum type="arabicParenBoth"/>
                </a:pPr>
                <a14:m>
                  <m:oMath xmlns:m="http://schemas.openxmlformats.org/officeDocument/2006/math">
                    <m:r>
                      <a:rPr lang="en-US" altLang="zh-CN" sz="1800" kern="100">
                        <a:latin typeface="Cambria Math" panose="02040503050406030204" pitchFamily="18" charset="0"/>
                        <a:cs typeface="宋体" panose="02010600030101010101" pitchFamily="2" charset="-122"/>
                      </a:rPr>
                      <m:t>𝐶𝑜𝑣</m:t>
                    </m:r>
                    <m:r>
                      <a:rPr lang="en-US" altLang="zh-CN" sz="1800" kern="100">
                        <a:latin typeface="Cambria Math" panose="02040503050406030204" pitchFamily="18" charset="0"/>
                        <a:cs typeface="宋体" panose="02010600030101010101" pitchFamily="2" charset="-122"/>
                      </a:rPr>
                      <m:t>(</m:t>
                    </m:r>
                    <m:r>
                      <a:rPr lang="en-US" altLang="zh-CN" sz="1800" kern="100">
                        <a:latin typeface="Cambria Math" panose="02040503050406030204" pitchFamily="18" charset="0"/>
                        <a:cs typeface="宋体" panose="02010600030101010101" pitchFamily="2" charset="-122"/>
                      </a:rPr>
                      <m:t>𝑋</m:t>
                    </m:r>
                    <m:r>
                      <a:rPr lang="en-US" altLang="zh-CN" sz="1800" kern="100">
                        <a:latin typeface="Cambria Math" panose="02040503050406030204" pitchFamily="18" charset="0"/>
                        <a:cs typeface="宋体" panose="02010600030101010101" pitchFamily="2" charset="-122"/>
                      </a:rPr>
                      <m:t>,</m:t>
                    </m:r>
                    <m:r>
                      <a:rPr lang="en-US" altLang="zh-CN" sz="1800" kern="100">
                        <a:latin typeface="Cambria Math" panose="02040503050406030204" pitchFamily="18" charset="0"/>
                        <a:cs typeface="宋体" panose="02010600030101010101" pitchFamily="2" charset="-122"/>
                      </a:rPr>
                      <m:t>𝑌</m:t>
                    </m:r>
                    <m:r>
                      <a:rPr lang="en-US" altLang="zh-CN" sz="1800" kern="100">
                        <a:latin typeface="Cambria Math" panose="02040503050406030204" pitchFamily="18" charset="0"/>
                        <a:cs typeface="宋体" panose="02010600030101010101" pitchFamily="2" charset="-122"/>
                      </a:rPr>
                      <m:t>)=</m:t>
                    </m:r>
                    <m:r>
                      <a:rPr lang="en-US" altLang="zh-CN" sz="1800" kern="100">
                        <a:latin typeface="Cambria Math" panose="02040503050406030204" pitchFamily="18" charset="0"/>
                        <a:cs typeface="宋体" panose="02010600030101010101" pitchFamily="2" charset="-122"/>
                      </a:rPr>
                      <m:t>𝐶𝑜𝑣</m:t>
                    </m:r>
                    <m:r>
                      <a:rPr lang="en-US" altLang="zh-CN" sz="1800" kern="100">
                        <a:latin typeface="Cambria Math" panose="02040503050406030204" pitchFamily="18" charset="0"/>
                        <a:cs typeface="宋体" panose="02010600030101010101" pitchFamily="2" charset="-122"/>
                      </a:rPr>
                      <m:t>(</m:t>
                    </m:r>
                    <m:r>
                      <a:rPr lang="en-US" altLang="zh-CN" sz="1800" kern="100">
                        <a:latin typeface="Cambria Math" panose="02040503050406030204" pitchFamily="18" charset="0"/>
                        <a:cs typeface="宋体" panose="02010600030101010101" pitchFamily="2" charset="-122"/>
                      </a:rPr>
                      <m:t>𝑌</m:t>
                    </m:r>
                    <m:r>
                      <a:rPr lang="en-US" altLang="zh-CN" sz="1800" kern="100">
                        <a:latin typeface="Cambria Math" panose="02040503050406030204" pitchFamily="18" charset="0"/>
                        <a:cs typeface="宋体" panose="02010600030101010101" pitchFamily="2" charset="-122"/>
                      </a:rPr>
                      <m:t>,</m:t>
                    </m:r>
                    <m:r>
                      <a:rPr lang="en-US" altLang="zh-CN" sz="1800" kern="100">
                        <a:latin typeface="Cambria Math" panose="02040503050406030204" pitchFamily="18" charset="0"/>
                        <a:cs typeface="宋体" panose="02010600030101010101" pitchFamily="2" charset="-122"/>
                      </a:rPr>
                      <m:t>𝑋</m:t>
                    </m:r>
                    <m:r>
                      <a:rPr lang="en-US" altLang="zh-CN" sz="1800" kern="100">
                        <a:latin typeface="Cambria Math" panose="02040503050406030204" pitchFamily="18" charset="0"/>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marL="342900" indent="-342900">
                  <a:lnSpc>
                    <a:spcPct val="150000"/>
                  </a:lnSpc>
                  <a:spcBef>
                    <a:spcPts val="900"/>
                  </a:spcBef>
                  <a:spcAft>
                    <a:spcPts val="900"/>
                  </a:spcAft>
                  <a:buAutoNum type="arabicParenBoth"/>
                </a:pPr>
                <a14:m>
                  <m:oMath xmlns:m="http://schemas.openxmlformats.org/officeDocument/2006/math">
                    <m:r>
                      <a:rPr lang="en-US" altLang="zh-CN" sz="1800" b="0" i="1" kern="100" smtClean="0">
                        <a:effectLst/>
                        <a:latin typeface="Cambria Math" panose="02040503050406030204" pitchFamily="18" charset="0"/>
                        <a:ea typeface="宋体" panose="02010600030101010101" pitchFamily="2" charset="-122"/>
                        <a:cs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𝐶𝑜𝑣</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𝑏𝑌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𝑎𝑏𝐶𝑜𝑣</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𝑌</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𝑋</m:t>
                    </m:r>
                    <m:r>
                      <a:rPr lang="en-US" altLang="zh-CN" sz="1800" i="1" kern="100">
                        <a:effectLst/>
                        <a:latin typeface="Cambria Math" panose="02040503050406030204" pitchFamily="18" charset="0"/>
                        <a:ea typeface="宋体" panose="02010600030101010101" pitchFamily="2" charset="-122"/>
                        <a:cs typeface="宋体" panose="02010600030101010101" pitchFamily="2" charset="-122"/>
                      </a:rPr>
                      <m:t>)</m:t>
                    </m:r>
                  </m:oMath>
                </a14:m>
                <a:r>
                  <a:rPr lang="en-US" altLang="zh-CN" sz="1800" kern="100" dirty="0">
                    <a:effectLst/>
                    <a:latin typeface="微软雅黑" panose="020B0503020204020204" pitchFamily="34" charset="-122"/>
                    <a:cs typeface="宋体" panose="02010600030101010101" pitchFamily="2" charset="-122"/>
                  </a:rPr>
                  <a:t> </a:t>
                </a:r>
                <a:endParaRPr lang="en-US" altLang="zh-CN" sz="1800" kern="100" dirty="0">
                  <a:effectLst/>
                  <a:latin typeface="微软雅黑" panose="020B0503020204020204" pitchFamily="34" charset="-122"/>
                  <a:cs typeface="宋体" panose="02010600030101010101" pitchFamily="2" charset="-122"/>
                </a:endParaRPr>
              </a:p>
              <a:p>
                <a:pPr marL="342900" indent="-342900">
                  <a:lnSpc>
                    <a:spcPct val="150000"/>
                  </a:lnSpc>
                  <a:spcBef>
                    <a:spcPts val="900"/>
                  </a:spcBef>
                  <a:spcAft>
                    <a:spcPts val="900"/>
                  </a:spcAft>
                  <a:buAutoNum type="arabicParenBoth"/>
                </a:pPr>
                <a14:m>
                  <m:oMath xmlns:m="http://schemas.openxmlformats.org/officeDocument/2006/math">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𝐶𝑜𝑣</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𝐶𝑜𝑣</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𝐶𝑜𝑣</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6805307" y="2714992"/>
                <a:ext cx="4975123" cy="2585323"/>
              </a:xfrm>
              <a:prstGeom prst="rect">
                <a:avLst/>
              </a:prstGeom>
              <a:blipFill rotWithShape="1">
                <a:blip r:embed="rId3"/>
                <a:stretch>
                  <a:fillRect t="-14" r="11" b="23"/>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1402897" y="1397023"/>
            <a:ext cx="4541837" cy="66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en-US" altLang="zh-CN" b="1" dirty="0">
                <a:solidFill>
                  <a:srgbClr val="FF0000"/>
                </a:solidFill>
              </a:rPr>
              <a:t>Python </a:t>
            </a:r>
            <a:r>
              <a:rPr lang="zh-CN" altLang="en-US" b="1" dirty="0">
                <a:solidFill>
                  <a:srgbClr val="FF0000"/>
                </a:solidFill>
              </a:rPr>
              <a:t>的环境的安装</a:t>
            </a:r>
            <a:endParaRPr lang="zh-CN" altLang="en-US" b="1" dirty="0">
              <a:solidFill>
                <a:srgbClr val="FF0000"/>
              </a:solidFill>
            </a:endParaRPr>
          </a:p>
        </p:txBody>
      </p:sp>
      <p:sp>
        <p:nvSpPr>
          <p:cNvPr id="2" name="文本框 1"/>
          <p:cNvSpPr txBox="1"/>
          <p:nvPr/>
        </p:nvSpPr>
        <p:spPr>
          <a:xfrm>
            <a:off x="1402897" y="2220429"/>
            <a:ext cx="7806813" cy="433965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a:solidFill>
                  <a:schemeClr val="accent6">
                    <a:lumMod val="75000"/>
                  </a:schemeClr>
                </a:solidFill>
                <a:latin typeface="+mn-ea"/>
                <a:ea typeface="+mn-ea"/>
              </a:rPr>
              <a:t>Anaconda</a:t>
            </a:r>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n-ea"/>
              <a:ea typeface="+mn-ea"/>
            </a:endParaRPr>
          </a:p>
          <a:p>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2800" b="1" dirty="0" err="1">
                <a:solidFill>
                  <a:schemeClr val="accent6">
                    <a:lumMod val="75000"/>
                  </a:schemeClr>
                </a:solidFill>
                <a:latin typeface="+mn-ea"/>
                <a:ea typeface="+mn-ea"/>
              </a:rPr>
              <a:t>Jupyter</a:t>
            </a:r>
            <a:r>
              <a:rPr lang="en-US" altLang="zh-CN" sz="2800" b="1" dirty="0">
                <a:solidFill>
                  <a:schemeClr val="accent6">
                    <a:lumMod val="75000"/>
                  </a:schemeClr>
                </a:solidFill>
                <a:latin typeface="+mn-ea"/>
                <a:ea typeface="+mn-ea"/>
              </a:rPr>
              <a:t> notebook</a:t>
            </a:r>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endParaRPr lang="zh-CN" altLang="en-US" sz="28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2800" b="1" dirty="0" err="1">
                <a:solidFill>
                  <a:schemeClr val="accent6">
                    <a:lumMod val="75000"/>
                  </a:schemeClr>
                </a:solidFill>
                <a:latin typeface="+mn-ea"/>
                <a:ea typeface="+mn-ea"/>
              </a:rPr>
              <a:t>Pycharm</a:t>
            </a:r>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n-ea"/>
              <a:ea typeface="+mn-ea"/>
            </a:endParaRPr>
          </a:p>
          <a:p>
            <a:r>
              <a:rPr lang="zh-CN" altLang="en-US" sz="2000" dirty="0">
                <a:solidFill>
                  <a:srgbClr val="FF0000"/>
                </a:solidFill>
                <a:latin typeface="+mn-ea"/>
                <a:ea typeface="+mn-ea"/>
              </a:rPr>
              <a:t>详细教程：</a:t>
            </a:r>
            <a:r>
              <a:rPr lang="en-US" altLang="zh-CN" sz="2000" dirty="0">
                <a:solidFill>
                  <a:srgbClr val="FF0000"/>
                </a:solidFill>
                <a:latin typeface="+mn-ea"/>
                <a:ea typeface="+mn-ea"/>
              </a:rPr>
              <a:t>https://</a:t>
            </a:r>
            <a:r>
              <a:rPr lang="en-US" altLang="zh-CN" sz="2000" dirty="0" err="1">
                <a:solidFill>
                  <a:srgbClr val="FF0000"/>
                </a:solidFill>
                <a:latin typeface="+mn-ea"/>
                <a:ea typeface="+mn-ea"/>
              </a:rPr>
              <a:t>zhuanlan.zhihu.com</a:t>
            </a:r>
            <a:r>
              <a:rPr lang="en-US" altLang="zh-CN" sz="2000" dirty="0">
                <a:solidFill>
                  <a:srgbClr val="FF0000"/>
                </a:solidFill>
                <a:latin typeface="+mn-ea"/>
                <a:ea typeface="+mn-ea"/>
              </a:rPr>
              <a:t>/p/59027692</a:t>
            </a:r>
            <a:endParaRPr lang="zh-CN" altLang="en-US" sz="1400" dirty="0">
              <a:solidFill>
                <a:srgbClr val="FF0000"/>
              </a:solidFill>
            </a:endParaRPr>
          </a:p>
        </p:txBody>
      </p:sp>
      <p:sp>
        <p:nvSpPr>
          <p:cNvPr id="11" name="Rectangle 2"/>
          <p:cNvSpPr txBox="1">
            <a:spLocks noChangeArrowheads="1"/>
          </p:cNvSpPr>
          <p:nvPr/>
        </p:nvSpPr>
        <p:spPr>
          <a:xfrm>
            <a:off x="668338" y="235898"/>
            <a:ext cx="11523662" cy="677863"/>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rPr>
              <a:t>3. </a:t>
            </a:r>
            <a:r>
              <a:rPr lang="zh-CN" altLang="en-US" kern="0" dirty="0">
                <a:solidFill>
                  <a:schemeClr val="tx1"/>
                </a:solidFill>
              </a:rPr>
              <a:t>机器学习的背景知识</a:t>
            </a:r>
            <a:r>
              <a:rPr lang="en-US" altLang="zh-CN" kern="0" dirty="0">
                <a:solidFill>
                  <a:schemeClr val="tx1"/>
                </a:solidFill>
              </a:rPr>
              <a:t>-Python</a:t>
            </a:r>
            <a:r>
              <a:rPr lang="zh-CN" altLang="en-US" kern="0" dirty="0">
                <a:solidFill>
                  <a:schemeClr val="tx1"/>
                </a:solidFill>
              </a:rPr>
              <a:t>基础</a:t>
            </a:r>
            <a:endParaRPr lang="zh-CN" altLang="en-US" kern="0"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7907" y="265129"/>
            <a:ext cx="5365012"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 </a:t>
            </a:r>
            <a:r>
              <a:rPr lang="zh-CN" altLang="en-US" dirty="0"/>
              <a:t>的环境的安装</a:t>
            </a:r>
            <a:endParaRPr lang="zh-CN" altLang="en-US" dirty="0"/>
          </a:p>
        </p:txBody>
      </p:sp>
      <p:sp>
        <p:nvSpPr>
          <p:cNvPr id="25" name="矩形 2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 name="文本框 1"/>
          <p:cNvSpPr txBox="1"/>
          <p:nvPr/>
        </p:nvSpPr>
        <p:spPr>
          <a:xfrm>
            <a:off x="1229032" y="1396181"/>
            <a:ext cx="7806813" cy="144655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a:solidFill>
                  <a:schemeClr val="accent6">
                    <a:lumMod val="75000"/>
                  </a:schemeClr>
                </a:solidFill>
                <a:latin typeface="+mn-ea"/>
                <a:ea typeface="+mn-ea"/>
              </a:rPr>
              <a:t>Anaconda</a:t>
            </a:r>
            <a:endParaRPr lang="en-US" altLang="zh-CN" sz="2800" b="1" dirty="0">
              <a:solidFill>
                <a:schemeClr val="accent6">
                  <a:lumMod val="75000"/>
                </a:schemeClr>
              </a:solidFill>
              <a:latin typeface="+mn-ea"/>
              <a:ea typeface="+mn-ea"/>
            </a:endParaRPr>
          </a:p>
          <a:p>
            <a:r>
              <a:rPr lang="en-US" altLang="zh-CN" sz="2000" dirty="0">
                <a:solidFill>
                  <a:schemeClr val="accent6">
                    <a:lumMod val="75000"/>
                  </a:schemeClr>
                </a:solidFill>
                <a:latin typeface="+mn-ea"/>
                <a:ea typeface="+mn-ea"/>
                <a:hlinkClick r:id="rId1"/>
              </a:rPr>
              <a:t>https://</a:t>
            </a:r>
            <a:r>
              <a:rPr lang="en-US" altLang="zh-CN" sz="2000" dirty="0" err="1">
                <a:solidFill>
                  <a:schemeClr val="accent6">
                    <a:lumMod val="75000"/>
                  </a:schemeClr>
                </a:solidFill>
                <a:latin typeface="+mn-ea"/>
                <a:ea typeface="+mn-ea"/>
                <a:hlinkClick r:id="rId1"/>
              </a:rPr>
              <a:t>www.anaconda.com</a:t>
            </a:r>
            <a:r>
              <a:rPr lang="en-US" altLang="zh-CN" sz="2000" dirty="0">
                <a:solidFill>
                  <a:schemeClr val="accent6">
                    <a:lumMod val="75000"/>
                  </a:schemeClr>
                </a:solidFill>
                <a:latin typeface="+mn-ea"/>
                <a:ea typeface="+mn-ea"/>
                <a:hlinkClick r:id="rId1"/>
              </a:rPr>
              <a:t>/distribution/</a:t>
            </a:r>
            <a:endParaRPr lang="en-US" altLang="zh-CN" sz="2000" dirty="0">
              <a:solidFill>
                <a:schemeClr val="accent6">
                  <a:lumMod val="75000"/>
                </a:schemeClr>
              </a:solidFill>
              <a:latin typeface="+mn-ea"/>
              <a:ea typeface="+mn-ea"/>
            </a:endParaRPr>
          </a:p>
          <a:p>
            <a:r>
              <a:rPr lang="zh-CN" altLang="en-US" sz="2000" dirty="0">
                <a:solidFill>
                  <a:schemeClr val="accent6">
                    <a:lumMod val="75000"/>
                  </a:schemeClr>
                </a:solidFill>
                <a:latin typeface="+mn-ea"/>
                <a:ea typeface="+mn-ea"/>
              </a:rPr>
              <a:t>通常选</a:t>
            </a:r>
            <a:r>
              <a:rPr lang="en-US" altLang="zh-CN" sz="2000" dirty="0">
                <a:solidFill>
                  <a:schemeClr val="accent6">
                    <a:lumMod val="75000"/>
                  </a:schemeClr>
                </a:solidFill>
                <a:latin typeface="+mn-ea"/>
                <a:ea typeface="+mn-ea"/>
              </a:rPr>
              <a:t>3.7</a:t>
            </a:r>
            <a:r>
              <a:rPr lang="zh-CN" altLang="en-US" sz="2000" dirty="0">
                <a:solidFill>
                  <a:schemeClr val="accent6">
                    <a:lumMod val="75000"/>
                  </a:schemeClr>
                </a:solidFill>
                <a:latin typeface="+mn-ea"/>
                <a:ea typeface="+mn-ea"/>
              </a:rPr>
              <a:t>版本，</a:t>
            </a:r>
            <a:r>
              <a:rPr lang="en-US" altLang="zh-CN" sz="2000" dirty="0">
                <a:solidFill>
                  <a:schemeClr val="accent6">
                    <a:lumMod val="75000"/>
                  </a:schemeClr>
                </a:solidFill>
                <a:latin typeface="+mn-ea"/>
                <a:ea typeface="+mn-ea"/>
              </a:rPr>
              <a:t>64</a:t>
            </a:r>
            <a:r>
              <a:rPr lang="zh-CN" altLang="en-US" sz="2000" dirty="0">
                <a:solidFill>
                  <a:schemeClr val="accent6">
                    <a:lumMod val="75000"/>
                  </a:schemeClr>
                </a:solidFill>
                <a:latin typeface="+mn-ea"/>
                <a:ea typeface="+mn-ea"/>
              </a:rPr>
              <a:t>位</a:t>
            </a:r>
            <a:endParaRPr lang="en-US" altLang="zh-CN" sz="2000" dirty="0">
              <a:solidFill>
                <a:schemeClr val="accent6">
                  <a:lumMod val="75000"/>
                </a:schemeClr>
              </a:solidFill>
              <a:latin typeface="+mn-ea"/>
              <a:ea typeface="+mn-ea"/>
            </a:endParaRPr>
          </a:p>
          <a:p>
            <a:r>
              <a:rPr lang="zh-CN" altLang="en-US" sz="2000" dirty="0">
                <a:solidFill>
                  <a:schemeClr val="accent6">
                    <a:lumMod val="75000"/>
                  </a:schemeClr>
                </a:solidFill>
                <a:latin typeface="+mn-ea"/>
                <a:ea typeface="+mn-ea"/>
              </a:rPr>
              <a:t>可以用默认安装，右图两个选择框都勾上</a:t>
            </a:r>
            <a:endParaRPr lang="en-US" altLang="zh-CN" sz="2000" dirty="0">
              <a:solidFill>
                <a:schemeClr val="accent6">
                  <a:lumMod val="75000"/>
                </a:schemeClr>
              </a:solidFill>
              <a:latin typeface="+mn-ea"/>
              <a:ea typeface="+mn-ea"/>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155" y="2469042"/>
            <a:ext cx="5121380" cy="3888898"/>
          </a:xfrm>
          <a:prstGeom prst="rect">
            <a:avLst/>
          </a:prstGeom>
        </p:spPr>
      </p:pic>
      <p:pic>
        <p:nvPicPr>
          <p:cNvPr id="6" name="图片 5"/>
          <p:cNvPicPr>
            <a:picLocks noChangeAspect="1"/>
          </p:cNvPicPr>
          <p:nvPr/>
        </p:nvPicPr>
        <p:blipFill>
          <a:blip r:embed="rId3"/>
          <a:stretch>
            <a:fillRect/>
          </a:stretch>
        </p:blipFill>
        <p:spPr>
          <a:xfrm>
            <a:off x="1184913" y="3235878"/>
            <a:ext cx="4191000" cy="30956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04346" y="373488"/>
            <a:ext cx="5371451" cy="87799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 </a:t>
            </a:r>
            <a:r>
              <a:rPr lang="zh-CN" altLang="en-US" dirty="0"/>
              <a:t>的环境的安装</a:t>
            </a:r>
            <a:endParaRPr lang="zh-CN" altLang="en-US" dirty="0"/>
          </a:p>
        </p:txBody>
      </p:sp>
      <p:sp>
        <p:nvSpPr>
          <p:cNvPr id="2" name="文本框 1"/>
          <p:cNvSpPr txBox="1"/>
          <p:nvPr/>
        </p:nvSpPr>
        <p:spPr>
          <a:xfrm>
            <a:off x="804931" y="1396181"/>
            <a:ext cx="4239018" cy="4585871"/>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err="1">
                <a:solidFill>
                  <a:schemeClr val="accent6">
                    <a:lumMod val="75000"/>
                  </a:schemeClr>
                </a:solidFill>
                <a:latin typeface="+mn-ea"/>
                <a:ea typeface="+mn-ea"/>
              </a:rPr>
              <a:t>Jupyter</a:t>
            </a:r>
            <a:r>
              <a:rPr lang="en-US" altLang="zh-CN" sz="2800" b="1" dirty="0">
                <a:solidFill>
                  <a:schemeClr val="accent6">
                    <a:lumMod val="75000"/>
                  </a:schemeClr>
                </a:solidFill>
                <a:latin typeface="+mn-ea"/>
                <a:ea typeface="+mn-ea"/>
              </a:rPr>
              <a:t> notebook</a:t>
            </a:r>
            <a:endParaRPr lang="en-US" altLang="zh-CN" sz="2800" b="1" dirty="0">
              <a:solidFill>
                <a:schemeClr val="accent6">
                  <a:lumMod val="75000"/>
                </a:schemeClr>
              </a:solidFill>
              <a:latin typeface="+mn-ea"/>
              <a:ea typeface="+mn-ea"/>
            </a:endParaRPr>
          </a:p>
          <a:p>
            <a:endParaRPr lang="en-US" altLang="zh-CN" sz="2000" dirty="0"/>
          </a:p>
          <a:p>
            <a:r>
              <a:rPr lang="zh-CN" altLang="en-US" dirty="0"/>
              <a:t>在</a:t>
            </a:r>
            <a:r>
              <a:rPr lang="en-US" altLang="zh-CN" dirty="0" err="1"/>
              <a:t>cmd</a:t>
            </a:r>
            <a:r>
              <a:rPr lang="zh-CN" altLang="en-US" dirty="0"/>
              <a:t>环境下，切换到代码的目录，输入命令：</a:t>
            </a:r>
            <a:endParaRPr lang="en-US" altLang="zh-CN" dirty="0"/>
          </a:p>
          <a:p>
            <a:r>
              <a:rPr lang="en-US" altLang="zh-CN" dirty="0" err="1">
                <a:solidFill>
                  <a:srgbClr val="FF0000"/>
                </a:solidFill>
              </a:rPr>
              <a:t>jupyter</a:t>
            </a:r>
            <a:r>
              <a:rPr lang="en-US" altLang="zh-CN" dirty="0">
                <a:solidFill>
                  <a:srgbClr val="FF0000"/>
                </a:solidFill>
              </a:rPr>
              <a:t> notebook</a:t>
            </a:r>
            <a:r>
              <a:rPr lang="zh-CN" altLang="en-US" dirty="0"/>
              <a:t>之后就可以启动</a:t>
            </a:r>
            <a:r>
              <a:rPr lang="en-US" altLang="zh-CN" dirty="0" err="1"/>
              <a:t>jupyter</a:t>
            </a:r>
            <a:r>
              <a:rPr lang="en-US" altLang="zh-CN" dirty="0"/>
              <a:t> </a:t>
            </a:r>
            <a:r>
              <a:rPr lang="en-US" altLang="zh-CN" dirty="0" err="1"/>
              <a:t>botebook</a:t>
            </a:r>
            <a:r>
              <a:rPr lang="zh-CN" altLang="en-US" dirty="0"/>
              <a:t>编辑器，启动之后会自动打开浏览器，并访问</a:t>
            </a:r>
            <a:r>
              <a:rPr lang="en-US" altLang="zh-CN" dirty="0"/>
              <a:t>http://</a:t>
            </a:r>
            <a:r>
              <a:rPr lang="en-US" altLang="zh-CN" dirty="0" err="1"/>
              <a:t>localhost:8088</a:t>
            </a:r>
            <a:r>
              <a:rPr lang="zh-CN" altLang="en-US" dirty="0"/>
              <a:t>，默认跳转到</a:t>
            </a:r>
            <a:r>
              <a:rPr lang="en-US" altLang="zh-CN" dirty="0"/>
              <a:t>http://</a:t>
            </a:r>
            <a:r>
              <a:rPr lang="en-US" altLang="zh-CN" dirty="0" err="1"/>
              <a:t>localhost:8088</a:t>
            </a:r>
            <a:r>
              <a:rPr lang="en-US" altLang="zh-CN" dirty="0"/>
              <a:t>/tree</a:t>
            </a:r>
            <a:endParaRPr lang="en-US" altLang="zh-CN" b="1" dirty="0">
              <a:solidFill>
                <a:schemeClr val="accent6">
                  <a:lumMod val="75000"/>
                </a:schemeClr>
              </a:solidFill>
              <a:latin typeface="+mn-ea"/>
              <a:ea typeface="+mn-ea"/>
            </a:endParaRPr>
          </a:p>
          <a:p>
            <a:pPr marL="285750" indent="-285750">
              <a:buFont typeface="Wingdings" panose="05000000000000000000" pitchFamily="2" charset="2"/>
              <a:buChar char="l"/>
            </a:pPr>
            <a:endParaRPr lang="zh-CN" altLang="en-US" sz="2800" b="1" dirty="0">
              <a:solidFill>
                <a:schemeClr val="accent6">
                  <a:lumMod val="75000"/>
                </a:schemeClr>
              </a:solidFill>
              <a:latin typeface="+mn-ea"/>
              <a:ea typeface="+mn-ea"/>
            </a:endParaRPr>
          </a:p>
          <a:p>
            <a:endParaRPr lang="zh-CN" altLang="en-US"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79554" y="1562324"/>
            <a:ext cx="6972538" cy="448951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5683" y="1317691"/>
            <a:ext cx="7806813" cy="1200329"/>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err="1">
                <a:solidFill>
                  <a:schemeClr val="accent6">
                    <a:lumMod val="75000"/>
                  </a:schemeClr>
                </a:solidFill>
                <a:latin typeface="+mj-ea"/>
                <a:ea typeface="+mj-ea"/>
              </a:rPr>
              <a:t>Pycharm</a:t>
            </a:r>
            <a:endParaRPr lang="en-US" altLang="zh-CN" sz="2800" b="1" dirty="0">
              <a:solidFill>
                <a:schemeClr val="accent6">
                  <a:lumMod val="75000"/>
                </a:schemeClr>
              </a:solidFill>
              <a:latin typeface="+mj-ea"/>
              <a:ea typeface="+mj-ea"/>
            </a:endParaRPr>
          </a:p>
          <a:p>
            <a:r>
              <a:rPr lang="en-US" altLang="zh-CN" sz="2000" dirty="0">
                <a:solidFill>
                  <a:schemeClr val="accent6">
                    <a:lumMod val="75000"/>
                  </a:schemeClr>
                </a:solidFill>
                <a:latin typeface="+mj-ea"/>
                <a:ea typeface="+mj-ea"/>
              </a:rPr>
              <a:t>https://</a:t>
            </a:r>
            <a:r>
              <a:rPr lang="en-US" altLang="zh-CN" sz="2000" dirty="0" err="1">
                <a:solidFill>
                  <a:schemeClr val="accent6">
                    <a:lumMod val="75000"/>
                  </a:schemeClr>
                </a:solidFill>
                <a:latin typeface="+mj-ea"/>
                <a:ea typeface="+mj-ea"/>
              </a:rPr>
              <a:t>www.jetbrains.com</a:t>
            </a:r>
            <a:r>
              <a:rPr lang="en-US" altLang="zh-CN" sz="2000" dirty="0">
                <a:solidFill>
                  <a:schemeClr val="accent6">
                    <a:lumMod val="75000"/>
                  </a:schemeClr>
                </a:solidFill>
                <a:latin typeface="+mj-ea"/>
                <a:ea typeface="+mj-ea"/>
              </a:rPr>
              <a:t>/</a:t>
            </a:r>
            <a:r>
              <a:rPr lang="en-US" altLang="zh-CN" sz="2000" dirty="0" err="1">
                <a:solidFill>
                  <a:schemeClr val="accent6">
                    <a:lumMod val="75000"/>
                  </a:schemeClr>
                </a:solidFill>
                <a:latin typeface="+mj-ea"/>
                <a:ea typeface="+mj-ea"/>
              </a:rPr>
              <a:t>pycharm</a:t>
            </a:r>
            <a:r>
              <a:rPr lang="en-US" altLang="zh-CN" sz="2000" dirty="0">
                <a:solidFill>
                  <a:schemeClr val="accent6">
                    <a:lumMod val="75000"/>
                  </a:schemeClr>
                </a:solidFill>
                <a:latin typeface="+mj-ea"/>
                <a:ea typeface="+mj-ea"/>
              </a:rPr>
              <a:t>/</a:t>
            </a:r>
            <a:endParaRPr lang="zh-CN" altLang="en-US" sz="2000" dirty="0">
              <a:solidFill>
                <a:schemeClr val="accent6">
                  <a:lumMod val="75000"/>
                </a:schemeClr>
              </a:solidFill>
              <a:latin typeface="+mj-ea"/>
              <a:ea typeface="+mj-ea"/>
            </a:endParaRPr>
          </a:p>
          <a:p>
            <a:endParaRPr lang="zh-CN" altLang="en-US" dirty="0"/>
          </a:p>
        </p:txBody>
      </p:sp>
      <p:sp>
        <p:nvSpPr>
          <p:cNvPr id="3" name="矩形 2"/>
          <p:cNvSpPr/>
          <p:nvPr/>
        </p:nvSpPr>
        <p:spPr>
          <a:xfrm>
            <a:off x="675683" y="2175587"/>
            <a:ext cx="10379278" cy="3911327"/>
          </a:xfrm>
          <a:prstGeom prst="rect">
            <a:avLst/>
          </a:prstGeom>
        </p:spPr>
        <p:txBody>
          <a:bodyPr wrap="square">
            <a:spAutoFit/>
          </a:bodyPr>
          <a:lstStyle/>
          <a:p>
            <a:pPr>
              <a:lnSpc>
                <a:spcPct val="150000"/>
              </a:lnSpc>
            </a:pPr>
            <a:r>
              <a:rPr lang="en-US" altLang="zh-CN" dirty="0" err="1">
                <a:solidFill>
                  <a:srgbClr val="1A1A1A"/>
                </a:solidFill>
                <a:latin typeface="-apple-system"/>
              </a:rPr>
              <a:t>Pycharm</a:t>
            </a:r>
            <a:r>
              <a:rPr lang="en-US" altLang="zh-CN" dirty="0">
                <a:solidFill>
                  <a:srgbClr val="1A1A1A"/>
                </a:solidFill>
                <a:latin typeface="-apple-system"/>
              </a:rPr>
              <a:t> </a:t>
            </a:r>
            <a:r>
              <a:rPr lang="zh-CN" altLang="en-US" dirty="0">
                <a:solidFill>
                  <a:srgbClr val="1A1A1A"/>
                </a:solidFill>
                <a:latin typeface="-apple-system"/>
              </a:rPr>
              <a:t>提供 免费的社区版 与 付费的专业版。专业版额外增加了一些功能，如项目模板、远程开发、数据库支持等。个人学习 </a:t>
            </a:r>
            <a:r>
              <a:rPr lang="en-US" altLang="zh-CN" dirty="0">
                <a:solidFill>
                  <a:srgbClr val="1A1A1A"/>
                </a:solidFill>
                <a:latin typeface="-apple-system"/>
              </a:rPr>
              <a:t>Python </a:t>
            </a:r>
            <a:r>
              <a:rPr lang="zh-CN" altLang="en-US" dirty="0">
                <a:solidFill>
                  <a:srgbClr val="1A1A1A"/>
                </a:solidFill>
                <a:latin typeface="-apple-system"/>
              </a:rPr>
              <a:t>使用免费的社区版已足够。</a:t>
            </a:r>
            <a:endParaRPr lang="en-US" altLang="zh-CN" dirty="0">
              <a:solidFill>
                <a:srgbClr val="1A1A1A"/>
              </a:solidFill>
              <a:latin typeface="-apple-system"/>
            </a:endParaRPr>
          </a:p>
          <a:p>
            <a:pPr>
              <a:lnSpc>
                <a:spcPct val="150000"/>
              </a:lnSpc>
            </a:pPr>
            <a:r>
              <a:rPr lang="zh-CN" altLang="en-US" dirty="0">
                <a:solidFill>
                  <a:srgbClr val="FF0000"/>
                </a:solidFill>
                <a:latin typeface="-apple-system"/>
              </a:rPr>
              <a:t>如果有</a:t>
            </a:r>
            <a:r>
              <a:rPr lang="en-US" altLang="zh-CN" dirty="0" err="1">
                <a:solidFill>
                  <a:srgbClr val="FF0000"/>
                </a:solidFill>
                <a:latin typeface="-apple-system"/>
              </a:rPr>
              <a:t>edu</a:t>
            </a:r>
            <a:r>
              <a:rPr lang="zh-CN" altLang="en-US" dirty="0">
                <a:solidFill>
                  <a:srgbClr val="FF0000"/>
                </a:solidFill>
                <a:latin typeface="-apple-system"/>
              </a:rPr>
              <a:t>邮箱，那么推荐使用专业版，</a:t>
            </a:r>
            <a:r>
              <a:rPr lang="en-US" altLang="zh-CN" dirty="0" err="1">
                <a:solidFill>
                  <a:srgbClr val="FF0000"/>
                </a:solidFill>
                <a:latin typeface="-apple-system"/>
              </a:rPr>
              <a:t>edu</a:t>
            </a:r>
            <a:r>
              <a:rPr lang="zh-CN" altLang="en-US" dirty="0">
                <a:solidFill>
                  <a:srgbClr val="FF0000"/>
                </a:solidFill>
                <a:latin typeface="-apple-system"/>
              </a:rPr>
              <a:t>邮箱是可以免费使用专业版的。</a:t>
            </a:r>
            <a:br>
              <a:rPr lang="zh-CN" altLang="en-US" dirty="0">
                <a:solidFill>
                  <a:srgbClr val="FF0000"/>
                </a:solidFill>
                <a:latin typeface="-apple-system"/>
              </a:rPr>
            </a:br>
            <a:r>
              <a:rPr lang="zh-CN" altLang="en-US" dirty="0">
                <a:solidFill>
                  <a:srgbClr val="1A1A1A"/>
                </a:solidFill>
                <a:latin typeface="-apple-system"/>
              </a:rPr>
              <a:t>安装过程照着提示一步步操作就可以了。</a:t>
            </a:r>
            <a:endParaRPr lang="zh-CN" altLang="en-US" dirty="0">
              <a:solidFill>
                <a:srgbClr val="1A1A1A"/>
              </a:solidFill>
              <a:latin typeface="-apple-system"/>
            </a:endParaRPr>
          </a:p>
          <a:p>
            <a:pPr>
              <a:lnSpc>
                <a:spcPct val="150000"/>
              </a:lnSpc>
            </a:pPr>
            <a:r>
              <a:rPr lang="zh-CN" altLang="en-US" b="1" dirty="0">
                <a:solidFill>
                  <a:srgbClr val="1A1A1A"/>
                </a:solidFill>
                <a:latin typeface="-apple-system"/>
              </a:rPr>
              <a:t>注意：</a:t>
            </a:r>
            <a:r>
              <a:rPr lang="zh-CN" altLang="en-US" dirty="0">
                <a:solidFill>
                  <a:srgbClr val="1A1A1A"/>
                </a:solidFill>
                <a:latin typeface="-apple-system"/>
              </a:rPr>
              <a:t>安装路径尽量不使用带有 </a:t>
            </a:r>
            <a:r>
              <a:rPr lang="zh-CN" altLang="en-US" dirty="0">
                <a:solidFill>
                  <a:srgbClr val="FF0000"/>
                </a:solidFill>
                <a:latin typeface="-apple-system"/>
              </a:rPr>
              <a:t>中文或空格 </a:t>
            </a:r>
            <a:r>
              <a:rPr lang="zh-CN" altLang="en-US" dirty="0">
                <a:solidFill>
                  <a:srgbClr val="1A1A1A"/>
                </a:solidFill>
                <a:latin typeface="-apple-system"/>
              </a:rPr>
              <a:t>的目录，这样在之后的使用过程中减少一些莫名的错误。</a:t>
            </a:r>
            <a:endParaRPr lang="zh-CN" altLang="en-US" b="0" i="0" dirty="0">
              <a:solidFill>
                <a:srgbClr val="1A1A1A"/>
              </a:solidFill>
              <a:effectLst/>
              <a:latin typeface="-apple-system"/>
            </a:endParaRPr>
          </a:p>
        </p:txBody>
      </p:sp>
      <p:sp>
        <p:nvSpPr>
          <p:cNvPr id="12" name="文本框 22"/>
          <p:cNvSpPr txBox="1">
            <a:spLocks noChangeArrowheads="1"/>
          </p:cNvSpPr>
          <p:nvPr/>
        </p:nvSpPr>
        <p:spPr bwMode="auto">
          <a:xfrm>
            <a:off x="604346" y="373488"/>
            <a:ext cx="5371451" cy="87799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 </a:t>
            </a:r>
            <a:r>
              <a:rPr lang="zh-CN" altLang="en-US" dirty="0"/>
              <a:t>的环境的安装</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1467" y="315029"/>
            <a:ext cx="5551755"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 </a:t>
            </a:r>
            <a:r>
              <a:rPr lang="zh-CN" altLang="en-US" dirty="0"/>
              <a:t>的主要数据类型</a:t>
            </a:r>
            <a:endParaRPr lang="zh-CN" altLang="en-US" dirty="0"/>
          </a:p>
        </p:txBody>
      </p:sp>
      <p:sp>
        <p:nvSpPr>
          <p:cNvPr id="2" name="文本框 1"/>
          <p:cNvSpPr txBox="1"/>
          <p:nvPr/>
        </p:nvSpPr>
        <p:spPr>
          <a:xfrm>
            <a:off x="1229032" y="1396181"/>
            <a:ext cx="7806813" cy="4339650"/>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字符串</a:t>
            </a:r>
            <a:endParaRPr lang="en-US" altLang="zh-CN" sz="2800" b="1" dirty="0">
              <a:solidFill>
                <a:schemeClr val="accent6">
                  <a:lumMod val="75000"/>
                </a:schemeClr>
              </a:solidFill>
              <a:latin typeface="+mj-ea"/>
              <a:ea typeface="+mj-ea"/>
            </a:endParaRPr>
          </a:p>
          <a:p>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整数与浮点数</a:t>
            </a:r>
            <a:endParaRPr lang="en-US" altLang="zh-CN" sz="2800" b="1" dirty="0">
              <a:solidFill>
                <a:schemeClr val="accent6">
                  <a:lumMod val="75000"/>
                </a:schemeClr>
              </a:solidFill>
              <a:latin typeface="+mj-ea"/>
              <a:ea typeface="+mj-ea"/>
            </a:endParaRPr>
          </a:p>
          <a:p>
            <a:endParaRPr lang="zh-CN" altLang="en-US"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布尔值</a:t>
            </a:r>
            <a:endParaRPr lang="en-US" altLang="zh-CN" sz="2800" b="1" dirty="0">
              <a:solidFill>
                <a:schemeClr val="accent6">
                  <a:lumMod val="75000"/>
                </a:schemeClr>
              </a:solidFill>
              <a:latin typeface="+mj-ea"/>
              <a:ea typeface="+mj-ea"/>
            </a:endParaRPr>
          </a:p>
          <a:p>
            <a:endParaRPr lang="zh-CN" altLang="en-US"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日期时间</a:t>
            </a:r>
            <a:endParaRPr lang="en-US" altLang="zh-CN" sz="2800" b="1" dirty="0">
              <a:solidFill>
                <a:schemeClr val="accent6">
                  <a:lumMod val="75000"/>
                </a:schemeClr>
              </a:solidFill>
              <a:latin typeface="+mj-ea"/>
              <a:ea typeface="+mj-ea"/>
            </a:endParaRPr>
          </a:p>
          <a:p>
            <a:endParaRPr lang="zh-CN" altLang="en-US"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其它</a:t>
            </a:r>
            <a:endParaRPr lang="zh-CN" altLang="en-US" sz="2800" b="1" dirty="0">
              <a:solidFill>
                <a:schemeClr val="accent6">
                  <a:lumMod val="75000"/>
                </a:schemeClr>
              </a:solidFill>
              <a:latin typeface="+mj-ea"/>
              <a:ea typeface="+mj-ea"/>
            </a:endParaRPr>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10786" y="270098"/>
            <a:ext cx="4541837" cy="658835"/>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 </a:t>
            </a:r>
            <a:r>
              <a:rPr lang="zh-CN" altLang="en-US" dirty="0"/>
              <a:t>的数据结构</a:t>
            </a:r>
            <a:endParaRPr lang="zh-CN" altLang="en-US" dirty="0"/>
          </a:p>
        </p:txBody>
      </p:sp>
      <p:sp>
        <p:nvSpPr>
          <p:cNvPr id="2" name="文本框 1"/>
          <p:cNvSpPr txBox="1"/>
          <p:nvPr/>
        </p:nvSpPr>
        <p:spPr>
          <a:xfrm>
            <a:off x="692619" y="1333696"/>
            <a:ext cx="10421462" cy="5201424"/>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列表</a:t>
            </a:r>
            <a:r>
              <a:rPr lang="en-US" altLang="zh-CN" sz="2800" b="1" dirty="0">
                <a:solidFill>
                  <a:schemeClr val="accent6">
                    <a:lumMod val="75000"/>
                  </a:schemeClr>
                </a:solidFill>
                <a:latin typeface="+mj-ea"/>
                <a:ea typeface="+mj-ea"/>
              </a:rPr>
              <a:t>(</a:t>
            </a:r>
            <a:r>
              <a:rPr lang="en-US" altLang="zh-CN" sz="2800" b="1" dirty="0">
                <a:solidFill>
                  <a:srgbClr val="FF0000"/>
                </a:solidFill>
                <a:latin typeface="+mj-ea"/>
                <a:ea typeface="+mj-ea"/>
              </a:rPr>
              <a:t>list</a:t>
            </a:r>
            <a:r>
              <a:rPr lang="en-US" altLang="zh-CN" sz="2800" b="1" dirty="0">
                <a:solidFill>
                  <a:schemeClr val="accent6">
                    <a:lumMod val="75000"/>
                  </a:schemeClr>
                </a:solidFill>
                <a:latin typeface="+mj-ea"/>
                <a:ea typeface="+mj-ea"/>
              </a:rPr>
              <a:t>)</a:t>
            </a:r>
            <a:endParaRPr lang="en-US" altLang="zh-CN" sz="2800" b="1" dirty="0">
              <a:solidFill>
                <a:schemeClr val="accent6">
                  <a:lumMod val="75000"/>
                </a:schemeClr>
              </a:solidFill>
              <a:latin typeface="+mj-ea"/>
              <a:ea typeface="+mj-ea"/>
            </a:endParaRPr>
          </a:p>
          <a:p>
            <a:endParaRPr lang="en-US" altLang="zh-CN" sz="2000" b="1" dirty="0">
              <a:solidFill>
                <a:schemeClr val="accent6">
                  <a:lumMod val="75000"/>
                </a:schemeClr>
              </a:solidFill>
              <a:latin typeface="+mj-ea"/>
              <a:ea typeface="+mj-ea"/>
            </a:endParaRPr>
          </a:p>
          <a:p>
            <a:r>
              <a:rPr lang="zh-CN" altLang="en-US" sz="2000" dirty="0">
                <a:solidFill>
                  <a:schemeClr val="accent6">
                    <a:lumMod val="75000"/>
                  </a:schemeClr>
                </a:solidFill>
                <a:latin typeface="+mj-ea"/>
                <a:ea typeface="+mj-ea"/>
              </a:rPr>
              <a:t>用来存储一连串元素的容器，列表用</a:t>
            </a:r>
            <a:r>
              <a:rPr lang="en-US" altLang="zh-CN" sz="2000" dirty="0">
                <a:solidFill>
                  <a:srgbClr val="FF0000"/>
                </a:solidFill>
                <a:latin typeface="+mj-ea"/>
                <a:ea typeface="+mj-ea"/>
              </a:rPr>
              <a:t>[ ]</a:t>
            </a:r>
            <a:r>
              <a:rPr lang="zh-CN" altLang="en-US" sz="2000" dirty="0">
                <a:solidFill>
                  <a:schemeClr val="accent6">
                    <a:lumMod val="75000"/>
                  </a:schemeClr>
                </a:solidFill>
                <a:latin typeface="+mj-ea"/>
                <a:ea typeface="+mj-ea"/>
              </a:rPr>
              <a:t>来表示，其中元素的类型可不相同。</a:t>
            </a:r>
            <a:endParaRPr lang="en-US" altLang="zh-CN" sz="2000" dirty="0">
              <a:solidFill>
                <a:schemeClr val="accent6">
                  <a:lumMod val="75000"/>
                </a:schemeClr>
              </a:solidFill>
              <a:latin typeface="+mj-ea"/>
              <a:ea typeface="+mj-ea"/>
            </a:endParaRPr>
          </a:p>
          <a:p>
            <a:endParaRPr lang="en-US" altLang="zh-CN" sz="20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元组</a:t>
            </a:r>
            <a:r>
              <a:rPr lang="en-US" altLang="zh-CN" sz="2800" b="1" dirty="0">
                <a:solidFill>
                  <a:schemeClr val="accent6">
                    <a:lumMod val="75000"/>
                  </a:schemeClr>
                </a:solidFill>
                <a:latin typeface="+mj-ea"/>
                <a:ea typeface="+mj-ea"/>
              </a:rPr>
              <a:t>(</a:t>
            </a:r>
            <a:r>
              <a:rPr lang="en-US" altLang="zh-CN" sz="2800" b="1" dirty="0">
                <a:solidFill>
                  <a:srgbClr val="FF0000"/>
                </a:solidFill>
                <a:latin typeface="+mj-ea"/>
                <a:ea typeface="+mj-ea"/>
              </a:rPr>
              <a:t>tuple</a:t>
            </a:r>
            <a:r>
              <a:rPr lang="en-US" altLang="zh-CN" sz="2800" b="1" dirty="0">
                <a:solidFill>
                  <a:schemeClr val="accent6">
                    <a:lumMod val="75000"/>
                  </a:schemeClr>
                </a:solidFill>
                <a:latin typeface="+mj-ea"/>
                <a:ea typeface="+mj-ea"/>
              </a:rPr>
              <a:t>)</a:t>
            </a:r>
            <a:endParaRPr lang="en-US" altLang="zh-CN" sz="2800" b="1" dirty="0">
              <a:solidFill>
                <a:schemeClr val="accent6">
                  <a:lumMod val="75000"/>
                </a:schemeClr>
              </a:solidFill>
              <a:latin typeface="+mj-ea"/>
              <a:ea typeface="+mj-ea"/>
            </a:endParaRPr>
          </a:p>
          <a:p>
            <a:r>
              <a:rPr lang="zh-CN" altLang="en-US" sz="2000" dirty="0">
                <a:solidFill>
                  <a:schemeClr val="accent6">
                    <a:lumMod val="75000"/>
                  </a:schemeClr>
                </a:solidFill>
                <a:latin typeface="+mj-ea"/>
                <a:ea typeface="+mj-ea"/>
              </a:rPr>
              <a:t>元组类似列表，元组里面的元素也是进行索引计算。列表里面的元素的值可以修改，而元组里面的元素的值不能修改，只能读取。元组的符号是</a:t>
            </a:r>
            <a:r>
              <a:rPr lang="en-US" altLang="zh-CN" sz="2000" dirty="0">
                <a:solidFill>
                  <a:srgbClr val="FF0000"/>
                </a:solidFill>
                <a:latin typeface="+mj-ea"/>
                <a:ea typeface="+mj-ea"/>
              </a:rPr>
              <a:t>( )</a:t>
            </a:r>
            <a:endParaRPr lang="en-US" altLang="zh-CN" sz="2000" dirty="0">
              <a:solidFill>
                <a:srgbClr val="FF0000"/>
              </a:solidFill>
              <a:latin typeface="+mj-ea"/>
              <a:ea typeface="+mj-ea"/>
            </a:endParaRPr>
          </a:p>
          <a:p>
            <a:endParaRPr lang="en-US" altLang="zh-CN" sz="20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集合</a:t>
            </a:r>
            <a:r>
              <a:rPr lang="en-US" altLang="zh-CN" sz="2800" b="1" dirty="0">
                <a:solidFill>
                  <a:schemeClr val="accent6">
                    <a:lumMod val="75000"/>
                  </a:schemeClr>
                </a:solidFill>
                <a:latin typeface="+mj-ea"/>
                <a:ea typeface="+mj-ea"/>
              </a:rPr>
              <a:t>(</a:t>
            </a:r>
            <a:r>
              <a:rPr lang="en-US" altLang="zh-CN" sz="2800" b="1" dirty="0">
                <a:solidFill>
                  <a:srgbClr val="FF0000"/>
                </a:solidFill>
                <a:latin typeface="+mj-ea"/>
                <a:ea typeface="+mj-ea"/>
              </a:rPr>
              <a:t>set</a:t>
            </a:r>
            <a:r>
              <a:rPr lang="en-US" altLang="zh-CN" sz="2800" b="1" dirty="0">
                <a:solidFill>
                  <a:schemeClr val="accent6">
                    <a:lumMod val="75000"/>
                  </a:schemeClr>
                </a:solidFill>
                <a:latin typeface="+mj-ea"/>
                <a:ea typeface="+mj-ea"/>
              </a:rPr>
              <a:t>)</a:t>
            </a:r>
            <a:endParaRPr lang="en-US" altLang="zh-CN" sz="2800" b="1" dirty="0">
              <a:solidFill>
                <a:schemeClr val="accent6">
                  <a:lumMod val="75000"/>
                </a:schemeClr>
              </a:solidFill>
              <a:latin typeface="+mj-ea"/>
              <a:ea typeface="+mj-ea"/>
            </a:endParaRPr>
          </a:p>
          <a:p>
            <a:r>
              <a:rPr lang="zh-CN" altLang="en-US" sz="2000" dirty="0">
                <a:solidFill>
                  <a:schemeClr val="accent6">
                    <a:lumMod val="75000"/>
                  </a:schemeClr>
                </a:solidFill>
                <a:latin typeface="+mj-ea"/>
                <a:ea typeface="+mj-ea"/>
              </a:rPr>
              <a:t>集合主要有两个功能，一个功能是进行集合操作，另一个功能是消除重复元素。 集合的格式是：</a:t>
            </a:r>
            <a:r>
              <a:rPr lang="en-US" altLang="zh-CN" sz="2000" dirty="0">
                <a:solidFill>
                  <a:srgbClr val="FF0000"/>
                </a:solidFill>
                <a:latin typeface="+mj-ea"/>
                <a:ea typeface="+mj-ea"/>
              </a:rPr>
              <a:t>set( )</a:t>
            </a:r>
            <a:r>
              <a:rPr lang="zh-CN" altLang="en-US" sz="2000" dirty="0">
                <a:solidFill>
                  <a:schemeClr val="accent6">
                    <a:lumMod val="75000"/>
                  </a:schemeClr>
                </a:solidFill>
                <a:latin typeface="+mj-ea"/>
                <a:ea typeface="+mj-ea"/>
              </a:rPr>
              <a:t>，其中</a:t>
            </a:r>
            <a:r>
              <a:rPr lang="en-US" altLang="zh-CN" sz="2000" dirty="0">
                <a:solidFill>
                  <a:schemeClr val="accent6">
                    <a:lumMod val="75000"/>
                  </a:schemeClr>
                </a:solidFill>
                <a:latin typeface="+mj-ea"/>
                <a:ea typeface="+mj-ea"/>
              </a:rPr>
              <a:t>()</a:t>
            </a:r>
            <a:r>
              <a:rPr lang="zh-CN" altLang="en-US" sz="2000" dirty="0">
                <a:solidFill>
                  <a:schemeClr val="accent6">
                    <a:lumMod val="75000"/>
                  </a:schemeClr>
                </a:solidFill>
                <a:latin typeface="+mj-ea"/>
                <a:ea typeface="+mj-ea"/>
              </a:rPr>
              <a:t>内可以是列表、字典或字符串，因为字符串是以列表的形式存储的</a:t>
            </a:r>
            <a:endParaRPr lang="en-US" altLang="zh-CN" sz="2000" dirty="0">
              <a:solidFill>
                <a:schemeClr val="accent6">
                  <a:lumMod val="75000"/>
                </a:schemeClr>
              </a:solidFill>
              <a:latin typeface="+mj-ea"/>
              <a:ea typeface="+mj-ea"/>
            </a:endParaRPr>
          </a:p>
          <a:p>
            <a:endParaRPr lang="zh-CN" altLang="en-US" sz="20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字典</a:t>
            </a:r>
            <a:r>
              <a:rPr lang="en-US" altLang="zh-CN" sz="2800" b="1" dirty="0">
                <a:solidFill>
                  <a:schemeClr val="accent6">
                    <a:lumMod val="75000"/>
                  </a:schemeClr>
                </a:solidFill>
                <a:latin typeface="+mj-ea"/>
                <a:ea typeface="+mj-ea"/>
              </a:rPr>
              <a:t>(</a:t>
            </a:r>
            <a:r>
              <a:rPr lang="en-US" altLang="zh-CN" sz="2800" b="1" dirty="0" err="1">
                <a:solidFill>
                  <a:srgbClr val="FF0000"/>
                </a:solidFill>
                <a:latin typeface="+mj-ea"/>
                <a:ea typeface="+mj-ea"/>
              </a:rPr>
              <a:t>dict</a:t>
            </a:r>
            <a:r>
              <a:rPr lang="en-US" altLang="zh-CN" sz="2800" b="1" dirty="0">
                <a:solidFill>
                  <a:schemeClr val="accent6">
                    <a:lumMod val="75000"/>
                  </a:schemeClr>
                </a:solidFill>
                <a:latin typeface="+mj-ea"/>
                <a:ea typeface="+mj-ea"/>
              </a:rPr>
              <a:t>)</a:t>
            </a:r>
            <a:endParaRPr lang="zh-CN" altLang="en-US" sz="2800" b="1" dirty="0">
              <a:solidFill>
                <a:schemeClr val="accent6">
                  <a:lumMod val="75000"/>
                </a:schemeClr>
              </a:solidFill>
              <a:latin typeface="+mj-ea"/>
              <a:ea typeface="+mj-ea"/>
            </a:endParaRPr>
          </a:p>
          <a:p>
            <a:r>
              <a:rPr lang="zh-CN" altLang="en-US" sz="2000" dirty="0">
                <a:solidFill>
                  <a:schemeClr val="accent6">
                    <a:lumMod val="75000"/>
                  </a:schemeClr>
                </a:solidFill>
                <a:latin typeface="+mj-ea"/>
                <a:ea typeface="+mj-ea"/>
              </a:rPr>
              <a:t>字典</a:t>
            </a:r>
            <a:r>
              <a:rPr lang="en-US" altLang="zh-CN" sz="2000" dirty="0" err="1">
                <a:solidFill>
                  <a:schemeClr val="accent6">
                    <a:lumMod val="75000"/>
                  </a:schemeClr>
                </a:solidFill>
                <a:latin typeface="+mj-ea"/>
                <a:ea typeface="+mj-ea"/>
              </a:rPr>
              <a:t>dict</a:t>
            </a:r>
            <a:r>
              <a:rPr lang="zh-CN" altLang="en-US" sz="2000" dirty="0">
                <a:solidFill>
                  <a:schemeClr val="accent6">
                    <a:lumMod val="75000"/>
                  </a:schemeClr>
                </a:solidFill>
                <a:latin typeface="+mj-ea"/>
                <a:ea typeface="+mj-ea"/>
              </a:rPr>
              <a:t>也叫做关联数组，用大括号</a:t>
            </a:r>
            <a:r>
              <a:rPr lang="en-US" altLang="zh-CN" sz="2000" dirty="0">
                <a:solidFill>
                  <a:srgbClr val="FF0000"/>
                </a:solidFill>
                <a:latin typeface="+mj-ea"/>
                <a:ea typeface="+mj-ea"/>
              </a:rPr>
              <a:t>{ }</a:t>
            </a:r>
            <a:r>
              <a:rPr lang="zh-CN" altLang="en-US" sz="2000" dirty="0">
                <a:solidFill>
                  <a:schemeClr val="accent6">
                    <a:lumMod val="75000"/>
                  </a:schemeClr>
                </a:solidFill>
                <a:latin typeface="+mj-ea"/>
                <a:ea typeface="+mj-ea"/>
              </a:rPr>
              <a:t>括起来，在其他语言中也称为</a:t>
            </a:r>
            <a:r>
              <a:rPr lang="en-US" altLang="zh-CN" sz="2000" dirty="0">
                <a:solidFill>
                  <a:schemeClr val="accent6">
                    <a:lumMod val="75000"/>
                  </a:schemeClr>
                </a:solidFill>
                <a:latin typeface="+mj-ea"/>
                <a:ea typeface="+mj-ea"/>
              </a:rPr>
              <a:t>map</a:t>
            </a:r>
            <a:r>
              <a:rPr lang="zh-CN" altLang="en-US" sz="2000" dirty="0">
                <a:solidFill>
                  <a:schemeClr val="accent6">
                    <a:lumMod val="75000"/>
                  </a:schemeClr>
                </a:solidFill>
                <a:latin typeface="+mj-ea"/>
                <a:ea typeface="+mj-ea"/>
              </a:rPr>
              <a:t>，使用键</a:t>
            </a:r>
            <a:r>
              <a:rPr lang="en-US" altLang="zh-CN" sz="2000" dirty="0">
                <a:solidFill>
                  <a:schemeClr val="accent6">
                    <a:lumMod val="75000"/>
                  </a:schemeClr>
                </a:solidFill>
                <a:latin typeface="+mj-ea"/>
                <a:ea typeface="+mj-ea"/>
              </a:rPr>
              <a:t>-</a:t>
            </a:r>
            <a:r>
              <a:rPr lang="zh-CN" altLang="en-US" sz="2000" dirty="0">
                <a:solidFill>
                  <a:schemeClr val="accent6">
                    <a:lumMod val="75000"/>
                  </a:schemeClr>
                </a:solidFill>
                <a:latin typeface="+mj-ea"/>
                <a:ea typeface="+mj-ea"/>
              </a:rPr>
              <a:t>值（</a:t>
            </a:r>
            <a:r>
              <a:rPr lang="en-US" altLang="zh-CN" sz="2000" dirty="0">
                <a:solidFill>
                  <a:schemeClr val="accent6">
                    <a:lumMod val="75000"/>
                  </a:schemeClr>
                </a:solidFill>
                <a:latin typeface="+mj-ea"/>
                <a:ea typeface="+mj-ea"/>
              </a:rPr>
              <a:t>key-value</a:t>
            </a:r>
            <a:r>
              <a:rPr lang="zh-CN" altLang="en-US" sz="2000" dirty="0">
                <a:solidFill>
                  <a:schemeClr val="accent6">
                    <a:lumMod val="75000"/>
                  </a:schemeClr>
                </a:solidFill>
                <a:latin typeface="+mj-ea"/>
                <a:ea typeface="+mj-ea"/>
              </a:rPr>
              <a:t>）存储，具有极快的查找速度，其中</a:t>
            </a:r>
            <a:r>
              <a:rPr lang="en-US" altLang="zh-CN" sz="2000" dirty="0">
                <a:solidFill>
                  <a:schemeClr val="accent6">
                    <a:lumMod val="75000"/>
                  </a:schemeClr>
                </a:solidFill>
                <a:latin typeface="+mj-ea"/>
                <a:ea typeface="+mj-ea"/>
              </a:rPr>
              <a:t>key</a:t>
            </a:r>
            <a:r>
              <a:rPr lang="zh-CN" altLang="en-US" sz="2000" dirty="0">
                <a:solidFill>
                  <a:schemeClr val="accent6">
                    <a:lumMod val="75000"/>
                  </a:schemeClr>
                </a:solidFill>
                <a:latin typeface="+mj-ea"/>
                <a:ea typeface="+mj-ea"/>
              </a:rPr>
              <a:t>不能重复。</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0601" y="315029"/>
            <a:ext cx="4541837" cy="658835"/>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控制流</a:t>
            </a:r>
            <a:endParaRPr lang="zh-CN" altLang="en-US" dirty="0"/>
          </a:p>
        </p:txBody>
      </p:sp>
      <p:sp>
        <p:nvSpPr>
          <p:cNvPr id="2" name="文本框 1"/>
          <p:cNvSpPr txBox="1"/>
          <p:nvPr/>
        </p:nvSpPr>
        <p:spPr>
          <a:xfrm>
            <a:off x="1229032" y="1396181"/>
            <a:ext cx="7806813" cy="4339650"/>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顺序结构</a:t>
            </a:r>
            <a:endParaRPr lang="en-US" altLang="zh-CN" sz="2800" b="1" dirty="0">
              <a:solidFill>
                <a:schemeClr val="accent6">
                  <a:lumMod val="75000"/>
                </a:schemeClr>
              </a:solidFill>
              <a:latin typeface="+mj-ea"/>
              <a:ea typeface="+mj-ea"/>
            </a:endParaRPr>
          </a:p>
          <a:p>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分支结构</a:t>
            </a:r>
            <a:endParaRPr lang="en-US" altLang="zh-CN" sz="2800" b="1" dirty="0">
              <a:solidFill>
                <a:schemeClr val="accent6">
                  <a:lumMod val="75000"/>
                </a:schemeClr>
              </a:solidFill>
              <a:latin typeface="+mj-ea"/>
              <a:ea typeface="+mj-ea"/>
            </a:endParaRPr>
          </a:p>
          <a:p>
            <a:endParaRPr lang="zh-CN" altLang="en-US"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循环结构</a:t>
            </a:r>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en-US" altLang="zh-CN" sz="2800" b="1" dirty="0">
                <a:solidFill>
                  <a:schemeClr val="accent6">
                    <a:lumMod val="75000"/>
                  </a:schemeClr>
                </a:solidFill>
                <a:latin typeface="+mj-ea"/>
                <a:ea typeface="+mj-ea"/>
              </a:rPr>
              <a:t>break</a:t>
            </a:r>
            <a:r>
              <a:rPr lang="zh-CN" altLang="en-US" sz="2800" b="1" dirty="0">
                <a:solidFill>
                  <a:schemeClr val="accent6">
                    <a:lumMod val="75000"/>
                  </a:schemeClr>
                </a:solidFill>
                <a:latin typeface="+mj-ea"/>
                <a:ea typeface="+mj-ea"/>
              </a:rPr>
              <a:t>、</a:t>
            </a:r>
            <a:r>
              <a:rPr lang="en-US" altLang="zh-CN" sz="2800" b="1" dirty="0">
                <a:solidFill>
                  <a:schemeClr val="accent6">
                    <a:lumMod val="75000"/>
                  </a:schemeClr>
                </a:solidFill>
                <a:latin typeface="+mj-ea"/>
                <a:ea typeface="+mj-ea"/>
              </a:rPr>
              <a:t>continue</a:t>
            </a:r>
            <a:r>
              <a:rPr lang="zh-CN" altLang="en-US" sz="2800" b="1" dirty="0">
                <a:solidFill>
                  <a:schemeClr val="accent6">
                    <a:lumMod val="75000"/>
                  </a:schemeClr>
                </a:solidFill>
                <a:latin typeface="+mj-ea"/>
                <a:ea typeface="+mj-ea"/>
              </a:rPr>
              <a:t>和</a:t>
            </a:r>
            <a:r>
              <a:rPr lang="en-US" altLang="zh-CN" sz="2800" b="1" dirty="0">
                <a:solidFill>
                  <a:schemeClr val="accent6">
                    <a:lumMod val="75000"/>
                  </a:schemeClr>
                </a:solidFill>
                <a:latin typeface="+mj-ea"/>
                <a:ea typeface="+mj-ea"/>
              </a:rPr>
              <a:t>pass</a:t>
            </a:r>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列表生成式</a:t>
            </a:r>
            <a:endParaRPr lang="en-US" altLang="zh-CN" sz="2800" b="1" dirty="0">
              <a:solidFill>
                <a:schemeClr val="accent6">
                  <a:lumMod val="75000"/>
                </a:schemeClr>
              </a:solidFill>
              <a:latin typeface="+mj-ea"/>
              <a:ea typeface="+mj-ea"/>
            </a:endParaRPr>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75369" y="173507"/>
            <a:ext cx="4541837" cy="82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en-US" altLang="zh-CN" sz="3600" b="1" kern="0" dirty="0">
                <a:latin typeface="+mj-lt"/>
                <a:ea typeface="+mj-ea"/>
                <a:cs typeface="+mj-cs"/>
              </a:rPr>
              <a:t>Python</a:t>
            </a:r>
            <a:r>
              <a:rPr lang="zh-CN" altLang="en-US" sz="3600" b="1" kern="0" dirty="0">
                <a:latin typeface="+mj-lt"/>
                <a:ea typeface="+mj-ea"/>
                <a:cs typeface="+mj-cs"/>
              </a:rPr>
              <a:t>函数</a:t>
            </a:r>
            <a:endParaRPr lang="zh-CN" altLang="en-US" sz="3600" b="1" kern="0" dirty="0">
              <a:latin typeface="+mj-lt"/>
              <a:ea typeface="+mj-ea"/>
              <a:cs typeface="+mj-cs"/>
            </a:endParaRPr>
          </a:p>
        </p:txBody>
      </p:sp>
      <p:sp>
        <p:nvSpPr>
          <p:cNvPr id="2" name="文本框 1"/>
          <p:cNvSpPr txBox="1"/>
          <p:nvPr/>
        </p:nvSpPr>
        <p:spPr>
          <a:xfrm>
            <a:off x="1229032" y="1396181"/>
            <a:ext cx="9822426" cy="4370427"/>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调用函数</a:t>
            </a:r>
            <a:endParaRPr lang="en-US" altLang="zh-CN" sz="2800" b="1" dirty="0">
              <a:solidFill>
                <a:schemeClr val="accent6">
                  <a:lumMod val="75000"/>
                </a:schemeClr>
              </a:solidFill>
              <a:latin typeface="+mj-ea"/>
              <a:ea typeface="+mj-ea"/>
            </a:endParaRPr>
          </a:p>
          <a:p>
            <a:r>
              <a:rPr lang="en-US" altLang="zh-CN" sz="2000" dirty="0">
                <a:solidFill>
                  <a:schemeClr val="accent6">
                    <a:lumMod val="75000"/>
                  </a:schemeClr>
                </a:solidFill>
                <a:latin typeface="+mj-ea"/>
                <a:ea typeface="+mj-ea"/>
              </a:rPr>
              <a:t>    </a:t>
            </a:r>
            <a:r>
              <a:rPr lang="zh-CN" altLang="en-US" sz="2000" dirty="0">
                <a:solidFill>
                  <a:schemeClr val="accent6">
                    <a:lumMod val="75000"/>
                  </a:schemeClr>
                </a:solidFill>
                <a:latin typeface="+mj-ea"/>
                <a:ea typeface="+mj-ea"/>
              </a:rPr>
              <a:t>调用内置函数</a:t>
            </a:r>
            <a:endParaRPr lang="en-US" altLang="zh-CN" sz="2000" dirty="0">
              <a:solidFill>
                <a:schemeClr val="accent6">
                  <a:lumMod val="75000"/>
                </a:schemeClr>
              </a:solidFill>
              <a:latin typeface="+mj-ea"/>
              <a:ea typeface="+mj-ea"/>
            </a:endParaRPr>
          </a:p>
          <a:p>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定义函数</a:t>
            </a:r>
            <a:endParaRPr lang="en-US" altLang="zh-CN" sz="2800" b="1" dirty="0">
              <a:solidFill>
                <a:schemeClr val="accent6">
                  <a:lumMod val="75000"/>
                </a:schemeClr>
              </a:solidFill>
              <a:latin typeface="+mj-ea"/>
              <a:ea typeface="+mj-ea"/>
            </a:endParaRPr>
          </a:p>
          <a:p>
            <a:pPr lvl="1"/>
            <a:r>
              <a:rPr lang="en-US" altLang="zh-CN" sz="2000" dirty="0" err="1">
                <a:solidFill>
                  <a:schemeClr val="accent6">
                    <a:lumMod val="75000"/>
                  </a:schemeClr>
                </a:solidFill>
                <a:latin typeface="+mj-ea"/>
                <a:ea typeface="+mj-ea"/>
              </a:rPr>
              <a:t>def</a:t>
            </a:r>
            <a:r>
              <a:rPr lang="en-US" altLang="zh-CN" sz="2000" dirty="0">
                <a:solidFill>
                  <a:schemeClr val="accent6">
                    <a:lumMod val="75000"/>
                  </a:schemeClr>
                </a:solidFill>
                <a:latin typeface="+mj-ea"/>
                <a:ea typeface="+mj-ea"/>
              </a:rPr>
              <a:t> </a:t>
            </a:r>
            <a:r>
              <a:rPr lang="zh-CN" altLang="en-US" sz="2000" dirty="0">
                <a:solidFill>
                  <a:schemeClr val="accent6">
                    <a:lumMod val="75000"/>
                  </a:schemeClr>
                </a:solidFill>
                <a:latin typeface="+mj-ea"/>
                <a:ea typeface="+mj-ea"/>
              </a:rPr>
              <a:t>函数名</a:t>
            </a:r>
            <a:r>
              <a:rPr lang="en-US" altLang="zh-CN" sz="2000" dirty="0">
                <a:solidFill>
                  <a:schemeClr val="accent6">
                    <a:lumMod val="75000"/>
                  </a:schemeClr>
                </a:solidFill>
                <a:latin typeface="+mj-ea"/>
                <a:ea typeface="+mj-ea"/>
              </a:rPr>
              <a:t>()</a:t>
            </a:r>
            <a:r>
              <a:rPr lang="zh-CN" altLang="en-US" sz="2000" dirty="0">
                <a:solidFill>
                  <a:schemeClr val="accent6">
                    <a:lumMod val="75000"/>
                  </a:schemeClr>
                </a:solidFill>
                <a:latin typeface="+mj-ea"/>
                <a:ea typeface="+mj-ea"/>
              </a:rPr>
              <a:t>：</a:t>
            </a:r>
            <a:endParaRPr lang="zh-CN" altLang="en-US" sz="2000" dirty="0">
              <a:solidFill>
                <a:schemeClr val="accent6">
                  <a:lumMod val="75000"/>
                </a:schemeClr>
              </a:solidFill>
              <a:latin typeface="+mj-ea"/>
              <a:ea typeface="+mj-ea"/>
            </a:endParaRPr>
          </a:p>
          <a:p>
            <a:pPr lvl="1"/>
            <a:r>
              <a:rPr lang="zh-CN" altLang="en-US" sz="2000" dirty="0">
                <a:solidFill>
                  <a:schemeClr val="accent6">
                    <a:lumMod val="75000"/>
                  </a:schemeClr>
                </a:solidFill>
                <a:latin typeface="+mj-ea"/>
                <a:ea typeface="+mj-ea"/>
              </a:rPr>
              <a:t>    函数内容</a:t>
            </a:r>
            <a:endParaRPr lang="zh-CN" altLang="en-US" sz="2000" dirty="0">
              <a:solidFill>
                <a:schemeClr val="accent6">
                  <a:lumMod val="75000"/>
                </a:schemeClr>
              </a:solidFill>
              <a:latin typeface="+mj-ea"/>
              <a:ea typeface="+mj-ea"/>
            </a:endParaRPr>
          </a:p>
          <a:p>
            <a:pPr lvl="1"/>
            <a:r>
              <a:rPr lang="en-US" altLang="zh-CN" sz="2000" dirty="0">
                <a:solidFill>
                  <a:schemeClr val="accent6">
                    <a:lumMod val="75000"/>
                  </a:schemeClr>
                </a:solidFill>
                <a:latin typeface="+mj-ea"/>
                <a:ea typeface="+mj-ea"/>
              </a:rPr>
              <a:t>&lt;return </a:t>
            </a:r>
            <a:r>
              <a:rPr lang="zh-CN" altLang="en-US" sz="2000" dirty="0">
                <a:solidFill>
                  <a:schemeClr val="accent6">
                    <a:lumMod val="75000"/>
                  </a:schemeClr>
                </a:solidFill>
                <a:latin typeface="+mj-ea"/>
                <a:ea typeface="+mj-ea"/>
              </a:rPr>
              <a:t>返回值</a:t>
            </a:r>
            <a:r>
              <a:rPr lang="en-US" altLang="zh-CN" sz="2000" dirty="0">
                <a:solidFill>
                  <a:schemeClr val="accent6">
                    <a:lumMod val="75000"/>
                  </a:schemeClr>
                </a:solidFill>
                <a:latin typeface="+mj-ea"/>
                <a:ea typeface="+mj-ea"/>
              </a:rPr>
              <a:t>&gt;</a:t>
            </a:r>
            <a:endParaRPr lang="en-US" altLang="zh-CN" sz="2000" dirty="0">
              <a:solidFill>
                <a:schemeClr val="accent6">
                  <a:lumMod val="75000"/>
                </a:schemeClr>
              </a:solidFill>
              <a:latin typeface="+mj-ea"/>
              <a:ea typeface="+mj-ea"/>
            </a:endParaRPr>
          </a:p>
          <a:p>
            <a:pPr lvl="1"/>
            <a:endParaRPr lang="zh-CN" altLang="en-US" sz="2000" b="1" dirty="0">
              <a:solidFill>
                <a:schemeClr val="accent6">
                  <a:lumMod val="75000"/>
                </a:schemeClr>
              </a:solidFill>
              <a:latin typeface="+mj-ea"/>
              <a:ea typeface="+mj-ea"/>
            </a:endParaRPr>
          </a:p>
          <a:p>
            <a:pPr marL="285750" indent="-285750">
              <a:buFont typeface="Wingdings" panose="05000000000000000000" pitchFamily="2" charset="2"/>
              <a:buChar char="l"/>
            </a:pPr>
            <a:r>
              <a:rPr lang="zh-CN" altLang="en-US" sz="2800" b="1" dirty="0">
                <a:solidFill>
                  <a:schemeClr val="accent6">
                    <a:lumMod val="75000"/>
                  </a:schemeClr>
                </a:solidFill>
                <a:latin typeface="+mj-ea"/>
                <a:ea typeface="+mj-ea"/>
              </a:rPr>
              <a:t>高阶函数</a:t>
            </a:r>
            <a:endParaRPr lang="en-US" altLang="zh-CN" sz="2800" b="1" dirty="0">
              <a:solidFill>
                <a:schemeClr val="accent6">
                  <a:lumMod val="75000"/>
                </a:schemeClr>
              </a:solidFill>
              <a:latin typeface="+mj-ea"/>
              <a:ea typeface="+mj-ea"/>
            </a:endParaRPr>
          </a:p>
          <a:p>
            <a:r>
              <a:rPr lang="en-US" altLang="zh-CN" sz="2000" dirty="0">
                <a:solidFill>
                  <a:schemeClr val="accent6">
                    <a:lumMod val="75000"/>
                  </a:schemeClr>
                </a:solidFill>
                <a:latin typeface="+mj-ea"/>
                <a:ea typeface="+mj-ea"/>
              </a:rPr>
              <a:t>      </a:t>
            </a:r>
            <a:r>
              <a:rPr lang="zh-CN" altLang="en-US" sz="2000" dirty="0">
                <a:solidFill>
                  <a:schemeClr val="accent6">
                    <a:lumMod val="75000"/>
                  </a:schemeClr>
                </a:solidFill>
                <a:latin typeface="+mj-ea"/>
                <a:ea typeface="+mj-ea"/>
              </a:rPr>
              <a:t>匿名函数：高阶函数传入函数时，不需要显式地定义函数，直接传入匿名函数更方便（</a:t>
            </a:r>
            <a:r>
              <a:rPr lang="en-US" altLang="zh-CN" sz="2000" dirty="0">
                <a:solidFill>
                  <a:srgbClr val="FF0000"/>
                </a:solidFill>
                <a:latin typeface="+mj-ea"/>
                <a:ea typeface="+mj-ea"/>
              </a:rPr>
              <a:t>lambda</a:t>
            </a:r>
            <a:r>
              <a:rPr lang="zh-CN" altLang="en-US" sz="2000" dirty="0">
                <a:solidFill>
                  <a:schemeClr val="accent6">
                    <a:lumMod val="75000"/>
                  </a:schemeClr>
                </a:solidFill>
                <a:latin typeface="+mj-ea"/>
                <a:ea typeface="+mj-ea"/>
              </a:rPr>
              <a:t>函数）</a:t>
            </a:r>
            <a:endParaRPr lang="en-US" altLang="zh-CN" sz="2000" dirty="0">
              <a:solidFill>
                <a:schemeClr val="accent6">
                  <a:lumMod val="75000"/>
                </a:schemeClr>
              </a:solidFill>
              <a:latin typeface="+mj-ea"/>
              <a:ea typeface="+mj-ea"/>
            </a:endParaRPr>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9032" y="1396181"/>
            <a:ext cx="9822426" cy="5016758"/>
          </a:xfrm>
          <a:prstGeom prst="rect">
            <a:avLst/>
          </a:prstGeom>
          <a:noFill/>
        </p:spPr>
        <p:txBody>
          <a:bodyPr wrap="square" rtlCol="0">
            <a:spAutoFit/>
          </a:bodyPr>
          <a:lstStyle/>
          <a:p>
            <a:pPr marL="285750" indent="-285750">
              <a:buFont typeface="Wingdings" panose="05000000000000000000" pitchFamily="2" charset="2"/>
              <a:buChar char="l"/>
            </a:pPr>
            <a:r>
              <a:rPr lang="en-US" altLang="zh-CN" sz="3200" b="1" dirty="0">
                <a:solidFill>
                  <a:schemeClr val="accent6">
                    <a:lumMod val="75000"/>
                  </a:schemeClr>
                </a:solidFill>
                <a:latin typeface="+mn-ea"/>
                <a:ea typeface="+mn-ea"/>
              </a:rPr>
              <a:t>NumPy</a:t>
            </a: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3200" b="1" dirty="0">
                <a:solidFill>
                  <a:schemeClr val="accent6">
                    <a:lumMod val="75000"/>
                  </a:schemeClr>
                </a:solidFill>
                <a:latin typeface="+mn-ea"/>
                <a:ea typeface="+mn-ea"/>
              </a:rPr>
              <a:t>Pandas</a:t>
            </a: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3200" b="1" dirty="0">
                <a:solidFill>
                  <a:schemeClr val="accent6">
                    <a:lumMod val="75000"/>
                  </a:schemeClr>
                </a:solidFill>
                <a:latin typeface="+mn-ea"/>
                <a:ea typeface="+mn-ea"/>
              </a:rPr>
              <a:t>SciPy</a:t>
            </a: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3200" b="1" dirty="0">
                <a:solidFill>
                  <a:schemeClr val="accent6">
                    <a:lumMod val="75000"/>
                  </a:schemeClr>
                </a:solidFill>
                <a:latin typeface="+mn-ea"/>
                <a:ea typeface="+mn-ea"/>
              </a:rPr>
              <a:t>Matplotlib</a:t>
            </a: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endParaRPr lang="en-US" altLang="zh-CN" sz="3200" b="1" dirty="0">
              <a:solidFill>
                <a:schemeClr val="accent6">
                  <a:lumMod val="75000"/>
                </a:schemeClr>
              </a:solidFill>
              <a:latin typeface="+mn-ea"/>
              <a:ea typeface="+mn-ea"/>
            </a:endParaRPr>
          </a:p>
          <a:p>
            <a:pPr marL="285750" indent="-285750">
              <a:buFont typeface="Wingdings" panose="05000000000000000000" pitchFamily="2" charset="2"/>
              <a:buChar char="l"/>
            </a:pPr>
            <a:r>
              <a:rPr lang="en-US" altLang="zh-CN" sz="3200" b="1" dirty="0">
                <a:solidFill>
                  <a:schemeClr val="accent6">
                    <a:lumMod val="75000"/>
                  </a:schemeClr>
                </a:solidFill>
                <a:latin typeface="+mn-ea"/>
              </a:rPr>
              <a:t>Scikit-learn</a:t>
            </a:r>
            <a:endParaRPr lang="en-US" altLang="zh-CN" sz="3200" b="1" dirty="0">
              <a:solidFill>
                <a:schemeClr val="accent6">
                  <a:lumMod val="75000"/>
                </a:schemeClr>
              </a:solidFill>
              <a:latin typeface="+mn-ea"/>
            </a:endParaRPr>
          </a:p>
          <a:p>
            <a:pPr marL="285750" indent="-285750">
              <a:buFont typeface="Wingdings" panose="05000000000000000000" pitchFamily="2" charset="2"/>
              <a:buChar char="l"/>
            </a:pPr>
            <a:endParaRPr lang="en-US" altLang="zh-CN" sz="3200" b="1" dirty="0">
              <a:solidFill>
                <a:schemeClr val="accent6">
                  <a:lumMod val="75000"/>
                </a:schemeClr>
              </a:solidFill>
              <a:latin typeface="+mn-ea"/>
              <a:ea typeface="+mn-ea"/>
            </a:endParaRPr>
          </a:p>
        </p:txBody>
      </p:sp>
      <p:sp>
        <p:nvSpPr>
          <p:cNvPr id="11" name="文本框 22"/>
          <p:cNvSpPr txBox="1">
            <a:spLocks noChangeArrowheads="1"/>
          </p:cNvSpPr>
          <p:nvPr/>
        </p:nvSpPr>
        <p:spPr bwMode="auto">
          <a:xfrm>
            <a:off x="623664" y="315533"/>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23664" y="315533"/>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a:t>
            </a:r>
            <a:r>
              <a:rPr lang="en-US" altLang="zh-CN" dirty="0" err="1"/>
              <a:t>NumPy</a:t>
            </a:r>
            <a:endParaRPr lang="zh-CN" altLang="en-US" dirty="0"/>
          </a:p>
          <a:p>
            <a:endParaRPr lang="zh-CN" altLang="en-US" dirty="0"/>
          </a:p>
        </p:txBody>
      </p:sp>
      <p:sp>
        <p:nvSpPr>
          <p:cNvPr id="2" name="文本框 1"/>
          <p:cNvSpPr txBox="1"/>
          <p:nvPr/>
        </p:nvSpPr>
        <p:spPr>
          <a:xfrm>
            <a:off x="623664" y="1364786"/>
            <a:ext cx="9822426" cy="5085495"/>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a:solidFill>
                  <a:schemeClr val="accent6">
                    <a:lumMod val="75000"/>
                  </a:schemeClr>
                </a:solidFill>
                <a:latin typeface="+mj-ea"/>
                <a:ea typeface="+mj-ea"/>
              </a:rPr>
              <a:t>NumPy</a:t>
            </a:r>
            <a:endParaRPr lang="en-US" altLang="zh-CN" sz="2800" b="1"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NumPy</a:t>
            </a:r>
            <a:r>
              <a:rPr lang="zh-CN" altLang="en-US" sz="2000" dirty="0">
                <a:solidFill>
                  <a:schemeClr val="accent6">
                    <a:lumMod val="75000"/>
                  </a:schemeClr>
                </a:solidFill>
                <a:latin typeface="+mj-ea"/>
                <a:ea typeface="+mj-ea"/>
              </a:rPr>
              <a:t>是一个用</a:t>
            </a:r>
            <a:r>
              <a:rPr lang="en-US" altLang="zh-CN" sz="2000" dirty="0">
                <a:solidFill>
                  <a:schemeClr val="accent6">
                    <a:lumMod val="75000"/>
                  </a:schemeClr>
                </a:solidFill>
                <a:latin typeface="+mj-ea"/>
                <a:ea typeface="+mj-ea"/>
              </a:rPr>
              <a:t>Python</a:t>
            </a:r>
            <a:r>
              <a:rPr lang="zh-CN" altLang="en-US" sz="2000" dirty="0">
                <a:solidFill>
                  <a:schemeClr val="accent6">
                    <a:lumMod val="75000"/>
                  </a:schemeClr>
                </a:solidFill>
                <a:latin typeface="+mj-ea"/>
                <a:ea typeface="+mj-ea"/>
              </a:rPr>
              <a:t>实现的科学计算的扩展程序库，包括：</a:t>
            </a:r>
            <a:endParaRPr lang="zh-CN" altLang="en-US" sz="2000"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1</a:t>
            </a:r>
            <a:r>
              <a:rPr lang="zh-CN" altLang="en-US" sz="2000" dirty="0">
                <a:solidFill>
                  <a:schemeClr val="accent6">
                    <a:lumMod val="75000"/>
                  </a:schemeClr>
                </a:solidFill>
                <a:latin typeface="+mj-ea"/>
                <a:ea typeface="+mj-ea"/>
              </a:rPr>
              <a:t>、一个强大的</a:t>
            </a:r>
            <a:r>
              <a:rPr lang="en-US" altLang="zh-CN" sz="2000" dirty="0">
                <a:solidFill>
                  <a:schemeClr val="accent6">
                    <a:lumMod val="75000"/>
                  </a:schemeClr>
                </a:solidFill>
                <a:latin typeface="+mj-ea"/>
                <a:ea typeface="+mj-ea"/>
              </a:rPr>
              <a:t>N</a:t>
            </a:r>
            <a:r>
              <a:rPr lang="zh-CN" altLang="en-US" sz="2000" dirty="0">
                <a:solidFill>
                  <a:schemeClr val="accent6">
                    <a:lumMod val="75000"/>
                  </a:schemeClr>
                </a:solidFill>
                <a:latin typeface="+mj-ea"/>
                <a:ea typeface="+mj-ea"/>
              </a:rPr>
              <a:t>维数组对象</a:t>
            </a:r>
            <a:r>
              <a:rPr lang="en-US" altLang="zh-CN" sz="2000" dirty="0">
                <a:solidFill>
                  <a:schemeClr val="accent6">
                    <a:lumMod val="75000"/>
                  </a:schemeClr>
                </a:solidFill>
                <a:latin typeface="+mj-ea"/>
                <a:ea typeface="+mj-ea"/>
              </a:rPr>
              <a:t>Array</a:t>
            </a:r>
            <a:r>
              <a:rPr lang="zh-CN" altLang="en-US" sz="2000" dirty="0">
                <a:solidFill>
                  <a:schemeClr val="accent6">
                    <a:lumMod val="75000"/>
                  </a:schemeClr>
                </a:solidFill>
                <a:latin typeface="+mj-ea"/>
                <a:ea typeface="+mj-ea"/>
              </a:rPr>
              <a:t>；</a:t>
            </a:r>
            <a:endParaRPr lang="zh-CN" altLang="en-US" sz="2000"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2</a:t>
            </a:r>
            <a:r>
              <a:rPr lang="zh-CN" altLang="en-US" sz="2000" dirty="0">
                <a:solidFill>
                  <a:schemeClr val="accent6">
                    <a:lumMod val="75000"/>
                  </a:schemeClr>
                </a:solidFill>
                <a:latin typeface="+mj-ea"/>
                <a:ea typeface="+mj-ea"/>
              </a:rPr>
              <a:t>、比较成熟的（广播）函数库；</a:t>
            </a:r>
            <a:endParaRPr lang="zh-CN" altLang="en-US" sz="2000"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3</a:t>
            </a:r>
            <a:r>
              <a:rPr lang="zh-CN" altLang="en-US" sz="2000" dirty="0">
                <a:solidFill>
                  <a:schemeClr val="accent6">
                    <a:lumMod val="75000"/>
                  </a:schemeClr>
                </a:solidFill>
                <a:latin typeface="+mj-ea"/>
                <a:ea typeface="+mj-ea"/>
              </a:rPr>
              <a:t>、用于整合</a:t>
            </a:r>
            <a:r>
              <a:rPr lang="en-US" altLang="zh-CN" sz="2000" dirty="0">
                <a:solidFill>
                  <a:schemeClr val="accent6">
                    <a:lumMod val="75000"/>
                  </a:schemeClr>
                </a:solidFill>
                <a:latin typeface="+mj-ea"/>
                <a:ea typeface="+mj-ea"/>
              </a:rPr>
              <a:t>C/C++</a:t>
            </a:r>
            <a:r>
              <a:rPr lang="zh-CN" altLang="en-US" sz="2000" dirty="0">
                <a:solidFill>
                  <a:schemeClr val="accent6">
                    <a:lumMod val="75000"/>
                  </a:schemeClr>
                </a:solidFill>
                <a:latin typeface="+mj-ea"/>
                <a:ea typeface="+mj-ea"/>
              </a:rPr>
              <a:t>和</a:t>
            </a:r>
            <a:r>
              <a:rPr lang="en-US" altLang="zh-CN" sz="2000" dirty="0">
                <a:solidFill>
                  <a:schemeClr val="accent6">
                    <a:lumMod val="75000"/>
                  </a:schemeClr>
                </a:solidFill>
                <a:latin typeface="+mj-ea"/>
                <a:ea typeface="+mj-ea"/>
              </a:rPr>
              <a:t>Fortran</a:t>
            </a:r>
            <a:r>
              <a:rPr lang="zh-CN" altLang="en-US" sz="2000" dirty="0">
                <a:solidFill>
                  <a:schemeClr val="accent6">
                    <a:lumMod val="75000"/>
                  </a:schemeClr>
                </a:solidFill>
                <a:latin typeface="+mj-ea"/>
                <a:ea typeface="+mj-ea"/>
              </a:rPr>
              <a:t>代码的工具包；</a:t>
            </a:r>
            <a:endParaRPr lang="zh-CN" altLang="en-US" sz="2000"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4</a:t>
            </a:r>
            <a:r>
              <a:rPr lang="zh-CN" altLang="en-US" sz="2000" dirty="0">
                <a:solidFill>
                  <a:schemeClr val="accent6">
                    <a:lumMod val="75000"/>
                  </a:schemeClr>
                </a:solidFill>
                <a:latin typeface="+mj-ea"/>
                <a:ea typeface="+mj-ea"/>
              </a:rPr>
              <a:t>、实用的线性代数、傅里叶变换和随机数生成函数。</a:t>
            </a:r>
            <a:r>
              <a:rPr lang="en-US" altLang="zh-CN" sz="2000" dirty="0" err="1">
                <a:solidFill>
                  <a:schemeClr val="accent6">
                    <a:lumMod val="75000"/>
                  </a:schemeClr>
                </a:solidFill>
                <a:latin typeface="+mj-ea"/>
                <a:ea typeface="+mj-ea"/>
              </a:rPr>
              <a:t>numpy</a:t>
            </a:r>
            <a:r>
              <a:rPr lang="zh-CN" altLang="en-US" sz="2000" dirty="0">
                <a:solidFill>
                  <a:schemeClr val="accent6">
                    <a:lumMod val="75000"/>
                  </a:schemeClr>
                </a:solidFill>
                <a:latin typeface="+mj-ea"/>
                <a:ea typeface="+mj-ea"/>
              </a:rPr>
              <a:t>和稀疏矩阵运算包</a:t>
            </a:r>
            <a:r>
              <a:rPr lang="en-US" altLang="zh-CN" sz="2000" dirty="0" err="1">
                <a:solidFill>
                  <a:schemeClr val="accent6">
                    <a:lumMod val="75000"/>
                  </a:schemeClr>
                </a:solidFill>
                <a:latin typeface="+mj-ea"/>
                <a:ea typeface="+mj-ea"/>
              </a:rPr>
              <a:t>scipy</a:t>
            </a:r>
            <a:r>
              <a:rPr lang="zh-CN" altLang="en-US" sz="2000" dirty="0">
                <a:solidFill>
                  <a:schemeClr val="accent6">
                    <a:lumMod val="75000"/>
                  </a:schemeClr>
                </a:solidFill>
                <a:latin typeface="+mj-ea"/>
                <a:ea typeface="+mj-ea"/>
              </a:rPr>
              <a:t>配合使用更加方便。</a:t>
            </a:r>
            <a:endParaRPr lang="zh-CN" altLang="en-US" sz="2000" dirty="0">
              <a:solidFill>
                <a:schemeClr val="accent6">
                  <a:lumMod val="75000"/>
                </a:schemeClr>
              </a:solidFill>
              <a:latin typeface="+mj-ea"/>
              <a:ea typeface="+mj-ea"/>
            </a:endParaRPr>
          </a:p>
          <a:p>
            <a:pPr>
              <a:lnSpc>
                <a:spcPct val="150000"/>
              </a:lnSpc>
            </a:pPr>
            <a:r>
              <a:rPr lang="en-US" altLang="zh-CN" sz="2000" dirty="0">
                <a:solidFill>
                  <a:schemeClr val="accent6">
                    <a:lumMod val="75000"/>
                  </a:schemeClr>
                </a:solidFill>
                <a:latin typeface="+mj-ea"/>
                <a:ea typeface="+mj-ea"/>
              </a:rPr>
              <a:t>NumPy</a:t>
            </a:r>
            <a:r>
              <a:rPr lang="zh-CN" altLang="en-US" sz="2000" dirty="0">
                <a:solidFill>
                  <a:schemeClr val="accent6">
                    <a:lumMod val="75000"/>
                  </a:schemeClr>
                </a:solidFill>
                <a:latin typeface="+mj-ea"/>
                <a:ea typeface="+mj-ea"/>
              </a:rPr>
              <a:t>（</a:t>
            </a:r>
            <a:r>
              <a:rPr lang="en-US" altLang="zh-CN" sz="2000" dirty="0">
                <a:solidFill>
                  <a:schemeClr val="accent6">
                    <a:lumMod val="75000"/>
                  </a:schemeClr>
                </a:solidFill>
                <a:latin typeface="+mj-ea"/>
                <a:ea typeface="+mj-ea"/>
              </a:rPr>
              <a:t>Numeric Python</a:t>
            </a:r>
            <a:r>
              <a:rPr lang="zh-CN" altLang="en-US" sz="2000" dirty="0">
                <a:solidFill>
                  <a:schemeClr val="accent6">
                    <a:lumMod val="75000"/>
                  </a:schemeClr>
                </a:solidFill>
                <a:latin typeface="+mj-ea"/>
                <a:ea typeface="+mj-ea"/>
              </a:rPr>
              <a:t>）提供了许多高级的数值编程工具，如：矩阵数据类型、矢量处理，以及精密的运算库。专为进行严格的数字处理而产生。多为很多大型金融公司使用，以及核心的科学计算组织如：</a:t>
            </a:r>
            <a:r>
              <a:rPr lang="en-US" altLang="zh-CN" sz="2000" dirty="0">
                <a:solidFill>
                  <a:schemeClr val="accent6">
                    <a:lumMod val="75000"/>
                  </a:schemeClr>
                </a:solidFill>
                <a:latin typeface="+mj-ea"/>
                <a:ea typeface="+mj-ea"/>
              </a:rPr>
              <a:t>Lawrence Livermore</a:t>
            </a:r>
            <a:r>
              <a:rPr lang="zh-CN" altLang="en-US" sz="2000" dirty="0">
                <a:solidFill>
                  <a:schemeClr val="accent6">
                    <a:lumMod val="75000"/>
                  </a:schemeClr>
                </a:solidFill>
                <a:latin typeface="+mj-ea"/>
                <a:ea typeface="+mj-ea"/>
              </a:rPr>
              <a:t>，</a:t>
            </a:r>
            <a:r>
              <a:rPr lang="en-US" altLang="zh-CN" sz="2000" dirty="0">
                <a:solidFill>
                  <a:schemeClr val="accent6">
                    <a:lumMod val="75000"/>
                  </a:schemeClr>
                </a:solidFill>
                <a:latin typeface="+mj-ea"/>
                <a:ea typeface="+mj-ea"/>
              </a:rPr>
              <a:t>NASA</a:t>
            </a:r>
            <a:r>
              <a:rPr lang="zh-CN" altLang="en-US" sz="2000" dirty="0">
                <a:solidFill>
                  <a:schemeClr val="accent6">
                    <a:lumMod val="75000"/>
                  </a:schemeClr>
                </a:solidFill>
                <a:latin typeface="+mj-ea"/>
                <a:ea typeface="+mj-ea"/>
              </a:rPr>
              <a:t>用其处理一些本来使用</a:t>
            </a:r>
            <a:r>
              <a:rPr lang="en-US" altLang="zh-CN" sz="2000" dirty="0">
                <a:solidFill>
                  <a:schemeClr val="accent6">
                    <a:lumMod val="75000"/>
                  </a:schemeClr>
                </a:solidFill>
                <a:latin typeface="+mj-ea"/>
                <a:ea typeface="+mj-ea"/>
              </a:rPr>
              <a:t>C++</a:t>
            </a:r>
            <a:r>
              <a:rPr lang="zh-CN" altLang="en-US" sz="2000" dirty="0">
                <a:solidFill>
                  <a:schemeClr val="accent6">
                    <a:lumMod val="75000"/>
                  </a:schemeClr>
                </a:solidFill>
                <a:latin typeface="+mj-ea"/>
                <a:ea typeface="+mj-ea"/>
              </a:rPr>
              <a:t>，</a:t>
            </a:r>
            <a:r>
              <a:rPr lang="en-US" altLang="zh-CN" sz="2000" dirty="0">
                <a:solidFill>
                  <a:schemeClr val="accent6">
                    <a:lumMod val="75000"/>
                  </a:schemeClr>
                </a:solidFill>
                <a:latin typeface="+mj-ea"/>
                <a:ea typeface="+mj-ea"/>
              </a:rPr>
              <a:t>Fortran</a:t>
            </a:r>
            <a:r>
              <a:rPr lang="zh-CN" altLang="en-US" sz="2000" dirty="0">
                <a:solidFill>
                  <a:schemeClr val="accent6">
                    <a:lumMod val="75000"/>
                  </a:schemeClr>
                </a:solidFill>
                <a:latin typeface="+mj-ea"/>
                <a:ea typeface="+mj-ea"/>
              </a:rPr>
              <a:t>或</a:t>
            </a:r>
            <a:r>
              <a:rPr lang="en-US" altLang="zh-CN" sz="2000" dirty="0" err="1">
                <a:solidFill>
                  <a:schemeClr val="accent6">
                    <a:lumMod val="75000"/>
                  </a:schemeClr>
                </a:solidFill>
                <a:latin typeface="+mj-ea"/>
                <a:ea typeface="+mj-ea"/>
              </a:rPr>
              <a:t>Matlab</a:t>
            </a:r>
            <a:r>
              <a:rPr lang="zh-CN" altLang="en-US" sz="2000" dirty="0">
                <a:solidFill>
                  <a:schemeClr val="accent6">
                    <a:lumMod val="75000"/>
                  </a:schemeClr>
                </a:solidFill>
                <a:latin typeface="+mj-ea"/>
                <a:ea typeface="+mj-ea"/>
              </a:rPr>
              <a:t>等所做的任务。</a:t>
            </a:r>
            <a:endParaRPr lang="en-US" altLang="zh-CN" sz="2000" dirty="0">
              <a:solidFill>
                <a:schemeClr val="accent6">
                  <a:lumMod val="75000"/>
                </a:schemeClr>
              </a:solidFill>
              <a:latin typeface="+mj-ea"/>
              <a:ea typeface="+mj-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49422" y="195852"/>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a:t>
            </a:r>
            <a:r>
              <a:rPr lang="en-US" altLang="zh-CN" dirty="0" err="1"/>
              <a:t>NumPy</a:t>
            </a:r>
            <a:endParaRPr lang="zh-CN" altLang="en-US" dirty="0"/>
          </a:p>
          <a:p>
            <a:endParaRPr lang="zh-CN" altLang="en-US" dirty="0"/>
          </a:p>
        </p:txBody>
      </p:sp>
      <p:sp>
        <p:nvSpPr>
          <p:cNvPr id="2" name="文本框 1"/>
          <p:cNvSpPr txBox="1"/>
          <p:nvPr/>
        </p:nvSpPr>
        <p:spPr>
          <a:xfrm>
            <a:off x="649422" y="1396181"/>
            <a:ext cx="9822426" cy="523220"/>
          </a:xfrm>
          <a:prstGeom prst="rect">
            <a:avLst/>
          </a:prstGeom>
          <a:noFill/>
        </p:spPr>
        <p:txBody>
          <a:bodyPr wrap="square" rtlCol="0">
            <a:spAutoFit/>
          </a:bodyPr>
          <a:lstStyle/>
          <a:p>
            <a:r>
              <a:rPr lang="zh-CN" altLang="en-US" sz="2800" b="1" dirty="0">
                <a:solidFill>
                  <a:schemeClr val="accent6">
                    <a:lumMod val="75000"/>
                  </a:schemeClr>
                </a:solidFill>
                <a:latin typeface="+mj-ea"/>
                <a:ea typeface="+mj-ea"/>
              </a:rPr>
              <a:t>切片</a:t>
            </a:r>
            <a:endParaRPr lang="en-US" altLang="zh-CN" sz="2800" b="1" dirty="0">
              <a:solidFill>
                <a:schemeClr val="accent6">
                  <a:lumMod val="75000"/>
                </a:schemeClr>
              </a:solidFill>
              <a:latin typeface="+mj-ea"/>
              <a:ea typeface="+mj-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8363" y="2127915"/>
            <a:ext cx="5000625" cy="2543175"/>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500" y="2276334"/>
            <a:ext cx="4762500" cy="20955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72148" y="295856"/>
            <a:ext cx="4541837" cy="646331"/>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a:t>
            </a:r>
            <a:r>
              <a:rPr lang="en-US" altLang="zh-CN" dirty="0" err="1"/>
              <a:t>NumPy</a:t>
            </a:r>
            <a:endParaRPr lang="zh-CN" altLang="en-US" dirty="0"/>
          </a:p>
        </p:txBody>
      </p:sp>
      <p:sp>
        <p:nvSpPr>
          <p:cNvPr id="2" name="文本框 1"/>
          <p:cNvSpPr txBox="1"/>
          <p:nvPr/>
        </p:nvSpPr>
        <p:spPr>
          <a:xfrm>
            <a:off x="644287" y="1423652"/>
            <a:ext cx="9822426" cy="523220"/>
          </a:xfrm>
          <a:prstGeom prst="rect">
            <a:avLst/>
          </a:prstGeom>
          <a:noFill/>
        </p:spPr>
        <p:txBody>
          <a:bodyPr wrap="square" rtlCol="0">
            <a:spAutoFit/>
          </a:bodyPr>
          <a:lstStyle/>
          <a:p>
            <a:r>
              <a:rPr lang="zh-CN" altLang="en-US" sz="2800" b="1" dirty="0">
                <a:solidFill>
                  <a:schemeClr val="accent6">
                    <a:lumMod val="75000"/>
                  </a:schemeClr>
                </a:solidFill>
                <a:latin typeface="+mj-ea"/>
                <a:ea typeface="+mj-ea"/>
              </a:rPr>
              <a:t>广播</a:t>
            </a:r>
            <a:endParaRPr lang="en-US" altLang="zh-CN" sz="2800" b="1" dirty="0">
              <a:solidFill>
                <a:schemeClr val="accent6">
                  <a:lumMod val="75000"/>
                </a:schemeClr>
              </a:solidFill>
              <a:latin typeface="+mj-ea"/>
              <a:ea typeface="+mj-ea"/>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62582" y="1396181"/>
            <a:ext cx="6810683" cy="510801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1467" y="315175"/>
            <a:ext cx="4541837" cy="661848"/>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p:txBody>
      </p:sp>
      <p:sp>
        <p:nvSpPr>
          <p:cNvPr id="2" name="文本框 1"/>
          <p:cNvSpPr txBox="1"/>
          <p:nvPr/>
        </p:nvSpPr>
        <p:spPr>
          <a:xfrm>
            <a:off x="1229032" y="1396181"/>
            <a:ext cx="9822426" cy="437575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a:solidFill>
                  <a:schemeClr val="accent6">
                    <a:lumMod val="75000"/>
                  </a:schemeClr>
                </a:solidFill>
                <a:latin typeface="+mj-ea"/>
                <a:ea typeface="+mj-ea"/>
              </a:rPr>
              <a:t>Pandas</a:t>
            </a:r>
            <a:endParaRPr lang="en-US" altLang="zh-CN" sz="2800" b="1" dirty="0">
              <a:solidFill>
                <a:schemeClr val="accent6">
                  <a:lumMod val="75000"/>
                </a:schemeClr>
              </a:solidFill>
              <a:latin typeface="+mj-ea"/>
              <a:ea typeface="+mj-ea"/>
            </a:endParaRPr>
          </a:p>
          <a:p>
            <a:endParaRPr lang="en-US" altLang="zh-CN" sz="2800" b="1" dirty="0">
              <a:solidFill>
                <a:schemeClr val="accent6">
                  <a:lumMod val="75000"/>
                </a:schemeClr>
              </a:solidFill>
              <a:latin typeface="+mj-ea"/>
              <a:ea typeface="+mj-ea"/>
            </a:endParaRPr>
          </a:p>
          <a:p>
            <a:r>
              <a:rPr lang="en-US" altLang="zh-CN" dirty="0">
                <a:solidFill>
                  <a:schemeClr val="accent6"/>
                </a:solidFill>
                <a:latin typeface="+mj-ea"/>
                <a:ea typeface="+mj-ea"/>
              </a:rPr>
              <a:t>Pandas </a:t>
            </a:r>
            <a:r>
              <a:rPr lang="zh-CN" altLang="en-US" dirty="0">
                <a:solidFill>
                  <a:schemeClr val="accent6"/>
                </a:solidFill>
                <a:latin typeface="+mj-ea"/>
                <a:ea typeface="+mj-ea"/>
              </a:rPr>
              <a:t>是基于</a:t>
            </a:r>
            <a:r>
              <a:rPr lang="en-US" altLang="zh-CN" dirty="0">
                <a:solidFill>
                  <a:schemeClr val="accent6"/>
                </a:solidFill>
                <a:latin typeface="+mj-ea"/>
                <a:ea typeface="+mj-ea"/>
              </a:rPr>
              <a:t>NumPy</a:t>
            </a:r>
            <a:r>
              <a:rPr lang="zh-CN" altLang="en-US" dirty="0">
                <a:solidFill>
                  <a:schemeClr val="accent6"/>
                </a:solidFill>
                <a:latin typeface="+mj-ea"/>
                <a:ea typeface="+mj-ea"/>
              </a:rPr>
              <a:t> 的一种工具，该工具是为了解决数据分析任务而创建的。</a:t>
            </a:r>
            <a:endParaRPr lang="en-US" altLang="zh-CN" dirty="0">
              <a:solidFill>
                <a:schemeClr val="accent6"/>
              </a:solidFill>
              <a:latin typeface="+mj-ea"/>
              <a:ea typeface="+mj-ea"/>
            </a:endParaRPr>
          </a:p>
          <a:p>
            <a:endParaRPr lang="en-US" altLang="zh-CN" dirty="0">
              <a:solidFill>
                <a:schemeClr val="accent6"/>
              </a:solidFill>
              <a:latin typeface="+mj-ea"/>
              <a:ea typeface="+mj-ea"/>
            </a:endParaRPr>
          </a:p>
          <a:p>
            <a:pPr>
              <a:lnSpc>
                <a:spcPct val="150000"/>
              </a:lnSpc>
            </a:pPr>
            <a:r>
              <a:rPr lang="en-US" altLang="zh-CN" dirty="0">
                <a:solidFill>
                  <a:schemeClr val="accent6"/>
                </a:solidFill>
                <a:latin typeface="+mj-ea"/>
                <a:ea typeface="+mj-ea"/>
              </a:rPr>
              <a:t>Pandas </a:t>
            </a:r>
            <a:r>
              <a:rPr lang="zh-CN" altLang="en-US" dirty="0">
                <a:solidFill>
                  <a:schemeClr val="accent6"/>
                </a:solidFill>
                <a:latin typeface="+mj-ea"/>
                <a:ea typeface="+mj-ea"/>
              </a:rPr>
              <a:t>纳入了大量库和一些标准的数据模型，提供了高效地操作大型数据集所需的工具。</a:t>
            </a:r>
            <a:r>
              <a:rPr lang="en-US" altLang="zh-CN" dirty="0">
                <a:solidFill>
                  <a:schemeClr val="accent6"/>
                </a:solidFill>
                <a:latin typeface="+mj-ea"/>
                <a:ea typeface="+mj-ea"/>
              </a:rPr>
              <a:t>Pandas</a:t>
            </a:r>
            <a:r>
              <a:rPr lang="zh-CN" altLang="en-US" dirty="0">
                <a:solidFill>
                  <a:schemeClr val="accent6"/>
                </a:solidFill>
                <a:latin typeface="+mj-ea"/>
                <a:ea typeface="+mj-ea"/>
              </a:rPr>
              <a:t>提供了大量能使我们快速便捷地处理数据的函数和方法。你很快就会发现，它是使</a:t>
            </a:r>
            <a:r>
              <a:rPr lang="en-US" altLang="zh-CN" dirty="0">
                <a:solidFill>
                  <a:schemeClr val="accent6"/>
                </a:solidFill>
                <a:latin typeface="+mj-ea"/>
                <a:ea typeface="+mj-ea"/>
              </a:rPr>
              <a:t>Python</a:t>
            </a:r>
            <a:r>
              <a:rPr lang="zh-CN" altLang="en-US" dirty="0">
                <a:solidFill>
                  <a:schemeClr val="accent6"/>
                </a:solidFill>
                <a:latin typeface="+mj-ea"/>
                <a:ea typeface="+mj-ea"/>
              </a:rPr>
              <a:t>成为强大而高效的数据分析环境的重要因素之一</a:t>
            </a:r>
            <a:r>
              <a:rPr lang="zh-CN" altLang="en-US" sz="3200" dirty="0">
                <a:solidFill>
                  <a:schemeClr val="accent6"/>
                </a:solidFill>
                <a:latin typeface="+mj-ea"/>
                <a:ea typeface="+mj-ea"/>
              </a:rPr>
              <a:t>。</a:t>
            </a:r>
            <a:endParaRPr lang="en-US" altLang="zh-CN" sz="3200" dirty="0">
              <a:solidFill>
                <a:schemeClr val="accent6"/>
              </a:solidFill>
              <a:latin typeface="+mj-ea"/>
              <a:ea typeface="+mj-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23665" y="341171"/>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a:p>
            <a:endParaRPr lang="zh-CN" altLang="en-US" dirty="0"/>
          </a:p>
        </p:txBody>
      </p:sp>
      <p:sp>
        <p:nvSpPr>
          <p:cNvPr id="2" name="文本框 1"/>
          <p:cNvSpPr txBox="1"/>
          <p:nvPr/>
        </p:nvSpPr>
        <p:spPr>
          <a:xfrm>
            <a:off x="1229032" y="1396181"/>
            <a:ext cx="9822426" cy="892552"/>
          </a:xfrm>
          <a:prstGeom prst="rect">
            <a:avLst/>
          </a:prstGeom>
          <a:noFill/>
        </p:spPr>
        <p:txBody>
          <a:bodyPr wrap="square" rtlCol="0">
            <a:spAutoFit/>
          </a:bodyPr>
          <a:lstStyle/>
          <a:p>
            <a:pPr marL="285750" indent="-285750">
              <a:buFont typeface="Wingdings" panose="05000000000000000000" pitchFamily="2" charset="2"/>
              <a:buChar char="l"/>
            </a:pPr>
            <a:r>
              <a:rPr lang="zh-CN" altLang="en-US" b="1" dirty="0">
                <a:solidFill>
                  <a:schemeClr val="accent6">
                    <a:lumMod val="75000"/>
                  </a:schemeClr>
                </a:solidFill>
                <a:latin typeface="+mj-ea"/>
                <a:ea typeface="+mj-ea"/>
              </a:rPr>
              <a:t>基本数据结构</a:t>
            </a:r>
            <a:endParaRPr lang="en-US" altLang="zh-CN" b="1" dirty="0">
              <a:solidFill>
                <a:schemeClr val="accent6">
                  <a:lumMod val="75000"/>
                </a:schemeClr>
              </a:solidFill>
              <a:latin typeface="+mj-ea"/>
              <a:ea typeface="+mj-ea"/>
            </a:endParaRPr>
          </a:p>
          <a:p>
            <a:endParaRPr lang="en-US" altLang="zh-CN" sz="2800" b="1" dirty="0">
              <a:solidFill>
                <a:schemeClr val="accent6">
                  <a:lumMod val="75000"/>
                </a:schemeClr>
              </a:solidFill>
              <a:latin typeface="+mn-ea"/>
              <a:ea typeface="+mn-ea"/>
            </a:endParaRPr>
          </a:p>
        </p:txBody>
      </p:sp>
      <p:sp>
        <p:nvSpPr>
          <p:cNvPr id="12" name="object 13"/>
          <p:cNvSpPr txBox="1"/>
          <p:nvPr/>
        </p:nvSpPr>
        <p:spPr>
          <a:xfrm>
            <a:off x="1445418" y="2154956"/>
            <a:ext cx="3387725" cy="1250342"/>
          </a:xfrm>
          <a:prstGeom prst="rect">
            <a:avLst/>
          </a:prstGeom>
        </p:spPr>
        <p:txBody>
          <a:bodyPr vert="horz" wrap="square" lIns="0" tIns="13970" rIns="0" bIns="0" rtlCol="0">
            <a:spAutoFit/>
          </a:bodyPr>
          <a:lstStyle/>
          <a:p>
            <a:pPr>
              <a:lnSpc>
                <a:spcPct val="100000"/>
              </a:lnSpc>
              <a:spcBef>
                <a:spcPts val="110"/>
              </a:spcBef>
            </a:pPr>
            <a:r>
              <a:rPr spc="5" dirty="0">
                <a:latin typeface="+mj-ea"/>
                <a:ea typeface="+mj-ea"/>
              </a:rPr>
              <a:t>Series</a:t>
            </a:r>
            <a:endParaRPr spc="5" dirty="0">
              <a:latin typeface="+mj-ea"/>
              <a:ea typeface="+mj-ea"/>
            </a:endParaRPr>
          </a:p>
          <a:p>
            <a:pPr>
              <a:lnSpc>
                <a:spcPct val="100000"/>
              </a:lnSpc>
              <a:spcBef>
                <a:spcPts val="1030"/>
              </a:spcBef>
            </a:pPr>
            <a:r>
              <a:rPr spc="5" dirty="0" err="1">
                <a:latin typeface="仿宋" panose="02010609060101010101" pitchFamily="49" charset="-122"/>
              </a:rPr>
              <a:t>一维数据结构，包含行索引和数据两个部分</a:t>
            </a:r>
            <a:endParaRPr spc="5" dirty="0">
              <a:latin typeface="仿宋" panose="02010609060101010101" pitchFamily="49" charset="-122"/>
            </a:endParaRPr>
          </a:p>
        </p:txBody>
      </p:sp>
      <p:sp>
        <p:nvSpPr>
          <p:cNvPr id="13" name="object 14"/>
          <p:cNvSpPr/>
          <p:nvPr/>
        </p:nvSpPr>
        <p:spPr>
          <a:xfrm>
            <a:off x="6665988" y="1579536"/>
            <a:ext cx="3126941" cy="1928139"/>
          </a:xfrm>
          <a:prstGeom prst="rect">
            <a:avLst/>
          </a:prstGeom>
          <a:blipFill>
            <a:blip r:embed="rId1" cstate="print">
              <a:extLst>
                <a:ext uri="{28A0092B-C50C-407E-A947-70E740481C1C}">
                  <a14:useLocalDpi xmlns:a14="http://schemas.microsoft.com/office/drawing/2010/main" val="0"/>
                </a:ext>
              </a:extLst>
            </a:blip>
            <a:stretch>
              <a:fillRect/>
            </a:stretch>
          </a:blipFill>
        </p:spPr>
        <p:txBody>
          <a:bodyPr wrap="square" lIns="0" tIns="0" rIns="0" bIns="0" rtlCol="0"/>
          <a:lstStyle/>
          <a:p>
            <a:endParaRPr dirty="0"/>
          </a:p>
        </p:txBody>
      </p:sp>
      <p:sp>
        <p:nvSpPr>
          <p:cNvPr id="3" name="矩形 2"/>
          <p:cNvSpPr/>
          <p:nvPr/>
        </p:nvSpPr>
        <p:spPr>
          <a:xfrm>
            <a:off x="1445418" y="3834234"/>
            <a:ext cx="3057833" cy="2092881"/>
          </a:xfrm>
          <a:prstGeom prst="rect">
            <a:avLst/>
          </a:prstGeom>
        </p:spPr>
        <p:txBody>
          <a:bodyPr wrap="square">
            <a:spAutoFit/>
          </a:bodyPr>
          <a:lstStyle/>
          <a:p>
            <a:pPr>
              <a:lnSpc>
                <a:spcPct val="100000"/>
              </a:lnSpc>
              <a:spcBef>
                <a:spcPts val="1120"/>
              </a:spcBef>
            </a:pPr>
            <a:r>
              <a:rPr lang="en-US" altLang="zh-CN" spc="-5" dirty="0" err="1">
                <a:latin typeface="Microsoft JhengHei" panose="020B0604030504040204" charset="-120"/>
                <a:cs typeface="Microsoft JhengHei" panose="020B0604030504040204" charset="-120"/>
              </a:rPr>
              <a:t>DataFrame</a:t>
            </a:r>
            <a:endParaRPr lang="zh-CN" altLang="en-US" dirty="0">
              <a:latin typeface="Microsoft JhengHei" panose="020B0604030504040204" charset="-120"/>
              <a:cs typeface="Microsoft JhengHei" panose="020B0604030504040204" charset="-120"/>
            </a:endParaRPr>
          </a:p>
          <a:p>
            <a:pPr>
              <a:lnSpc>
                <a:spcPct val="100000"/>
              </a:lnSpc>
              <a:spcBef>
                <a:spcPts val="1170"/>
              </a:spcBef>
            </a:pPr>
            <a:r>
              <a:rPr lang="zh-CN" altLang="en-US" spc="5" dirty="0">
                <a:latin typeface="仿宋" panose="02010609060101010101" pitchFamily="49" charset="-122"/>
                <a:cs typeface="仿宋" panose="02010609060101010101" pitchFamily="49" charset="-122"/>
              </a:rPr>
              <a:t>二维数据结构，包含带索引的多列数据，各列的数据类型可能不同</a:t>
            </a:r>
            <a:endParaRPr lang="zh-CN" altLang="en-US" dirty="0">
              <a:latin typeface="仿宋" panose="02010609060101010101" pitchFamily="49" charset="-122"/>
              <a:cs typeface="仿宋" panose="02010609060101010101" pitchFamily="49" charset="-122"/>
            </a:endParaRPr>
          </a:p>
        </p:txBody>
      </p:sp>
      <p:sp>
        <p:nvSpPr>
          <p:cNvPr id="16" name="object 16"/>
          <p:cNvSpPr/>
          <p:nvPr/>
        </p:nvSpPr>
        <p:spPr>
          <a:xfrm>
            <a:off x="4833143" y="3881814"/>
            <a:ext cx="5572432" cy="2631336"/>
          </a:xfrm>
          <a:prstGeom prst="rect">
            <a:avLst/>
          </a:prstGeom>
          <a:blipFill>
            <a:blip r:embed="rId2" cstate="print">
              <a:extLst>
                <a:ext uri="{28A0092B-C50C-407E-A947-70E740481C1C}">
                  <a14:useLocalDpi xmlns:a14="http://schemas.microsoft.com/office/drawing/2010/main" val="0"/>
                </a:ext>
              </a:extLst>
            </a:blip>
            <a:stretch>
              <a:fillRect/>
            </a:stretch>
          </a:blipFill>
        </p:spPr>
        <p:txBody>
          <a:bodyPr wrap="square" lIns="0" tIns="0" rIns="0" bIns="0" rtlCol="0"/>
          <a:lstStyl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6993" y="314468"/>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a:p>
            <a:endParaRPr lang="zh-CN" altLang="en-US" dirty="0"/>
          </a:p>
        </p:txBody>
      </p:sp>
      <p:sp>
        <p:nvSpPr>
          <p:cNvPr id="2" name="文本框 1"/>
          <p:cNvSpPr txBox="1"/>
          <p:nvPr/>
        </p:nvSpPr>
        <p:spPr>
          <a:xfrm>
            <a:off x="1229032" y="1396181"/>
            <a:ext cx="9822426" cy="461665"/>
          </a:xfrm>
          <a:prstGeom prst="rect">
            <a:avLst/>
          </a:prstGeom>
          <a:noFill/>
        </p:spPr>
        <p:txBody>
          <a:bodyPr wrap="square" rtlCol="0">
            <a:spAutoFit/>
          </a:bodyPr>
          <a:lstStyle/>
          <a:p>
            <a:pPr marL="285750" indent="-285750">
              <a:buFont typeface="Wingdings" panose="05000000000000000000" pitchFamily="2" charset="2"/>
              <a:buChar char="l"/>
            </a:pPr>
            <a:r>
              <a:rPr lang="zh-CN" altLang="en-US" b="1" dirty="0">
                <a:solidFill>
                  <a:schemeClr val="accent6">
                    <a:lumMod val="75000"/>
                  </a:schemeClr>
                </a:solidFill>
                <a:latin typeface="+mj-ea"/>
                <a:ea typeface="+mj-ea"/>
              </a:rPr>
              <a:t>数据索引</a:t>
            </a:r>
            <a:endParaRPr lang="en-US" altLang="zh-CN" b="1" dirty="0">
              <a:solidFill>
                <a:schemeClr val="accent6">
                  <a:lumMod val="75000"/>
                </a:schemeClr>
              </a:solidFill>
              <a:latin typeface="+mj-ea"/>
              <a:ea typeface="+mj-ea"/>
            </a:endParaRPr>
          </a:p>
        </p:txBody>
      </p:sp>
      <p:sp>
        <p:nvSpPr>
          <p:cNvPr id="12" name="object 13"/>
          <p:cNvSpPr txBox="1"/>
          <p:nvPr/>
        </p:nvSpPr>
        <p:spPr>
          <a:xfrm>
            <a:off x="1445418" y="2154956"/>
            <a:ext cx="4099976" cy="4446089"/>
          </a:xfrm>
          <a:prstGeom prst="rect">
            <a:avLst/>
          </a:prstGeom>
        </p:spPr>
        <p:txBody>
          <a:bodyPr vert="horz" wrap="square" lIns="0" tIns="13970" rIns="0" bIns="0" rtlCol="0">
            <a:spAutoFit/>
          </a:bodyPr>
          <a:lstStyle/>
          <a:p>
            <a:r>
              <a:rPr lang="en-US" altLang="zh-CN" dirty="0" err="1">
                <a:solidFill>
                  <a:srgbClr val="FF0000"/>
                </a:solidFill>
              </a:rPr>
              <a:t>df</a:t>
            </a:r>
            <a:r>
              <a:rPr lang="en-US" altLang="zh-CN" dirty="0">
                <a:solidFill>
                  <a:srgbClr val="FF0000"/>
                </a:solidFill>
              </a:rPr>
              <a:t>[5:10] </a:t>
            </a:r>
            <a:endParaRPr lang="en-US" altLang="zh-CN" dirty="0"/>
          </a:p>
          <a:p>
            <a:r>
              <a:rPr lang="en-US" altLang="zh-CN" dirty="0" err="1"/>
              <a:t>通过切片方式选取多行</a:t>
            </a:r>
            <a:endParaRPr lang="en-US" altLang="zh-CN" dirty="0"/>
          </a:p>
          <a:p>
            <a:endParaRPr lang="en-US" altLang="zh-CN" dirty="0"/>
          </a:p>
          <a:p>
            <a:r>
              <a:rPr lang="en-US" altLang="zh-CN" dirty="0" err="1">
                <a:solidFill>
                  <a:srgbClr val="FF0000"/>
                </a:solidFill>
              </a:rPr>
              <a:t>df</a:t>
            </a:r>
            <a:r>
              <a:rPr lang="en-US" altLang="zh-CN" dirty="0">
                <a:solidFill>
                  <a:srgbClr val="FF0000"/>
                </a:solidFill>
              </a:rPr>
              <a:t>[</a:t>
            </a:r>
            <a:r>
              <a:rPr lang="en-US" altLang="zh-CN" dirty="0" err="1">
                <a:solidFill>
                  <a:srgbClr val="FF0000"/>
                </a:solidFill>
              </a:rPr>
              <a:t>col_label</a:t>
            </a:r>
            <a:r>
              <a:rPr lang="en-US" altLang="zh-CN" dirty="0">
                <a:solidFill>
                  <a:srgbClr val="FF0000"/>
                </a:solidFill>
              </a:rPr>
              <a:t>] </a:t>
            </a:r>
            <a:r>
              <a:rPr lang="en-US" altLang="zh-CN" dirty="0"/>
              <a:t>or </a:t>
            </a:r>
            <a:r>
              <a:rPr lang="en-US" altLang="zh-CN" dirty="0" err="1">
                <a:solidFill>
                  <a:srgbClr val="FF0000"/>
                </a:solidFill>
              </a:rPr>
              <a:t>df.col_label</a:t>
            </a:r>
            <a:endParaRPr lang="en-US" altLang="zh-CN" dirty="0"/>
          </a:p>
          <a:p>
            <a:r>
              <a:rPr lang="en-US" altLang="zh-CN" dirty="0">
                <a:solidFill>
                  <a:schemeClr val="accent1"/>
                </a:solidFill>
              </a:rPr>
              <a:t> </a:t>
            </a:r>
            <a:r>
              <a:rPr lang="en-US" altLang="zh-CN" dirty="0" err="1"/>
              <a:t>选取列</a:t>
            </a:r>
            <a:r>
              <a:rPr lang="en-US" altLang="zh-CN" dirty="0"/>
              <a:t> </a:t>
            </a:r>
            <a:endParaRPr lang="en-US" altLang="zh-CN" dirty="0"/>
          </a:p>
          <a:p>
            <a:endParaRPr lang="en-US" altLang="zh-CN" dirty="0"/>
          </a:p>
          <a:p>
            <a:r>
              <a:rPr lang="en-US" altLang="zh-CN" dirty="0" err="1">
                <a:solidFill>
                  <a:srgbClr val="FF0000"/>
                </a:solidFill>
              </a:rPr>
              <a:t>df.loc</a:t>
            </a:r>
            <a:r>
              <a:rPr lang="en-US" altLang="zh-CN" dirty="0">
                <a:solidFill>
                  <a:srgbClr val="FF0000"/>
                </a:solidFill>
              </a:rPr>
              <a:t>[</a:t>
            </a:r>
            <a:r>
              <a:rPr lang="en-US" altLang="zh-CN" dirty="0" err="1">
                <a:solidFill>
                  <a:srgbClr val="FF0000"/>
                </a:solidFill>
              </a:rPr>
              <a:t>row_label</a:t>
            </a:r>
            <a:r>
              <a:rPr lang="en-US" altLang="zh-CN" dirty="0">
                <a:solidFill>
                  <a:srgbClr val="FF0000"/>
                </a:solidFill>
              </a:rPr>
              <a:t>, </a:t>
            </a:r>
            <a:r>
              <a:rPr lang="en-US" altLang="zh-CN" dirty="0" err="1">
                <a:solidFill>
                  <a:srgbClr val="FF0000"/>
                </a:solidFill>
              </a:rPr>
              <a:t>col_label</a:t>
            </a:r>
            <a:r>
              <a:rPr lang="en-US" altLang="zh-CN" dirty="0">
                <a:solidFill>
                  <a:srgbClr val="FF0000"/>
                </a:solidFill>
              </a:rPr>
              <a:t>] </a:t>
            </a:r>
            <a:endParaRPr lang="en-US" altLang="zh-CN" dirty="0"/>
          </a:p>
          <a:p>
            <a:r>
              <a:rPr lang="en-US" altLang="zh-CN" dirty="0" err="1"/>
              <a:t>通过标签选取行</a:t>
            </a:r>
            <a:r>
              <a:rPr lang="en-US" altLang="zh-CN" dirty="0"/>
              <a:t>/列</a:t>
            </a:r>
            <a:endParaRPr lang="en-US" altLang="zh-CN" dirty="0"/>
          </a:p>
          <a:p>
            <a:endParaRPr lang="zh-CN" altLang="zh-CN" dirty="0"/>
          </a:p>
          <a:p>
            <a:r>
              <a:rPr lang="en-US" altLang="zh-CN" dirty="0" err="1">
                <a:solidFill>
                  <a:srgbClr val="FF0000"/>
                </a:solidFill>
              </a:rPr>
              <a:t>df.iloc</a:t>
            </a:r>
            <a:r>
              <a:rPr lang="en-US" altLang="zh-CN" dirty="0">
                <a:solidFill>
                  <a:srgbClr val="FF0000"/>
                </a:solidFill>
              </a:rPr>
              <a:t>[</a:t>
            </a:r>
            <a:r>
              <a:rPr lang="en-US" altLang="zh-CN" dirty="0" err="1">
                <a:solidFill>
                  <a:srgbClr val="FF0000"/>
                </a:solidFill>
              </a:rPr>
              <a:t>row_loc</a:t>
            </a:r>
            <a:r>
              <a:rPr lang="en-US" altLang="zh-CN" dirty="0">
                <a:solidFill>
                  <a:srgbClr val="FF0000"/>
                </a:solidFill>
              </a:rPr>
              <a:t>, </a:t>
            </a:r>
            <a:r>
              <a:rPr lang="en-US" altLang="zh-CN" dirty="0" err="1">
                <a:solidFill>
                  <a:srgbClr val="FF0000"/>
                </a:solidFill>
              </a:rPr>
              <a:t>col_loc</a:t>
            </a:r>
            <a:r>
              <a:rPr lang="en-US" altLang="zh-CN" dirty="0">
                <a:solidFill>
                  <a:srgbClr val="FF0000"/>
                </a:solidFill>
              </a:rPr>
              <a:t>] </a:t>
            </a:r>
            <a:endParaRPr lang="en-US" altLang="zh-CN" dirty="0"/>
          </a:p>
          <a:p>
            <a:r>
              <a:rPr lang="en-US" altLang="zh-CN" dirty="0" err="1"/>
              <a:t>通过位置（自然数）选取行</a:t>
            </a:r>
            <a:r>
              <a:rPr lang="en-US" altLang="zh-CN" dirty="0"/>
              <a:t>/列</a:t>
            </a:r>
            <a:endParaRPr lang="zh-CN" altLang="zh-CN" dirty="0"/>
          </a:p>
          <a:p>
            <a:endParaRPr lang="zh-CN" altLang="zh-CN"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57850" y="1330565"/>
            <a:ext cx="6534150" cy="50006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1467" y="276833"/>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a:p>
            <a:endParaRPr lang="zh-CN" altLang="en-US" dirty="0"/>
          </a:p>
        </p:txBody>
      </p:sp>
      <p:sp>
        <p:nvSpPr>
          <p:cNvPr id="2" name="文本框 1"/>
          <p:cNvSpPr txBox="1"/>
          <p:nvPr/>
        </p:nvSpPr>
        <p:spPr>
          <a:xfrm>
            <a:off x="1229032" y="1396181"/>
            <a:ext cx="9822426" cy="461665"/>
          </a:xfrm>
          <a:prstGeom prst="rect">
            <a:avLst/>
          </a:prstGeom>
          <a:noFill/>
        </p:spPr>
        <p:txBody>
          <a:bodyPr wrap="square" rtlCol="0">
            <a:spAutoFit/>
          </a:bodyPr>
          <a:lstStyle/>
          <a:p>
            <a:pPr marL="285750" indent="-285750">
              <a:buFont typeface="Wingdings" panose="05000000000000000000" pitchFamily="2" charset="2"/>
              <a:buChar char="l"/>
            </a:pPr>
            <a:r>
              <a:rPr lang="zh-CN" altLang="en-US" b="1" dirty="0">
                <a:solidFill>
                  <a:schemeClr val="accent6">
                    <a:lumMod val="75000"/>
                  </a:schemeClr>
                </a:solidFill>
                <a:latin typeface="+mj-ea"/>
                <a:ea typeface="+mj-ea"/>
              </a:rPr>
              <a:t>数据合并</a:t>
            </a:r>
            <a:endParaRPr lang="en-US" altLang="zh-CN" b="1" dirty="0">
              <a:solidFill>
                <a:schemeClr val="accent6">
                  <a:lumMod val="75000"/>
                </a:schemeClr>
              </a:solidFill>
              <a:latin typeface="+mj-ea"/>
              <a:ea typeface="+mj-ea"/>
            </a:endParaRPr>
          </a:p>
        </p:txBody>
      </p:sp>
      <p:sp>
        <p:nvSpPr>
          <p:cNvPr id="12" name="object 13"/>
          <p:cNvSpPr txBox="1"/>
          <p:nvPr/>
        </p:nvSpPr>
        <p:spPr>
          <a:xfrm>
            <a:off x="1347095" y="1919401"/>
            <a:ext cx="4748905" cy="2799484"/>
          </a:xfrm>
          <a:prstGeom prst="rect">
            <a:avLst/>
          </a:prstGeom>
        </p:spPr>
        <p:txBody>
          <a:bodyPr vert="horz" wrap="square" lIns="0" tIns="13970" rIns="0" bIns="0" rtlCol="0">
            <a:spAutoFit/>
          </a:bodyPr>
          <a:lstStyle/>
          <a:p>
            <a:pPr>
              <a:lnSpc>
                <a:spcPct val="100000"/>
              </a:lnSpc>
              <a:spcBef>
                <a:spcPts val="110"/>
              </a:spcBef>
            </a:pPr>
            <a:r>
              <a:rPr lang="en-US" altLang="zh-CN" sz="2400" dirty="0" err="1">
                <a:solidFill>
                  <a:srgbClr val="FF0000"/>
                </a:solidFill>
                <a:latin typeface="Courier New" panose="02070309020205020404"/>
                <a:cs typeface="Courier New" panose="02070309020205020404"/>
              </a:rPr>
              <a:t>pd.merge</a:t>
            </a:r>
            <a:r>
              <a:rPr lang="en-US" altLang="zh-CN" sz="2400" dirty="0">
                <a:solidFill>
                  <a:srgbClr val="FF0000"/>
                </a:solidFill>
                <a:latin typeface="Courier New" panose="02070309020205020404"/>
                <a:cs typeface="Courier New" panose="02070309020205020404"/>
              </a:rPr>
              <a:t>(left,</a:t>
            </a:r>
            <a:r>
              <a:rPr lang="en-US" altLang="zh-CN" sz="2400" spc="5" dirty="0">
                <a:solidFill>
                  <a:srgbClr val="FF0000"/>
                </a:solidFill>
                <a:latin typeface="Courier New" panose="02070309020205020404"/>
                <a:cs typeface="Courier New" panose="02070309020205020404"/>
              </a:rPr>
              <a:t> </a:t>
            </a:r>
            <a:r>
              <a:rPr lang="en-US" altLang="zh-CN" sz="2400" dirty="0">
                <a:solidFill>
                  <a:srgbClr val="FF0000"/>
                </a:solidFill>
                <a:latin typeface="Courier New" panose="02070309020205020404"/>
                <a:cs typeface="Courier New" panose="02070309020205020404"/>
              </a:rPr>
              <a:t>right)</a:t>
            </a:r>
            <a:r>
              <a:rPr lang="en-US" altLang="zh-CN" sz="2400" spc="-500" dirty="0">
                <a:solidFill>
                  <a:srgbClr val="FF0000"/>
                </a:solidFill>
                <a:latin typeface="Courier New" panose="02070309020205020404"/>
                <a:cs typeface="Courier New" panose="02070309020205020404"/>
              </a:rPr>
              <a:t> </a:t>
            </a:r>
            <a:r>
              <a:rPr lang="zh-CN" altLang="en-US" sz="2400" spc="5" dirty="0">
                <a:latin typeface="仿宋" panose="02010609060101010101" pitchFamily="49" charset="-122"/>
                <a:cs typeface="仿宋" panose="02010609060101010101" pitchFamily="49" charset="-122"/>
              </a:rPr>
              <a:t>类数据库的数据融合操作</a:t>
            </a:r>
            <a:r>
              <a:rPr lang="en-US" altLang="zh-CN" sz="2400" dirty="0">
                <a:latin typeface="仿宋" panose="02010609060101010101" pitchFamily="49" charset="-122"/>
                <a:cs typeface="仿宋" panose="02010609060101010101" pitchFamily="49" charset="-122"/>
              </a:rPr>
              <a:t>.</a:t>
            </a:r>
            <a:endParaRPr lang="en-US" altLang="zh-CN" sz="2400" dirty="0">
              <a:latin typeface="仿宋" panose="02010609060101010101" pitchFamily="49" charset="-122"/>
              <a:cs typeface="仿宋" panose="02010609060101010101" pitchFamily="49" charset="-122"/>
            </a:endParaRPr>
          </a:p>
          <a:p>
            <a:pPr>
              <a:lnSpc>
                <a:spcPct val="100000"/>
              </a:lnSpc>
              <a:spcBef>
                <a:spcPts val="110"/>
              </a:spcBef>
            </a:pPr>
            <a:endParaRPr lang="zh-CN" altLang="en-US" sz="2400" dirty="0">
              <a:latin typeface="仿宋" panose="02010609060101010101" pitchFamily="49" charset="-122"/>
              <a:cs typeface="仿宋" panose="02010609060101010101" pitchFamily="49" charset="-122"/>
            </a:endParaRPr>
          </a:p>
          <a:p>
            <a:pPr marR="5080" algn="just">
              <a:lnSpc>
                <a:spcPts val="1970"/>
              </a:lnSpc>
              <a:spcBef>
                <a:spcPts val="120"/>
              </a:spcBef>
            </a:pPr>
            <a:r>
              <a:rPr lang="zh-CN" altLang="en-US" sz="1600" spc="5" dirty="0">
                <a:latin typeface="Microsoft JhengHei" panose="020B0604030504040204" charset="-120"/>
                <a:cs typeface="Microsoft JhengHei" panose="020B0604030504040204" charset="-120"/>
              </a:rPr>
              <a:t>参</a:t>
            </a:r>
            <a:r>
              <a:rPr lang="zh-CN" altLang="en-US" sz="1600" spc="-5" dirty="0">
                <a:latin typeface="Microsoft JhengHei" panose="020B0604030504040204" charset="-120"/>
                <a:cs typeface="Microsoft JhengHei" panose="020B0604030504040204" charset="-120"/>
              </a:rPr>
              <a:t>数</a:t>
            </a:r>
            <a:r>
              <a:rPr lang="zh-CN" altLang="en-US" sz="1600" dirty="0">
                <a:latin typeface="Microsoft JhengHei" panose="020B0604030504040204" charset="-120"/>
                <a:cs typeface="Microsoft JhengHei" panose="020B0604030504040204" charset="-120"/>
              </a:rPr>
              <a:t>：</a:t>
            </a:r>
            <a:r>
              <a:rPr lang="en-US" altLang="zh-CN" sz="1600" dirty="0">
                <a:solidFill>
                  <a:srgbClr val="3B6CDE"/>
                </a:solidFill>
                <a:latin typeface="Courier New" panose="02070309020205020404"/>
                <a:cs typeface="Courier New" panose="02070309020205020404"/>
              </a:rPr>
              <a:t>how</a:t>
            </a:r>
            <a:r>
              <a:rPr lang="zh-CN" altLang="en-US" sz="1600" dirty="0">
                <a:latin typeface="仿宋" panose="02010609060101010101" pitchFamily="49" charset="-122"/>
                <a:cs typeface="仿宋" panose="02010609060101010101" pitchFamily="49" charset="-122"/>
              </a:rPr>
              <a:t>，</a:t>
            </a:r>
            <a:r>
              <a:rPr lang="zh-CN" altLang="en-US" sz="1600" spc="5" dirty="0">
                <a:latin typeface="仿宋" panose="02010609060101010101" pitchFamily="49" charset="-122"/>
                <a:cs typeface="仿宋" panose="02010609060101010101" pitchFamily="49" charset="-122"/>
              </a:rPr>
              <a:t>融</a:t>
            </a:r>
            <a:r>
              <a:rPr lang="zh-CN" altLang="en-US" sz="1600" spc="15" dirty="0">
                <a:latin typeface="仿宋" panose="02010609060101010101" pitchFamily="49" charset="-122"/>
                <a:cs typeface="仿宋" panose="02010609060101010101" pitchFamily="49" charset="-122"/>
              </a:rPr>
              <a:t>合方</a:t>
            </a:r>
            <a:r>
              <a:rPr lang="zh-CN" altLang="en-US" sz="1600" spc="-5" dirty="0">
                <a:latin typeface="仿宋" panose="02010609060101010101" pitchFamily="49" charset="-122"/>
                <a:cs typeface="仿宋" panose="02010609060101010101" pitchFamily="49" charset="-122"/>
              </a:rPr>
              <a:t>式</a:t>
            </a:r>
            <a:r>
              <a:rPr lang="zh-CN" altLang="en-US" sz="1600" spc="15" dirty="0">
                <a:latin typeface="仿宋" panose="02010609060101010101" pitchFamily="49" charset="-122"/>
                <a:cs typeface="仿宋" panose="02010609060101010101" pitchFamily="49" charset="-122"/>
              </a:rPr>
              <a:t>，包括左连</a:t>
            </a:r>
            <a:r>
              <a:rPr lang="zh-CN" altLang="en-US" sz="1600" spc="-5" dirty="0">
                <a:latin typeface="仿宋" panose="02010609060101010101" pitchFamily="49" charset="-122"/>
                <a:cs typeface="仿宋" panose="02010609060101010101" pitchFamily="49" charset="-122"/>
              </a:rPr>
              <a:t>接</a:t>
            </a:r>
            <a:r>
              <a:rPr lang="zh-CN" altLang="en-US" sz="1600" spc="5" dirty="0">
                <a:latin typeface="仿宋" panose="02010609060101010101" pitchFamily="49" charset="-122"/>
                <a:cs typeface="仿宋" panose="02010609060101010101" pitchFamily="49" charset="-122"/>
              </a:rPr>
              <a:t>、</a:t>
            </a:r>
            <a:r>
              <a:rPr lang="zh-CN" altLang="en-US" sz="1600" spc="15" dirty="0">
                <a:latin typeface="仿宋" panose="02010609060101010101" pitchFamily="49" charset="-122"/>
                <a:cs typeface="仿宋" panose="02010609060101010101" pitchFamily="49" charset="-122"/>
              </a:rPr>
              <a:t>右连</a:t>
            </a:r>
            <a:r>
              <a:rPr lang="zh-CN" altLang="en-US" sz="1600" spc="-5" dirty="0">
                <a:latin typeface="仿宋" panose="02010609060101010101" pitchFamily="49" charset="-122"/>
                <a:cs typeface="仿宋" panose="02010609060101010101" pitchFamily="49" charset="-122"/>
              </a:rPr>
              <a:t>接</a:t>
            </a:r>
            <a:r>
              <a:rPr lang="zh-CN" altLang="en-US" sz="1600" spc="15" dirty="0">
                <a:latin typeface="仿宋" panose="02010609060101010101" pitchFamily="49" charset="-122"/>
                <a:cs typeface="仿宋" panose="02010609060101010101" pitchFamily="49" charset="-122"/>
              </a:rPr>
              <a:t>、内连接</a:t>
            </a:r>
            <a:r>
              <a:rPr lang="zh-CN" altLang="en-US" sz="1600" spc="-5" dirty="0">
                <a:latin typeface="仿宋" panose="02010609060101010101" pitchFamily="49" charset="-122"/>
                <a:cs typeface="仿宋" panose="02010609060101010101" pitchFamily="49" charset="-122"/>
              </a:rPr>
              <a:t>（</a:t>
            </a:r>
            <a:r>
              <a:rPr lang="zh-CN" altLang="en-US" sz="1600" spc="15" dirty="0">
                <a:latin typeface="仿宋" panose="02010609060101010101" pitchFamily="49" charset="-122"/>
                <a:cs typeface="仿宋" panose="02010609060101010101" pitchFamily="49" charset="-122"/>
              </a:rPr>
              <a:t>默</a:t>
            </a:r>
            <a:r>
              <a:rPr lang="zh-CN" altLang="en-US" sz="1600" spc="-5" dirty="0">
                <a:latin typeface="仿宋" panose="02010609060101010101" pitchFamily="49" charset="-122"/>
                <a:cs typeface="仿宋" panose="02010609060101010101" pitchFamily="49" charset="-122"/>
              </a:rPr>
              <a:t>认</a:t>
            </a:r>
            <a:r>
              <a:rPr lang="zh-CN" altLang="en-US" sz="1600" spc="5" dirty="0">
                <a:latin typeface="仿宋" panose="02010609060101010101" pitchFamily="49" charset="-122"/>
                <a:cs typeface="仿宋" panose="02010609060101010101" pitchFamily="49" charset="-122"/>
              </a:rPr>
              <a:t>）</a:t>
            </a:r>
            <a:r>
              <a:rPr lang="zh-CN" altLang="en-US" sz="1600" spc="15" dirty="0">
                <a:latin typeface="仿宋" panose="02010609060101010101" pitchFamily="49" charset="-122"/>
                <a:cs typeface="仿宋" panose="02010609060101010101" pitchFamily="49" charset="-122"/>
              </a:rPr>
              <a:t>和外连</a:t>
            </a:r>
            <a:r>
              <a:rPr lang="zh-CN" altLang="en-US" sz="1600" spc="-5" dirty="0">
                <a:latin typeface="仿宋" panose="02010609060101010101" pitchFamily="49" charset="-122"/>
                <a:cs typeface="仿宋" panose="02010609060101010101" pitchFamily="49" charset="-122"/>
              </a:rPr>
              <a:t>接；</a:t>
            </a:r>
            <a:r>
              <a:rPr lang="en-US" altLang="zh-CN" sz="1600" spc="-5" dirty="0">
                <a:solidFill>
                  <a:srgbClr val="3B6CDE"/>
                </a:solidFill>
                <a:latin typeface="Courier New" panose="02070309020205020404"/>
                <a:cs typeface="Courier New" panose="02070309020205020404"/>
              </a:rPr>
              <a:t>on</a:t>
            </a:r>
            <a:r>
              <a:rPr lang="zh-CN" altLang="en-US" sz="1600" spc="-5" dirty="0">
                <a:latin typeface="仿宋" panose="02010609060101010101" pitchFamily="49" charset="-122"/>
                <a:cs typeface="仿宋" panose="02010609060101010101" pitchFamily="49" charset="-122"/>
              </a:rPr>
              <a:t>，连</a:t>
            </a:r>
            <a:r>
              <a:rPr lang="zh-CN" altLang="en-US" sz="1600" spc="25" dirty="0">
                <a:latin typeface="仿宋" panose="02010609060101010101" pitchFamily="49" charset="-122"/>
                <a:cs typeface="仿宋" panose="02010609060101010101" pitchFamily="49" charset="-122"/>
              </a:rPr>
              <a:t>接</a:t>
            </a:r>
            <a:r>
              <a:rPr lang="zh-CN" altLang="en-US" sz="1600" spc="-5" dirty="0">
                <a:latin typeface="仿宋" panose="02010609060101010101" pitchFamily="49" charset="-122"/>
                <a:cs typeface="仿宋" panose="02010609060101010101" pitchFamily="49" charset="-122"/>
              </a:rPr>
              <a:t>键；</a:t>
            </a:r>
            <a:r>
              <a:rPr lang="en-US" altLang="zh-CN" sz="1600" spc="-5" dirty="0" err="1">
                <a:solidFill>
                  <a:srgbClr val="3B6CDE"/>
                </a:solidFill>
                <a:latin typeface="Courier New" panose="02070309020205020404"/>
                <a:cs typeface="Courier New" panose="02070309020205020404"/>
              </a:rPr>
              <a:t>left_on</a:t>
            </a:r>
            <a:r>
              <a:rPr lang="zh-CN" altLang="en-US" sz="1600" spc="-5" dirty="0">
                <a:latin typeface="仿宋" panose="02010609060101010101" pitchFamily="49" charset="-122"/>
                <a:cs typeface="仿宋" panose="02010609060101010101" pitchFamily="49" charset="-122"/>
              </a:rPr>
              <a:t>，</a:t>
            </a:r>
            <a:r>
              <a:rPr lang="zh-CN" altLang="en-US" sz="1600" spc="25" dirty="0">
                <a:latin typeface="仿宋" panose="02010609060101010101" pitchFamily="49" charset="-122"/>
                <a:cs typeface="仿宋" panose="02010609060101010101" pitchFamily="49" charset="-122"/>
              </a:rPr>
              <a:t>左</a:t>
            </a:r>
            <a:r>
              <a:rPr lang="zh-CN" altLang="en-US" sz="1600" spc="-5" dirty="0">
                <a:latin typeface="仿宋" panose="02010609060101010101" pitchFamily="49" charset="-122"/>
                <a:cs typeface="仿宋" panose="02010609060101010101" pitchFamily="49" charset="-122"/>
              </a:rPr>
              <a:t>键；</a:t>
            </a:r>
            <a:r>
              <a:rPr lang="en-US" altLang="zh-CN" sz="1600" spc="-5" dirty="0" err="1">
                <a:solidFill>
                  <a:srgbClr val="3B6CDE"/>
                </a:solidFill>
                <a:latin typeface="Courier New" panose="02070309020205020404"/>
                <a:cs typeface="Courier New" panose="02070309020205020404"/>
              </a:rPr>
              <a:t>right_on</a:t>
            </a:r>
            <a:r>
              <a:rPr lang="zh-CN" altLang="en-US" sz="1600" spc="-5" dirty="0">
                <a:latin typeface="仿宋" panose="02010609060101010101" pitchFamily="49" charset="-122"/>
                <a:cs typeface="仿宋" panose="02010609060101010101" pitchFamily="49" charset="-122"/>
              </a:rPr>
              <a:t>，</a:t>
            </a:r>
            <a:r>
              <a:rPr lang="zh-CN" altLang="en-US" sz="1600" spc="25" dirty="0">
                <a:latin typeface="仿宋" panose="02010609060101010101" pitchFamily="49" charset="-122"/>
                <a:cs typeface="仿宋" panose="02010609060101010101" pitchFamily="49" charset="-122"/>
              </a:rPr>
              <a:t>右</a:t>
            </a:r>
            <a:r>
              <a:rPr lang="zh-CN" altLang="en-US" sz="1600" spc="-5" dirty="0">
                <a:latin typeface="仿宋" panose="02010609060101010101" pitchFamily="49" charset="-122"/>
                <a:cs typeface="仿宋" panose="02010609060101010101" pitchFamily="49" charset="-122"/>
              </a:rPr>
              <a:t>键；</a:t>
            </a:r>
            <a:r>
              <a:rPr lang="en-US" altLang="zh-CN" sz="1600" spc="-5" dirty="0" err="1">
                <a:solidFill>
                  <a:srgbClr val="3B6CDE"/>
                </a:solidFill>
                <a:latin typeface="Courier New" panose="02070309020205020404"/>
                <a:cs typeface="Courier New" panose="02070309020205020404"/>
              </a:rPr>
              <a:t>left_index</a:t>
            </a:r>
            <a:r>
              <a:rPr lang="zh-CN" altLang="en-US" sz="1600" spc="-5" dirty="0">
                <a:latin typeface="仿宋" panose="02010609060101010101" pitchFamily="49" charset="-122"/>
                <a:cs typeface="仿宋" panose="02010609060101010101" pitchFamily="49" charset="-122"/>
              </a:rPr>
              <a:t>，</a:t>
            </a:r>
            <a:r>
              <a:rPr lang="zh-CN" altLang="en-US" sz="1600" spc="30" dirty="0">
                <a:latin typeface="仿宋" panose="02010609060101010101" pitchFamily="49" charset="-122"/>
                <a:cs typeface="仿宋" panose="02010609060101010101" pitchFamily="49" charset="-122"/>
              </a:rPr>
              <a:t>是</a:t>
            </a:r>
            <a:r>
              <a:rPr lang="zh-CN" altLang="en-US" sz="1600" spc="25" dirty="0">
                <a:latin typeface="仿宋" panose="02010609060101010101" pitchFamily="49" charset="-122"/>
                <a:cs typeface="仿宋" panose="02010609060101010101" pitchFamily="49" charset="-122"/>
              </a:rPr>
              <a:t>否将</a:t>
            </a:r>
            <a:r>
              <a:rPr lang="en-US" altLang="zh-CN" sz="1600" dirty="0">
                <a:latin typeface="仿宋" panose="02010609060101010101" pitchFamily="49" charset="-122"/>
                <a:cs typeface="仿宋" panose="02010609060101010101" pitchFamily="49" charset="-122"/>
              </a:rPr>
              <a:t>left</a:t>
            </a:r>
            <a:r>
              <a:rPr lang="zh-CN" altLang="en-US" sz="1600" spc="25" dirty="0">
                <a:latin typeface="仿宋" panose="02010609060101010101" pitchFamily="49" charset="-122"/>
                <a:cs typeface="仿宋" panose="02010609060101010101" pitchFamily="49" charset="-122"/>
              </a:rPr>
              <a:t>行</a:t>
            </a:r>
            <a:r>
              <a:rPr lang="zh-CN" altLang="en-US" sz="1600" spc="30" dirty="0">
                <a:latin typeface="仿宋" panose="02010609060101010101" pitchFamily="49" charset="-122"/>
                <a:cs typeface="仿宋" panose="02010609060101010101" pitchFamily="49" charset="-122"/>
              </a:rPr>
              <a:t>索</a:t>
            </a:r>
            <a:r>
              <a:rPr lang="zh-CN" altLang="en-US" sz="1600" spc="25" dirty="0">
                <a:latin typeface="仿宋" panose="02010609060101010101" pitchFamily="49" charset="-122"/>
                <a:cs typeface="仿宋" panose="02010609060101010101" pitchFamily="49" charset="-122"/>
              </a:rPr>
              <a:t>引</a:t>
            </a:r>
            <a:r>
              <a:rPr lang="zh-CN" altLang="en-US" sz="1600" spc="-5" dirty="0">
                <a:latin typeface="仿宋" panose="02010609060101010101" pitchFamily="49" charset="-122"/>
                <a:cs typeface="仿宋" panose="02010609060101010101" pitchFamily="49" charset="-122"/>
              </a:rPr>
              <a:t>作 为左键</a:t>
            </a:r>
            <a:r>
              <a:rPr lang="zh-CN" altLang="en-US" sz="1600" spc="-10" dirty="0">
                <a:latin typeface="仿宋" panose="02010609060101010101" pitchFamily="49" charset="-122"/>
                <a:cs typeface="仿宋" panose="02010609060101010101" pitchFamily="49" charset="-122"/>
              </a:rPr>
              <a:t>；</a:t>
            </a:r>
            <a:r>
              <a:rPr lang="en-US" altLang="zh-CN" sz="1600" spc="-5" dirty="0" err="1">
                <a:solidFill>
                  <a:srgbClr val="3B6CDE"/>
                </a:solidFill>
                <a:latin typeface="Courier New" panose="02070309020205020404"/>
                <a:cs typeface="Courier New" panose="02070309020205020404"/>
              </a:rPr>
              <a:t>right_index</a:t>
            </a:r>
            <a:r>
              <a:rPr lang="zh-CN" altLang="en-US" sz="1600" spc="-5" dirty="0">
                <a:latin typeface="仿宋" panose="02010609060101010101" pitchFamily="49" charset="-122"/>
                <a:cs typeface="仿宋" panose="02010609060101010101" pitchFamily="49" charset="-122"/>
              </a:rPr>
              <a:t>，是否将</a:t>
            </a:r>
            <a:r>
              <a:rPr lang="en-US" altLang="zh-CN" sz="1600" spc="-5" dirty="0">
                <a:latin typeface="仿宋" panose="02010609060101010101" pitchFamily="49" charset="-122"/>
                <a:cs typeface="仿宋" panose="02010609060101010101" pitchFamily="49" charset="-122"/>
              </a:rPr>
              <a:t>right</a:t>
            </a:r>
            <a:r>
              <a:rPr lang="zh-CN" altLang="en-US" sz="1600" spc="-5" dirty="0">
                <a:latin typeface="仿宋" panose="02010609060101010101" pitchFamily="49" charset="-122"/>
                <a:cs typeface="仿宋" panose="02010609060101010101" pitchFamily="49" charset="-122"/>
              </a:rPr>
              <a:t>行索引作为右键</a:t>
            </a:r>
            <a:r>
              <a:rPr lang="en-US" altLang="zh-CN" sz="1600" spc="-5" dirty="0">
                <a:latin typeface="仿宋" panose="02010609060101010101" pitchFamily="49" charset="-122"/>
                <a:cs typeface="仿宋" panose="02010609060101010101" pitchFamily="49" charset="-122"/>
              </a:rPr>
              <a:t>.</a:t>
            </a:r>
            <a:endParaRPr lang="zh-CN" altLang="en-US" sz="1600" dirty="0">
              <a:latin typeface="仿宋" panose="02010609060101010101" pitchFamily="49" charset="-122"/>
              <a:cs typeface="仿宋" panose="02010609060101010101" pitchFamily="49" charset="-122"/>
            </a:endParaRPr>
          </a:p>
          <a:p>
            <a:endParaRPr lang="zh-CN" altLang="zh-CN"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3113" y="4479951"/>
            <a:ext cx="5331739" cy="1656152"/>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4316" y="1330565"/>
            <a:ext cx="4749902" cy="502930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17225" y="289417"/>
            <a:ext cx="4541837"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a:p>
            <a:endParaRPr lang="zh-CN" altLang="en-US" dirty="0"/>
          </a:p>
        </p:txBody>
      </p:sp>
      <p:sp>
        <p:nvSpPr>
          <p:cNvPr id="2" name="文本框 1"/>
          <p:cNvSpPr txBox="1"/>
          <p:nvPr/>
        </p:nvSpPr>
        <p:spPr>
          <a:xfrm>
            <a:off x="1229032" y="1396181"/>
            <a:ext cx="9822426" cy="523220"/>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b="1" dirty="0">
                <a:solidFill>
                  <a:schemeClr val="accent6">
                    <a:lumMod val="75000"/>
                  </a:schemeClr>
                </a:solidFill>
                <a:latin typeface="+mn-ea"/>
                <a:ea typeface="+mn-ea"/>
              </a:rPr>
              <a:t>数据融合</a:t>
            </a:r>
            <a:endParaRPr lang="en-US" altLang="zh-CN" sz="2800" b="1" dirty="0">
              <a:solidFill>
                <a:schemeClr val="accent6">
                  <a:lumMod val="75000"/>
                </a:schemeClr>
              </a:solidFill>
              <a:latin typeface="+mn-ea"/>
              <a:ea typeface="+mn-ea"/>
            </a:endParaRPr>
          </a:p>
        </p:txBody>
      </p:sp>
      <p:sp>
        <p:nvSpPr>
          <p:cNvPr id="12" name="object 13"/>
          <p:cNvSpPr txBox="1"/>
          <p:nvPr/>
        </p:nvSpPr>
        <p:spPr>
          <a:xfrm>
            <a:off x="1445418" y="2154956"/>
            <a:ext cx="2752956" cy="1122102"/>
          </a:xfrm>
          <a:prstGeom prst="rect">
            <a:avLst/>
          </a:prstGeom>
        </p:spPr>
        <p:txBody>
          <a:bodyPr vert="horz" wrap="square" lIns="0" tIns="13970" rIns="0" bIns="0" rtlCol="0">
            <a:spAutoFit/>
          </a:bodyPr>
          <a:lstStyle/>
          <a:p>
            <a:r>
              <a:rPr lang="en-US" altLang="zh-CN" dirty="0" err="1">
                <a:solidFill>
                  <a:srgbClr val="FF0000"/>
                </a:solidFill>
              </a:rPr>
              <a:t>pd.concat</a:t>
            </a:r>
            <a:r>
              <a:rPr lang="en-US" altLang="zh-CN" dirty="0">
                <a:solidFill>
                  <a:srgbClr val="FF0000"/>
                </a:solidFill>
              </a:rPr>
              <a:t>([</a:t>
            </a:r>
            <a:r>
              <a:rPr lang="en-US" altLang="zh-CN" dirty="0" err="1">
                <a:solidFill>
                  <a:srgbClr val="FF0000"/>
                </a:solidFill>
              </a:rPr>
              <a:t>df1</a:t>
            </a:r>
            <a:r>
              <a:rPr lang="en-US" altLang="zh-CN" dirty="0">
                <a:solidFill>
                  <a:srgbClr val="FF0000"/>
                </a:solidFill>
              </a:rPr>
              <a:t>, </a:t>
            </a:r>
            <a:r>
              <a:rPr lang="en-US" altLang="zh-CN" dirty="0" err="1">
                <a:solidFill>
                  <a:srgbClr val="FF0000"/>
                </a:solidFill>
              </a:rPr>
              <a:t>df2</a:t>
            </a:r>
            <a:r>
              <a:rPr lang="en-US" altLang="zh-CN" dirty="0">
                <a:solidFill>
                  <a:srgbClr val="FF0000"/>
                </a:solidFill>
              </a:rPr>
              <a:t>]) </a:t>
            </a:r>
            <a:endParaRPr lang="en-US" altLang="zh-CN" dirty="0"/>
          </a:p>
          <a:p>
            <a:endParaRPr lang="en-US" altLang="zh-CN" dirty="0"/>
          </a:p>
          <a:p>
            <a:r>
              <a:rPr lang="en-US" altLang="zh-CN" dirty="0" err="1"/>
              <a:t>轴向连接多个DataFrame</a:t>
            </a:r>
            <a:r>
              <a:rPr lang="en-US" altLang="zh-CN" dirty="0"/>
              <a:t>.</a:t>
            </a:r>
            <a:endParaRPr lang="zh-CN" altLang="zh-CN" dirty="0"/>
          </a:p>
          <a:p>
            <a:endParaRPr lang="zh-CN" altLang="zh-CN"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45459" y="1391862"/>
            <a:ext cx="6591300" cy="44862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04346" y="244341"/>
            <a:ext cx="4541837" cy="658835"/>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-Pandas</a:t>
            </a:r>
            <a:endParaRPr lang="zh-CN" altLang="en-US" dirty="0"/>
          </a:p>
        </p:txBody>
      </p:sp>
      <p:sp>
        <p:nvSpPr>
          <p:cNvPr id="2" name="文本框 1"/>
          <p:cNvSpPr txBox="1"/>
          <p:nvPr/>
        </p:nvSpPr>
        <p:spPr>
          <a:xfrm>
            <a:off x="647404" y="1325267"/>
            <a:ext cx="9822426" cy="461665"/>
          </a:xfrm>
          <a:prstGeom prst="rect">
            <a:avLst/>
          </a:prstGeom>
          <a:noFill/>
        </p:spPr>
        <p:txBody>
          <a:bodyPr wrap="square" rtlCol="0">
            <a:spAutoFit/>
          </a:bodyPr>
          <a:lstStyle/>
          <a:p>
            <a:r>
              <a:rPr lang="zh-CN" altLang="en-US" b="1" dirty="0">
                <a:solidFill>
                  <a:schemeClr val="accent6">
                    <a:lumMod val="75000"/>
                  </a:schemeClr>
                </a:solidFill>
                <a:latin typeface="+mj-ea"/>
                <a:ea typeface="+mj-ea"/>
              </a:rPr>
              <a:t>文件读写</a:t>
            </a:r>
            <a:endParaRPr lang="en-US" altLang="zh-CN" b="1" dirty="0">
              <a:solidFill>
                <a:schemeClr val="accent6">
                  <a:lumMod val="75000"/>
                </a:schemeClr>
              </a:solidFill>
              <a:latin typeface="+mj-ea"/>
              <a:ea typeface="+mj-ea"/>
            </a:endParaRPr>
          </a:p>
        </p:txBody>
      </p:sp>
      <p:sp>
        <p:nvSpPr>
          <p:cNvPr id="12" name="object 13"/>
          <p:cNvSpPr txBox="1"/>
          <p:nvPr/>
        </p:nvSpPr>
        <p:spPr>
          <a:xfrm>
            <a:off x="667145" y="1975063"/>
            <a:ext cx="9802685" cy="3738203"/>
          </a:xfrm>
          <a:prstGeom prst="rect">
            <a:avLst/>
          </a:prstGeom>
        </p:spPr>
        <p:txBody>
          <a:bodyPr vert="horz" wrap="square" lIns="0" tIns="13970" rIns="0" bIns="0" rtlCol="0">
            <a:spAutoFit/>
          </a:bodyPr>
          <a:lstStyle/>
          <a:p>
            <a:pPr>
              <a:lnSpc>
                <a:spcPct val="150000"/>
              </a:lnSpc>
            </a:pPr>
            <a:r>
              <a:rPr lang="en-US" altLang="zh-CN" sz="2000" dirty="0">
                <a:latin typeface="+mj-ea"/>
                <a:ea typeface="+mj-ea"/>
              </a:rPr>
              <a:t>从</a:t>
            </a:r>
            <a:r>
              <a:rPr lang="zh-CN" altLang="en-US" sz="2000" dirty="0">
                <a:latin typeface="+mj-ea"/>
                <a:ea typeface="+mj-ea"/>
              </a:rPr>
              <a:t>文件</a:t>
            </a:r>
            <a:r>
              <a:rPr lang="en-US" altLang="zh-CN" sz="2000" dirty="0" err="1">
                <a:latin typeface="+mj-ea"/>
                <a:ea typeface="+mj-ea"/>
              </a:rPr>
              <a:t>中读取数据（DataFrame</a:t>
            </a:r>
            <a:r>
              <a:rPr lang="en-US" altLang="zh-CN" sz="2000" dirty="0">
                <a:latin typeface="+mj-ea"/>
                <a:ea typeface="+mj-ea"/>
              </a:rPr>
              <a:t>）</a:t>
            </a:r>
            <a:endParaRPr lang="zh-CN" altLang="zh-CN" sz="2000" dirty="0">
              <a:latin typeface="+mj-ea"/>
              <a:ea typeface="+mj-ea"/>
            </a:endParaRPr>
          </a:p>
          <a:p>
            <a:pPr>
              <a:lnSpc>
                <a:spcPct val="150000"/>
              </a:lnSpc>
            </a:pPr>
            <a:r>
              <a:rPr lang="en-US" altLang="zh-CN" sz="2000" dirty="0" err="1">
                <a:solidFill>
                  <a:schemeClr val="accent6"/>
                </a:solidFill>
                <a:latin typeface="+mj-ea"/>
                <a:ea typeface="+mj-ea"/>
              </a:rPr>
              <a:t>pd.read_csv</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从CSV文件读取</a:t>
            </a:r>
            <a:endParaRPr lang="zh-CN" altLang="zh-CN" sz="2000" dirty="0">
              <a:latin typeface="+mj-ea"/>
              <a:ea typeface="+mj-ea"/>
            </a:endParaRPr>
          </a:p>
          <a:p>
            <a:pPr>
              <a:lnSpc>
                <a:spcPct val="150000"/>
              </a:lnSpc>
            </a:pPr>
            <a:r>
              <a:rPr lang="en-US" altLang="zh-CN" sz="2000" dirty="0" err="1">
                <a:solidFill>
                  <a:schemeClr val="accent6"/>
                </a:solidFill>
                <a:latin typeface="+mj-ea"/>
                <a:ea typeface="+mj-ea"/>
              </a:rPr>
              <a:t>pd.read_table</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从制表符分隔文件读取，如TSV</a:t>
            </a:r>
            <a:r>
              <a:rPr lang="en-US" altLang="zh-CN" sz="2000" dirty="0">
                <a:latin typeface="+mj-ea"/>
                <a:ea typeface="+mj-ea"/>
              </a:rPr>
              <a:t>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pd.read_excel</a:t>
            </a:r>
            <a:r>
              <a:rPr lang="en-US" altLang="zh-CN" sz="2000" dirty="0">
                <a:solidFill>
                  <a:schemeClr val="accent6"/>
                </a:solidFill>
                <a:latin typeface="+mj-ea"/>
                <a:ea typeface="+mj-ea"/>
              </a:rPr>
              <a:t>() </a:t>
            </a:r>
            <a:r>
              <a:rPr lang="en-US" altLang="zh-CN" sz="2000" dirty="0">
                <a:latin typeface="+mj-ea"/>
                <a:ea typeface="+mj-ea"/>
              </a:rPr>
              <a:t>| 从 Excel 文 件 读 取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pd.read_sql</a:t>
            </a:r>
            <a:r>
              <a:rPr lang="en-US" altLang="zh-CN" sz="2000" dirty="0">
                <a:solidFill>
                  <a:schemeClr val="accent6"/>
                </a:solidFill>
                <a:latin typeface="+mj-ea"/>
                <a:ea typeface="+mj-ea"/>
              </a:rPr>
              <a:t>() </a:t>
            </a:r>
            <a:r>
              <a:rPr lang="en-US" altLang="zh-CN" sz="2000" dirty="0">
                <a:latin typeface="+mj-ea"/>
                <a:ea typeface="+mj-ea"/>
              </a:rPr>
              <a:t>| 从 SQL 表 或 数 据 库 读 取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pd.read_json</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从JSON格式的URL或文件读取</a:t>
            </a:r>
            <a:r>
              <a:rPr lang="en-US" altLang="zh-CN" sz="2000" dirty="0">
                <a:latin typeface="+mj-ea"/>
                <a:ea typeface="+mj-ea"/>
              </a:rPr>
              <a:t>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pd.read_clipboard</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从剪切板读取</a:t>
            </a:r>
            <a:endParaRPr lang="en-US" altLang="zh-CN" sz="2000" dirty="0">
              <a:latin typeface="+mj-ea"/>
              <a:ea typeface="+mj-ea"/>
            </a:endParaRPr>
          </a:p>
          <a:p>
            <a:endParaRPr lang="zh-CN" altLang="zh-CN" sz="3200" dirty="0"/>
          </a:p>
        </p:txBody>
      </p:sp>
      <p:sp>
        <p:nvSpPr>
          <p:cNvPr id="6" name="文本框 5"/>
          <p:cNvSpPr txBox="1"/>
          <p:nvPr/>
        </p:nvSpPr>
        <p:spPr>
          <a:xfrm>
            <a:off x="6933545" y="1975063"/>
            <a:ext cx="4368910" cy="2807948"/>
          </a:xfrm>
          <a:prstGeom prst="rect">
            <a:avLst/>
          </a:prstGeom>
          <a:noFill/>
        </p:spPr>
        <p:txBody>
          <a:bodyPr wrap="square">
            <a:spAutoFit/>
          </a:bodyPr>
          <a:lstStyle/>
          <a:p>
            <a:pPr>
              <a:lnSpc>
                <a:spcPct val="150000"/>
              </a:lnSpc>
            </a:pPr>
            <a:r>
              <a:rPr lang="en-US" altLang="zh-CN" sz="2000" dirty="0" err="1">
                <a:latin typeface="+mj-ea"/>
                <a:ea typeface="+mj-ea"/>
              </a:rPr>
              <a:t>将DataFrame写</a:t>
            </a:r>
            <a:r>
              <a:rPr lang="zh-CN" altLang="en-US" sz="2000" dirty="0">
                <a:latin typeface="+mj-ea"/>
                <a:ea typeface="+mj-ea"/>
              </a:rPr>
              <a:t>入</a:t>
            </a:r>
            <a:r>
              <a:rPr lang="en-US" altLang="zh-CN" sz="2000" dirty="0">
                <a:latin typeface="+mj-ea"/>
                <a:ea typeface="+mj-ea"/>
              </a:rPr>
              <a:t>⽂件</a:t>
            </a:r>
            <a:endParaRPr lang="zh-CN" altLang="zh-CN" sz="2000" dirty="0">
              <a:latin typeface="+mj-ea"/>
              <a:ea typeface="+mj-ea"/>
            </a:endParaRPr>
          </a:p>
          <a:p>
            <a:pPr>
              <a:lnSpc>
                <a:spcPct val="150000"/>
              </a:lnSpc>
            </a:pPr>
            <a:r>
              <a:rPr lang="en-US" altLang="zh-CN" sz="2000" dirty="0" err="1">
                <a:solidFill>
                  <a:schemeClr val="accent6"/>
                </a:solidFill>
                <a:latin typeface="+mj-ea"/>
                <a:ea typeface="+mj-ea"/>
              </a:rPr>
              <a:t>df.to_csv</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写入CSV文件</a:t>
            </a:r>
            <a:endParaRPr lang="zh-CN" altLang="zh-CN" sz="2000" dirty="0">
              <a:latin typeface="+mj-ea"/>
              <a:ea typeface="+mj-ea"/>
            </a:endParaRPr>
          </a:p>
          <a:p>
            <a:pPr>
              <a:lnSpc>
                <a:spcPct val="150000"/>
              </a:lnSpc>
            </a:pPr>
            <a:r>
              <a:rPr lang="en-US" altLang="zh-CN" sz="2000" dirty="0" err="1">
                <a:solidFill>
                  <a:schemeClr val="accent6"/>
                </a:solidFill>
                <a:latin typeface="+mj-ea"/>
                <a:ea typeface="+mj-ea"/>
              </a:rPr>
              <a:t>df.to_excel</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写入Excel文件</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df.to_sql</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写入SQL表或数据库</a:t>
            </a:r>
            <a:r>
              <a:rPr lang="en-US" altLang="zh-CN" sz="2000" dirty="0">
                <a:latin typeface="+mj-ea"/>
                <a:ea typeface="+mj-ea"/>
              </a:rPr>
              <a:t>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df.to_json</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写入JSON格式的文件</a:t>
            </a:r>
            <a:r>
              <a:rPr lang="en-US" altLang="zh-CN" sz="2000" dirty="0">
                <a:latin typeface="+mj-ea"/>
                <a:ea typeface="+mj-ea"/>
              </a:rPr>
              <a:t> </a:t>
            </a:r>
            <a:endParaRPr lang="en-US" altLang="zh-CN" sz="2000" dirty="0">
              <a:latin typeface="+mj-ea"/>
              <a:ea typeface="+mj-ea"/>
            </a:endParaRPr>
          </a:p>
          <a:p>
            <a:pPr>
              <a:lnSpc>
                <a:spcPct val="150000"/>
              </a:lnSpc>
            </a:pPr>
            <a:r>
              <a:rPr lang="en-US" altLang="zh-CN" sz="2000" dirty="0" err="1">
                <a:solidFill>
                  <a:schemeClr val="accent6"/>
                </a:solidFill>
                <a:latin typeface="+mj-ea"/>
                <a:ea typeface="+mj-ea"/>
              </a:rPr>
              <a:t>df.to_clipboard</a:t>
            </a:r>
            <a:r>
              <a:rPr lang="en-US" altLang="zh-CN" sz="2000" dirty="0">
                <a:solidFill>
                  <a:schemeClr val="accent6"/>
                </a:solidFill>
                <a:latin typeface="+mj-ea"/>
                <a:ea typeface="+mj-ea"/>
              </a:rPr>
              <a:t>() </a:t>
            </a:r>
            <a:r>
              <a:rPr lang="en-US" altLang="zh-CN" sz="2000" dirty="0">
                <a:latin typeface="+mj-ea"/>
                <a:ea typeface="+mj-ea"/>
              </a:rPr>
              <a:t>| </a:t>
            </a:r>
            <a:r>
              <a:rPr lang="en-US" altLang="zh-CN" sz="2000" dirty="0" err="1">
                <a:latin typeface="+mj-ea"/>
                <a:ea typeface="+mj-ea"/>
              </a:rPr>
              <a:t>写入剪切板</a:t>
            </a:r>
            <a:endParaRPr lang="zh-CN" altLang="zh-CN" sz="2000" dirty="0">
              <a:latin typeface="+mj-ea"/>
              <a:ea typeface="+mj-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04347" y="225022"/>
            <a:ext cx="4541837" cy="658835"/>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-SciPy</a:t>
            </a:r>
            <a:endParaRPr lang="zh-CN" altLang="en-US" dirty="0"/>
          </a:p>
        </p:txBody>
      </p:sp>
      <p:sp>
        <p:nvSpPr>
          <p:cNvPr id="2" name="文本框 1"/>
          <p:cNvSpPr txBox="1"/>
          <p:nvPr/>
        </p:nvSpPr>
        <p:spPr>
          <a:xfrm>
            <a:off x="604347" y="1372635"/>
            <a:ext cx="4968391" cy="4593052"/>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a:solidFill>
                  <a:schemeClr val="accent6">
                    <a:lumMod val="75000"/>
                  </a:schemeClr>
                </a:solidFill>
                <a:latin typeface="+mj-ea"/>
                <a:ea typeface="+mj-ea"/>
              </a:rPr>
              <a:t>SciPy</a:t>
            </a:r>
            <a:endParaRPr lang="en-US" altLang="zh-CN" sz="2800" b="1" dirty="0">
              <a:solidFill>
                <a:schemeClr val="accent6">
                  <a:lumMod val="75000"/>
                </a:schemeClr>
              </a:solidFill>
              <a:latin typeface="+mj-ea"/>
              <a:ea typeface="+mj-ea"/>
            </a:endParaRPr>
          </a:p>
          <a:p>
            <a:pPr marL="285750" indent="-285750">
              <a:buFont typeface="Wingdings" panose="05000000000000000000" pitchFamily="2" charset="2"/>
              <a:buChar char="l"/>
            </a:pPr>
            <a:endParaRPr lang="en-US" altLang="zh-CN" sz="2800" b="1" dirty="0">
              <a:solidFill>
                <a:schemeClr val="accent6">
                  <a:lumMod val="75000"/>
                </a:schemeClr>
              </a:solidFill>
              <a:latin typeface="+mn-ea"/>
              <a:ea typeface="+mn-ea"/>
            </a:endParaRPr>
          </a:p>
          <a:p>
            <a:pPr>
              <a:lnSpc>
                <a:spcPct val="150000"/>
              </a:lnSpc>
            </a:pPr>
            <a:r>
              <a:rPr lang="en-US" altLang="zh-CN" sz="2000" dirty="0">
                <a:solidFill>
                  <a:schemeClr val="accent6">
                    <a:lumMod val="75000"/>
                  </a:schemeClr>
                </a:solidFill>
                <a:latin typeface="+mj-ea"/>
                <a:ea typeface="+mj-ea"/>
              </a:rPr>
              <a:t>SciPy</a:t>
            </a:r>
            <a:r>
              <a:rPr lang="zh-CN" altLang="en-US" sz="2000" dirty="0">
                <a:solidFill>
                  <a:schemeClr val="accent6">
                    <a:lumMod val="75000"/>
                  </a:schemeClr>
                </a:solidFill>
                <a:latin typeface="+mj-ea"/>
                <a:ea typeface="+mj-ea"/>
              </a:rPr>
              <a:t>是构建在</a:t>
            </a:r>
            <a:r>
              <a:rPr lang="en-US" altLang="zh-CN" sz="2000" dirty="0">
                <a:solidFill>
                  <a:schemeClr val="accent6">
                    <a:lumMod val="75000"/>
                  </a:schemeClr>
                </a:solidFill>
                <a:latin typeface="+mj-ea"/>
                <a:ea typeface="+mj-ea"/>
              </a:rPr>
              <a:t>NumPy</a:t>
            </a:r>
            <a:r>
              <a:rPr lang="zh-CN" altLang="en-US" sz="2000" dirty="0">
                <a:solidFill>
                  <a:schemeClr val="accent6">
                    <a:lumMod val="75000"/>
                  </a:schemeClr>
                </a:solidFill>
                <a:latin typeface="+mj-ea"/>
                <a:ea typeface="+mj-ea"/>
              </a:rPr>
              <a:t>的基础之上的，它提供了许多的操作</a:t>
            </a:r>
            <a:r>
              <a:rPr lang="en-US" altLang="zh-CN" sz="2000" dirty="0">
                <a:solidFill>
                  <a:schemeClr val="accent6">
                    <a:lumMod val="75000"/>
                  </a:schemeClr>
                </a:solidFill>
                <a:latin typeface="+mj-ea"/>
                <a:ea typeface="+mj-ea"/>
              </a:rPr>
              <a:t>NumPy</a:t>
            </a:r>
            <a:r>
              <a:rPr lang="zh-CN" altLang="en-US" sz="2000" dirty="0">
                <a:solidFill>
                  <a:schemeClr val="accent6">
                    <a:lumMod val="75000"/>
                  </a:schemeClr>
                </a:solidFill>
                <a:latin typeface="+mj-ea"/>
                <a:ea typeface="+mj-ea"/>
              </a:rPr>
              <a:t>的数组的函数。</a:t>
            </a:r>
            <a:endParaRPr lang="en-US" altLang="zh-CN" sz="2000" dirty="0">
              <a:solidFill>
                <a:schemeClr val="accent6">
                  <a:lumMod val="75000"/>
                </a:schemeClr>
              </a:solidFill>
              <a:latin typeface="+mj-ea"/>
              <a:ea typeface="+mj-ea"/>
            </a:endParaRPr>
          </a:p>
          <a:p>
            <a:pPr>
              <a:lnSpc>
                <a:spcPct val="150000"/>
              </a:lnSpc>
            </a:pPr>
            <a:endParaRPr lang="en-US" altLang="zh-CN" sz="2000" dirty="0">
              <a:solidFill>
                <a:schemeClr val="accent6">
                  <a:lumMod val="75000"/>
                </a:schemeClr>
              </a:solidFill>
              <a:latin typeface="+mj-ea"/>
              <a:ea typeface="+mj-ea"/>
            </a:endParaRPr>
          </a:p>
          <a:p>
            <a:pPr>
              <a:lnSpc>
                <a:spcPct val="150000"/>
              </a:lnSpc>
            </a:pPr>
            <a:r>
              <a:rPr lang="en-US" altLang="zh-CN" sz="2000" dirty="0" err="1">
                <a:solidFill>
                  <a:schemeClr val="accent6">
                    <a:lumMod val="75000"/>
                  </a:schemeClr>
                </a:solidFill>
                <a:latin typeface="+mj-ea"/>
                <a:ea typeface="+mj-ea"/>
              </a:rPr>
              <a:t>SciPy</a:t>
            </a:r>
            <a:r>
              <a:rPr lang="zh-CN" altLang="en-US" sz="2000" dirty="0">
                <a:solidFill>
                  <a:schemeClr val="accent6">
                    <a:lumMod val="75000"/>
                  </a:schemeClr>
                </a:solidFill>
                <a:latin typeface="+mj-ea"/>
                <a:ea typeface="+mj-ea"/>
              </a:rPr>
              <a:t>是一款方便、易于使用、专为科学和工程设计的</a:t>
            </a:r>
            <a:r>
              <a:rPr lang="en-US" altLang="zh-CN" sz="2000" dirty="0">
                <a:solidFill>
                  <a:schemeClr val="accent6">
                    <a:lumMod val="75000"/>
                  </a:schemeClr>
                </a:solidFill>
                <a:latin typeface="+mj-ea"/>
                <a:ea typeface="+mj-ea"/>
              </a:rPr>
              <a:t>Python</a:t>
            </a:r>
            <a:r>
              <a:rPr lang="zh-CN" altLang="en-US" sz="2000" dirty="0">
                <a:solidFill>
                  <a:schemeClr val="accent6">
                    <a:lumMod val="75000"/>
                  </a:schemeClr>
                </a:solidFill>
                <a:latin typeface="+mj-ea"/>
                <a:ea typeface="+mj-ea"/>
              </a:rPr>
              <a:t>工具包，它包括了统计、优化、整合以及线性代数模块、傅里叶变换、信号和图像图例，常微分方差的求解等</a:t>
            </a:r>
            <a:endParaRPr lang="en-US" altLang="zh-CN" sz="2000" dirty="0">
              <a:solidFill>
                <a:schemeClr val="accent6">
                  <a:lumMod val="75000"/>
                </a:schemeClr>
              </a:solidFill>
              <a:latin typeface="+mj-ea"/>
              <a:ea typeface="+mj-ea"/>
            </a:endParaRPr>
          </a:p>
        </p:txBody>
      </p:sp>
      <p:graphicFrame>
        <p:nvGraphicFramePr>
          <p:cNvPr id="6" name="表格 5"/>
          <p:cNvGraphicFramePr>
            <a:graphicFrameLocks noGrp="1"/>
          </p:cNvGraphicFramePr>
          <p:nvPr/>
        </p:nvGraphicFramePr>
        <p:xfrm>
          <a:off x="6676102" y="1781574"/>
          <a:ext cx="4768646" cy="4480785"/>
        </p:xfrm>
        <a:graphic>
          <a:graphicData uri="http://schemas.openxmlformats.org/drawingml/2006/table">
            <a:tbl>
              <a:tblPr>
                <a:tableStyleId>{5C22544A-7EE6-4342-B048-85BDC9FD1C3A}</a:tableStyleId>
              </a:tblPr>
              <a:tblGrid>
                <a:gridCol w="2384323"/>
                <a:gridCol w="2384323"/>
              </a:tblGrid>
              <a:tr h="289731">
                <a:tc>
                  <a:txBody>
                    <a:bodyPr/>
                    <a:lstStyle/>
                    <a:p>
                      <a:pPr algn="just" fontAlgn="ctr"/>
                      <a:r>
                        <a:rPr lang="en-US" sz="1800" u="none" strike="noStrike" dirty="0" err="1">
                          <a:effectLst/>
                          <a:latin typeface="+mj-ea"/>
                          <a:ea typeface="+mj-ea"/>
                        </a:rPr>
                        <a:t>scipy.cluster</a:t>
                      </a:r>
                      <a:endParaRPr lang="zh-CN" sz="1800" b="0" i="0" u="none" strike="noStrike" dirty="0">
                        <a:solidFill>
                          <a:srgbClr val="000000"/>
                        </a:solidFill>
                        <a:effectLst/>
                        <a:latin typeface="+mj-ea"/>
                        <a:ea typeface="+mj-ea"/>
                      </a:endParaRPr>
                    </a:p>
                  </a:txBody>
                  <a:tcPr marL="5365" marR="5365" marT="5365" marB="0" anchor="ctr"/>
                </a:tc>
                <a:tc>
                  <a:txBody>
                    <a:bodyPr/>
                    <a:lstStyle/>
                    <a:p>
                      <a:pPr algn="just" fontAlgn="ctr"/>
                      <a:r>
                        <a:rPr lang="zh-CN" sz="1800" u="none" strike="noStrike" dirty="0">
                          <a:effectLst/>
                          <a:latin typeface="+mj-ea"/>
                          <a:ea typeface="+mj-ea"/>
                        </a:rPr>
                        <a:t>向量量化</a:t>
                      </a:r>
                      <a:endParaRPr lang="zh-CN" sz="1800" b="0" i="0" u="none" strike="noStrike" dirty="0">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dirty="0" err="1">
                          <a:effectLst/>
                          <a:latin typeface="+mj-ea"/>
                          <a:ea typeface="+mj-ea"/>
                        </a:rPr>
                        <a:t>scipy.constants</a:t>
                      </a:r>
                      <a:endParaRPr lang="zh-CN" sz="1800" b="0" i="0" u="none" strike="noStrike" dirty="0">
                        <a:solidFill>
                          <a:srgbClr val="000000"/>
                        </a:solidFill>
                        <a:effectLst/>
                        <a:latin typeface="+mj-ea"/>
                        <a:ea typeface="+mj-ea"/>
                      </a:endParaRPr>
                    </a:p>
                  </a:txBody>
                  <a:tcPr marL="5365" marR="5365" marT="5365" marB="0" anchor="ctr"/>
                </a:tc>
                <a:tc>
                  <a:txBody>
                    <a:bodyPr/>
                    <a:lstStyle/>
                    <a:p>
                      <a:pPr algn="just" fontAlgn="ctr"/>
                      <a:r>
                        <a:rPr lang="zh-CN" sz="1800" u="none" strike="noStrike" dirty="0">
                          <a:effectLst/>
                          <a:latin typeface="+mj-ea"/>
                          <a:ea typeface="+mj-ea"/>
                        </a:rPr>
                        <a:t>数学常量</a:t>
                      </a:r>
                      <a:endParaRPr lang="zh-CN" sz="1800" b="0" i="0" u="none" strike="noStrike" dirty="0">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scipy.fftpack</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快速傅里叶变换</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scipy.integrate</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积分</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scipy.interpolate</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插值</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dirty="0" err="1">
                          <a:effectLst/>
                          <a:latin typeface="+mj-ea"/>
                          <a:ea typeface="+mj-ea"/>
                        </a:rPr>
                        <a:t>scipy.io</a:t>
                      </a:r>
                      <a:endParaRPr lang="zh-CN" sz="1800" b="0" i="0" u="none" strike="noStrike" dirty="0">
                        <a:solidFill>
                          <a:srgbClr val="000000"/>
                        </a:solidFill>
                        <a:effectLst/>
                        <a:latin typeface="+mj-ea"/>
                        <a:ea typeface="+mj-ea"/>
                      </a:endParaRPr>
                    </a:p>
                  </a:txBody>
                  <a:tcPr marL="5365" marR="5365" marT="5365" marB="0" anchor="ctr"/>
                </a:tc>
                <a:tc>
                  <a:txBody>
                    <a:bodyPr/>
                    <a:lstStyle/>
                    <a:p>
                      <a:pPr algn="just" fontAlgn="ctr"/>
                      <a:r>
                        <a:rPr lang="zh-CN" sz="1800" u="none" strike="noStrike" dirty="0">
                          <a:effectLst/>
                          <a:latin typeface="+mj-ea"/>
                          <a:ea typeface="+mj-ea"/>
                        </a:rPr>
                        <a:t>数据输入输出</a:t>
                      </a:r>
                      <a:endParaRPr lang="zh-CN" sz="1800" b="0" i="0" u="none" strike="noStrike" dirty="0">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dirty="0" err="1">
                          <a:effectLst/>
                          <a:latin typeface="+mj-ea"/>
                          <a:ea typeface="+mj-ea"/>
                        </a:rPr>
                        <a:t>scipy.linalg</a:t>
                      </a:r>
                      <a:endParaRPr lang="zh-CN" sz="1800" b="0" i="0" u="none" strike="noStrike" dirty="0">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线性代数</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scipy.ndimage</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dirty="0">
                          <a:effectLst/>
                          <a:latin typeface="+mj-ea"/>
                          <a:ea typeface="+mj-ea"/>
                        </a:rPr>
                        <a:t>N维图像</a:t>
                      </a:r>
                      <a:endParaRPr lang="zh-CN" sz="1800" b="0" i="0" u="none" strike="noStrike" dirty="0">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scipy.odr</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正交距离回归</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scipy.optimize</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优化算法</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scipy.signal</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信号处理</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scipy.sparse</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稀疏矩阵</a:t>
                      </a:r>
                      <a:endParaRPr lang="zh-CN" sz="1800" b="0" i="0" u="none" strike="noStrike">
                        <a:solidFill>
                          <a:srgbClr val="000000"/>
                        </a:solidFill>
                        <a:effectLst/>
                        <a:latin typeface="+mj-ea"/>
                        <a:ea typeface="+mj-ea"/>
                      </a:endParaRPr>
                    </a:p>
                  </a:txBody>
                  <a:tcPr marL="5365" marR="5365" marT="5365" marB="0" anchor="ctr"/>
                </a:tc>
              </a:tr>
              <a:tr h="434597">
                <a:tc>
                  <a:txBody>
                    <a:bodyPr/>
                    <a:lstStyle/>
                    <a:p>
                      <a:pPr algn="just" fontAlgn="ctr"/>
                      <a:r>
                        <a:rPr lang="en-US" sz="1800" u="none" strike="noStrike">
                          <a:effectLst/>
                          <a:latin typeface="+mj-ea"/>
                          <a:ea typeface="+mj-ea"/>
                        </a:rPr>
                        <a:t>scipy.spatial</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空间数据结构和算法</a:t>
                      </a:r>
                      <a:endParaRPr lang="zh-CN" sz="1800" b="0" i="0" u="none" strike="noStrike">
                        <a:solidFill>
                          <a:srgbClr val="000000"/>
                        </a:solidFill>
                        <a:effectLst/>
                        <a:latin typeface="+mj-ea"/>
                        <a:ea typeface="+mj-ea"/>
                      </a:endParaRPr>
                    </a:p>
                  </a:txBody>
                  <a:tcPr marL="5365" marR="5365" marT="5365" marB="0" anchor="ctr"/>
                </a:tc>
              </a:tr>
              <a:tr h="289731">
                <a:tc>
                  <a:txBody>
                    <a:bodyPr/>
                    <a:lstStyle/>
                    <a:p>
                      <a:pPr algn="just" fontAlgn="ctr"/>
                      <a:r>
                        <a:rPr lang="en-US" sz="1800" u="none" strike="noStrike">
                          <a:effectLst/>
                          <a:latin typeface="+mj-ea"/>
                          <a:ea typeface="+mj-ea"/>
                        </a:rPr>
                        <a:t>scipy.special</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a:effectLst/>
                          <a:latin typeface="+mj-ea"/>
                          <a:ea typeface="+mj-ea"/>
                        </a:rPr>
                        <a:t>特殊数学函数</a:t>
                      </a:r>
                      <a:endParaRPr lang="zh-CN" sz="1800" b="0" i="0" u="none" strike="noStrike">
                        <a:solidFill>
                          <a:srgbClr val="000000"/>
                        </a:solidFill>
                        <a:effectLst/>
                        <a:latin typeface="+mj-ea"/>
                        <a:ea typeface="+mj-ea"/>
                      </a:endParaRPr>
                    </a:p>
                  </a:txBody>
                  <a:tcPr marL="5365" marR="5365" marT="5365" marB="0" anchor="ctr"/>
                </a:tc>
              </a:tr>
              <a:tr h="150231">
                <a:tc>
                  <a:txBody>
                    <a:bodyPr/>
                    <a:lstStyle/>
                    <a:p>
                      <a:pPr algn="just" fontAlgn="ctr"/>
                      <a:r>
                        <a:rPr lang="en-US" sz="1800" u="none" strike="noStrike">
                          <a:effectLst/>
                          <a:latin typeface="+mj-ea"/>
                          <a:ea typeface="+mj-ea"/>
                        </a:rPr>
                        <a:t>scipy.stats</a:t>
                      </a:r>
                      <a:endParaRPr lang="zh-CN" sz="1800" b="0" i="0" u="none" strike="noStrike">
                        <a:solidFill>
                          <a:srgbClr val="000000"/>
                        </a:solidFill>
                        <a:effectLst/>
                        <a:latin typeface="+mj-ea"/>
                        <a:ea typeface="+mj-ea"/>
                      </a:endParaRPr>
                    </a:p>
                  </a:txBody>
                  <a:tcPr marL="5365" marR="5365" marT="5365" marB="0" anchor="ctr"/>
                </a:tc>
                <a:tc>
                  <a:txBody>
                    <a:bodyPr/>
                    <a:lstStyle/>
                    <a:p>
                      <a:pPr algn="just" fontAlgn="ctr"/>
                      <a:r>
                        <a:rPr lang="zh-CN" sz="1800" u="none" strike="noStrike" dirty="0">
                          <a:effectLst/>
                          <a:latin typeface="+mj-ea"/>
                          <a:ea typeface="+mj-ea"/>
                        </a:rPr>
                        <a:t>统计函数</a:t>
                      </a:r>
                      <a:endParaRPr lang="zh-CN" sz="1800" b="0" i="0" u="none" strike="noStrike" dirty="0">
                        <a:solidFill>
                          <a:srgbClr val="000000"/>
                        </a:solidFill>
                        <a:effectLst/>
                        <a:latin typeface="+mj-ea"/>
                        <a:ea typeface="+mj-ea"/>
                      </a:endParaRPr>
                    </a:p>
                  </a:txBody>
                  <a:tcPr marL="5365" marR="5365" marT="5365" marB="0" anchor="ct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93754" y="293387"/>
            <a:ext cx="7522223" cy="1754326"/>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-Matplotlib</a:t>
            </a:r>
            <a:endParaRPr lang="zh-CN" altLang="en-US" dirty="0"/>
          </a:p>
          <a:p>
            <a:endParaRPr lang="zh-CN" altLang="en-US" dirty="0"/>
          </a:p>
        </p:txBody>
      </p:sp>
      <p:sp>
        <p:nvSpPr>
          <p:cNvPr id="2" name="文本框 1"/>
          <p:cNvSpPr txBox="1"/>
          <p:nvPr/>
        </p:nvSpPr>
        <p:spPr>
          <a:xfrm>
            <a:off x="667833" y="1351454"/>
            <a:ext cx="3582361" cy="462383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err="1">
                <a:solidFill>
                  <a:schemeClr val="accent6">
                    <a:lumMod val="75000"/>
                  </a:schemeClr>
                </a:solidFill>
                <a:latin typeface="+mn-ea"/>
                <a:ea typeface="+mn-ea"/>
              </a:rPr>
              <a:t>Matplotlib</a:t>
            </a:r>
            <a:endParaRPr lang="en-US" altLang="zh-CN" sz="2800" b="1" dirty="0">
              <a:solidFill>
                <a:schemeClr val="accent6">
                  <a:lumMod val="75000"/>
                </a:schemeClr>
              </a:solidFill>
              <a:latin typeface="+mn-ea"/>
              <a:ea typeface="+mn-ea"/>
            </a:endParaRPr>
          </a:p>
          <a:p>
            <a:pPr>
              <a:lnSpc>
                <a:spcPct val="150000"/>
              </a:lnSpc>
            </a:pPr>
            <a:r>
              <a:rPr lang="en-US" altLang="zh-CN" sz="2000" dirty="0" err="1">
                <a:solidFill>
                  <a:schemeClr val="accent6">
                    <a:lumMod val="75000"/>
                  </a:schemeClr>
                </a:solidFill>
                <a:latin typeface="+mj-ea"/>
                <a:ea typeface="+mj-ea"/>
              </a:rPr>
              <a:t>Matplotlib</a:t>
            </a:r>
            <a:r>
              <a:rPr lang="en-US" altLang="zh-CN" sz="2000" dirty="0">
                <a:solidFill>
                  <a:schemeClr val="accent6">
                    <a:lumMod val="75000"/>
                  </a:schemeClr>
                </a:solidFill>
                <a:latin typeface="+mj-ea"/>
                <a:ea typeface="+mj-ea"/>
              </a:rPr>
              <a:t> </a:t>
            </a:r>
            <a:r>
              <a:rPr lang="zh-CN" altLang="en-US" sz="2000" dirty="0">
                <a:solidFill>
                  <a:schemeClr val="accent6">
                    <a:lumMod val="75000"/>
                  </a:schemeClr>
                </a:solidFill>
                <a:latin typeface="+mj-ea"/>
                <a:ea typeface="+mj-ea"/>
              </a:rPr>
              <a:t>是一个 </a:t>
            </a:r>
            <a:r>
              <a:rPr lang="en-US" altLang="zh-CN" sz="2000" dirty="0">
                <a:solidFill>
                  <a:schemeClr val="accent6">
                    <a:lumMod val="75000"/>
                  </a:schemeClr>
                </a:solidFill>
                <a:latin typeface="+mj-ea"/>
                <a:ea typeface="+mj-ea"/>
              </a:rPr>
              <a:t>Python </a:t>
            </a:r>
            <a:r>
              <a:rPr lang="zh-CN" altLang="en-US" sz="2000" dirty="0">
                <a:solidFill>
                  <a:schemeClr val="accent6">
                    <a:lumMod val="75000"/>
                  </a:schemeClr>
                </a:solidFill>
                <a:latin typeface="+mj-ea"/>
                <a:ea typeface="+mj-ea"/>
              </a:rPr>
              <a:t>的 </a:t>
            </a:r>
            <a:r>
              <a:rPr lang="en-US" altLang="zh-CN" sz="2000" dirty="0" err="1">
                <a:solidFill>
                  <a:schemeClr val="accent6">
                    <a:lumMod val="75000"/>
                  </a:schemeClr>
                </a:solidFill>
                <a:latin typeface="+mj-ea"/>
                <a:ea typeface="+mj-ea"/>
              </a:rPr>
              <a:t>2D</a:t>
            </a:r>
            <a:r>
              <a:rPr lang="zh-CN" altLang="en-US" sz="2000" dirty="0">
                <a:solidFill>
                  <a:schemeClr val="accent6">
                    <a:lumMod val="75000"/>
                  </a:schemeClr>
                </a:solidFill>
                <a:latin typeface="+mj-ea"/>
                <a:ea typeface="+mj-ea"/>
              </a:rPr>
              <a:t>绘图库，它以各种硬拷贝格式和跨平台的交互式环境生成出版质量级别的图形</a:t>
            </a:r>
            <a:r>
              <a:rPr lang="en-US" altLang="zh-CN" sz="2000" dirty="0">
                <a:solidFill>
                  <a:schemeClr val="accent6">
                    <a:lumMod val="75000"/>
                  </a:schemeClr>
                </a:solidFill>
                <a:latin typeface="+mj-ea"/>
                <a:ea typeface="+mj-ea"/>
              </a:rPr>
              <a:t> </a:t>
            </a:r>
            <a:r>
              <a:rPr lang="zh-CN" altLang="en-US" sz="2000" dirty="0">
                <a:solidFill>
                  <a:schemeClr val="accent6">
                    <a:lumMod val="75000"/>
                  </a:schemeClr>
                </a:solidFill>
                <a:latin typeface="+mj-ea"/>
                <a:ea typeface="+mj-ea"/>
              </a:rPr>
              <a:t>。</a:t>
            </a:r>
            <a:endParaRPr lang="en-US" altLang="zh-CN" sz="2000" dirty="0">
              <a:solidFill>
                <a:schemeClr val="accent6">
                  <a:lumMod val="75000"/>
                </a:schemeClr>
              </a:solidFill>
              <a:latin typeface="+mj-ea"/>
              <a:ea typeface="+mj-ea"/>
            </a:endParaRPr>
          </a:p>
          <a:p>
            <a:pPr>
              <a:lnSpc>
                <a:spcPct val="150000"/>
              </a:lnSpc>
            </a:pPr>
            <a:endParaRPr lang="zh-CN" altLang="en-US" sz="2000" dirty="0">
              <a:solidFill>
                <a:schemeClr val="accent6">
                  <a:lumMod val="75000"/>
                </a:schemeClr>
              </a:solidFill>
              <a:latin typeface="+mj-ea"/>
              <a:ea typeface="+mj-ea"/>
            </a:endParaRPr>
          </a:p>
          <a:p>
            <a:pPr>
              <a:lnSpc>
                <a:spcPct val="150000"/>
              </a:lnSpc>
            </a:pPr>
            <a:r>
              <a:rPr lang="zh-CN" altLang="en-US" sz="2000" dirty="0">
                <a:solidFill>
                  <a:schemeClr val="accent6">
                    <a:lumMod val="75000"/>
                  </a:schemeClr>
                </a:solidFill>
                <a:latin typeface="+mj-ea"/>
                <a:ea typeface="+mj-ea"/>
              </a:rPr>
              <a:t>通过 </a:t>
            </a:r>
            <a:r>
              <a:rPr lang="en-US" altLang="zh-CN" sz="2000" dirty="0" err="1">
                <a:solidFill>
                  <a:schemeClr val="accent6">
                    <a:lumMod val="75000"/>
                  </a:schemeClr>
                </a:solidFill>
                <a:latin typeface="+mj-ea"/>
                <a:ea typeface="+mj-ea"/>
              </a:rPr>
              <a:t>Matplotlib</a:t>
            </a:r>
            <a:r>
              <a:rPr lang="zh-CN" altLang="en-US" sz="2000" dirty="0">
                <a:solidFill>
                  <a:schemeClr val="accent6">
                    <a:lumMod val="75000"/>
                  </a:schemeClr>
                </a:solidFill>
                <a:latin typeface="+mj-ea"/>
                <a:ea typeface="+mj-ea"/>
              </a:rPr>
              <a:t>，开发者可以仅需要几行代码，便可以生成绘图，直方图，功率谱，条形图，错误图，散点图等。</a:t>
            </a:r>
            <a:endParaRPr lang="en-US" altLang="zh-CN" sz="2000" dirty="0">
              <a:solidFill>
                <a:schemeClr val="accent6">
                  <a:lumMod val="75000"/>
                </a:schemeClr>
              </a:solidFill>
              <a:latin typeface="+mj-ea"/>
              <a:ea typeface="+mj-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06980" y="1259533"/>
            <a:ext cx="7620000" cy="5013854"/>
          </a:xfrm>
          <a:prstGeom prst="rect">
            <a:avLst/>
          </a:prstGeom>
        </p:spPr>
      </p:pic>
      <p:sp>
        <p:nvSpPr>
          <p:cNvPr id="4" name="矩形 3"/>
          <p:cNvSpPr/>
          <p:nvPr/>
        </p:nvSpPr>
        <p:spPr>
          <a:xfrm>
            <a:off x="4955068" y="6202355"/>
            <a:ext cx="6018122" cy="400110"/>
          </a:xfrm>
          <a:prstGeom prst="rect">
            <a:avLst/>
          </a:prstGeom>
        </p:spPr>
        <p:txBody>
          <a:bodyPr wrap="none">
            <a:spAutoFit/>
          </a:bodyPr>
          <a:lstStyle/>
          <a:p>
            <a:pPr lvl="1"/>
            <a:r>
              <a:rPr lang="en-US" altLang="zh-CN" sz="2000" b="1" dirty="0">
                <a:solidFill>
                  <a:schemeClr val="accent6">
                    <a:lumMod val="75000"/>
                  </a:schemeClr>
                </a:solidFill>
                <a:latin typeface="+mn-ea"/>
              </a:rPr>
              <a:t>https://</a:t>
            </a:r>
            <a:r>
              <a:rPr lang="en-US" altLang="zh-CN" sz="2000" b="1" dirty="0" err="1">
                <a:solidFill>
                  <a:schemeClr val="accent6">
                    <a:lumMod val="75000"/>
                  </a:schemeClr>
                </a:solidFill>
                <a:latin typeface="+mn-ea"/>
              </a:rPr>
              <a:t>matplotlib.org</a:t>
            </a:r>
            <a:r>
              <a:rPr lang="en-US" altLang="zh-CN" sz="2000" b="1" dirty="0">
                <a:solidFill>
                  <a:schemeClr val="accent6">
                    <a:lumMod val="75000"/>
                  </a:schemeClr>
                </a:solidFill>
                <a:latin typeface="+mn-ea"/>
              </a:rPr>
              <a:t>/gallery/</a:t>
            </a:r>
            <a:r>
              <a:rPr lang="en-US" altLang="zh-CN" sz="2000" b="1" dirty="0" err="1">
                <a:solidFill>
                  <a:schemeClr val="accent6">
                    <a:lumMod val="75000"/>
                  </a:schemeClr>
                </a:solidFill>
                <a:latin typeface="+mn-ea"/>
              </a:rPr>
              <a:t>index.html</a:t>
            </a:r>
            <a:endParaRPr lang="en-US" altLang="zh-CN" sz="2000" b="1" dirty="0">
              <a:solidFill>
                <a:schemeClr val="accent6">
                  <a:lumMod val="75000"/>
                </a:schemeClr>
              </a:solidFill>
              <a:latin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578588" y="138247"/>
            <a:ext cx="6820324" cy="1200329"/>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-Matplotlib</a:t>
            </a:r>
            <a:endParaRPr lang="zh-CN" altLang="en-US" dirty="0"/>
          </a:p>
        </p:txBody>
      </p:sp>
      <p:sp>
        <p:nvSpPr>
          <p:cNvPr id="5" name="矩形 4"/>
          <p:cNvSpPr/>
          <p:nvPr/>
        </p:nvSpPr>
        <p:spPr>
          <a:xfrm>
            <a:off x="502663" y="1323354"/>
            <a:ext cx="4803433" cy="830997"/>
          </a:xfrm>
          <a:prstGeom prst="rect">
            <a:avLst/>
          </a:prstGeom>
        </p:spPr>
        <p:txBody>
          <a:bodyPr wrap="square">
            <a:spAutoFit/>
          </a:bodyPr>
          <a:lstStyle/>
          <a:p>
            <a:pPr>
              <a:spcBef>
                <a:spcPts val="60"/>
              </a:spcBef>
            </a:pPr>
            <a:r>
              <a:rPr lang="zh-CN" altLang="en-US" spc="11" dirty="0">
                <a:latin typeface="仿宋" panose="02010609060101010101" pitchFamily="49" charset="-122"/>
                <a:cs typeface="仿宋" panose="02010609060101010101" pitchFamily="49" charset="-122"/>
              </a:rPr>
              <a:t>图形的各元素名称如下</a:t>
            </a:r>
            <a:r>
              <a:rPr lang="zh-CN" altLang="en-US" sz="2800" spc="11" dirty="0">
                <a:latin typeface="仿宋" panose="02010609060101010101" pitchFamily="49" charset="-122"/>
                <a:cs typeface="仿宋" panose="02010609060101010101" pitchFamily="49" charset="-122"/>
              </a:rPr>
              <a:t>：</a:t>
            </a:r>
            <a:endParaRPr lang="zh-CN" altLang="en-US" sz="2800" dirty="0">
              <a:latin typeface="仿宋" panose="02010609060101010101" pitchFamily="49" charset="-122"/>
              <a:cs typeface="仿宋" panose="02010609060101010101" pitchFamily="49" charset="-122"/>
            </a:endParaRPr>
          </a:p>
          <a:p>
            <a:pPr>
              <a:lnSpc>
                <a:spcPct val="100000"/>
              </a:lnSpc>
            </a:pPr>
            <a:endParaRPr lang="zh-CN" altLang="en-US" sz="2000" dirty="0">
              <a:latin typeface="Times New Roman" panose="02020603050405020304"/>
              <a:cs typeface="Times New Roman" panose="02020603050405020304"/>
            </a:endParaRPr>
          </a:p>
        </p:txBody>
      </p:sp>
      <p:sp>
        <p:nvSpPr>
          <p:cNvPr id="6" name="矩形 5"/>
          <p:cNvSpPr/>
          <p:nvPr/>
        </p:nvSpPr>
        <p:spPr>
          <a:xfrm>
            <a:off x="502663" y="1932092"/>
            <a:ext cx="3921853" cy="4702569"/>
          </a:xfrm>
          <a:prstGeom prst="rect">
            <a:avLst/>
          </a:prstGeom>
        </p:spPr>
        <p:txBody>
          <a:bodyPr wrap="square">
            <a:spAutoFit/>
          </a:bodyPr>
          <a:lstStyle/>
          <a:p>
            <a:pPr>
              <a:lnSpc>
                <a:spcPct val="150000"/>
              </a:lnSpc>
              <a:spcBef>
                <a:spcPts val="130"/>
              </a:spcBef>
            </a:pPr>
            <a:r>
              <a:rPr lang="zh-CN" altLang="en-US" sz="2000" spc="65" dirty="0">
                <a:solidFill>
                  <a:srgbClr val="3B6CDE"/>
                </a:solidFill>
                <a:latin typeface="Microsoft JhengHei" panose="020B0604030504040204" charset="-120"/>
                <a:cs typeface="Microsoft JhengHei" panose="020B0604030504040204" charset="-120"/>
              </a:rPr>
              <a:t>绘图</a:t>
            </a:r>
            <a:r>
              <a:rPr lang="zh-CN" altLang="en-US" sz="2000" spc="25" dirty="0">
                <a:solidFill>
                  <a:srgbClr val="3B6CDE"/>
                </a:solidFill>
                <a:latin typeface="Microsoft JhengHei" panose="020B0604030504040204" charset="-120"/>
                <a:cs typeface="Microsoft JhengHei" panose="020B0604030504040204" charset="-120"/>
              </a:rPr>
              <a:t>框</a:t>
            </a:r>
            <a:r>
              <a:rPr lang="zh-CN" altLang="en-US" sz="2000" spc="185" dirty="0">
                <a:solidFill>
                  <a:srgbClr val="3B6CDE"/>
                </a:solidFill>
                <a:latin typeface="Microsoft JhengHei" panose="020B0604030504040204" charset="-120"/>
                <a:cs typeface="Microsoft JhengHei" panose="020B0604030504040204" charset="-120"/>
              </a:rPr>
              <a:t> </a:t>
            </a:r>
            <a:r>
              <a:rPr lang="zh-CN" altLang="en-US" sz="2000" spc="65" dirty="0">
                <a:latin typeface="仿宋" panose="02010609060101010101" pitchFamily="49" charset="-122"/>
                <a:cs typeface="仿宋" panose="02010609060101010101" pitchFamily="49" charset="-122"/>
              </a:rPr>
              <a:t>是图形的最高容</a:t>
            </a:r>
            <a:r>
              <a:rPr lang="zh-CN" altLang="en-US" sz="2000" spc="25" dirty="0">
                <a:latin typeface="仿宋" panose="02010609060101010101" pitchFamily="49" charset="-122"/>
                <a:cs typeface="仿宋" panose="02010609060101010101" pitchFamily="49" charset="-122"/>
              </a:rPr>
              <a:t>器</a:t>
            </a:r>
            <a:r>
              <a:rPr lang="zh-CN" altLang="en-US" sz="2000" spc="65" dirty="0">
                <a:latin typeface="仿宋" panose="02010609060101010101" pitchFamily="49" charset="-122"/>
                <a:cs typeface="仿宋" panose="02010609060101010101" pitchFamily="49" charset="-122"/>
              </a:rPr>
              <a:t>，所有图形必须放置</a:t>
            </a:r>
            <a:r>
              <a:rPr lang="zh-CN" altLang="en-US" sz="2000" spc="25" dirty="0">
                <a:latin typeface="仿宋" panose="02010609060101010101" pitchFamily="49" charset="-122"/>
                <a:cs typeface="仿宋" panose="02010609060101010101" pitchFamily="49" charset="-122"/>
              </a:rPr>
              <a:t>在绘图框中</a:t>
            </a:r>
            <a:r>
              <a:rPr lang="en-US" altLang="zh-CN" sz="2000" spc="25" dirty="0">
                <a:latin typeface="仿宋" panose="02010609060101010101" pitchFamily="49" charset="-122"/>
                <a:cs typeface="仿宋" panose="02010609060101010101" pitchFamily="49" charset="-122"/>
              </a:rPr>
              <a:t>.</a:t>
            </a:r>
            <a:endParaRPr lang="en-US" altLang="zh-CN" sz="2000" spc="25" dirty="0">
              <a:latin typeface="仿宋" panose="02010609060101010101" pitchFamily="49" charset="-122"/>
              <a:cs typeface="仿宋" panose="02010609060101010101" pitchFamily="49" charset="-122"/>
            </a:endParaRPr>
          </a:p>
          <a:p>
            <a:pPr>
              <a:lnSpc>
                <a:spcPct val="150000"/>
              </a:lnSpc>
              <a:spcBef>
                <a:spcPts val="130"/>
              </a:spcBef>
            </a:pPr>
            <a:endParaRPr lang="en-US" altLang="zh-CN" sz="2000" spc="25" dirty="0">
              <a:latin typeface="仿宋" panose="02010609060101010101" pitchFamily="49" charset="-122"/>
              <a:cs typeface="仿宋" panose="02010609060101010101" pitchFamily="49" charset="-122"/>
            </a:endParaRPr>
          </a:p>
          <a:p>
            <a:pPr>
              <a:lnSpc>
                <a:spcPct val="150000"/>
              </a:lnSpc>
              <a:spcBef>
                <a:spcPts val="130"/>
              </a:spcBef>
            </a:pPr>
            <a:r>
              <a:rPr lang="zh-CN" altLang="en-US" sz="2000" spc="25" dirty="0">
                <a:solidFill>
                  <a:srgbClr val="3B6CDE"/>
                </a:solidFill>
                <a:latin typeface="Microsoft JhengHei" panose="020B0604030504040204" charset="-120"/>
                <a:cs typeface="Microsoft JhengHei" panose="020B0604030504040204" charset="-120"/>
              </a:rPr>
              <a:t>子图 </a:t>
            </a:r>
            <a:r>
              <a:rPr lang="zh-CN" altLang="en-US" sz="2000" spc="215" dirty="0">
                <a:solidFill>
                  <a:srgbClr val="3B6CDE"/>
                </a:solidFill>
                <a:latin typeface="Microsoft JhengHei" panose="020B0604030504040204" charset="-120"/>
                <a:cs typeface="Microsoft JhengHei" panose="020B0604030504040204" charset="-120"/>
              </a:rPr>
              <a:t> </a:t>
            </a:r>
            <a:r>
              <a:rPr lang="zh-CN" altLang="en-US" sz="2000" spc="40" dirty="0">
                <a:latin typeface="仿宋" panose="02010609060101010101" pitchFamily="49" charset="-122"/>
                <a:cs typeface="仿宋" panose="02010609060101010101" pitchFamily="49" charset="-122"/>
              </a:rPr>
              <a:t>是绘图框中所包含的图</a:t>
            </a:r>
            <a:r>
              <a:rPr lang="zh-CN" altLang="en-US" sz="2000" spc="25" dirty="0">
                <a:latin typeface="仿宋" panose="02010609060101010101" pitchFamily="49" charset="-122"/>
                <a:cs typeface="仿宋" panose="02010609060101010101" pitchFamily="49" charset="-122"/>
              </a:rPr>
              <a:t>形</a:t>
            </a:r>
            <a:r>
              <a:rPr lang="zh-CN" altLang="en-US" sz="2000" spc="40" dirty="0">
                <a:latin typeface="仿宋" panose="02010609060101010101" pitchFamily="49" charset="-122"/>
                <a:cs typeface="仿宋" panose="02010609060101010101" pitchFamily="49" charset="-122"/>
              </a:rPr>
              <a:t>，即便绘图框只</a:t>
            </a:r>
            <a:r>
              <a:rPr lang="zh-CN" altLang="en-US" sz="2000" spc="25" dirty="0">
                <a:latin typeface="仿宋" panose="02010609060101010101" pitchFamily="49" charset="-122"/>
                <a:cs typeface="仿宋" panose="02010609060101010101" pitchFamily="49" charset="-122"/>
              </a:rPr>
              <a:t>包含一幅图，也称之为子图</a:t>
            </a:r>
            <a:r>
              <a:rPr lang="en-US" altLang="zh-CN" sz="2000" spc="25" dirty="0">
                <a:latin typeface="仿宋" panose="02010609060101010101" pitchFamily="49" charset="-122"/>
                <a:cs typeface="仿宋" panose="02010609060101010101" pitchFamily="49" charset="-122"/>
              </a:rPr>
              <a:t>.</a:t>
            </a:r>
            <a:endParaRPr lang="en-US" altLang="zh-CN" sz="2000" spc="25" dirty="0">
              <a:latin typeface="仿宋" panose="02010609060101010101" pitchFamily="49" charset="-122"/>
              <a:cs typeface="仿宋" panose="02010609060101010101" pitchFamily="49" charset="-122"/>
            </a:endParaRPr>
          </a:p>
          <a:p>
            <a:pPr>
              <a:lnSpc>
                <a:spcPct val="150000"/>
              </a:lnSpc>
              <a:spcBef>
                <a:spcPts val="130"/>
              </a:spcBef>
            </a:pPr>
            <a:endParaRPr lang="zh-CN" altLang="en-US" sz="2000" dirty="0">
              <a:latin typeface="仿宋" panose="02010609060101010101" pitchFamily="49" charset="-122"/>
              <a:cs typeface="仿宋" panose="02010609060101010101" pitchFamily="49" charset="-122"/>
            </a:endParaRPr>
          </a:p>
          <a:p>
            <a:pPr>
              <a:lnSpc>
                <a:spcPct val="150000"/>
              </a:lnSpc>
              <a:spcBef>
                <a:spcPts val="130"/>
              </a:spcBef>
            </a:pPr>
            <a:r>
              <a:rPr lang="zh-CN" altLang="en-US" sz="2000" spc="40" dirty="0">
                <a:solidFill>
                  <a:srgbClr val="3B6CDE"/>
                </a:solidFill>
                <a:latin typeface="Microsoft JhengHei" panose="020B0604030504040204" charset="-120"/>
                <a:cs typeface="Microsoft JhengHei" panose="020B0604030504040204" charset="-120"/>
              </a:rPr>
              <a:t>元</a:t>
            </a:r>
            <a:r>
              <a:rPr lang="zh-CN" altLang="en-US" sz="2000" spc="25" dirty="0">
                <a:solidFill>
                  <a:srgbClr val="3B6CDE"/>
                </a:solidFill>
                <a:latin typeface="Microsoft JhengHei" panose="020B0604030504040204" charset="-120"/>
                <a:cs typeface="Microsoft JhengHei" panose="020B0604030504040204" charset="-120"/>
              </a:rPr>
              <a:t>素 </a:t>
            </a:r>
            <a:r>
              <a:rPr lang="zh-CN" altLang="en-US" sz="2000" spc="215" dirty="0">
                <a:solidFill>
                  <a:srgbClr val="3B6CDE"/>
                </a:solidFill>
                <a:latin typeface="Microsoft JhengHei" panose="020B0604030504040204" charset="-120"/>
                <a:cs typeface="Microsoft JhengHei" panose="020B0604030504040204" charset="-120"/>
              </a:rPr>
              <a:t> </a:t>
            </a:r>
            <a:r>
              <a:rPr lang="zh-CN" altLang="en-US" sz="2000" spc="40" dirty="0">
                <a:latin typeface="仿宋" panose="02010609060101010101" pitchFamily="49" charset="-122"/>
                <a:cs typeface="仿宋" panose="02010609060101010101" pitchFamily="49" charset="-122"/>
              </a:rPr>
              <a:t>是组成子图的部</a:t>
            </a:r>
            <a:r>
              <a:rPr lang="zh-CN" altLang="en-US" sz="2000" spc="25" dirty="0">
                <a:latin typeface="仿宋" panose="02010609060101010101" pitchFamily="49" charset="-122"/>
                <a:cs typeface="仿宋" panose="02010609060101010101" pitchFamily="49" charset="-122"/>
              </a:rPr>
              <a:t>件</a:t>
            </a:r>
            <a:r>
              <a:rPr lang="zh-CN" altLang="en-US" sz="2000" spc="40" dirty="0">
                <a:latin typeface="仿宋" panose="02010609060101010101" pitchFamily="49" charset="-122"/>
                <a:cs typeface="仿宋" panose="02010609060101010101" pitchFamily="49" charset="-122"/>
              </a:rPr>
              <a:t>，从子图最内部的数据</a:t>
            </a:r>
            <a:r>
              <a:rPr lang="zh-CN" altLang="en-US" sz="2000" spc="25" dirty="0">
                <a:latin typeface="仿宋" panose="02010609060101010101" pitchFamily="49" charset="-122"/>
                <a:cs typeface="仿宋" panose="02010609060101010101" pitchFamily="49" charset="-122"/>
              </a:rPr>
              <a:t>线条到外围的坐标轴标签等都属于元素</a:t>
            </a:r>
            <a:endParaRPr lang="zh-CN" altLang="en-US" dirty="0">
              <a:latin typeface="仿宋" panose="02010609060101010101" pitchFamily="49" charset="-122"/>
              <a:cs typeface="仿宋" panose="02010609060101010101" pitchFamily="49"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24516" y="992534"/>
            <a:ext cx="7767484" cy="5732116"/>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6" name="文本框 22"/>
          <p:cNvSpPr txBox="1">
            <a:spLocks noChangeArrowheads="1"/>
          </p:cNvSpPr>
          <p:nvPr/>
        </p:nvSpPr>
        <p:spPr bwMode="auto">
          <a:xfrm>
            <a:off x="619276" y="234145"/>
            <a:ext cx="7322600" cy="1754326"/>
          </a:xfrm>
          <a:prstGeom prst="rect">
            <a:avLst/>
          </a:prstGeom>
        </p:spPr>
        <p:txBody>
          <a:bodyPr/>
          <a:lstStyle>
            <a:defPPr>
              <a:defRPr lang="zh-CN"/>
            </a:defPPr>
            <a:lvl1pPr eaLnBrk="1" hangingPunct="1">
              <a:defRPr sz="3600" b="1" kern="0">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t>Python</a:t>
            </a:r>
            <a:r>
              <a:rPr lang="zh-CN" altLang="en-US" dirty="0"/>
              <a:t>模块</a:t>
            </a:r>
            <a:r>
              <a:rPr lang="en-US" altLang="zh-CN" dirty="0"/>
              <a:t>-Matplotlib</a:t>
            </a:r>
            <a:endParaRPr lang="zh-CN" altLang="en-US" dirty="0"/>
          </a:p>
          <a:p>
            <a:endParaRPr lang="zh-CN" altLang="en-US" dirty="0"/>
          </a:p>
        </p:txBody>
      </p:sp>
      <p:sp>
        <p:nvSpPr>
          <p:cNvPr id="5" name="矩形 4"/>
          <p:cNvSpPr/>
          <p:nvPr/>
        </p:nvSpPr>
        <p:spPr>
          <a:xfrm>
            <a:off x="302112" y="2457228"/>
            <a:ext cx="634328" cy="2246769"/>
          </a:xfrm>
          <a:prstGeom prst="rect">
            <a:avLst/>
          </a:prstGeom>
        </p:spPr>
        <p:txBody>
          <a:bodyPr wrap="square">
            <a:spAutoFit/>
          </a:bodyPr>
          <a:lstStyle/>
          <a:p>
            <a:pPr>
              <a:spcBef>
                <a:spcPts val="60"/>
              </a:spcBef>
            </a:pPr>
            <a:r>
              <a:rPr lang="zh-CN" altLang="en-US" sz="2800" spc="11" dirty="0">
                <a:solidFill>
                  <a:srgbClr val="FF0000"/>
                </a:solidFill>
                <a:latin typeface="黑体" panose="02010609060101010101" pitchFamily="49" charset="-122"/>
                <a:ea typeface="黑体" panose="02010609060101010101" pitchFamily="49" charset="-122"/>
                <a:cs typeface="仿宋" panose="02010609060101010101" pitchFamily="49" charset="-122"/>
              </a:rPr>
              <a:t>图形样式</a:t>
            </a:r>
            <a:endParaRPr lang="zh-CN" altLang="en-US" sz="2800" dirty="0">
              <a:solidFill>
                <a:srgbClr val="FF0000"/>
              </a:solidFill>
              <a:latin typeface="黑体" panose="02010609060101010101" pitchFamily="49" charset="-122"/>
              <a:ea typeface="黑体" panose="02010609060101010101" pitchFamily="49" charset="-122"/>
              <a:cs typeface="仿宋" panose="02010609060101010101" pitchFamily="49" charset="-122"/>
            </a:endParaRPr>
          </a:p>
          <a:p>
            <a:pPr>
              <a:lnSpc>
                <a:spcPct val="100000"/>
              </a:lnSpc>
            </a:pPr>
            <a:endParaRPr lang="zh-CN" altLang="en-US" sz="2800" dirty="0">
              <a:solidFill>
                <a:srgbClr val="FF0000"/>
              </a:solidFill>
              <a:latin typeface="黑体" panose="02010609060101010101" pitchFamily="49" charset="-122"/>
              <a:ea typeface="黑体" panose="02010609060101010101" pitchFamily="49" charset="-122"/>
              <a:cs typeface="Times New Roman" panose="02020603050405020304"/>
            </a:endParaRPr>
          </a:p>
        </p:txBody>
      </p:sp>
      <p:sp>
        <p:nvSpPr>
          <p:cNvPr id="14" name="object 360"/>
          <p:cNvSpPr/>
          <p:nvPr/>
        </p:nvSpPr>
        <p:spPr>
          <a:xfrm>
            <a:off x="640352" y="11594179"/>
            <a:ext cx="4549140" cy="2185670"/>
          </a:xfrm>
          <a:custGeom>
            <a:avLst/>
            <a:gdLst/>
            <a:ahLst/>
            <a:cxnLst/>
            <a:rect l="l" t="t" r="r" b="b"/>
            <a:pathLst>
              <a:path w="4549140" h="2185669">
                <a:moveTo>
                  <a:pt x="0" y="2185564"/>
                </a:moveTo>
                <a:lnTo>
                  <a:pt x="4548785" y="2185564"/>
                </a:lnTo>
                <a:lnTo>
                  <a:pt x="4548785" y="0"/>
                </a:lnTo>
                <a:lnTo>
                  <a:pt x="0" y="0"/>
                </a:lnTo>
                <a:lnTo>
                  <a:pt x="0" y="2185564"/>
                </a:lnTo>
                <a:close/>
              </a:path>
            </a:pathLst>
          </a:custGeom>
          <a:solidFill>
            <a:srgbClr val="F7F8FA">
              <a:alpha val="50000"/>
            </a:srgbClr>
          </a:solidFill>
        </p:spPr>
        <p:txBody>
          <a:bodyPr wrap="square" lIns="0" tIns="0" rIns="0" bIns="0" rtlCol="0"/>
          <a:lstStyle/>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04957" y="1388542"/>
            <a:ext cx="4426177" cy="1866996"/>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957" y="3255538"/>
            <a:ext cx="4407126" cy="3422826"/>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7764" y="1523991"/>
            <a:ext cx="6110070" cy="500723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 </a:t>
            </a:r>
            <a:r>
              <a:rPr lang="zh-CN" altLang="en-US" dirty="0">
                <a:solidFill>
                  <a:schemeClr val="tx1"/>
                </a:solidFill>
              </a:rPr>
              <a:t>机器学习的开发流程</a:t>
            </a:r>
            <a:endParaRPr lang="zh-CN" altLang="en-US" dirty="0">
              <a:solidFill>
                <a:schemeClr val="tx1"/>
              </a:solidFill>
            </a:endParaRPr>
          </a:p>
        </p:txBody>
      </p:sp>
      <p:sp>
        <p:nvSpPr>
          <p:cNvPr id="43" name="对角圆角矩形 42"/>
          <p:cNvSpPr/>
          <p:nvPr/>
        </p:nvSpPr>
        <p:spPr>
          <a:xfrm>
            <a:off x="2618570"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44" name="TextBox 6"/>
          <p:cNvSpPr txBox="1">
            <a:spLocks noChangeArrowheads="1"/>
          </p:cNvSpPr>
          <p:nvPr/>
        </p:nvSpPr>
        <p:spPr bwMode="auto">
          <a:xfrm>
            <a:off x="3029495" y="1779793"/>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机器学习概述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机器学习的类型</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机器学习的背景知识</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04    </a:t>
            </a:r>
            <a:r>
              <a:rPr lang="zh-CN" altLang="en-US" sz="3600" dirty="0">
                <a:solidFill>
                  <a:schemeClr val="bg1"/>
                </a:solidFill>
                <a:latin typeface="Impact" panose="020B0806030902050204" pitchFamily="34" charset="0"/>
                <a:ea typeface="微软雅黑" panose="020B0503020204020204" pitchFamily="34" charset="-122"/>
              </a:rPr>
              <a:t>机器学习的开发</a:t>
            </a:r>
            <a:r>
              <a:rPr lang="zh-CN" altLang="zh-CN" sz="3600" dirty="0">
                <a:solidFill>
                  <a:schemeClr val="bg1"/>
                </a:solidFill>
                <a:latin typeface="Impact" panose="020B0806030902050204" pitchFamily="34" charset="0"/>
                <a:ea typeface="微软雅黑" panose="020B0503020204020204" pitchFamily="34" charset="-122"/>
              </a:rPr>
              <a:t>流程</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C:\Users\hhg\Documents\从机器学习谈起 - 计算机的潜意识 - 博客园_files\221227224214301.png"/>
          <p:cNvPicPr/>
          <p:nvPr/>
        </p:nvPicPr>
        <p:blipFill>
          <a:blip r:embed="rId1">
            <a:extLst>
              <a:ext uri="{28A0092B-C50C-407E-A947-70E740481C1C}">
                <a14:useLocalDpi xmlns:a14="http://schemas.microsoft.com/office/drawing/2010/main" val="0"/>
              </a:ext>
            </a:extLst>
          </a:blip>
          <a:srcRect/>
          <a:stretch>
            <a:fillRect/>
          </a:stretch>
        </p:blipFill>
        <p:spPr bwMode="auto">
          <a:xfrm>
            <a:off x="1269669" y="1373204"/>
            <a:ext cx="8581203" cy="4078353"/>
          </a:xfrm>
          <a:prstGeom prst="rect">
            <a:avLst/>
          </a:prstGeom>
          <a:noFill/>
          <a:ln>
            <a:noFill/>
          </a:ln>
        </p:spPr>
      </p:pic>
      <p:pic>
        <p:nvPicPr>
          <p:cNvPr id="6"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5026" y="5146872"/>
            <a:ext cx="1498278" cy="1273324"/>
          </a:xfr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6871" y="5252982"/>
            <a:ext cx="2122206" cy="1061103"/>
          </a:xfrm>
          <a:prstGeom prst="rect">
            <a:avLst/>
          </a:prstGeom>
        </p:spPr>
      </p:pic>
      <p:sp>
        <p:nvSpPr>
          <p:cNvPr id="12" name="文本框 22"/>
          <p:cNvSpPr txBox="1">
            <a:spLocks noChangeArrowheads="1"/>
          </p:cNvSpPr>
          <p:nvPr/>
        </p:nvSpPr>
        <p:spPr bwMode="auto">
          <a:xfrm>
            <a:off x="636543" y="251481"/>
            <a:ext cx="70983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机器学习的一般步骤</a:t>
            </a:r>
            <a:endParaRPr lang="zh-CN" altLang="en-US"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22"/>
          <p:cNvSpPr txBox="1">
            <a:spLocks noChangeArrowheads="1"/>
          </p:cNvSpPr>
          <p:nvPr/>
        </p:nvSpPr>
        <p:spPr bwMode="auto">
          <a:xfrm>
            <a:off x="618662" y="270098"/>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机器学习的一般步骤</a:t>
            </a:r>
            <a:br>
              <a:rPr lang="zh-CN" altLang="en-US" dirty="0"/>
            </a:br>
            <a:endParaRPr lang="zh-CN" altLang="en-US" dirty="0"/>
          </a:p>
        </p:txBody>
      </p:sp>
      <p:graphicFrame>
        <p:nvGraphicFramePr>
          <p:cNvPr id="2" name="图示 1"/>
          <p:cNvGraphicFramePr/>
          <p:nvPr/>
        </p:nvGraphicFramePr>
        <p:xfrm>
          <a:off x="1491312" y="1165190"/>
          <a:ext cx="8128000" cy="141930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4" name="Picture 2" descr="https://ss2.bdstatic.com/70cFvnSh_Q1YnxGkpoWK1HF6hhy/it/u=3185156100,3140500470&amp;fm=26&amp;gp=0.jpg"/>
          <p:cNvPicPr>
            <a:picLocks noChangeAspect="1" noChangeArrowheads="1"/>
          </p:cNvPicPr>
          <p:nvPr/>
        </p:nvPicPr>
        <p:blipFill rotWithShape="1">
          <a:blip r:embed="rId6">
            <a:extLst>
              <a:ext uri="{28A0092B-C50C-407E-A947-70E740481C1C}">
                <a14:useLocalDpi xmlns:a14="http://schemas.microsoft.com/office/drawing/2010/main" val="0"/>
              </a:ext>
            </a:extLst>
          </a:blip>
          <a:srcRect r="40744"/>
          <a:stretch>
            <a:fillRect/>
          </a:stretch>
        </p:blipFill>
        <p:spPr bwMode="auto">
          <a:xfrm>
            <a:off x="1491313" y="2773613"/>
            <a:ext cx="1794289" cy="195609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ttps://ss3.bdstatic.com/70cFv8Sh_Q1YnxGkpoWK1HF6hhy/it/u=1672873603,1003175156&amp;fm=26&amp;gp=0.jpg"/>
          <p:cNvPicPr>
            <a:picLocks noChangeAspect="1" noChangeArrowheads="1"/>
          </p:cNvPicPr>
          <p:nvPr/>
        </p:nvPicPr>
        <p:blipFill rotWithShape="1">
          <a:blip r:embed="rId7">
            <a:extLst>
              <a:ext uri="{28A0092B-C50C-407E-A947-70E740481C1C}">
                <a14:useLocalDpi xmlns:a14="http://schemas.microsoft.com/office/drawing/2010/main" val="0"/>
              </a:ext>
            </a:extLst>
          </a:blip>
          <a:srcRect r="45480"/>
          <a:stretch>
            <a:fillRect/>
          </a:stretch>
        </p:blipFill>
        <p:spPr bwMode="auto">
          <a:xfrm>
            <a:off x="1491312" y="4789236"/>
            <a:ext cx="1806217" cy="1861208"/>
          </a:xfrm>
          <a:prstGeom prst="rect">
            <a:avLst/>
          </a:prstGeom>
          <a:noFill/>
          <a:extLst>
            <a:ext uri="{909E8E84-426E-40DD-AFC4-6F175D3DCCD1}">
              <a14:hiddenFill xmlns:a14="http://schemas.microsoft.com/office/drawing/2010/main">
                <a:solidFill>
                  <a:srgbClr val="FFFFFF"/>
                </a:solidFill>
              </a14:hiddenFill>
            </a:ext>
          </a:extLst>
        </p:spPr>
      </p:pic>
      <p:pic>
        <p:nvPicPr>
          <p:cNvPr id="16" name="内容占位符 3"/>
          <p:cNvPicPr>
            <a:picLocks noGrp="1" noChangeAspect="1"/>
          </p:cNvPicPr>
          <p:nvPr>
            <p:ph idx="1"/>
          </p:nvPr>
        </p:nvPicPr>
        <p:blipFill rotWithShape="1">
          <a:blip r:embed="rId8">
            <a:extLst>
              <a:ext uri="{28A0092B-C50C-407E-A947-70E740481C1C}">
                <a14:useLocalDpi xmlns:a14="http://schemas.microsoft.com/office/drawing/2010/main" val="0"/>
              </a:ext>
            </a:extLst>
          </a:blip>
          <a:srcRect l="36935" t="16282" b="11821"/>
          <a:stretch>
            <a:fillRect/>
          </a:stretch>
        </p:blipFill>
        <p:spPr>
          <a:xfrm>
            <a:off x="3762325" y="2772836"/>
            <a:ext cx="1716470" cy="1956869"/>
          </a:xfrm>
        </p:spPr>
      </p:pic>
      <p:pic>
        <p:nvPicPr>
          <p:cNvPr id="17" name="图片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985964" y="4748332"/>
            <a:ext cx="1807476" cy="1956869"/>
          </a:xfrm>
          <a:prstGeom prst="rect">
            <a:avLst/>
          </a:prstGeom>
        </p:spPr>
      </p:pic>
      <p:pic>
        <p:nvPicPr>
          <p:cNvPr id="18" name="图片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54554" y="2754210"/>
            <a:ext cx="1824408" cy="1824408"/>
          </a:xfrm>
          <a:prstGeom prst="rect">
            <a:avLst/>
          </a:prstGeom>
        </p:spPr>
      </p:pic>
      <p:pic>
        <p:nvPicPr>
          <p:cNvPr id="19" name="图片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147747" y="3062082"/>
            <a:ext cx="2475330" cy="2475330"/>
          </a:xfrm>
          <a:prstGeom prst="rect">
            <a:avLst/>
          </a:prstGeom>
        </p:spPr>
      </p:pic>
      <p:pic>
        <p:nvPicPr>
          <p:cNvPr id="2050" name="Picture 2" descr="https://timgsa.baidu.com/timg?image&amp;quality=80&amp;size=b9999_10000&amp;sec=1604428732188&amp;di=8d5c733c1fcc654900bfd9f42d267696&amp;imgtype=0&amp;src=http%3A%2F%2Fwww.cnjidan.com%2Fupload%2Fpictures%2F2017%2F04%2F0-ExrLr4.png"/>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5396" r="22028"/>
          <a:stretch>
            <a:fillRect/>
          </a:stretch>
        </p:blipFill>
        <p:spPr bwMode="auto">
          <a:xfrm>
            <a:off x="3781807" y="4803090"/>
            <a:ext cx="1677505" cy="18473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6"/>
          <p:cNvSpPr txBox="1"/>
          <p:nvPr/>
        </p:nvSpPr>
        <p:spPr bwMode="auto">
          <a:xfrm>
            <a:off x="607777" y="301986"/>
            <a:ext cx="5496329"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不同视角的机器学习</a:t>
            </a:r>
            <a:endParaRPr lang="zh-CN" altLang="en-US" dirty="0"/>
          </a:p>
        </p:txBody>
      </p:sp>
      <p:pic>
        <p:nvPicPr>
          <p:cNvPr id="1026" name="Picture 2" descr="https://timgsa.baidu.com/timg?image&amp;quality=80&amp;size=b9999_10000&amp;sec=1604117869426&amp;di=ab001978b7e77264c409f5124537f6cd&amp;imgtype=0&amp;src=http%3A%2F%2Fimg3.doubanio.com%2Fview%2Fphoto%2Fl%2Fpublic%2Fp2460615685.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1437" t="13136" r="180" b="12118"/>
          <a:stretch>
            <a:fillRect/>
          </a:stretch>
        </p:blipFill>
        <p:spPr bwMode="auto">
          <a:xfrm>
            <a:off x="703186" y="1308895"/>
            <a:ext cx="3289650" cy="17631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timgsa.baidu.com/timg?image&amp;quality=80&amp;size=b9999_10000&amp;sec=1604118297567&amp;di=7c851426a60f4344953cbfe378cccdc8&amp;imgtype=0&amp;src=http%3A%2F%2Fwww.pigcms.com%2FPublic%2Fuplode%2Fimage%2F20150928%2F20150928100100_11170.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7742" y="1297922"/>
            <a:ext cx="2975156" cy="17850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imgsa.baidu.com/timg?image&amp;quality=80&amp;size=b9999_10000&amp;sec=1604118520803&amp;di=2bf5a3ecf83892754560c5d0d6031270&amp;imgtype=0&amp;src=http%3A%2F%2Fimgsrc.baidu.com%2Fbaike%2Fpic%2Fitem%2F838ba61ea8d3fd1fe624942f394e251f95ca5ff1.jpg"/>
          <p:cNvPicPr>
            <a:picLocks noChangeAspect="1" noChangeArrowheads="1"/>
          </p:cNvPicPr>
          <p:nvPr/>
        </p:nvPicPr>
        <p:blipFill rotWithShape="1">
          <a:blip r:embed="rId3">
            <a:extLst>
              <a:ext uri="{28A0092B-C50C-407E-A947-70E740481C1C}">
                <a14:useLocalDpi xmlns:a14="http://schemas.microsoft.com/office/drawing/2010/main" val="0"/>
              </a:ext>
            </a:extLst>
          </a:blip>
          <a:srcRect l="608" t="1103" r="-608" b="8153"/>
          <a:stretch>
            <a:fillRect/>
          </a:stretch>
        </p:blipFill>
        <p:spPr bwMode="auto">
          <a:xfrm>
            <a:off x="4537098" y="1303336"/>
            <a:ext cx="2866118" cy="1790233"/>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rotWithShape="1">
          <a:blip r:embed="rId4"/>
          <a:srcRect l="179" t="32496" r="-179" b="4815"/>
          <a:stretch>
            <a:fillRect/>
          </a:stretch>
        </p:blipFill>
        <p:spPr>
          <a:xfrm>
            <a:off x="607777" y="3849656"/>
            <a:ext cx="3291455" cy="2400724"/>
          </a:xfrm>
          <a:prstGeom prst="rect">
            <a:avLst/>
          </a:prstGeom>
        </p:spPr>
      </p:pic>
      <p:pic>
        <p:nvPicPr>
          <p:cNvPr id="1034" name="Picture 10" descr="https://timgsa.baidu.com/timg?image&amp;quality=80&amp;size=b9999_10000&amp;sec=1604118804005&amp;di=b8628447588108d86544a9aa4a576c19&amp;imgtype=0&amp;src=http%3A%2F%2Fimages.tmtpost.com%2Fuploads%2Fimages%2F2019%2F03%2Ff54a64d21938a15623337eef970e31fa_1553703603.jpeg%3FimageMogr2%2Fstrip%2Finterlace%2F1%2Fquality%2F85%2Fthumbnail%2F1400x932%2Fgravity%2Fcenter%2Fcrop%2F%25211400x932%26ext%3D.jpe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272" t="4460" r="16553" b="5043"/>
          <a:stretch>
            <a:fillRect/>
          </a:stretch>
        </p:blipFill>
        <p:spPr bwMode="auto">
          <a:xfrm>
            <a:off x="4361249" y="3849656"/>
            <a:ext cx="2982685" cy="2073594"/>
          </a:xfrm>
          <a:prstGeom prst="rect">
            <a:avLst/>
          </a:prstGeom>
          <a:noFill/>
          <a:extLst>
            <a:ext uri="{909E8E84-426E-40DD-AFC4-6F175D3DCCD1}">
              <a14:hiddenFill xmlns:a14="http://schemas.microsoft.com/office/drawing/2010/main">
                <a:solidFill>
                  <a:srgbClr val="FFFFFF"/>
                </a:solidFill>
              </a14:hiddenFill>
            </a:ext>
          </a:extLst>
        </p:spPr>
      </p:pic>
      <p:sp>
        <p:nvSpPr>
          <p:cNvPr id="19" name="object 48"/>
          <p:cNvSpPr txBox="1"/>
          <p:nvPr/>
        </p:nvSpPr>
        <p:spPr>
          <a:xfrm>
            <a:off x="8091521" y="3064420"/>
            <a:ext cx="2656040"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chemeClr val="accent6">
                    <a:lumMod val="75000"/>
                  </a:schemeClr>
                </a:solidFill>
                <a:latin typeface="Calibri Light" panose="020F0302020204030204"/>
                <a:cs typeface="Calibri Light" panose="020F0302020204030204"/>
              </a:rPr>
              <a:t>朋友以为我做的事情</a:t>
            </a:r>
            <a:endParaRPr dirty="0">
              <a:solidFill>
                <a:schemeClr val="accent6">
                  <a:lumMod val="75000"/>
                </a:schemeClr>
              </a:solidFill>
              <a:latin typeface="Calibri Light" panose="020F0302020204030204"/>
              <a:cs typeface="Calibri Light" panose="020F0302020204030204"/>
            </a:endParaRPr>
          </a:p>
        </p:txBody>
      </p:sp>
      <p:sp>
        <p:nvSpPr>
          <p:cNvPr id="20" name="object 48"/>
          <p:cNvSpPr txBox="1"/>
          <p:nvPr/>
        </p:nvSpPr>
        <p:spPr>
          <a:xfrm>
            <a:off x="466283" y="3089201"/>
            <a:ext cx="3694132"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chemeClr val="accent6">
                    <a:lumMod val="75000"/>
                  </a:schemeClr>
                </a:solidFill>
                <a:latin typeface="Calibri Light" panose="020F0302020204030204"/>
                <a:cs typeface="Calibri Light" panose="020F0302020204030204"/>
              </a:rPr>
              <a:t>不同行业的人以为我做的事情</a:t>
            </a:r>
            <a:endParaRPr dirty="0">
              <a:solidFill>
                <a:schemeClr val="accent6">
                  <a:lumMod val="75000"/>
                </a:schemeClr>
              </a:solidFill>
              <a:latin typeface="Calibri Light" panose="020F0302020204030204"/>
              <a:cs typeface="Calibri Light" panose="020F0302020204030204"/>
            </a:endParaRPr>
          </a:p>
        </p:txBody>
      </p:sp>
      <p:sp>
        <p:nvSpPr>
          <p:cNvPr id="21" name="object 48"/>
          <p:cNvSpPr txBox="1"/>
          <p:nvPr/>
        </p:nvSpPr>
        <p:spPr>
          <a:xfrm>
            <a:off x="4687894" y="3089201"/>
            <a:ext cx="2656040"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chemeClr val="accent6">
                    <a:lumMod val="75000"/>
                  </a:schemeClr>
                </a:solidFill>
                <a:latin typeface="Calibri Light" panose="020F0302020204030204"/>
                <a:cs typeface="Calibri Light" panose="020F0302020204030204"/>
              </a:rPr>
              <a:t>父母以为我做的事情</a:t>
            </a:r>
            <a:endParaRPr dirty="0">
              <a:solidFill>
                <a:schemeClr val="accent6">
                  <a:lumMod val="75000"/>
                </a:schemeClr>
              </a:solidFill>
              <a:latin typeface="Calibri Light" panose="020F0302020204030204"/>
              <a:cs typeface="Calibri Light" panose="020F0302020204030204"/>
            </a:endParaRPr>
          </a:p>
        </p:txBody>
      </p:sp>
      <p:sp>
        <p:nvSpPr>
          <p:cNvPr id="22" name="object 48"/>
          <p:cNvSpPr txBox="1"/>
          <p:nvPr/>
        </p:nvSpPr>
        <p:spPr>
          <a:xfrm>
            <a:off x="703186" y="6192129"/>
            <a:ext cx="2879580"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chemeClr val="accent6">
                    <a:lumMod val="75000"/>
                  </a:schemeClr>
                </a:solidFill>
                <a:latin typeface="Calibri Light" panose="020F0302020204030204"/>
                <a:cs typeface="Calibri Light" panose="020F0302020204030204"/>
              </a:rPr>
              <a:t>程序员以为我做的事情</a:t>
            </a:r>
            <a:endParaRPr dirty="0">
              <a:solidFill>
                <a:schemeClr val="accent6">
                  <a:lumMod val="75000"/>
                </a:schemeClr>
              </a:solidFill>
              <a:latin typeface="Calibri Light" panose="020F0302020204030204"/>
              <a:cs typeface="Calibri Light" panose="020F0302020204030204"/>
            </a:endParaRPr>
          </a:p>
        </p:txBody>
      </p:sp>
      <p:sp>
        <p:nvSpPr>
          <p:cNvPr id="23" name="object 48"/>
          <p:cNvSpPr txBox="1"/>
          <p:nvPr/>
        </p:nvSpPr>
        <p:spPr>
          <a:xfrm>
            <a:off x="4576534" y="6192129"/>
            <a:ext cx="2953347"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chemeClr val="accent6">
                    <a:lumMod val="75000"/>
                  </a:schemeClr>
                </a:solidFill>
                <a:latin typeface="Calibri Light" panose="020F0302020204030204"/>
                <a:cs typeface="Calibri Light" panose="020F0302020204030204"/>
              </a:rPr>
              <a:t>我自己以为我做的事情</a:t>
            </a:r>
            <a:endParaRPr dirty="0">
              <a:solidFill>
                <a:schemeClr val="accent6">
                  <a:lumMod val="75000"/>
                </a:schemeClr>
              </a:solidFill>
              <a:latin typeface="Calibri Light" panose="020F0302020204030204"/>
              <a:cs typeface="Calibri Light" panose="020F0302020204030204"/>
            </a:endParaRPr>
          </a:p>
        </p:txBody>
      </p:sp>
      <p:sp>
        <p:nvSpPr>
          <p:cNvPr id="24" name="object 48"/>
          <p:cNvSpPr txBox="1"/>
          <p:nvPr/>
        </p:nvSpPr>
        <p:spPr>
          <a:xfrm>
            <a:off x="8340679" y="6192129"/>
            <a:ext cx="2656040" cy="585012"/>
          </a:xfrm>
          <a:prstGeom prst="rect">
            <a:avLst/>
          </a:prstGeom>
        </p:spPr>
        <p:txBody>
          <a:bodyPr wrap="square" lIns="0" tIns="0" rIns="0" bIns="0" rtlCol="0">
            <a:noAutofit/>
          </a:bodyPr>
          <a:lstStyle/>
          <a:p>
            <a:pPr marL="12700">
              <a:lnSpc>
                <a:spcPts val="4585"/>
              </a:lnSpc>
              <a:spcBef>
                <a:spcPts val="230"/>
              </a:spcBef>
            </a:pPr>
            <a:r>
              <a:rPr lang="zh-CN" altLang="en-US" sz="3200" baseline="3000" dirty="0">
                <a:solidFill>
                  <a:srgbClr val="FF0000"/>
                </a:solidFill>
                <a:latin typeface="Calibri Light" panose="020F0302020204030204"/>
                <a:cs typeface="Calibri Light" panose="020F0302020204030204"/>
              </a:rPr>
              <a:t>实际上我做的事情</a:t>
            </a:r>
            <a:endParaRPr dirty="0">
              <a:solidFill>
                <a:srgbClr val="FF0000"/>
              </a:solidFill>
              <a:latin typeface="Calibri Light" panose="020F0302020204030204"/>
              <a:cs typeface="Calibri Light" panose="020F0302020204030204"/>
            </a:endParaRPr>
          </a:p>
        </p:txBody>
      </p:sp>
      <p:pic>
        <p:nvPicPr>
          <p:cNvPr id="11" name="图片 10"/>
          <p:cNvPicPr>
            <a:picLocks noChangeAspect="1"/>
          </p:cNvPicPr>
          <p:nvPr/>
        </p:nvPicPr>
        <p:blipFill>
          <a:blip r:embed="rId6"/>
          <a:stretch>
            <a:fillRect/>
          </a:stretch>
        </p:blipFill>
        <p:spPr>
          <a:xfrm>
            <a:off x="7931963" y="3875906"/>
            <a:ext cx="2975156" cy="86341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328336" y="1521155"/>
            <a:ext cx="3346704" cy="4832092"/>
          </a:xfrm>
          <a:prstGeom prst="rect">
            <a:avLst/>
          </a:prstGeom>
        </p:spPr>
        <p:txBody>
          <a:bodyPr wrap="square">
            <a:spAutoFit/>
          </a:bodyPr>
          <a:lstStyle/>
          <a:p>
            <a:r>
              <a:rPr lang="zh-CN" altLang="zh-CN" kern="0" dirty="0">
                <a:solidFill>
                  <a:srgbClr val="000000"/>
                </a:solidFill>
                <a:latin typeface="Verdana" panose="020B0604030504040204" pitchFamily="34" charset="0"/>
                <a:cs typeface="宋体" panose="02010600030101010101" pitchFamily="2" charset="-122"/>
              </a:rPr>
              <a:t>通过这张图可以看出，各种不同算法在输入的数据量达到一定级数后，都有相近的高准确度。于是诞生了机器学习界的名言：</a:t>
            </a:r>
            <a:endParaRPr lang="en-US" altLang="zh-CN" kern="0" dirty="0">
              <a:solidFill>
                <a:srgbClr val="000000"/>
              </a:solidFill>
              <a:latin typeface="Verdana" panose="020B0604030504040204" pitchFamily="34" charset="0"/>
              <a:cs typeface="宋体" panose="02010600030101010101" pitchFamily="2" charset="-122"/>
            </a:endParaRPr>
          </a:p>
          <a:p>
            <a:endParaRPr lang="en-US" altLang="zh-CN" b="1" kern="0" dirty="0">
              <a:solidFill>
                <a:srgbClr val="000000"/>
              </a:solidFill>
              <a:latin typeface="Verdana" panose="020B0604030504040204" pitchFamily="34" charset="0"/>
              <a:cs typeface="宋体" panose="02010600030101010101" pitchFamily="2" charset="-122"/>
            </a:endParaRPr>
          </a:p>
          <a:p>
            <a:r>
              <a:rPr lang="zh-CN" altLang="zh-CN" sz="2800" b="1" kern="0" dirty="0">
                <a:solidFill>
                  <a:srgbClr val="FF0000"/>
                </a:solidFill>
                <a:latin typeface="Verdana" panose="020B0604030504040204" pitchFamily="34" charset="0"/>
                <a:cs typeface="宋体" panose="02010600030101010101" pitchFamily="2" charset="-122"/>
              </a:rPr>
              <a:t>成功的机器学习应用不是拥有最好的算法，而是拥有最多的数据！</a:t>
            </a:r>
            <a:br>
              <a:rPr lang="en-US" altLang="zh-CN" sz="2800" kern="0" dirty="0">
                <a:solidFill>
                  <a:srgbClr val="FF0000"/>
                </a:solidFill>
                <a:latin typeface="Verdana" panose="020B0604030504040204" pitchFamily="34" charset="0"/>
                <a:cs typeface="宋体" panose="02010600030101010101" pitchFamily="2" charset="-122"/>
              </a:rPr>
            </a:br>
            <a:endParaRPr lang="zh-CN" altLang="en-US" sz="2800" dirty="0">
              <a:solidFill>
                <a:srgbClr val="FF0000"/>
              </a:solidFill>
            </a:endParaRPr>
          </a:p>
        </p:txBody>
      </p:sp>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数据决定一切</a:t>
            </a:r>
            <a:br>
              <a:rPr lang="zh-CN" altLang="en-US" dirty="0"/>
            </a:br>
            <a:endParaRPr lang="zh-CN" altLang="en-US" dirty="0"/>
          </a:p>
        </p:txBody>
      </p:sp>
      <p:pic>
        <p:nvPicPr>
          <p:cNvPr id="2050" name="Picture 2" descr="https://ss2.baidu.com/6ON1bjeh1BF3odCf/it/u=623756541,2418023437&amp;fm=15&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l="2839" b="2442"/>
          <a:stretch>
            <a:fillRect/>
          </a:stretch>
        </p:blipFill>
        <p:spPr bwMode="auto">
          <a:xfrm>
            <a:off x="1125613" y="1360232"/>
            <a:ext cx="4627245" cy="444176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2739991" y="5804069"/>
            <a:ext cx="2564674" cy="369332"/>
          </a:xfrm>
          <a:prstGeom prst="rect">
            <a:avLst/>
          </a:prstGeom>
          <a:noFill/>
        </p:spPr>
        <p:txBody>
          <a:bodyPr wrap="square" rtlCol="0">
            <a:spAutoFit/>
          </a:bodyPr>
          <a:lstStyle/>
          <a:p>
            <a:r>
              <a:rPr lang="zh-CN" altLang="en-US" dirty="0"/>
              <a:t>数据大小</a:t>
            </a:r>
            <a:endParaRPr lang="zh-CN" altLang="en-US" dirty="0"/>
          </a:p>
        </p:txBody>
      </p:sp>
      <p:sp>
        <p:nvSpPr>
          <p:cNvPr id="3" name="文本框 2"/>
          <p:cNvSpPr txBox="1"/>
          <p:nvPr/>
        </p:nvSpPr>
        <p:spPr>
          <a:xfrm>
            <a:off x="634328" y="2490651"/>
            <a:ext cx="393283" cy="923330"/>
          </a:xfrm>
          <a:prstGeom prst="rect">
            <a:avLst/>
          </a:prstGeom>
          <a:noFill/>
        </p:spPr>
        <p:txBody>
          <a:bodyPr wrap="square" rtlCol="0">
            <a:spAutoFit/>
          </a:bodyPr>
          <a:lstStyle/>
          <a:p>
            <a:r>
              <a:rPr lang="zh-CN" altLang="en-US" dirty="0"/>
              <a:t>准确率</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9" name="文本框 8"/>
          <p:cNvSpPr txBox="1"/>
          <p:nvPr/>
        </p:nvSpPr>
        <p:spPr>
          <a:xfrm>
            <a:off x="537652" y="1316962"/>
            <a:ext cx="10246774" cy="4480009"/>
          </a:xfrm>
          <a:prstGeom prst="rect">
            <a:avLst/>
          </a:prstGeom>
          <a:noFill/>
        </p:spPr>
        <p:txBody>
          <a:bodyPr wrap="square">
            <a:spAutoFit/>
          </a:bodyPr>
          <a:lstStyle/>
          <a:p>
            <a:pPr>
              <a:lnSpc>
                <a:spcPct val="130000"/>
              </a:lnSpc>
              <a:spcBef>
                <a:spcPts val="300"/>
              </a:spcBef>
              <a:spcAft>
                <a:spcPts val="300"/>
              </a:spcAft>
            </a:pPr>
            <a:r>
              <a:rPr lang="en-US" altLang="zh-CN" sz="1800" kern="100" dirty="0">
                <a:effectLst/>
                <a:latin typeface="+mj-ea"/>
                <a:ea typeface="+mj-ea"/>
              </a:rPr>
              <a:t>[1] Andrew Ng. Machine Learning[EB/OL]. StanfordUniversity,2014.https://www.coursera.org/course/ml</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a:t>
            </a:r>
            <a:r>
              <a:rPr lang="zh-CN" altLang="zh-CN" sz="1800" kern="100" dirty="0">
                <a:effectLst/>
                <a:latin typeface="+mj-ea"/>
                <a:ea typeface="+mj-ea"/>
              </a:rPr>
              <a:t>李航</a:t>
            </a:r>
            <a:r>
              <a:rPr lang="en-US" altLang="zh-CN" sz="1800" kern="100" dirty="0">
                <a:effectLst/>
                <a:latin typeface="+mj-ea"/>
                <a:ea typeface="+mj-ea"/>
              </a:rPr>
              <a:t>. </a:t>
            </a:r>
            <a:r>
              <a:rPr lang="zh-CN" altLang="zh-CN" sz="1800" kern="100" dirty="0">
                <a:effectLst/>
                <a:latin typeface="+mj-ea"/>
                <a:ea typeface="+mj-ea"/>
              </a:rPr>
              <a:t>统计学习方法</a:t>
            </a:r>
            <a:r>
              <a:rPr lang="en-US" altLang="zh-CN" sz="1800" kern="100" dirty="0">
                <a:effectLst/>
                <a:latin typeface="+mj-ea"/>
                <a:ea typeface="+mj-ea"/>
              </a:rPr>
              <a:t>[M]. </a:t>
            </a:r>
            <a:r>
              <a:rPr lang="zh-CN" altLang="zh-CN" sz="1800" kern="100" dirty="0">
                <a:effectLst/>
                <a:latin typeface="+mj-ea"/>
                <a:ea typeface="+mj-ea"/>
              </a:rPr>
              <a:t>北京</a:t>
            </a:r>
            <a:r>
              <a:rPr lang="en-US" altLang="zh-CN" sz="1800" kern="100" dirty="0">
                <a:effectLst/>
                <a:latin typeface="+mj-ea"/>
                <a:ea typeface="+mj-ea"/>
              </a:rPr>
              <a:t>: </a:t>
            </a:r>
            <a:r>
              <a:rPr lang="zh-CN" altLang="zh-CN" sz="1800" kern="100" dirty="0">
                <a:effectLst/>
                <a:latin typeface="+mj-ea"/>
                <a:ea typeface="+mj-ea"/>
              </a:rPr>
              <a:t>清华大学出版社</a:t>
            </a:r>
            <a:r>
              <a:rPr lang="en-US" altLang="zh-CN" sz="1800" kern="100" dirty="0">
                <a:effectLst/>
                <a:latin typeface="+mj-ea"/>
                <a:ea typeface="+mj-ea"/>
              </a:rPr>
              <a:t>,2019.</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a:t>
            </a:r>
            <a:r>
              <a:rPr lang="zh-CN" altLang="zh-CN" sz="1800" kern="100" dirty="0">
                <a:effectLst/>
                <a:latin typeface="+mj-ea"/>
                <a:ea typeface="+mj-ea"/>
              </a:rPr>
              <a:t>周志华</a:t>
            </a:r>
            <a:r>
              <a:rPr lang="en-US" altLang="zh-CN" sz="1800" kern="100" dirty="0">
                <a:effectLst/>
                <a:latin typeface="+mj-ea"/>
                <a:ea typeface="+mj-ea"/>
              </a:rPr>
              <a:t>. </a:t>
            </a:r>
            <a:r>
              <a:rPr lang="zh-CN" altLang="zh-CN" sz="1800" kern="100" dirty="0">
                <a:effectLst/>
                <a:latin typeface="+mj-ea"/>
                <a:ea typeface="+mj-ea"/>
              </a:rPr>
              <a:t>机器学习</a:t>
            </a:r>
            <a:r>
              <a:rPr lang="en-US" altLang="zh-CN" sz="1800" kern="100" dirty="0">
                <a:effectLst/>
                <a:latin typeface="+mj-ea"/>
                <a:ea typeface="+mj-ea"/>
              </a:rPr>
              <a:t>[M]. </a:t>
            </a:r>
            <a:r>
              <a:rPr lang="zh-CN" altLang="zh-CN" sz="1800" kern="100" dirty="0">
                <a:effectLst/>
                <a:latin typeface="+mj-ea"/>
                <a:ea typeface="+mj-ea"/>
              </a:rPr>
              <a:t>北京</a:t>
            </a:r>
            <a:r>
              <a:rPr lang="en-US" altLang="zh-CN" sz="1800" kern="100" dirty="0">
                <a:effectLst/>
                <a:latin typeface="+mj-ea"/>
                <a:ea typeface="+mj-ea"/>
              </a:rPr>
              <a:t>: </a:t>
            </a:r>
            <a:r>
              <a:rPr lang="zh-CN" altLang="zh-CN" sz="1800" kern="100" dirty="0">
                <a:effectLst/>
                <a:latin typeface="+mj-ea"/>
                <a:ea typeface="+mj-ea"/>
              </a:rPr>
              <a:t>清华大学出版社</a:t>
            </a:r>
            <a:r>
              <a:rPr lang="en-US" altLang="zh-CN" sz="1800" kern="100" dirty="0">
                <a:effectLst/>
                <a:latin typeface="+mj-ea"/>
                <a:ea typeface="+mj-ea"/>
              </a:rPr>
              <a:t>,2016.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New York: Springer,2001.</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CHRISTOPHER M. BISHOP. Pattern Recognition and Machine Learning[M]. New York: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Stephen Boyd, Lieven </a:t>
            </a:r>
            <a:r>
              <a:rPr lang="en-US" altLang="zh-CN" sz="1800" kern="100" dirty="0" err="1">
                <a:effectLst/>
                <a:latin typeface="+mj-ea"/>
                <a:ea typeface="+mj-ea"/>
              </a:rPr>
              <a:t>Vandenberghe</a:t>
            </a:r>
            <a:r>
              <a:rPr lang="en-US" altLang="zh-CN" sz="1800" kern="100" dirty="0">
                <a:effectLst/>
                <a:latin typeface="+mj-ea"/>
                <a:ea typeface="+mj-ea"/>
              </a:rPr>
              <a:t>, Convex Optimization[M]. Cambridge: Cambridge University Press, 2004.</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[7] TOM M MICHELLE. Machine Learning[M]. New York: McGraw-Hill Companies,Inc,1997.</a:t>
            </a:r>
            <a:endParaRPr lang="zh-CN" altLang="zh-CN" sz="1800" kern="100" dirty="0">
              <a:effectLst/>
              <a:latin typeface="+mj-ea"/>
              <a:ea typeface="+mj-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635"/>
          </a:xfrm>
          <a:prstGeom prst="rect">
            <a:avLst/>
          </a:prstGeom>
        </p:spPr>
      </p:pic>
      <p:sp>
        <p:nvSpPr>
          <p:cNvPr id="8" name="矩形 7"/>
          <p:cNvSpPr/>
          <p:nvPr/>
        </p:nvSpPr>
        <p:spPr>
          <a:xfrm>
            <a:off x="0" y="0"/>
            <a:ext cx="12192000" cy="7379970"/>
          </a:xfrm>
          <a:prstGeom prst="rect">
            <a:avLst/>
          </a:prstGeom>
          <a:gradFill>
            <a:gsLst>
              <a:gs pos="11000">
                <a:schemeClr val="bg1"/>
              </a:gs>
              <a:gs pos="77000">
                <a:schemeClr val="bg1">
                  <a:alpha val="54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 name="文本框 62"/>
          <p:cNvSpPr txBox="1">
            <a:spLocks noChangeArrowheads="1"/>
          </p:cNvSpPr>
          <p:nvPr/>
        </p:nvSpPr>
        <p:spPr bwMode="auto">
          <a:xfrm>
            <a:off x="4593216" y="2800765"/>
            <a:ext cx="319510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谢  谢！</a:t>
            </a:r>
            <a:endParaRPr lang="zh-CN" altLang="en-US" sz="6600" b="1" dirty="0">
              <a:solidFill>
                <a:srgbClr val="4B649F"/>
              </a:solidFill>
            </a:endParaRPr>
          </a:p>
        </p:txBody>
      </p:sp>
    </p:spTree>
  </p:cSld>
  <p:clrMapOvr>
    <a:masterClrMapping/>
  </p:clrMapOvr>
</p:sld>
</file>

<file path=ppt/tags/tag1.xml><?xml version="1.0" encoding="utf-8"?>
<p:tagLst xmlns:p="http://schemas.openxmlformats.org/presentationml/2006/main">
  <p:tag name="KSO_WPP_MARK_KEY" val="b60033c7-4380-4a36-9cc4-7aaf63cc51aa"/>
  <p:tag name="COMMONDATA" val="eyJoZGlkIjoiYTRlODBlODk1NTcyMzg1M2RlYjA5ZWNkZWUyZGM2Yjg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13174</Words>
  <Application>WPS 演示</Application>
  <PresentationFormat>宽屏</PresentationFormat>
  <Paragraphs>1318</Paragraphs>
  <Slides>67</Slides>
  <Notes>17</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67</vt:i4>
      </vt:variant>
    </vt:vector>
  </HeadingPairs>
  <TitlesOfParts>
    <vt:vector size="93" baseType="lpstr">
      <vt:lpstr>Arial</vt:lpstr>
      <vt:lpstr>宋体</vt:lpstr>
      <vt:lpstr>Wingdings</vt:lpstr>
      <vt:lpstr>微软雅黑</vt:lpstr>
      <vt:lpstr>Times New Roman</vt:lpstr>
      <vt:lpstr>等线</vt:lpstr>
      <vt:lpstr>Impact</vt:lpstr>
      <vt:lpstr>Arial Unicode MS</vt:lpstr>
      <vt:lpstr>Cambria Math</vt:lpstr>
      <vt:lpstr>Times New Roman</vt:lpstr>
      <vt:lpstr>仿宋</vt:lpstr>
      <vt:lpstr>MS UI Gothic</vt:lpstr>
      <vt:lpstr>Calibri Light</vt:lpstr>
      <vt:lpstr>Microsoft JhengHei Light</vt:lpstr>
      <vt:lpstr>Bookman Old Style</vt:lpstr>
      <vt:lpstr>Tahoma</vt:lpstr>
      <vt:lpstr>DejaVu Sans Mono</vt:lpstr>
      <vt:lpstr>Segoe Print</vt:lpstr>
      <vt:lpstr>Cambria</vt:lpstr>
      <vt:lpstr>-apple-system</vt:lpstr>
      <vt:lpstr>Microsoft JhengHei</vt:lpstr>
      <vt:lpstr>Courier New</vt:lpstr>
      <vt:lpstr>黑体</vt:lpstr>
      <vt:lpstr>Calibri Light</vt:lpstr>
      <vt:lpstr>Verdana</vt:lpstr>
      <vt:lpstr>默认设计模板</vt:lpstr>
      <vt:lpstr>机器学习-引言  黄海广 副教授</vt:lpstr>
      <vt:lpstr>目录</vt:lpstr>
      <vt:lpstr>1. 机器学习概述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机器学习的类型</vt:lpstr>
      <vt:lpstr>2. 机器学习的类型</vt:lpstr>
      <vt:lpstr>2. 机器学习的类型-监督学习</vt:lpstr>
      <vt:lpstr>2. 机器学习的类型-无监督学习</vt:lpstr>
      <vt:lpstr>2. 机器学习的类型-强化学习</vt:lpstr>
      <vt:lpstr>3. 机器学习的背景知识</vt:lpstr>
      <vt:lpstr>3. 机器学习的背景知识-希腊字母</vt:lpstr>
      <vt:lpstr>3. 机器学习的背景知识-数学基础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机器学习的开发流程</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碧海轻潮</cp:lastModifiedBy>
  <cp:revision>3027</cp:revision>
  <cp:lastPrinted>2018-06-09T17:02:00Z</cp:lastPrinted>
  <dcterms:created xsi:type="dcterms:W3CDTF">2016-05-18T20:32:00Z</dcterms:created>
  <dcterms:modified xsi:type="dcterms:W3CDTF">2022-10-24T12:12:34Z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DCE630FC2AC348CDACF03CBE7DDE9E99</vt:lpwstr>
  </property>
</Properties>
</file>