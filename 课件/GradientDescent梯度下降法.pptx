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隶书" panose="0201050906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082D"/>
    <a:srgbClr val="F6F11C"/>
    <a:srgbClr val="E0DB09"/>
    <a:srgbClr val="D0CB09"/>
    <a:srgbClr val="E6E60A"/>
    <a:srgbClr val="F618E1"/>
    <a:srgbClr val="D33B7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16468"/>
    <p:restoredTop sz="97782"/>
  </p:normalViewPr>
  <p:slideViewPr>
    <p:cSldViewPr showGuides="1">
      <p:cViewPr varScale="1">
        <p:scale>
          <a:sx n="80" d="100"/>
          <a:sy n="80" d="100"/>
        </p:scale>
        <p:origin x="-192" y="-78"/>
      </p:cViewPr>
      <p:guideLst>
        <p:guide orient="horz" pos="215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圖片 5" descr="mir_logo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86625" y="134938"/>
            <a:ext cx="1295400" cy="579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714488"/>
            <a:ext cx="7467600" cy="4759464"/>
          </a:xfrm>
        </p:spPr>
        <p:txBody>
          <a:bodyPr/>
          <a:lstStyle>
            <a:lvl1pPr>
              <a:defRPr baseline="0">
                <a:latin typeface="+mj-lt"/>
                <a:ea typeface="DFKai-SB" pitchFamily="65" charset="-120"/>
              </a:defRPr>
            </a:lvl1pPr>
            <a:lvl2pPr>
              <a:defRPr baseline="0">
                <a:latin typeface="+mj-lt"/>
                <a:ea typeface="DFKai-SB" pitchFamily="65" charset="-120"/>
              </a:defRPr>
            </a:lvl2pPr>
            <a:lvl3pPr>
              <a:defRPr sz="1900" baseline="0">
                <a:latin typeface="+mj-lt"/>
                <a:ea typeface="DFKai-SB" pitchFamily="65" charset="-120"/>
              </a:defRPr>
            </a:lvl3pPr>
            <a:lvl4pPr>
              <a:defRPr baseline="0">
                <a:latin typeface="+mj-lt"/>
                <a:ea typeface="DFKai-SB" pitchFamily="65" charset="-120"/>
              </a:defRPr>
            </a:lvl4pPr>
            <a:lvl5pPr>
              <a:defRPr baseline="0">
                <a:latin typeface="+mj-lt"/>
                <a:ea typeface="DFKai-SB" pitchFamily="65" charset="-120"/>
              </a:defRPr>
            </a:lvl5pPr>
          </a:lstStyle>
          <a:p>
            <a:pPr lvl="0" eaLnBrk="1" fontAlgn="auto" latinLnBrk="0" hangingPunct="1"/>
            <a:r>
              <a:rPr lang="zh-TW" altLang="en-US" strike="noStrike" noProof="1" dirty="0"/>
              <a:t>按一下以編輯母片文字樣式</a:t>
            </a:r>
            <a:endParaRPr lang="zh-TW" altLang="en-US" strike="noStrike" noProof="1" dirty="0"/>
          </a:p>
          <a:p>
            <a:pPr lvl="1" eaLnBrk="1" fontAlgn="auto" latinLnBrk="0" hangingPunct="1"/>
            <a:r>
              <a:rPr lang="zh-TW" altLang="en-US" strike="noStrike" noProof="1" dirty="0"/>
              <a:t>第二層</a:t>
            </a:r>
            <a:endParaRPr lang="zh-TW" altLang="en-US" strike="noStrike" noProof="1" dirty="0"/>
          </a:p>
          <a:p>
            <a:pPr lvl="2" eaLnBrk="1" fontAlgn="auto" latinLnBrk="0" hangingPunct="1"/>
            <a:r>
              <a:rPr lang="zh-TW" altLang="en-US" strike="noStrike" noProof="1" dirty="0"/>
              <a:t>第三層</a:t>
            </a:r>
            <a:endParaRPr lang="zh-TW" altLang="en-US" strike="noStrike" noProof="1" dirty="0"/>
          </a:p>
          <a:p>
            <a:pPr lvl="3" eaLnBrk="1" fontAlgn="auto" latinLnBrk="0" hangingPunct="1"/>
            <a:r>
              <a:rPr lang="zh-TW" altLang="en-US" strike="noStrike" noProof="1" dirty="0"/>
              <a:t>第四層</a:t>
            </a:r>
            <a:endParaRPr lang="zh-TW" altLang="en-US" strike="noStrike" noProof="1" dirty="0"/>
          </a:p>
          <a:p>
            <a:pPr lvl="4" eaLnBrk="1" fontAlgn="auto" latinLnBrk="0" hangingPunct="1"/>
            <a:r>
              <a:rPr lang="zh-TW" altLang="en-US" strike="noStrike" noProof="1" dirty="0"/>
              <a:t>第五層</a:t>
            </a:r>
            <a:endParaRPr kumimoji="0" lang="en-US" strike="noStrike" noProof="1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TW" altLang="en-US" strike="noStrike" noProof="1" dirty="0"/>
              <a:t>按一下以編輯母片標題樣式</a:t>
            </a:r>
            <a:endParaRPr lang="zh-TW" altLang="en-US" strike="noStrike" noProof="1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>
          <a:xfrm rot="5400000">
            <a:off x="7589044" y="1081881"/>
            <a:ext cx="2011363" cy="384175"/>
          </a:xfrm>
          <a:prstGeom prst="rect">
            <a:avLst/>
          </a:prstGeom>
          <a:noFill/>
          <a:ln w="9525">
            <a:noFill/>
          </a:ln>
        </p:spPr>
        <p:txBody>
          <a:bodyPr rtlCol="0"/>
          <a:lstStyle/>
          <a:p>
            <a:pPr fontAlgn="auto"/>
            <a:fld id="{EC2AF713-F6D1-4B03-802B-E6472EF385F8}" type="datetimeFigureOut">
              <a:rPr lang="zh-TW" altLang="en-US" strike="noStrike" noProof="1" smtClean="0">
                <a:latin typeface="+mn-lt"/>
                <a:ea typeface="+mn-ea"/>
                <a:cs typeface="+mn-cs"/>
              </a:rPr>
            </a:fld>
            <a:endParaRPr lang="zh-TW" altLang="en-US" strike="noStrike" noProof="1" dirty="0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 w="9525">
            <a:noFill/>
          </a:ln>
        </p:spPr>
        <p:txBody>
          <a:bodyPr rtlCol="0"/>
          <a:lstStyle/>
          <a:p>
            <a:pPr fontAlgn="auto"/>
            <a:endParaRPr lang="zh-TW" altLang="en-US" strike="noStrike" noProof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7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9217"/>
          <p:cNvSpPr>
            <a:spLocks noGrp="1" noRot="1"/>
          </p:cNvSpPr>
          <p:nvPr>
            <p:ph type="title"/>
          </p:nvPr>
        </p:nvSpPr>
        <p:spPr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9218"/>
          <p:cNvSpPr>
            <a:spLocks noGrp="1" noRot="1"/>
          </p:cNvSpPr>
          <p:nvPr>
            <p:ph type="body"/>
          </p:nvPr>
        </p:nvSpPr>
        <p:spPr>
          <a:xfrm>
            <a:off x="304800" y="1981200"/>
            <a:ext cx="854075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20" name="日期占位符 9219"/>
          <p:cNvSpPr>
            <a:spLocks noGrp="1"/>
          </p:cNvSpPr>
          <p:nvPr>
            <p:ph type="dt" sz="half" idx="2"/>
          </p:nvPr>
        </p:nvSpPr>
        <p:spPr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1" name="页脚占位符 9220"/>
          <p:cNvSpPr>
            <a:spLocks noGrp="1"/>
          </p:cNvSpPr>
          <p:nvPr>
            <p:ph type="ftr" sz="quarter" idx="3"/>
          </p:nvPr>
        </p:nvSpPr>
        <p:spPr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 fontAlgn="base"/>
            <a:endParaRPr lang="zh-CN" altLang="en-US" strike="noStrike" noProof="1" dirty="0">
              <a:ea typeface="宋体" panose="02010600030101010101" pitchFamily="2" charset="-122"/>
            </a:endParaRPr>
          </a:p>
        </p:txBody>
      </p:sp>
      <p:sp>
        <p:nvSpPr>
          <p:cNvPr id="9222" name="灯片编号占位符 9221"/>
          <p:cNvSpPr>
            <a:spLocks noGrp="1"/>
          </p:cNvSpPr>
          <p:nvPr>
            <p:ph type="sldNum" sz="quarter" idx="4"/>
          </p:nvPr>
        </p:nvSpPr>
        <p:spPr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隶书" panose="02010509060101010101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hyperlink" Target="http://www.onmyphd.com/?p=gradient.descen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wmf"/><Relationship Id="rId3" Type="http://schemas.openxmlformats.org/officeDocument/2006/relationships/oleObject" Target="../embeddings/oleObject3.bin"/><Relationship Id="rId2" Type="http://schemas.openxmlformats.org/officeDocument/2006/relationships/hyperlink" Target="https://www.mathworks.com/matlabcentral/mlc-downloads/downloads/submissions/23972/versions/22/previews/chebfun/examples/opt/html/Rosenbrock.html" TargetMode="External"/><Relationship Id="rId1" Type="http://schemas.openxmlformats.org/officeDocument/2006/relationships/hyperlink" Target="http://www.onmyphd.com/?p=gradient.descent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emf"/><Relationship Id="rId2" Type="http://schemas.openxmlformats.org/officeDocument/2006/relationships/image" Target="../media/image24.wmf"/><Relationship Id="rId1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內容版面配置區 2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blipFill rotWithShape="0">
            <a:blip r:embed="rId1"/>
            <a:stretch>
              <a:fillRect l="-327" t="-1024"/>
            </a:stretch>
          </a:blipFill>
        </p:spPr>
        <p:txBody>
          <a:bodyPr/>
          <a:lstStyle/>
          <a:p>
            <a:pPr fontAlgn="auto"/>
            <a:r>
              <a:rPr lang="zh-TW" altLang="en-US" strike="noStrike" noProof="1">
                <a:noFill/>
              </a:rPr>
              <a:t> </a:t>
            </a:r>
            <a:endParaRPr lang="zh-TW" altLang="en-US" strike="noStrike" noProof="1">
              <a:noFill/>
            </a:endParaRPr>
          </a:p>
        </p:txBody>
      </p:sp>
      <p:sp>
        <p:nvSpPr>
          <p:cNvPr id="3074" name="標題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Gradient</a:t>
            </a:r>
            <a:endParaRPr lang="zh-TW" altLang="en-US" dirty="0"/>
          </a:p>
        </p:txBody>
      </p:sp>
      <p:sp>
        <p:nvSpPr>
          <p:cNvPr id="3075" name="物件 3"/>
          <p:cNvSpPr txBox="1">
            <a:spLocks noRot="1" noChangeAspect="1" noEditPoints="1" noTextEdit="1"/>
          </p:cNvSpPr>
          <p:nvPr/>
        </p:nvSpPr>
        <p:spPr>
          <a:xfrm>
            <a:off x="1214438" y="2311400"/>
            <a:ext cx="6381750" cy="763588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內容版面配置區 2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blipFill rotWithShape="0">
            <a:blip r:embed="rId1"/>
            <a:stretch>
              <a:fillRect l="-327" t="-1024" r="-490"/>
            </a:stretch>
          </a:blipFill>
        </p:spPr>
        <p:txBody>
          <a:bodyPr/>
          <a:lstStyle/>
          <a:p>
            <a:pPr fontAlgn="auto"/>
            <a:r>
              <a:rPr lang="zh-TW" altLang="en-US" strike="noStrike" noProof="1">
                <a:noFill/>
              </a:rPr>
              <a:t> </a:t>
            </a:r>
            <a:endParaRPr lang="zh-TW" altLang="en-US" strike="noStrike" noProof="1">
              <a:noFill/>
            </a:endParaRPr>
          </a:p>
        </p:txBody>
      </p:sp>
      <p:sp>
        <p:nvSpPr>
          <p:cNvPr id="4098" name="標題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Directional Derivatives</a:t>
            </a:r>
            <a:endParaRPr lang="zh-TW" altLang="en-US" dirty="0"/>
          </a:p>
        </p:txBody>
      </p:sp>
      <p:sp>
        <p:nvSpPr>
          <p:cNvPr id="4099" name="物件 3"/>
          <p:cNvSpPr txBox="1">
            <a:spLocks noRot="1" noChangeAspect="1" noEditPoints="1" noTextEdit="1"/>
          </p:cNvSpPr>
          <p:nvPr/>
        </p:nvSpPr>
        <p:spPr>
          <a:xfrm>
            <a:off x="1570038" y="4232275"/>
            <a:ext cx="5449887" cy="709613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內容版面配置區 2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Gradient descent (GD): AKA steepest descent (SD)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Goal: Minimize a function iteratively based on gradient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Formula for GD: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Normalized version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With momentum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</p:txBody>
      </p:sp>
      <p:sp>
        <p:nvSpPr>
          <p:cNvPr id="5122" name="標題 1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Gradient Descent (GD)</a:t>
            </a:r>
            <a:endParaRPr lang="zh-TW" altLang="en-US" dirty="0"/>
          </a:p>
        </p:txBody>
      </p:sp>
      <p:sp>
        <p:nvSpPr>
          <p:cNvPr id="6" name="圓角矩形圖說文字 5"/>
          <p:cNvSpPr/>
          <p:nvPr/>
        </p:nvSpPr>
        <p:spPr>
          <a:xfrm>
            <a:off x="3780155" y="4077335"/>
            <a:ext cx="2763838" cy="409575"/>
          </a:xfrm>
          <a:prstGeom prst="wedgeRoundRectCallout">
            <a:avLst>
              <a:gd name="adj1" fmla="val -42608"/>
              <a:gd name="adj2" fmla="val -111868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Step size or learning rate</a:t>
            </a:r>
            <a:endParaRPr lang="en-US" altLang="zh-TW" strike="noStrike" noProof="1" dirty="0">
              <a:solidFill>
                <a:schemeClr val="tx1"/>
              </a:solidFill>
            </a:endParaRPr>
          </a:p>
        </p:txBody>
      </p:sp>
      <p:sp>
        <p:nvSpPr>
          <p:cNvPr id="7" name="物件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60065" y="3415030"/>
            <a:ext cx="1684655" cy="455295"/>
          </a:xfrm>
          <a:prstGeom prst="rect">
            <a:avLst/>
          </a:prstGeom>
          <a:blipFill rotWithShape="0">
            <a:blip r:embed="rId1"/>
            <a:stretch>
              <a:fillRect b="-11290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pPr fontAlgn="auto"/>
            <a:r>
              <a:rPr lang="zh-TW" altLang="en-US" noProof="1">
                <a:noFill/>
                <a:latin typeface="+mn-lt"/>
                <a:ea typeface="+mn-ea"/>
                <a:cs typeface="+mn-cs"/>
              </a:rPr>
              <a:t> </a:t>
            </a:r>
            <a:endParaRPr lang="zh-TW" altLang="en-US" noProof="1">
              <a:noFill/>
            </a:endParaRPr>
          </a:p>
        </p:txBody>
      </p:sp>
      <p:sp>
        <p:nvSpPr>
          <p:cNvPr id="8" name="物件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32045" y="3415030"/>
            <a:ext cx="2743835" cy="469265"/>
          </a:xfrm>
          <a:prstGeom prst="rect">
            <a:avLst/>
          </a:prstGeom>
          <a:blipFill rotWithShape="0">
            <a:blip r:embed="rId2"/>
            <a:stretch>
              <a:fillRect b="-8333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pPr fontAlgn="auto"/>
            <a:r>
              <a:rPr lang="zh-TW" altLang="en-US" noProof="1">
                <a:noFill/>
                <a:latin typeface="+mn-lt"/>
                <a:ea typeface="+mn-ea"/>
                <a:cs typeface="+mn-cs"/>
              </a:rPr>
              <a:t> </a:t>
            </a:r>
            <a:endParaRPr lang="zh-TW" altLang="en-US" noProof="1">
              <a:noFill/>
            </a:endParaRPr>
          </a:p>
        </p:txBody>
      </p:sp>
      <p:sp>
        <p:nvSpPr>
          <p:cNvPr id="5128" name="物件 6"/>
          <p:cNvSpPr txBox="1">
            <a:spLocks noRot="1" noChangeAspect="1" noEditPoints="1" noTextEdit="1"/>
          </p:cNvSpPr>
          <p:nvPr/>
        </p:nvSpPr>
        <p:spPr>
          <a:xfrm>
            <a:off x="1463675" y="4221163"/>
            <a:ext cx="1966913" cy="677862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7" name="物件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5656" y="5733256"/>
            <a:ext cx="2941959" cy="390748"/>
          </a:xfrm>
          <a:prstGeom prst="rect">
            <a:avLst/>
          </a:prstGeom>
          <a:blipFill rotWithShape="0">
            <a:blip r:embed="rId4"/>
            <a:stretch>
              <a:fillRect b="-5970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pPr fontAlgn="auto"/>
            <a:r>
              <a:rPr lang="zh-TW" altLang="en-US" noProof="1">
                <a:noFill/>
                <a:latin typeface="+mn-lt"/>
                <a:ea typeface="+mn-ea"/>
                <a:cs typeface="+mn-cs"/>
              </a:rPr>
              <a:t> </a:t>
            </a:r>
            <a:endParaRPr lang="zh-TW" altLang="en-US" noProof="1">
              <a:noFill/>
            </a:endParaRP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/>
              <a:t>Example of Single-Input Functions</a:t>
            </a:r>
            <a:endParaRPr lang="zh-TW" altLang="en-US" dirty="0"/>
          </a:p>
        </p:txBody>
      </p:sp>
      <p:sp>
        <p:nvSpPr>
          <p:cNvPr id="6146" name="內容版面配置區 4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If n=1, GD reduces to the problem of going left or right.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Example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Animation: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  <a:hlinkClick r:id="rId1"/>
              </a:rPr>
              <a:t>http://www.onmyphd.com/?p=gradient.descent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</p:txBody>
      </p:sp>
      <p:graphicFrame>
        <p:nvGraphicFramePr>
          <p:cNvPr id="6147" name="物件 10"/>
          <p:cNvGraphicFramePr>
            <a:graphicFrameLocks noChangeAspect="1"/>
          </p:cNvGraphicFramePr>
          <p:nvPr/>
        </p:nvGraphicFramePr>
        <p:xfrm>
          <a:off x="456565" y="3443605"/>
          <a:ext cx="4245610" cy="172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49072800" imgH="16764000" progId="Equation.3">
                  <p:embed/>
                </p:oleObj>
              </mc:Choice>
              <mc:Fallback>
                <p:oleObj name="" r:id="rId2" imgW="49072800" imgH="16764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6565" y="3443605"/>
                        <a:ext cx="4245610" cy="172656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8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2479675"/>
            <a:ext cx="3656013" cy="2173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內容版面配置區 1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Each point/region with zero gradient has a basin of attraction</a:t>
            </a: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  <p:sp>
        <p:nvSpPr>
          <p:cNvPr id="7170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Basin of Attraction in 1D</a:t>
            </a:r>
            <a:endParaRPr lang="zh-TW" altLang="en-US" dirty="0"/>
          </a:p>
        </p:txBody>
      </p:sp>
      <p:pic>
        <p:nvPicPr>
          <p:cNvPr id="7171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3006725"/>
            <a:ext cx="2592387" cy="1069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2530475"/>
            <a:ext cx="4551362" cy="2627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內容版面配置區 1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blipFill rotWithShape="0">
            <a:blip r:embed="rId1"/>
            <a:stretch>
              <a:fillRect l="-327"/>
            </a:stretch>
          </a:blipFill>
        </p:spPr>
        <p:txBody>
          <a:bodyPr/>
          <a:lstStyle/>
          <a:p>
            <a:pPr fontAlgn="auto"/>
            <a:r>
              <a:rPr lang="zh-TW" altLang="en-US" strike="noStrike" noProof="1">
                <a:noFill/>
              </a:rPr>
              <a:t> </a:t>
            </a:r>
            <a:endParaRPr lang="zh-TW" altLang="en-US" strike="noStrike" noProof="1">
              <a:noFill/>
            </a:endParaRPr>
          </a:p>
        </p:txBody>
      </p:sp>
      <p:sp>
        <p:nvSpPr>
          <p:cNvPr id="8194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Example of Two-input Functions</a:t>
            </a:r>
            <a:endParaRPr lang="zh-TW" altLang="en-US" dirty="0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/>
              <a:t>“Peaks” Functions (1/2)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n-U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If n=2, GD needs to find a direction in 2D plane.</a:t>
            </a: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n-U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Example: “Peaks” function in MATLAB</a:t>
            </a: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n-U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Animation: </a:t>
            </a:r>
            <a:r>
              <a:rPr kumimoji="0" lang="en-US" altLang="zh-TW" sz="2400" b="0" i="0" u="none" strike="noStrike" kern="1200" cap="none" spc="0" normalizeH="0" baseline="0" noProof="1" dirty="0" err="1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gradientDescentDemo.m</a:t>
            </a: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</p:txBody>
      </p:sp>
      <p:graphicFrame>
        <p:nvGraphicFramePr>
          <p:cNvPr id="9219" name="Object 7"/>
          <p:cNvGraphicFramePr>
            <a:graphicFrameLocks noChangeAspect="1"/>
          </p:cNvGraphicFramePr>
          <p:nvPr/>
        </p:nvGraphicFramePr>
        <p:xfrm>
          <a:off x="1506538" y="2582863"/>
          <a:ext cx="587375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4183200" imgH="10363200" progId="Equation.3">
                  <p:embed/>
                </p:oleObj>
              </mc:Choice>
              <mc:Fallback>
                <p:oleObj name="" r:id="rId1" imgW="94183200" imgH="1036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6538" y="2582863"/>
                        <a:ext cx="5873750" cy="8461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0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25" y="3970338"/>
            <a:ext cx="5318125" cy="2771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圓角矩形圖說文字 8"/>
          <p:cNvSpPr/>
          <p:nvPr/>
        </p:nvSpPr>
        <p:spPr>
          <a:xfrm>
            <a:off x="6958013" y="5084763"/>
            <a:ext cx="2074863" cy="1022350"/>
          </a:xfrm>
          <a:prstGeom prst="wedgeRoundRectCallout">
            <a:avLst>
              <a:gd name="adj1" fmla="val -66687"/>
              <a:gd name="adj2" fmla="val 43236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Gradients is </a:t>
            </a:r>
            <a:endParaRPr lang="en-US" altLang="zh-TW" strike="noStrike" noProof="1" dirty="0">
              <a:solidFill>
                <a:schemeClr val="tx1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perpendicular</a:t>
            </a:r>
            <a:endParaRPr lang="en-US" altLang="zh-TW" strike="noStrike" noProof="1" dirty="0">
              <a:solidFill>
                <a:schemeClr val="tx1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to contours, why?</a:t>
            </a:r>
            <a:endParaRPr lang="en-US" altLang="zh-TW" strike="noStrike" noProof="1" dirty="0">
              <a:solidFill>
                <a:schemeClr val="tx1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184150" y="5876925"/>
            <a:ext cx="1776413" cy="715963"/>
          </a:xfrm>
          <a:prstGeom prst="wedgeRoundRectCallout">
            <a:avLst>
              <a:gd name="adj1" fmla="val 76070"/>
              <a:gd name="adj2" fmla="val -62140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3 local maxima</a:t>
            </a:r>
            <a:endParaRPr lang="en-US" altLang="zh-TW" strike="noStrike" noProof="1" dirty="0">
              <a:solidFill>
                <a:schemeClr val="tx1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3 local minima</a:t>
            </a:r>
            <a:endParaRPr lang="en-US" altLang="zh-TW" strike="noStrike" noProof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/>
              <a:t>“Peaks” Functions (2/2)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s-E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Gradient of the “peaks” function</a:t>
            </a:r>
            <a:endParaRPr kumimoji="0" lang="es-E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kumimoji="0" lang="es-E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dz/dx = -6*(1-x)*exp(-x^2-(y+1)^2) - 6*(1-x)^2*x*exp(-x^2-(y+1)^2) - 10*(1/5-3*x^2)*exp(-x^2-y^2) + 20*(1/5*x-x^3-y^5)*x*exp(-x^2-y^2) - 1/3*(-2*x-2)*exp(-(x+1)^2-y^2)</a:t>
            </a:r>
            <a:endParaRPr kumimoji="0" lang="es-E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kumimoji="0" lang="es-E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dz/dy = 3*(1-x)^2*(-2*y-2)*exp(-x^2-(y+1)^2) + 50*y^4*exp(-x^2-y^2) + 20*(1/5*x-x^3-y^5)*y*exp(-x^2-y^2) + 2/3*y*exp(-(x+1)^2-y^2)</a:t>
            </a:r>
            <a:endParaRPr kumimoji="0" lang="es-E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kumimoji="0" lang="es-E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d(dz/dx)/dx = 36*x*exp(-x^2-(y+1)^2) - 18*x^2*exp(-x^2-(y+1)^2) - 24*x^3*exp(-x^2-(y+1)^2) + 12*x^4*exp(-x^2-(y+1)^2) + 72*x*exp(-x^2-y^2) - 148*x^3*exp(-x^2-y^2) - 20*y^5*exp(-x^2-y^2) + 40*x^5*exp(-x^2-y^2) + 40*x^2*exp(-x^2-y^2)*y^5 -2/3*exp(-(x+1)^2-y^2) - 4/3*exp(-(x+1)^2-y^2)*x^2 -8/3*exp(-(x+1)^2-y^2)*x </a:t>
            </a:r>
            <a:endParaRPr kumimoji="0" lang="es-E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None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Picture 2" descr="「attractor basin」的圖片搜尋結果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4435475"/>
            <a:ext cx="4271962" cy="2665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內容版面配置區 1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Each point/region with zero gradient has a basin of attraction</a:t>
            </a: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  <p:sp>
        <p:nvSpPr>
          <p:cNvPr id="11267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Basin of Attraction in 2D</a:t>
            </a:r>
            <a:endParaRPr lang="zh-TW" altLang="en-US" dirty="0"/>
          </a:p>
        </p:txBody>
      </p:sp>
      <p:pic>
        <p:nvPicPr>
          <p:cNvPr id="11268" name="Picture 2" descr="http://pespmc1.vub.ac.be/Images/bas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63" y="3354388"/>
            <a:ext cx="3240087" cy="2522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Picture 4" descr="「attractor basin」的圖片搜尋結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781300"/>
            <a:ext cx="3867150" cy="1943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 err="1"/>
              <a:t>Rosenbrock</a:t>
            </a:r>
            <a:r>
              <a:rPr lang="en-US" altLang="zh-TW" dirty="0"/>
              <a:t> Function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n-US" altLang="zh-TW" sz="2400" b="0" i="0" u="none" strike="noStrike" kern="1200" cap="none" spc="0" normalizeH="0" baseline="0" noProof="1" dirty="0" err="1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Rosenbrock</a:t>
            </a:r>
            <a:r>
              <a:rPr kumimoji="0" lang="en-U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 function</a:t>
            </a: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None/>
            </a:pP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Char char=""/>
            </a:pPr>
            <a:r>
              <a:rPr kumimoji="0" lang="en-US" altLang="zh-TW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More about this function</a:t>
            </a:r>
            <a:endParaRPr kumimoji="0" lang="en-US" altLang="zh-TW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kumimoji="0" lang="en-U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</a:rPr>
              <a:t>Animation: </a:t>
            </a:r>
            <a:r>
              <a:rPr kumimoji="0" lang="en-U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  <a:hlinkClick r:id="rId1"/>
              </a:rPr>
              <a:t>http://www.onmyphd.com/?p=gradient.descent</a:t>
            </a: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Char char=""/>
            </a:pPr>
            <a:r>
              <a:rPr kumimoji="0" lang="en-US" altLang="zh-TW" sz="21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DFKai-SB" pitchFamily="65" charset="-120"/>
                <a:cs typeface="+mn-cs"/>
                <a:hlinkClick r:id="rId2"/>
              </a:rPr>
              <a:t>Document on how to optimize this function</a:t>
            </a:r>
            <a:endParaRPr kumimoji="0" lang="en-US" altLang="zh-TW" sz="21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/>
              <a:buNone/>
            </a:pPr>
            <a:endParaRPr kumimoji="0" lang="zh-TW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j-lt"/>
              <a:ea typeface="DFKai-SB" pitchFamily="65" charset="-120"/>
              <a:cs typeface="+mn-cs"/>
            </a:endParaRPr>
          </a:p>
        </p:txBody>
      </p:sp>
      <p:graphicFrame>
        <p:nvGraphicFramePr>
          <p:cNvPr id="12291" name="Object 7"/>
          <p:cNvGraphicFramePr>
            <a:graphicFrameLocks noChangeAspect="1"/>
          </p:cNvGraphicFramePr>
          <p:nvPr/>
        </p:nvGraphicFramePr>
        <p:xfrm>
          <a:off x="981075" y="2259013"/>
          <a:ext cx="30226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48463200" imgH="6400800" progId="Equation.3">
                  <p:embed/>
                </p:oleObj>
              </mc:Choice>
              <mc:Fallback>
                <p:oleObj name="" r:id="rId3" imgW="48463200" imgH="6400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1075" y="2259013"/>
                        <a:ext cx="3022600" cy="5222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2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581525"/>
            <a:ext cx="3298825" cy="169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563" y="4451350"/>
            <a:ext cx="3749675" cy="205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圓角矩形圖說文字 14"/>
          <p:cNvSpPr/>
          <p:nvPr/>
        </p:nvSpPr>
        <p:spPr>
          <a:xfrm>
            <a:off x="1706563" y="6381750"/>
            <a:ext cx="4198938" cy="407988"/>
          </a:xfrm>
          <a:prstGeom prst="wedgeRoundRectCallout">
            <a:avLst>
              <a:gd name="adj1" fmla="val -32553"/>
              <a:gd name="adj2" fmla="val -149549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trike="noStrike" noProof="1" dirty="0">
                <a:solidFill>
                  <a:schemeClr val="tx1"/>
                </a:solidFill>
              </a:rPr>
              <a:t>Justification for using momentum terms</a:t>
            </a:r>
            <a:endParaRPr lang="en-US" altLang="zh-TW" strike="noStrike" noProof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/>
              <a:t>Properties of Gradient Descent</a:t>
            </a:r>
            <a:endParaRPr lang="zh-TW" altLang="en-US" dirty="0"/>
          </a:p>
        </p:txBody>
      </p:sp>
      <p:sp>
        <p:nvSpPr>
          <p:cNvPr id="13314" name="內容版面配置區 5"/>
          <p:cNvSpPr>
            <a:spLocks noGrp="1" noRot="1"/>
          </p:cNvSpPr>
          <p:nvPr>
            <p:ph sz="quarter" idx="1"/>
          </p:nvPr>
        </p:nvSpPr>
        <p:spPr>
          <a:xfrm>
            <a:off x="457200" y="1714500"/>
            <a:ext cx="7643813" cy="4759325"/>
          </a:xfrm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Properties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No guarantee for reaching global optimum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Feasible for differentiable objective functions (which can have finite number of non-differential points)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Performance heavily dependent on starting point and step size 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Variants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Use adaptive step sizes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Normalize the gradient by its length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Use the momentum term to reduce zig-zag paths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Use line minimization at each iteration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  <p:sp>
        <p:nvSpPr>
          <p:cNvPr id="4" name="圓角矩形圖說文字 8"/>
          <p:cNvSpPr/>
          <p:nvPr/>
        </p:nvSpPr>
        <p:spPr>
          <a:xfrm>
            <a:off x="6497638" y="1901825"/>
            <a:ext cx="693738" cy="374650"/>
          </a:xfrm>
          <a:prstGeom prst="wedgeRoundRectCallout">
            <a:avLst>
              <a:gd name="adj1" fmla="val -23301"/>
              <a:gd name="adj2" fmla="val 25373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00" strike="noStrike" noProof="1" dirty="0">
                <a:solidFill>
                  <a:srgbClr val="FF0000"/>
                </a:solidFill>
              </a:rPr>
              <a:t>Quiz!</a:t>
            </a:r>
            <a:endParaRPr lang="en-US" altLang="zh-TW" sz="1600" strike="noStrike" noProof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標題 1"/>
          <p:cNvSpPr>
            <a:spLocks noGrp="1" noRot="1"/>
          </p:cNvSpPr>
          <p:nvPr>
            <p:ph type="title"/>
          </p:nvPr>
        </p:nvSpPr>
        <p:spPr>
          <a:xfrm>
            <a:off x="457200" y="274638"/>
            <a:ext cx="7900988" cy="1143000"/>
          </a:xfrm>
          <a:ln/>
        </p:spPr>
        <p:txBody>
          <a:bodyPr vert="horz" anchor="b" anchorCtr="0"/>
          <a:p>
            <a:r>
              <a:rPr lang="en-US" altLang="zh-TW" dirty="0"/>
              <a:t>Comparisons of Gradient-based Optimization</a:t>
            </a:r>
            <a:endParaRPr lang="zh-TW" altLang="en-US" dirty="0"/>
          </a:p>
        </p:txBody>
      </p:sp>
      <p:sp>
        <p:nvSpPr>
          <p:cNvPr id="14338" name="內容版面配置區 5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lnSpc>
                <a:spcPct val="90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Gradient descent (GD)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Treat all parameters as nonlinear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Hybrid learning of GD+LSE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Distinguish between linear and nonlinear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Conjugate gradient descent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Try to reach the minimizing point by assume the objective function is quadratic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Gauss-Newton (GN) method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Linearize the objective function to treat all parameters as linear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buSzPct val="70000"/>
            </a:pPr>
            <a:r>
              <a:rPr lang="en-US" altLang="zh-TW" kern="1200" baseline="0" dirty="0" err="1">
                <a:latin typeface="Calibri" panose="020F0502020204030204" charset="0"/>
                <a:ea typeface="+mn-ea"/>
                <a:cs typeface="+mn-cs"/>
              </a:rPr>
              <a:t>Levenberg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-Marquardt (LM) method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Switch smoothly between SD and GN</a:t>
            </a: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內容版面配置區 1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lnSpc>
                <a:spcPct val="95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Synonyms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Linearization method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Extended </a:t>
            </a:r>
            <a:r>
              <a:rPr lang="en-US" altLang="zh-TW" kern="1200" baseline="0" dirty="0" err="1">
                <a:latin typeface="Calibri" panose="020F0502020204030204" charset="0"/>
                <a:ea typeface="+mn-ea"/>
                <a:cs typeface="+mn-cs"/>
              </a:rPr>
              <a:t>Kalman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filter method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Concept: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  <a:buFontTx/>
              <a:buNone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General nonlinear model: y = f(x,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)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  <a:buFontTx/>
              <a:buNone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linearization at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= 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 err="1">
                <a:latin typeface="Calibri" panose="020F0502020204030204" charset="0"/>
                <a:ea typeface="+mn-ea"/>
                <a:cs typeface="+mn-cs"/>
              </a:rPr>
              <a:t>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: 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  <a:buFontTx/>
              <a:buNone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   y = f(x, 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 err="1">
                <a:latin typeface="Calibri" panose="020F0502020204030204" charset="0"/>
                <a:ea typeface="+mn-ea"/>
                <a:cs typeface="+mn-cs"/>
              </a:rPr>
              <a:t>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)+a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1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(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1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-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1,now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)+a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2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(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2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-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>
                <a:latin typeface="Calibri" panose="020F0502020204030204" charset="0"/>
                <a:ea typeface="+mn-ea"/>
                <a:cs typeface="+mn-cs"/>
              </a:rPr>
              <a:t>2,now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) + ...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  <a:buFontTx/>
              <a:buNone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LSE solution: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  <a:buFontTx/>
              <a:buNone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   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 err="1">
                <a:latin typeface="Calibri" panose="020F0502020204030204" charset="0"/>
                <a:ea typeface="+mn-ea"/>
                <a:cs typeface="+mn-cs"/>
              </a:rPr>
              <a:t>next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= 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400" kern="1200" baseline="0" dirty="0" err="1">
                <a:latin typeface="Calibri" panose="020F0502020204030204" charset="0"/>
                <a:ea typeface="+mn-ea"/>
                <a:cs typeface="+mn-cs"/>
              </a:rPr>
              <a:t>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+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h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(A</a:t>
            </a:r>
            <a:r>
              <a:rPr lang="en-US" altLang="zh-TW" kern="1200" baseline="30000" dirty="0">
                <a:latin typeface="Calibri" panose="020F0502020204030204" charset="0"/>
                <a:ea typeface="+mn-ea"/>
                <a:cs typeface="+mn-cs"/>
              </a:rPr>
              <a:t>T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A)</a:t>
            </a:r>
            <a:r>
              <a:rPr lang="en-US" altLang="zh-TW" kern="1200" baseline="30000" dirty="0">
                <a:latin typeface="Calibri" panose="020F0502020204030204" charset="0"/>
                <a:ea typeface="+mn-ea"/>
                <a:cs typeface="+mn-cs"/>
              </a:rPr>
              <a:t>-1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A</a:t>
            </a:r>
            <a:r>
              <a:rPr lang="en-US" altLang="zh-TW" kern="1200" baseline="30000" dirty="0">
                <a:latin typeface="Calibri" panose="020F0502020204030204" charset="0"/>
                <a:ea typeface="+mn-ea"/>
                <a:cs typeface="+mn-cs"/>
              </a:rPr>
              <a:t>T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B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  <p:sp>
        <p:nvSpPr>
          <p:cNvPr id="15362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Gauss-Newton Method</a:t>
            </a:r>
            <a:endParaRPr lang="zh-TW" altLang="en-US" dirty="0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內容版面配置區 1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lnSpc>
                <a:spcPct val="95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Formula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5000"/>
              </a:lnSpc>
              <a:buSzPct val="80000"/>
            </a:pP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200" kern="1200" baseline="0" dirty="0" err="1">
                <a:latin typeface="Calibri" panose="020F0502020204030204" charset="0"/>
                <a:ea typeface="+mn-ea"/>
                <a:cs typeface="+mn-cs"/>
              </a:rPr>
              <a:t>next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= 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q</a:t>
            </a:r>
            <a:r>
              <a:rPr lang="en-US" altLang="zh-TW" sz="1200" kern="1200" baseline="0" dirty="0" err="1">
                <a:latin typeface="Calibri" panose="020F0502020204030204" charset="0"/>
                <a:ea typeface="+mn-ea"/>
                <a:cs typeface="+mn-cs"/>
              </a:rPr>
              <a:t>now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 +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h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(</a:t>
            </a:r>
            <a:r>
              <a:rPr lang="en-US" altLang="zh-TW" kern="1200" baseline="0" dirty="0" err="1">
                <a:latin typeface="Calibri" panose="020F0502020204030204" charset="0"/>
                <a:ea typeface="+mn-ea"/>
                <a:cs typeface="+mn-cs"/>
              </a:rPr>
              <a:t>A</a:t>
            </a:r>
            <a:r>
              <a:rPr lang="en-US" altLang="zh-TW" kern="1200" baseline="30000" dirty="0" err="1">
                <a:latin typeface="Calibri" panose="020F0502020204030204" charset="0"/>
                <a:ea typeface="+mn-ea"/>
                <a:cs typeface="+mn-cs"/>
              </a:rPr>
              <a:t>T</a:t>
            </a:r>
            <a:r>
              <a:rPr lang="en-US" altLang="zh-TW" kern="1200" baseline="0" dirty="0" err="1">
                <a:latin typeface="Calibri" panose="020F0502020204030204" charset="0"/>
                <a:ea typeface="+mn-ea"/>
                <a:cs typeface="+mn-cs"/>
              </a:rPr>
              <a:t>A+</a:t>
            </a:r>
            <a:r>
              <a:rPr lang="en-US" altLang="zh-TW" kern="1200" baseline="0" dirty="0" err="1">
                <a:latin typeface="Symbol" panose="05050102010706020507" pitchFamily="18" charset="2"/>
                <a:ea typeface="+mn-ea"/>
                <a:cs typeface="+mn-cs"/>
              </a:rPr>
              <a:t>l</a:t>
            </a:r>
            <a:r>
              <a:rPr lang="en-US" altLang="zh-TW" kern="1200" baseline="0" dirty="0" err="1">
                <a:latin typeface="Calibri" panose="020F0502020204030204" charset="0"/>
                <a:ea typeface="+mn-ea"/>
                <a:cs typeface="+mn-cs"/>
              </a:rPr>
              <a:t>I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)</a:t>
            </a:r>
            <a:r>
              <a:rPr lang="en-US" altLang="zh-TW" kern="1200" baseline="30000" dirty="0">
                <a:latin typeface="Calibri" panose="020F0502020204030204" charset="0"/>
                <a:ea typeface="+mn-ea"/>
                <a:cs typeface="+mn-cs"/>
              </a:rPr>
              <a:t>-1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A</a:t>
            </a:r>
            <a:r>
              <a:rPr lang="en-US" altLang="zh-TW" kern="1200" baseline="30000" dirty="0">
                <a:latin typeface="Calibri" panose="020F0502020204030204" charset="0"/>
                <a:ea typeface="+mn-ea"/>
                <a:cs typeface="+mn-cs"/>
              </a:rPr>
              <a:t>T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B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Effects of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</a:t>
            </a:r>
            <a:endParaRPr lang="en-US" altLang="zh-TW" kern="1200" baseline="0" dirty="0">
              <a:latin typeface="Symbol" panose="05050102010706020507" pitchFamily="18" charset="2"/>
              <a:ea typeface="+mn-ea"/>
              <a:cs typeface="+mn-cs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 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small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  <a:sym typeface="Wingdings" panose="05000000000000000000" pitchFamily="2" charset="2"/>
              </a:rPr>
              <a:t> Gauss-Newton method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  <a:sym typeface="Wingdings" panose="05000000000000000000" pitchFamily="2" charset="2"/>
            </a:endParaRPr>
          </a:p>
          <a:p>
            <a:pPr lvl="1" indent="-274320" defTabSz="914400">
              <a:lnSpc>
                <a:spcPct val="90000"/>
              </a:lnSpc>
              <a:buSzPct val="80000"/>
            </a:pP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 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big    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  <a:sym typeface="Wingdings" panose="05000000000000000000" pitchFamily="2" charset="2"/>
              </a:rPr>
              <a:t> Gradient descent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How to update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</a:t>
            </a:r>
            <a:endParaRPr lang="en-US" altLang="zh-TW" kern="1200" baseline="0" dirty="0">
              <a:latin typeface="Symbol" panose="05050102010706020507" pitchFamily="18" charset="2"/>
              <a:ea typeface="+mn-ea"/>
              <a:cs typeface="+mn-cs"/>
            </a:endParaRPr>
          </a:p>
          <a:p>
            <a:pPr lvl="1" indent="-274320" defTabSz="914400">
              <a:lnSpc>
                <a:spcPct val="95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Greedy policy  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  <a:sym typeface="Wingdings" panose="05000000000000000000" pitchFamily="2" charset="2"/>
              </a:rPr>
              <a:t> Make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small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lvl="1" indent="-274320" defTabSz="914400">
              <a:lnSpc>
                <a:spcPct val="95000"/>
              </a:lnSpc>
              <a:buSzPct val="8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Cautious policy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  <a:sym typeface="Wingdings" panose="05000000000000000000" pitchFamily="2" charset="2"/>
              </a:rPr>
              <a:t> Make </a:t>
            </a:r>
            <a:r>
              <a:rPr lang="en-US" altLang="zh-TW" kern="1200" baseline="0" dirty="0">
                <a:latin typeface="Symbol" panose="05050102010706020507" pitchFamily="18" charset="2"/>
                <a:ea typeface="+mn-ea"/>
                <a:cs typeface="+mn-cs"/>
              </a:rPr>
              <a:t>l </a:t>
            </a: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big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</p:txBody>
      </p:sp>
      <p:sp>
        <p:nvSpPr>
          <p:cNvPr id="16386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 err="1"/>
              <a:t>Levenberg</a:t>
            </a:r>
            <a:r>
              <a:rPr lang="en-US" altLang="zh-TW" dirty="0"/>
              <a:t>-Marquardt Method</a:t>
            </a:r>
            <a:endParaRPr lang="zh-TW" altLang="en-US" dirty="0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內容版面配置區 1"/>
          <p:cNvSpPr>
            <a:spLocks noGrp="1" noRot="1"/>
          </p:cNvSpPr>
          <p:nvPr>
            <p:ph sz="quarter" idx="1"/>
          </p:nvPr>
        </p:nvSpPr>
        <p:spPr>
          <a:ln/>
        </p:spPr>
        <p:txBody>
          <a:bodyPr vert="horz" anchor="t" anchorCtr="0"/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Can we use GD to find the minimum of f(x)=|x|?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What is the gradient of the sigmoid function? Can you express the gradient using the original function?</a:t>
            </a: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endParaRPr lang="en-US" altLang="zh-TW" kern="1200" baseline="0" dirty="0">
              <a:latin typeface="Calibri" panose="020F0502020204030204" charset="0"/>
              <a:ea typeface="+mn-ea"/>
              <a:cs typeface="+mn-cs"/>
            </a:endParaRPr>
          </a:p>
          <a:p>
            <a:pPr defTabSz="914400">
              <a:buSzPct val="70000"/>
            </a:pPr>
            <a:r>
              <a:rPr lang="en-US" altLang="zh-TW" kern="1200" baseline="0" dirty="0">
                <a:latin typeface="Calibri" panose="020F0502020204030204" charset="0"/>
                <a:ea typeface="+mn-ea"/>
                <a:cs typeface="+mn-cs"/>
              </a:rPr>
              <a:t>What are the basins of attraction of the following curve?</a:t>
            </a:r>
            <a:endParaRPr lang="zh-TW" altLang="en-US" kern="1200" baseline="0" dirty="0">
              <a:latin typeface="Calibri" panose="020F0502020204030204" charset="0"/>
              <a:ea typeface="DFKai-SB" pitchFamily="65" charset="-120"/>
              <a:cs typeface="+mn-cs"/>
            </a:endParaRPr>
          </a:p>
        </p:txBody>
      </p:sp>
      <p:sp>
        <p:nvSpPr>
          <p:cNvPr id="17410" name="標題 2"/>
          <p:cNvSpPr>
            <a:spLocks noGrp="1" noRot="1"/>
          </p:cNvSpPr>
          <p:nvPr>
            <p:ph type="title"/>
          </p:nvPr>
        </p:nvSpPr>
        <p:spPr>
          <a:ln/>
        </p:spPr>
        <p:txBody>
          <a:bodyPr vert="horz" anchor="b" anchorCtr="0"/>
          <a:p>
            <a:r>
              <a:rPr lang="en-US" altLang="zh-TW" dirty="0"/>
              <a:t>Exercises</a:t>
            </a:r>
            <a:endParaRPr lang="zh-TW" altLang="en-US" dirty="0"/>
          </a:p>
        </p:txBody>
      </p:sp>
      <p:graphicFrame>
        <p:nvGraphicFramePr>
          <p:cNvPr id="17411" name="Object 7"/>
          <p:cNvGraphicFramePr>
            <a:graphicFrameLocks noChangeAspect="1"/>
          </p:cNvGraphicFramePr>
          <p:nvPr/>
        </p:nvGraphicFramePr>
        <p:xfrm>
          <a:off x="7524433" y="3043555"/>
          <a:ext cx="131127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1031200" imgH="9448800" progId="Equation.3">
                  <p:embed/>
                </p:oleObj>
              </mc:Choice>
              <mc:Fallback>
                <p:oleObj name="" r:id="rId1" imgW="21031200" imgH="9448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24433" y="3043555"/>
                        <a:ext cx="1311275" cy="76993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55" y="3789045"/>
            <a:ext cx="3924300" cy="219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圓角矩形圖說文字 8"/>
          <p:cNvSpPr/>
          <p:nvPr/>
        </p:nvSpPr>
        <p:spPr>
          <a:xfrm>
            <a:off x="4140200" y="2276793"/>
            <a:ext cx="4335463" cy="647700"/>
          </a:xfrm>
          <a:prstGeom prst="wedgeRoundRectCallout">
            <a:avLst>
              <a:gd name="adj1" fmla="val -23301"/>
              <a:gd name="adj2" fmla="val 25373"/>
              <a:gd name="adj3" fmla="val 16667"/>
            </a:avLst>
          </a:prstGeom>
          <a:solidFill>
            <a:srgbClr val="FFFFC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00" strike="noStrike" noProof="1" dirty="0">
                <a:solidFill>
                  <a:srgbClr val="FF0000"/>
                </a:solidFill>
              </a:rPr>
              <a:t>Quiz: The gradient of a function of </a:t>
            </a:r>
            <a:r>
              <a:rPr lang="en-US" altLang="zh-TW" sz="1600" strike="noStrike" noProof="1" dirty="0" err="1">
                <a:solidFill>
                  <a:srgbClr val="FF0000"/>
                </a:solidFill>
              </a:rPr>
              <a:t>e</a:t>
            </a:r>
            <a:r>
              <a:rPr lang="en-US" altLang="zh-TW" sz="1600" strike="noStrike" baseline="30000" noProof="1" dirty="0" err="1">
                <a:solidFill>
                  <a:srgbClr val="FF0000"/>
                </a:solidFill>
              </a:rPr>
              <a:t>ax</a:t>
            </a:r>
            <a:r>
              <a:rPr lang="en-US" altLang="zh-TW" sz="1600" strike="noStrike" noProof="1" dirty="0">
                <a:solidFill>
                  <a:srgbClr val="FF0000"/>
                </a:solidFill>
              </a:rPr>
              <a:t> </a:t>
            </a:r>
            <a:endParaRPr lang="en-US" altLang="zh-TW" sz="1600" strike="noStrike" noProof="1" dirty="0">
              <a:solidFill>
                <a:srgbClr val="FF0000"/>
              </a:solidFill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00" strike="noStrike" noProof="1" dirty="0">
                <a:solidFill>
                  <a:srgbClr val="FF0000"/>
                </a:solidFill>
              </a:rPr>
              <a:t>can be expressed as the function itself. Why?</a:t>
            </a:r>
            <a:endParaRPr lang="en-US" altLang="zh-TW" sz="1600" strike="noStrike" noProof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tags/tag1.xml><?xml version="1.0" encoding="utf-8"?>
<p:tagLst xmlns:p="http://schemas.openxmlformats.org/presentationml/2006/main">
  <p:tag name="COMMONDATA" val="eyJoZGlkIjoiYTRlODBlODk1NTcyMzg1M2RlYjA5ZWNkZWUyZGM2YjgifQ=="/>
</p:tagLst>
</file>

<file path=ppt/theme/theme1.xml><?xml version="1.0" encoding="utf-8"?>
<a:theme xmlns:a="http://schemas.openxmlformats.org/drawingml/2006/main" name="古瓶荷花">
  <a:themeElements>
    <a:clrScheme name="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F"/>
      </a:accent4>
      <a:accent5>
        <a:srgbClr val="E2F4FF"/>
      </a:accent5>
      <a:accent6>
        <a:srgbClr val="2D89E5"/>
      </a:accent6>
      <a:hlink>
        <a:srgbClr val="CC0066"/>
      </a:hlink>
      <a:folHlink>
        <a:srgbClr val="7D7DA9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F"/>
        </a:accent4>
        <a:accent5>
          <a:srgbClr val="E2F4FF"/>
        </a:accent5>
        <a:accent6>
          <a:srgbClr val="2D89E5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5FAF5"/>
        </a:accent3>
        <a:accent4>
          <a:srgbClr val="006866"/>
        </a:accent4>
        <a:accent5>
          <a:srgbClr val="F1F5F0"/>
        </a:accent5>
        <a:accent6>
          <a:srgbClr val="E589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B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9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E"/>
        </a:accent3>
        <a:accent4>
          <a:srgbClr val="545480"/>
        </a:accent4>
        <a:accent5>
          <a:srgbClr val="FFEDED"/>
        </a:accent5>
        <a:accent6>
          <a:srgbClr val="E589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D"/>
        </a:accent4>
        <a:accent5>
          <a:srgbClr val="E9F7FF"/>
        </a:accent5>
        <a:accent6>
          <a:srgbClr val="E589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DED"/>
        </a:accent3>
        <a:accent4>
          <a:srgbClr val="0057AF"/>
        </a:accent4>
        <a:accent5>
          <a:srgbClr val="FFFFE2"/>
        </a:accent5>
        <a:accent6>
          <a:srgbClr val="008989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22222"/>
        </a:accent4>
        <a:accent5>
          <a:srgbClr val="E1E1EA"/>
        </a:accent5>
        <a:accent6>
          <a:srgbClr val="E5B7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3229</Words>
  <Application>WPS 演示</Application>
  <PresentationFormat>屏幕显示</PresentationFormat>
  <Paragraphs>160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华文新魏</vt:lpstr>
      <vt:lpstr>隶书</vt:lpstr>
      <vt:lpstr>华文中宋</vt:lpstr>
      <vt:lpstr>楷体_GB2312</vt:lpstr>
      <vt:lpstr>新宋体</vt:lpstr>
      <vt:lpstr>幼圆</vt:lpstr>
      <vt:lpstr>微软雅黑</vt:lpstr>
      <vt:lpstr>Arial Unicode MS</vt:lpstr>
      <vt:lpstr>Calibri</vt:lpstr>
      <vt:lpstr>DFKai-SB</vt:lpstr>
      <vt:lpstr>MingLiU-ExtB</vt:lpstr>
      <vt:lpstr>PMingLiU</vt:lpstr>
      <vt:lpstr>Wingdings</vt:lpstr>
      <vt:lpstr>Wingdings 2</vt:lpstr>
      <vt:lpstr>Symbol</vt:lpstr>
      <vt:lpstr>Arial Unicode MS</vt:lpstr>
      <vt:lpstr>古瓶荷花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www.dearedu.com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比 例 线 段 </dc:title>
  <dc:creator>www.dearedu.com</dc:creator>
  <cp:keywords>www.dearedu.com</cp:keywords>
  <dc:description>www.dearedu.com</dc:description>
  <dc:subject>www.dearedu.com</dc:subject>
  <cp:category>www.dearedu.com</cp:category>
  <cp:lastModifiedBy>gaofe</cp:lastModifiedBy>
  <cp:revision>7</cp:revision>
  <dcterms:created xsi:type="dcterms:W3CDTF">2020-02-11T06:27:57Z</dcterms:created>
  <dcterms:modified xsi:type="dcterms:W3CDTF">2022-09-27T03:51:22Z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2052-11.1.0.12132</vt:lpwstr>
  </property>
  <property fmtid="{D5CDD505-2E9C-101B-9397-08002B2CF9AE}" pid="3" name="ICV">
    <vt:lpwstr>0AF27225205A41C6A92AC841B9E1E4DB</vt:lpwstr>
  </property>
</Properties>
</file>