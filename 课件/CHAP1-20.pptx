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34"/>
  </p:handoutMasterIdLst>
  <p:sldIdLst>
    <p:sldId id="341" r:id="rId3"/>
    <p:sldId id="441" r:id="rId4"/>
    <p:sldId id="459" r:id="rId5"/>
    <p:sldId id="536" r:id="rId6"/>
    <p:sldId id="537" r:id="rId7"/>
    <p:sldId id="461" r:id="rId8"/>
    <p:sldId id="469" r:id="rId9"/>
    <p:sldId id="464" r:id="rId10"/>
    <p:sldId id="338" r:id="rId11"/>
    <p:sldId id="345" r:id="rId12"/>
    <p:sldId id="333" r:id="rId13"/>
    <p:sldId id="538" r:id="rId14"/>
    <p:sldId id="442" r:id="rId15"/>
    <p:sldId id="489" r:id="rId16"/>
    <p:sldId id="491" r:id="rId18"/>
    <p:sldId id="443" r:id="rId19"/>
    <p:sldId id="467" r:id="rId20"/>
    <p:sldId id="452" r:id="rId21"/>
    <p:sldId id="447" r:id="rId22"/>
    <p:sldId id="526" r:id="rId23"/>
    <p:sldId id="527" r:id="rId24"/>
    <p:sldId id="529" r:id="rId25"/>
    <p:sldId id="528" r:id="rId26"/>
    <p:sldId id="530" r:id="rId27"/>
    <p:sldId id="560" r:id="rId28"/>
    <p:sldId id="450" r:id="rId29"/>
    <p:sldId id="561" r:id="rId30"/>
    <p:sldId id="414" r:id="rId31"/>
    <p:sldId id="562" r:id="rId32"/>
    <p:sldId id="535" r:id="rId33"/>
  </p:sldIdLst>
  <p:sldSz cx="9144000" cy="6858000" type="screen4x3"/>
  <p:notesSz cx="7104380" cy="1023493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Franklin Gothic Medium" panose="020B0603020102020204" pitchFamily="34" charset="0"/>
        <a:ea typeface="Arial Unicode MS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Franklin Gothic Medium" panose="020B0603020102020204" pitchFamily="34" charset="0"/>
        <a:ea typeface="Arial Unicode MS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Franklin Gothic Medium" panose="020B0603020102020204" pitchFamily="34" charset="0"/>
        <a:ea typeface="Arial Unicode MS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Franklin Gothic Medium" panose="020B0603020102020204" pitchFamily="34" charset="0"/>
        <a:ea typeface="Arial Unicode MS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Franklin Gothic Medium" panose="020B0603020102020204" pitchFamily="34" charset="0"/>
        <a:ea typeface="Arial Unicode MS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Franklin Gothic Medium" panose="020B0603020102020204" pitchFamily="34" charset="0"/>
        <a:ea typeface="Arial Unicode MS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Franklin Gothic Medium" panose="020B0603020102020204" pitchFamily="34" charset="0"/>
        <a:ea typeface="Arial Unicode MS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Franklin Gothic Medium" panose="020B0603020102020204" pitchFamily="34" charset="0"/>
        <a:ea typeface="Arial Unicode MS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Franklin Gothic Medium" panose="020B0603020102020204" pitchFamily="34" charset="0"/>
        <a:ea typeface="Arial Unicode MS" pitchFamily="34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hlink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  <a:srgbClr val="FFCCFF"/>
    <a:srgbClr val="CCFFFF"/>
    <a:srgbClr val="360AF0"/>
    <a:srgbClr val="080808"/>
    <a:srgbClr val="FFFFCC"/>
    <a:srgbClr val="FF00F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975"/>
    <p:restoredTop sz="91813"/>
  </p:normalViewPr>
  <p:slideViewPr>
    <p:cSldViewPr showGuides="1">
      <p:cViewPr varScale="1">
        <p:scale>
          <a:sx n="67" d="100"/>
          <a:sy n="67" d="100"/>
        </p:scale>
        <p:origin x="1208" y="44"/>
      </p:cViewPr>
      <p:guideLst>
        <p:guide orient="horz" pos="2169"/>
        <p:guide pos="29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.emf"/><Relationship Id="rId8" Type="http://schemas.openxmlformats.org/officeDocument/2006/relationships/image" Target="../media/image20.emf"/><Relationship Id="rId7" Type="http://schemas.openxmlformats.org/officeDocument/2006/relationships/image" Target="../media/image19.wmf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Relationship Id="rId3" Type="http://schemas.openxmlformats.org/officeDocument/2006/relationships/image" Target="../media/image15.emf"/><Relationship Id="rId2" Type="http://schemas.openxmlformats.org/officeDocument/2006/relationships/image" Target="../media/image14.wmf"/><Relationship Id="rId15" Type="http://schemas.openxmlformats.org/officeDocument/2006/relationships/image" Target="../media/image27.emf"/><Relationship Id="rId14" Type="http://schemas.openxmlformats.org/officeDocument/2006/relationships/image" Target="../media/image26.emf"/><Relationship Id="rId13" Type="http://schemas.openxmlformats.org/officeDocument/2006/relationships/image" Target="../media/image25.wmf"/><Relationship Id="rId12" Type="http://schemas.openxmlformats.org/officeDocument/2006/relationships/image" Target="../media/image24.emf"/><Relationship Id="rId11" Type="http://schemas.openxmlformats.org/officeDocument/2006/relationships/image" Target="../media/image23.emf"/><Relationship Id="rId10" Type="http://schemas.openxmlformats.org/officeDocument/2006/relationships/image" Target="../media/image22.emf"/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.wmf"/><Relationship Id="rId8" Type="http://schemas.openxmlformats.org/officeDocument/2006/relationships/image" Target="../media/image35.emf"/><Relationship Id="rId7" Type="http://schemas.openxmlformats.org/officeDocument/2006/relationships/image" Target="../media/image34.emf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Relationship Id="rId3" Type="http://schemas.openxmlformats.org/officeDocument/2006/relationships/image" Target="../media/image30.emf"/><Relationship Id="rId2" Type="http://schemas.openxmlformats.org/officeDocument/2006/relationships/image" Target="../media/image29.wmf"/><Relationship Id="rId11" Type="http://schemas.openxmlformats.org/officeDocument/2006/relationships/image" Target="../media/image38.wmf"/><Relationship Id="rId10" Type="http://schemas.openxmlformats.org/officeDocument/2006/relationships/image" Target="../media/image37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6.wmf"/><Relationship Id="rId8" Type="http://schemas.openxmlformats.org/officeDocument/2006/relationships/image" Target="../media/image45.wmf"/><Relationship Id="rId7" Type="http://schemas.openxmlformats.org/officeDocument/2006/relationships/image" Target="../media/image44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3" Type="http://schemas.openxmlformats.org/officeDocument/2006/relationships/image" Target="../media/image37.wmf"/><Relationship Id="rId2" Type="http://schemas.openxmlformats.org/officeDocument/2006/relationships/image" Target="../media/image40.wmf"/><Relationship Id="rId13" Type="http://schemas.openxmlformats.org/officeDocument/2006/relationships/image" Target="../media/image50.wmf"/><Relationship Id="rId12" Type="http://schemas.openxmlformats.org/officeDocument/2006/relationships/image" Target="../media/image49.wmf"/><Relationship Id="rId11" Type="http://schemas.openxmlformats.org/officeDocument/2006/relationships/image" Target="../media/image48.wmf"/><Relationship Id="rId10" Type="http://schemas.openxmlformats.org/officeDocument/2006/relationships/image" Target="../media/image47.wmf"/><Relationship Id="rId1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64.wmf"/><Relationship Id="rId8" Type="http://schemas.openxmlformats.org/officeDocument/2006/relationships/image" Target="../media/image63.wmf"/><Relationship Id="rId7" Type="http://schemas.openxmlformats.org/officeDocument/2006/relationships/image" Target="../media/image62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6" Type="http://schemas.openxmlformats.org/officeDocument/2006/relationships/image" Target="../media/image71.wmf"/><Relationship Id="rId15" Type="http://schemas.openxmlformats.org/officeDocument/2006/relationships/image" Target="../media/image70.wmf"/><Relationship Id="rId14" Type="http://schemas.openxmlformats.org/officeDocument/2006/relationships/image" Target="../media/image69.wmf"/><Relationship Id="rId13" Type="http://schemas.openxmlformats.org/officeDocument/2006/relationships/image" Target="../media/image68.wmf"/><Relationship Id="rId12" Type="http://schemas.openxmlformats.org/officeDocument/2006/relationships/image" Target="../media/image67.wmf"/><Relationship Id="rId11" Type="http://schemas.openxmlformats.org/officeDocument/2006/relationships/image" Target="../media/image66.wmf"/><Relationship Id="rId10" Type="http://schemas.openxmlformats.org/officeDocument/2006/relationships/image" Target="../media/image65.wmf"/><Relationship Id="rId1" Type="http://schemas.openxmlformats.org/officeDocument/2006/relationships/image" Target="../media/image5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82.wmf"/><Relationship Id="rId8" Type="http://schemas.openxmlformats.org/officeDocument/2006/relationships/image" Target="../media/image81.wmf"/><Relationship Id="rId7" Type="http://schemas.openxmlformats.org/officeDocument/2006/relationships/image" Target="../media/image80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2" Type="http://schemas.openxmlformats.org/officeDocument/2006/relationships/image" Target="../media/image85.wmf"/><Relationship Id="rId11" Type="http://schemas.openxmlformats.org/officeDocument/2006/relationships/image" Target="../media/image84.wmf"/><Relationship Id="rId10" Type="http://schemas.openxmlformats.org/officeDocument/2006/relationships/image" Target="../media/image83.wmf"/><Relationship Id="rId1" Type="http://schemas.openxmlformats.org/officeDocument/2006/relationships/image" Target="../media/image7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75" tIns="49538" rIns="99075" bIns="49538" numCol="1" anchor="t" anchorCtr="0" compatLnSpc="1"/>
          <a:lstStyle>
            <a:lvl1pPr eaLnBrk="1" hangingPunct="1">
              <a:spcBef>
                <a:spcPct val="50000"/>
              </a:spcBef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 Unicode MS" pitchFamily="34" charset="-122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900" y="0"/>
            <a:ext cx="307816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75" tIns="49538" rIns="99075" bIns="49538" numCol="1" anchor="t" anchorCtr="0" compatLnSpc="1"/>
          <a:lstStyle>
            <a:lvl1pPr algn="r" eaLnBrk="1" hangingPunct="1">
              <a:spcBef>
                <a:spcPct val="50000"/>
              </a:spcBef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 Unicode MS" pitchFamily="34" charset="-122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816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75" tIns="49538" rIns="99075" bIns="49538" numCol="1" anchor="b" anchorCtr="0" compatLnSpc="1"/>
          <a:lstStyle>
            <a:lvl1pPr eaLnBrk="1" hangingPunct="1">
              <a:spcBef>
                <a:spcPct val="50000"/>
              </a:spcBef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 Unicode MS" pitchFamily="34" charset="-122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900" y="9723438"/>
            <a:ext cx="307816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75" tIns="49538" rIns="99075" bIns="49538" numCol="1" anchor="b" anchorCtr="0" compatLnSpc="1"/>
          <a:p>
            <a:pPr lvl="0" algn="r" eaLnBrk="1" fontAlgn="base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3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z="1300" strike="noStrike" noProof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9288" cy="5746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168775" y="0"/>
            <a:ext cx="3189288" cy="5746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Franklin Gothic Medium" panose="020B0603020102020204" pitchFamily="34" charset="0"/>
                <a:ea typeface="Arial Unicode MS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100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3875" cy="386715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01" name="备注占位符 4"/>
          <p:cNvSpPr>
            <a:spLocks noGrp="1"/>
          </p:cNvSpPr>
          <p:nvPr>
            <p:ph type="body" sz="quarter"/>
          </p:nvPr>
        </p:nvSpPr>
        <p:spPr>
          <a:xfrm>
            <a:off x="736600" y="5513388"/>
            <a:ext cx="5886450" cy="45100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880725"/>
            <a:ext cx="3189288" cy="574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168775" y="10880725"/>
            <a:ext cx="3189288" cy="574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Franklin Gothic Medium" panose="020B0603020102020204" pitchFamily="34" charset="0"/>
                <a:ea typeface="Arial Unicode MS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幻灯片图像占位符 8704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17410" name="文本占位符 8704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 indent="0"/>
            <a:endParaRPr lang="zh-CN" altLang="zh-CN" dirty="0"/>
          </a:p>
        </p:txBody>
      </p:sp>
      <p:sp>
        <p:nvSpPr>
          <p:cNvPr id="17411" name="灯片编号占位符 1"/>
          <p:cNvSpPr/>
          <p:nvPr>
            <p:ph type="sldNum" sz="quarter"/>
          </p:nvPr>
        </p:nvSpPr>
        <p:spPr>
          <a:xfrm>
            <a:off x="5588000" y="6416675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幻灯片图像占位符 8704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19458" name="文本占位符 8704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 indent="0"/>
            <a:endParaRPr lang="zh-CN" altLang="zh-CN" dirty="0"/>
          </a:p>
        </p:txBody>
      </p:sp>
      <p:sp>
        <p:nvSpPr>
          <p:cNvPr id="19459" name="灯片编号占位符 1"/>
          <p:cNvSpPr/>
          <p:nvPr>
            <p:ph type="sldNum" sz="quarter"/>
          </p:nvPr>
        </p:nvSpPr>
        <p:spPr>
          <a:xfrm>
            <a:off x="5588000" y="6416675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1828800" cy="6856413"/>
            <a:chOff x="0" y="0"/>
            <a:chExt cx="1152" cy="4319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52" cy="10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 Unicode MS" pitchFamily="34" charset="-122"/>
              </a:endParaRPr>
            </a:p>
          </p:txBody>
        </p:sp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0" y="2400"/>
              <a:ext cx="1152" cy="1919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 Unicode MS" pitchFamily="34" charset="-122"/>
              </a:endParaRPr>
            </a:p>
          </p:txBody>
        </p:sp>
        <p:pic>
          <p:nvPicPr>
            <p:cNvPr id="2053" name="Picture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28"/>
              <a:ext cx="1152" cy="140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4342" name="Rectangle 6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1905000" y="1676400"/>
            <a:ext cx="6934200" cy="211613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  <a:endParaRPr lang="zh-CN" altLang="en-US" strike="noStrike" noProof="0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1911350" y="3968750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Symbol" panose="05050102010706020507" pitchFamily="18" charset="2"/>
              <a:buNone/>
              <a:defRPr/>
            </a:lvl1pPr>
          </a:lstStyle>
          <a:p>
            <a:pPr lvl="0" fontAlgn="base"/>
            <a:r>
              <a:rPr lang="zh-CN" altLang="en-US" strike="noStrike" noProof="0"/>
              <a:t>单击此处编辑母版副标题样式</a:t>
            </a:r>
            <a:endParaRPr lang="zh-CN" altLang="en-US" strike="noStrike" noProof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1828800" y="64008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kumimoji="0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 Unicode MS" pitchFamily="34" charset="-122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962400" y="64008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spcBef>
                <a:spcPct val="0"/>
              </a:spcBef>
              <a:defRPr kumimoji="0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 Unicode MS" pitchFamily="34" charset="-122"/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4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z="1400" strike="noStrike" noProof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Symbol" panose="05050102010706020507" pitchFamily="18" charset="2"/>
        <a:buChar char="¨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16.e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4.wmf"/><Relationship Id="rId32" Type="http://schemas.openxmlformats.org/officeDocument/2006/relationships/vmlDrawing" Target="../drawings/vmlDrawing5.vml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27.emf"/><Relationship Id="rId3" Type="http://schemas.openxmlformats.org/officeDocument/2006/relationships/oleObject" Target="../embeddings/oleObject9.bin"/><Relationship Id="rId29" Type="http://schemas.openxmlformats.org/officeDocument/2006/relationships/oleObject" Target="../embeddings/oleObject22.bin"/><Relationship Id="rId28" Type="http://schemas.openxmlformats.org/officeDocument/2006/relationships/image" Target="../media/image26.emf"/><Relationship Id="rId27" Type="http://schemas.openxmlformats.org/officeDocument/2006/relationships/oleObject" Target="../embeddings/oleObject21.bin"/><Relationship Id="rId26" Type="http://schemas.openxmlformats.org/officeDocument/2006/relationships/image" Target="../media/image25.wmf"/><Relationship Id="rId25" Type="http://schemas.openxmlformats.org/officeDocument/2006/relationships/oleObject" Target="../embeddings/oleObject20.bin"/><Relationship Id="rId24" Type="http://schemas.openxmlformats.org/officeDocument/2006/relationships/image" Target="../media/image24.emf"/><Relationship Id="rId23" Type="http://schemas.openxmlformats.org/officeDocument/2006/relationships/oleObject" Target="../embeddings/oleObject19.bin"/><Relationship Id="rId22" Type="http://schemas.openxmlformats.org/officeDocument/2006/relationships/image" Target="../media/image23.emf"/><Relationship Id="rId21" Type="http://schemas.openxmlformats.org/officeDocument/2006/relationships/oleObject" Target="../embeddings/oleObject18.bin"/><Relationship Id="rId20" Type="http://schemas.openxmlformats.org/officeDocument/2006/relationships/image" Target="../media/image22.emf"/><Relationship Id="rId2" Type="http://schemas.openxmlformats.org/officeDocument/2006/relationships/image" Target="../media/image13.emf"/><Relationship Id="rId19" Type="http://schemas.openxmlformats.org/officeDocument/2006/relationships/oleObject" Target="../embeddings/oleObject17.bin"/><Relationship Id="rId18" Type="http://schemas.openxmlformats.org/officeDocument/2006/relationships/image" Target="../media/image21.emf"/><Relationship Id="rId17" Type="http://schemas.openxmlformats.org/officeDocument/2006/relationships/oleObject" Target="../embeddings/oleObject16.bin"/><Relationship Id="rId16" Type="http://schemas.openxmlformats.org/officeDocument/2006/relationships/image" Target="../media/image20.emf"/><Relationship Id="rId15" Type="http://schemas.openxmlformats.org/officeDocument/2006/relationships/oleObject" Target="../embeddings/oleObject15.bin"/><Relationship Id="rId14" Type="http://schemas.openxmlformats.org/officeDocument/2006/relationships/image" Target="../media/image19.wmf"/><Relationship Id="rId13" Type="http://schemas.openxmlformats.org/officeDocument/2006/relationships/oleObject" Target="../embeddings/oleObject14.bin"/><Relationship Id="rId12" Type="http://schemas.openxmlformats.org/officeDocument/2006/relationships/image" Target="../media/image18.emf"/><Relationship Id="rId11" Type="http://schemas.openxmlformats.org/officeDocument/2006/relationships/oleObject" Target="../embeddings/oleObject13.bin"/><Relationship Id="rId10" Type="http://schemas.openxmlformats.org/officeDocument/2006/relationships/image" Target="../media/image17.emf"/><Relationship Id="rId1" Type="http://schemas.openxmlformats.org/officeDocument/2006/relationships/oleObject" Target="../embeddings/oleObject8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31.e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30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24.bin"/><Relationship Id="rId24" Type="http://schemas.openxmlformats.org/officeDocument/2006/relationships/vmlDrawing" Target="../drawings/vmlDrawing6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38.wmf"/><Relationship Id="rId21" Type="http://schemas.openxmlformats.org/officeDocument/2006/relationships/oleObject" Target="../embeddings/oleObject33.bin"/><Relationship Id="rId20" Type="http://schemas.openxmlformats.org/officeDocument/2006/relationships/image" Target="../media/image37.wmf"/><Relationship Id="rId2" Type="http://schemas.openxmlformats.org/officeDocument/2006/relationships/image" Target="../media/image28.wmf"/><Relationship Id="rId19" Type="http://schemas.openxmlformats.org/officeDocument/2006/relationships/oleObject" Target="../embeddings/oleObject32.bin"/><Relationship Id="rId18" Type="http://schemas.openxmlformats.org/officeDocument/2006/relationships/image" Target="../media/image36.wmf"/><Relationship Id="rId17" Type="http://schemas.openxmlformats.org/officeDocument/2006/relationships/oleObject" Target="../embeddings/oleObject31.bin"/><Relationship Id="rId16" Type="http://schemas.openxmlformats.org/officeDocument/2006/relationships/image" Target="../media/image35.emf"/><Relationship Id="rId15" Type="http://schemas.openxmlformats.org/officeDocument/2006/relationships/oleObject" Target="../embeddings/oleObject30.bin"/><Relationship Id="rId14" Type="http://schemas.openxmlformats.org/officeDocument/2006/relationships/image" Target="../media/image34.e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33.e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32.emf"/><Relationship Id="rId1" Type="http://schemas.openxmlformats.org/officeDocument/2006/relationships/oleObject" Target="../embeddings/oleObject23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41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35.bin"/><Relationship Id="rId28" Type="http://schemas.openxmlformats.org/officeDocument/2006/relationships/vmlDrawing" Target="../drawings/vmlDrawing7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50.wmf"/><Relationship Id="rId25" Type="http://schemas.openxmlformats.org/officeDocument/2006/relationships/oleObject" Target="../embeddings/oleObject46.bin"/><Relationship Id="rId24" Type="http://schemas.openxmlformats.org/officeDocument/2006/relationships/image" Target="../media/image49.wmf"/><Relationship Id="rId23" Type="http://schemas.openxmlformats.org/officeDocument/2006/relationships/oleObject" Target="../embeddings/oleObject45.bin"/><Relationship Id="rId22" Type="http://schemas.openxmlformats.org/officeDocument/2006/relationships/image" Target="../media/image48.wmf"/><Relationship Id="rId21" Type="http://schemas.openxmlformats.org/officeDocument/2006/relationships/oleObject" Target="../embeddings/oleObject44.bin"/><Relationship Id="rId20" Type="http://schemas.openxmlformats.org/officeDocument/2006/relationships/image" Target="../media/image47.wmf"/><Relationship Id="rId2" Type="http://schemas.openxmlformats.org/officeDocument/2006/relationships/image" Target="../media/image39.wmf"/><Relationship Id="rId19" Type="http://schemas.openxmlformats.org/officeDocument/2006/relationships/oleObject" Target="../embeddings/oleObject43.bin"/><Relationship Id="rId18" Type="http://schemas.openxmlformats.org/officeDocument/2006/relationships/image" Target="../media/image46.wmf"/><Relationship Id="rId17" Type="http://schemas.openxmlformats.org/officeDocument/2006/relationships/oleObject" Target="../embeddings/oleObject42.bin"/><Relationship Id="rId16" Type="http://schemas.openxmlformats.org/officeDocument/2006/relationships/image" Target="../media/image45.wmf"/><Relationship Id="rId15" Type="http://schemas.openxmlformats.org/officeDocument/2006/relationships/oleObject" Target="../embeddings/oleObject41.bin"/><Relationship Id="rId14" Type="http://schemas.openxmlformats.org/officeDocument/2006/relationships/image" Target="../media/image44.wmf"/><Relationship Id="rId13" Type="http://schemas.openxmlformats.org/officeDocument/2006/relationships/oleObject" Target="../embeddings/oleObject40.bin"/><Relationship Id="rId12" Type="http://schemas.openxmlformats.org/officeDocument/2006/relationships/image" Target="../media/image43.w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42.wmf"/><Relationship Id="rId1" Type="http://schemas.openxmlformats.org/officeDocument/2006/relationships/oleObject" Target="../embeddings/oleObject3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59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7.wmf"/><Relationship Id="rId34" Type="http://schemas.openxmlformats.org/officeDocument/2006/relationships/vmlDrawing" Target="../drawings/vmlDrawing8.vml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71.wmf"/><Relationship Id="rId31" Type="http://schemas.openxmlformats.org/officeDocument/2006/relationships/oleObject" Target="../embeddings/oleObject62.bin"/><Relationship Id="rId30" Type="http://schemas.openxmlformats.org/officeDocument/2006/relationships/image" Target="../media/image70.wmf"/><Relationship Id="rId3" Type="http://schemas.openxmlformats.org/officeDocument/2006/relationships/oleObject" Target="../embeddings/oleObject48.bin"/><Relationship Id="rId29" Type="http://schemas.openxmlformats.org/officeDocument/2006/relationships/oleObject" Target="../embeddings/oleObject61.bin"/><Relationship Id="rId28" Type="http://schemas.openxmlformats.org/officeDocument/2006/relationships/image" Target="../media/image69.wmf"/><Relationship Id="rId27" Type="http://schemas.openxmlformats.org/officeDocument/2006/relationships/oleObject" Target="../embeddings/oleObject60.bin"/><Relationship Id="rId26" Type="http://schemas.openxmlformats.org/officeDocument/2006/relationships/image" Target="../media/image68.wmf"/><Relationship Id="rId25" Type="http://schemas.openxmlformats.org/officeDocument/2006/relationships/oleObject" Target="../embeddings/oleObject59.bin"/><Relationship Id="rId24" Type="http://schemas.openxmlformats.org/officeDocument/2006/relationships/image" Target="../media/image67.wmf"/><Relationship Id="rId23" Type="http://schemas.openxmlformats.org/officeDocument/2006/relationships/oleObject" Target="../embeddings/oleObject58.bin"/><Relationship Id="rId22" Type="http://schemas.openxmlformats.org/officeDocument/2006/relationships/image" Target="../media/image66.wmf"/><Relationship Id="rId21" Type="http://schemas.openxmlformats.org/officeDocument/2006/relationships/oleObject" Target="../embeddings/oleObject57.bin"/><Relationship Id="rId20" Type="http://schemas.openxmlformats.org/officeDocument/2006/relationships/image" Target="../media/image65.wmf"/><Relationship Id="rId2" Type="http://schemas.openxmlformats.org/officeDocument/2006/relationships/image" Target="../media/image56.wmf"/><Relationship Id="rId19" Type="http://schemas.openxmlformats.org/officeDocument/2006/relationships/oleObject" Target="../embeddings/oleObject56.bin"/><Relationship Id="rId18" Type="http://schemas.openxmlformats.org/officeDocument/2006/relationships/image" Target="../media/image64.wmf"/><Relationship Id="rId17" Type="http://schemas.openxmlformats.org/officeDocument/2006/relationships/oleObject" Target="../embeddings/oleObject55.bin"/><Relationship Id="rId16" Type="http://schemas.openxmlformats.org/officeDocument/2006/relationships/image" Target="../media/image63.wmf"/><Relationship Id="rId15" Type="http://schemas.openxmlformats.org/officeDocument/2006/relationships/oleObject" Target="../embeddings/oleObject54.bin"/><Relationship Id="rId14" Type="http://schemas.openxmlformats.org/officeDocument/2006/relationships/image" Target="../media/image62.wmf"/><Relationship Id="rId13" Type="http://schemas.openxmlformats.org/officeDocument/2006/relationships/oleObject" Target="../embeddings/oleObject53.bin"/><Relationship Id="rId12" Type="http://schemas.openxmlformats.org/officeDocument/2006/relationships/image" Target="../media/image61.wmf"/><Relationship Id="rId11" Type="http://schemas.openxmlformats.org/officeDocument/2006/relationships/oleObject" Target="../embeddings/oleObject52.bin"/><Relationship Id="rId10" Type="http://schemas.openxmlformats.org/officeDocument/2006/relationships/image" Target="../media/image60.wmf"/><Relationship Id="rId1" Type="http://schemas.openxmlformats.org/officeDocument/2006/relationships/oleObject" Target="../embeddings/oleObject47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3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72.wmf"/><Relationship Id="rId1" Type="http://schemas.openxmlformats.org/officeDocument/2006/relationships/oleObject" Target="../embeddings/oleObject63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9.bin"/><Relationship Id="rId8" Type="http://schemas.openxmlformats.org/officeDocument/2006/relationships/image" Target="../media/image77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76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75.wmf"/><Relationship Id="rId3" Type="http://schemas.openxmlformats.org/officeDocument/2006/relationships/oleObject" Target="../embeddings/oleObject66.bin"/><Relationship Id="rId26" Type="http://schemas.openxmlformats.org/officeDocument/2006/relationships/vmlDrawing" Target="../drawings/vmlDrawing10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85.wmf"/><Relationship Id="rId23" Type="http://schemas.openxmlformats.org/officeDocument/2006/relationships/oleObject" Target="../embeddings/oleObject76.bin"/><Relationship Id="rId22" Type="http://schemas.openxmlformats.org/officeDocument/2006/relationships/image" Target="../media/image84.wmf"/><Relationship Id="rId21" Type="http://schemas.openxmlformats.org/officeDocument/2006/relationships/oleObject" Target="../embeddings/oleObject75.bin"/><Relationship Id="rId20" Type="http://schemas.openxmlformats.org/officeDocument/2006/relationships/image" Target="../media/image83.wmf"/><Relationship Id="rId2" Type="http://schemas.openxmlformats.org/officeDocument/2006/relationships/image" Target="../media/image74.wmf"/><Relationship Id="rId19" Type="http://schemas.openxmlformats.org/officeDocument/2006/relationships/oleObject" Target="../embeddings/oleObject74.bin"/><Relationship Id="rId18" Type="http://schemas.openxmlformats.org/officeDocument/2006/relationships/image" Target="../media/image82.wmf"/><Relationship Id="rId17" Type="http://schemas.openxmlformats.org/officeDocument/2006/relationships/oleObject" Target="../embeddings/oleObject73.bin"/><Relationship Id="rId16" Type="http://schemas.openxmlformats.org/officeDocument/2006/relationships/image" Target="../media/image81.wmf"/><Relationship Id="rId15" Type="http://schemas.openxmlformats.org/officeDocument/2006/relationships/oleObject" Target="../embeddings/oleObject72.bin"/><Relationship Id="rId14" Type="http://schemas.openxmlformats.org/officeDocument/2006/relationships/image" Target="../media/image80.wmf"/><Relationship Id="rId13" Type="http://schemas.openxmlformats.org/officeDocument/2006/relationships/oleObject" Target="../embeddings/oleObject71.bin"/><Relationship Id="rId12" Type="http://schemas.openxmlformats.org/officeDocument/2006/relationships/image" Target="../media/image79.wmf"/><Relationship Id="rId11" Type="http://schemas.openxmlformats.org/officeDocument/2006/relationships/oleObject" Target="../embeddings/oleObject70.bin"/><Relationship Id="rId10" Type="http://schemas.openxmlformats.org/officeDocument/2006/relationships/image" Target="../media/image78.wmf"/><Relationship Id="rId1" Type="http://schemas.openxmlformats.org/officeDocument/2006/relationships/oleObject" Target="../embeddings/oleObject65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WordArt 6"/>
          <p:cNvSpPr>
            <a:spLocks noTextEdit="1"/>
          </p:cNvSpPr>
          <p:nvPr/>
        </p:nvSpPr>
        <p:spPr>
          <a:xfrm>
            <a:off x="898525" y="765175"/>
            <a:ext cx="7202488" cy="17986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519"/>
              </a:avLst>
            </a:prstTxWarp>
            <a:normAutofit/>
          </a:bodyPr>
          <a:p>
            <a:pPr algn="ctr"/>
            <a:r>
              <a:rPr lang="zh-CN" altLang="en-US" sz="4400" b="1">
                <a:ln w="19050" cap="sq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TECHMath" charset="0"/>
                <a:ea typeface="TECHMath" charset="0"/>
              </a:rPr>
              <a:t>Numerical Analysis</a:t>
            </a:r>
            <a:endParaRPr lang="zh-CN" altLang="en-US" sz="4400" b="1">
              <a:ln w="1905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35921" dir="2699999" algn="ctr" rotWithShape="0">
                  <a:srgbClr val="990000"/>
                </a:outerShdw>
              </a:effectLst>
              <a:latin typeface="TECHMath" charset="0"/>
              <a:ea typeface="TECHMath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33071" y="2708920"/>
            <a:ext cx="2879089" cy="70675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0" cap="none" spc="0" normalizeH="0" baseline="0" noProof="0" dirty="0">
                <a:ln w="19050" cap="sq">
                  <a:solidFill>
                    <a:srgbClr val="FF9900"/>
                  </a:solidFill>
                  <a:rou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+mn-ea"/>
                <a:ea typeface="+mn-ea"/>
                <a:cs typeface="Arial Unicode MS" pitchFamily="34" charset="-122"/>
              </a:rPr>
              <a:t>(</a:t>
            </a:r>
            <a:r>
              <a:rPr kumimoji="1" lang="zh-CN" altLang="en-US" sz="4000" b="1" i="0" u="none" strike="noStrike" kern="10" cap="none" spc="0" normalizeH="0" baseline="0" noProof="0" dirty="0">
                <a:ln w="19050" cap="sq">
                  <a:solidFill>
                    <a:srgbClr val="FF9900"/>
                  </a:solidFill>
                  <a:rou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+mn-ea"/>
                <a:ea typeface="+mn-ea"/>
                <a:cs typeface="Arial Unicode MS" pitchFamily="34" charset="-122"/>
              </a:rPr>
              <a:t>数值分析）</a:t>
            </a:r>
            <a:endParaRPr kumimoji="1" lang="zh-CN" altLang="en-US" sz="4000" b="1" i="0" u="none" strike="noStrike" kern="10" cap="none" spc="0" normalizeH="0" baseline="0" noProof="0" dirty="0">
              <a:ln w="19050" cap="sq">
                <a:solidFill>
                  <a:srgbClr val="FF9900"/>
                </a:solidFill>
                <a:round/>
              </a:ln>
              <a:solidFill>
                <a:srgbClr val="FF0000"/>
              </a:solidFill>
              <a:effectLst>
                <a:outerShdw dist="35921" dir="2700000" algn="ctr" rotWithShape="0">
                  <a:srgbClr val="990000"/>
                </a:outerShdw>
              </a:effectLst>
              <a:uLnTx/>
              <a:uFillTx/>
              <a:latin typeface="+mn-ea"/>
              <a:ea typeface="+mn-ea"/>
              <a:cs typeface="Arial Unicode MS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72001" y="5202778"/>
            <a:ext cx="4248472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" cap="none" spc="0" normalizeH="0" baseline="0" noProof="0" dirty="0">
                <a:ln w="19050" cap="sq">
                  <a:solidFill>
                    <a:srgbClr val="FF9900"/>
                  </a:solidFill>
                  <a:rou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+mn-ea"/>
                <a:ea typeface="+mn-ea"/>
                <a:cs typeface="Arial Unicode MS" pitchFamily="34" charset="-122"/>
              </a:rPr>
              <a:t>北京理工大学出版社</a:t>
            </a:r>
            <a:endParaRPr kumimoji="1" lang="zh-CN" altLang="en-US" sz="2800" b="1" i="0" u="none" strike="noStrike" kern="10" cap="none" spc="0" normalizeH="0" baseline="0" noProof="0" dirty="0">
              <a:ln w="19050" cap="sq">
                <a:solidFill>
                  <a:srgbClr val="FF9900"/>
                </a:solidFill>
                <a:round/>
              </a:ln>
              <a:solidFill>
                <a:srgbClr val="FF0000"/>
              </a:solidFill>
              <a:effectLst>
                <a:outerShdw dist="35921" dir="2700000" algn="ctr" rotWithShape="0">
                  <a:srgbClr val="990000"/>
                </a:outerShdw>
              </a:effectLst>
              <a:uLnTx/>
              <a:uFillTx/>
              <a:latin typeface="+mn-ea"/>
              <a:ea typeface="+mn-ea"/>
              <a:cs typeface="Arial Unicode MS" pitchFamily="3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4"/>
          <p:cNvSpPr/>
          <p:nvPr/>
        </p:nvSpPr>
        <p:spPr>
          <a:xfrm>
            <a:off x="179388" y="1916113"/>
            <a:ext cx="8528050" cy="1954212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indent="152400"/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</a:rPr>
              <a:t>Numerical Analysis is one of the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itchFamily="34" charset="-122"/>
              </a:rPr>
              <a:t>bilingual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itchFamily="34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</a:rPr>
              <a:t>courses in your study. The purpose of the course focuses on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itchFamily="34" charset="-122"/>
              </a:rPr>
              <a:t>understanding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</a:rPr>
              <a:t> numerical analysis in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</a:rPr>
              <a:t> English.We do hope you can read and write the mathematical materials in English</a:t>
            </a:r>
            <a:r>
              <a:rPr lang="en-US" altLang="zh-CN" dirty="0">
                <a:latin typeface="Franklin Gothic Medium" panose="020B0603020102020204" pitchFamily="34" charset="0"/>
                <a:ea typeface="Arial Unicode MS" pitchFamily="34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</a:rPr>
              <a:t>as smoothly as possible after finishing the course. 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</a:endParaRPr>
          </a:p>
        </p:txBody>
      </p:sp>
      <p:sp>
        <p:nvSpPr>
          <p:cNvPr id="4100" name="WordArt 7"/>
          <p:cNvSpPr>
            <a:spLocks noTextEdit="1"/>
          </p:cNvSpPr>
          <p:nvPr/>
        </p:nvSpPr>
        <p:spPr>
          <a:xfrm>
            <a:off x="1595438" y="836613"/>
            <a:ext cx="4032250" cy="7985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296"/>
              </a:avLst>
            </a:prstTxWarp>
            <a:normAutofit fontScale="80000"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kern="1200" cap="none" spc="0" normalizeH="0" baseline="0" noProof="1">
                <a:ln w="19050" cap="sq" cmpd="sng">
                  <a:solidFill>
                    <a:srgbClr val="FF99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TECHMath" charset="0"/>
                <a:ea typeface="TECHMath" charset="0"/>
                <a:cs typeface="+mn-cs"/>
                <a:sym typeface="+mn-ea"/>
              </a:rPr>
              <a:t>Bilingual </a:t>
            </a:r>
            <a:r>
              <a:rPr kumimoji="0" lang="en-US" altLang="zh-CN" sz="4400" b="1" i="0" u="none" strike="noStrike" kern="1200" cap="none" spc="0" normalizeH="0" baseline="0" noProof="1">
                <a:ln w="19050" cap="sq" cmpd="sng">
                  <a:solidFill>
                    <a:srgbClr val="FF99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TECHMath" charset="0"/>
                <a:ea typeface="TECHMath" charset="0"/>
                <a:cs typeface="+mn-cs"/>
                <a:sym typeface="+mn-ea"/>
              </a:rPr>
              <a:t>course</a:t>
            </a:r>
            <a:endParaRPr kumimoji="0" lang="zh-CN" altLang="en-US" sz="4400" b="1" i="0" u="none" strike="noStrike" kern="1200" cap="none" spc="0" normalizeH="0" baseline="0" noProof="1">
              <a:ln w="1905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35921" dir="2699999" algn="ctr" rotWithShape="0">
                  <a:srgbClr val="990000"/>
                </a:outerShdw>
              </a:effectLst>
              <a:latin typeface="TECHMath" charset="0"/>
              <a:ea typeface="TECHMath" charset="0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4"/>
          <p:cNvSpPr/>
          <p:nvPr/>
        </p:nvSpPr>
        <p:spPr>
          <a:xfrm>
            <a:off x="2174875" y="517525"/>
            <a:ext cx="3486150" cy="476250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indent="152400"/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itchFamily="34" charset="-122"/>
              </a:rPr>
              <a:t>Syllubus(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itchFamily="34" charset="-122"/>
              </a:rPr>
              <a:t>课程大纲）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Arial Unicode MS" pitchFamily="34" charset="-122"/>
            </a:endParaRPr>
          </a:p>
        </p:txBody>
      </p:sp>
      <p:sp>
        <p:nvSpPr>
          <p:cNvPr id="7170" name="Rectangle 4"/>
          <p:cNvSpPr/>
          <p:nvPr/>
        </p:nvSpPr>
        <p:spPr>
          <a:xfrm>
            <a:off x="323850" y="3686175"/>
            <a:ext cx="6494463" cy="476250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indent="152400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Soft ware: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Python, Matlab, Octave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Arial Unicode MS" pitchFamily="34" charset="-122"/>
              <a:sym typeface="宋体" panose="02010600030101010101" pitchFamily="2" charset="-122"/>
            </a:endParaRPr>
          </a:p>
        </p:txBody>
      </p:sp>
      <p:sp>
        <p:nvSpPr>
          <p:cNvPr id="7171" name="Rectangle 4"/>
          <p:cNvSpPr/>
          <p:nvPr/>
        </p:nvSpPr>
        <p:spPr>
          <a:xfrm>
            <a:off x="322263" y="1525588"/>
            <a:ext cx="8528050" cy="476250"/>
          </a:xfrm>
          <a:prstGeom prst="rect">
            <a:avLst/>
          </a:prstGeom>
          <a:noFill/>
          <a:ln w="12700">
            <a:noFill/>
          </a:ln>
        </p:spPr>
        <p:txBody>
          <a:bodyPr bIns="0" anchor="ctr" anchorCtr="0">
            <a:spAutoFit/>
          </a:bodyPr>
          <a:p>
            <a:pPr indent="152400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Numerical Analysis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（数值分析）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, 9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周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sym typeface="宋体" panose="02010600030101010101" pitchFamily="2" charset="-122"/>
            </a:endParaRPr>
          </a:p>
        </p:txBody>
      </p:sp>
      <p:sp>
        <p:nvSpPr>
          <p:cNvPr id="7172" name="Rectangle 4"/>
          <p:cNvSpPr/>
          <p:nvPr/>
        </p:nvSpPr>
        <p:spPr>
          <a:xfrm>
            <a:off x="395288" y="2605088"/>
            <a:ext cx="6494462" cy="476250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indent="152400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Machine Learning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</a:rPr>
              <a:t>(机器学习）,7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</a:rPr>
              <a:t>周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4"/>
          <p:cNvSpPr/>
          <p:nvPr/>
        </p:nvSpPr>
        <p:spPr>
          <a:xfrm>
            <a:off x="1847850" y="517843"/>
            <a:ext cx="3813175" cy="476250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indent="152400"/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itchFamily="34" charset="-122"/>
              </a:rPr>
              <a:t>本课程成绩评定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itchFamily="34" charset="-122"/>
              </a:rPr>
              <a:t>构成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Arial Unicode MS" pitchFamily="34" charset="-122"/>
            </a:endParaRPr>
          </a:p>
        </p:txBody>
      </p:sp>
      <p:sp>
        <p:nvSpPr>
          <p:cNvPr id="7170" name="Rectangle 4"/>
          <p:cNvSpPr/>
          <p:nvPr/>
        </p:nvSpPr>
        <p:spPr>
          <a:xfrm>
            <a:off x="323850" y="3686175"/>
            <a:ext cx="6494463" cy="476250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indent="152400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期末考试：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50%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sym typeface="宋体" panose="02010600030101010101" pitchFamily="2" charset="-122"/>
            </a:endParaRPr>
          </a:p>
        </p:txBody>
      </p:sp>
      <p:sp>
        <p:nvSpPr>
          <p:cNvPr id="7171" name="Rectangle 4"/>
          <p:cNvSpPr/>
          <p:nvPr/>
        </p:nvSpPr>
        <p:spPr>
          <a:xfrm>
            <a:off x="322263" y="1525588"/>
            <a:ext cx="8528050" cy="476250"/>
          </a:xfrm>
          <a:prstGeom prst="rect">
            <a:avLst/>
          </a:prstGeom>
          <a:noFill/>
          <a:ln w="12700">
            <a:noFill/>
          </a:ln>
        </p:spPr>
        <p:txBody>
          <a:bodyPr bIns="0" anchor="ctr" anchorCtr="0">
            <a:spAutoFit/>
          </a:bodyPr>
          <a:p>
            <a:pPr indent="152400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平时成绩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(45%)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homework+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project and presentation,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sym typeface="宋体" panose="02010600030101010101" pitchFamily="2" charset="-122"/>
            </a:endParaRPr>
          </a:p>
        </p:txBody>
      </p:sp>
      <p:sp>
        <p:nvSpPr>
          <p:cNvPr id="7172" name="Rectangle 4"/>
          <p:cNvSpPr/>
          <p:nvPr/>
        </p:nvSpPr>
        <p:spPr>
          <a:xfrm>
            <a:off x="395288" y="2605088"/>
            <a:ext cx="6494462" cy="476250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indent="152400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</a:rPr>
              <a:t>考勤：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</a:rPr>
              <a:t>5%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4"/>
          <p:cNvSpPr/>
          <p:nvPr/>
        </p:nvSpPr>
        <p:spPr>
          <a:xfrm>
            <a:off x="2174240" y="487045"/>
            <a:ext cx="4334510" cy="537845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indent="152400" eaLnBrk="1" hangingPunct="1"/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Numerical  Analysis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268605" y="1495108"/>
            <a:ext cx="8834755" cy="4477385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algn="l"/>
            <a:r>
              <a:rPr lang="en-US" altLang="zh-CN" b="1" kern="10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sym typeface="+mn-ea"/>
              </a:rPr>
              <a:t>* Solutions of Nonlinear Equations</a:t>
            </a:r>
            <a:endParaRPr lang="en-US" altLang="zh-CN" b="1" kern="10" dirty="0">
              <a:ln w="12700">
                <a:solidFill>
                  <a:srgbClr val="FFCC00"/>
                </a:solidFill>
                <a:round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/>
              <a:sym typeface="+mn-ea"/>
            </a:endParaRPr>
          </a:p>
          <a:p>
            <a:pPr algn="l"/>
            <a:r>
              <a:rPr lang="en-US" altLang="zh-CN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* </a:t>
            </a:r>
            <a:r>
              <a:rPr lang="zh-CN" altLang="en-US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Solution of</a:t>
            </a:r>
            <a:r>
              <a:rPr lang="en-US" altLang="zh-CN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 </a:t>
            </a:r>
            <a:r>
              <a:rPr lang="zh-CN" altLang="en-US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linear Systems</a:t>
            </a:r>
            <a:endParaRPr lang="zh-CN" altLang="en-US" b="1">
              <a:ln w="12700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 charset="0"/>
              <a:ea typeface="Century" panose="02040604050505020304" charset="0"/>
              <a:sym typeface="+mn-ea"/>
            </a:endParaRPr>
          </a:p>
          <a:p>
            <a:pPr algn="l"/>
            <a:r>
              <a:rPr lang="en-US" altLang="zh-CN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* </a:t>
            </a:r>
            <a:r>
              <a:rPr lang="zh-CN" altLang="en-US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Interpolat</a:t>
            </a:r>
            <a:r>
              <a:rPr lang="en-US" altLang="zh-CN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ion </a:t>
            </a:r>
            <a:r>
              <a:rPr lang="zh-CN" altLang="en-US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 and Polynomial Approximation</a:t>
            </a:r>
            <a:endParaRPr lang="zh-CN" altLang="en-US" b="1">
              <a:ln w="12700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 charset="0"/>
              <a:ea typeface="Century" panose="02040604050505020304" charset="0"/>
              <a:sym typeface="+mn-ea"/>
            </a:endParaRPr>
          </a:p>
          <a:p>
            <a:pPr algn="l"/>
            <a:r>
              <a:rPr lang="en-US" altLang="zh-CN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* </a:t>
            </a:r>
            <a:r>
              <a:rPr lang="zh-CN" altLang="en-US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Curve Fitting</a:t>
            </a:r>
            <a:endParaRPr lang="zh-CN" altLang="en-US" b="1">
              <a:ln w="12700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 charset="0"/>
              <a:ea typeface="Century" panose="02040604050505020304" charset="0"/>
            </a:endParaRPr>
          </a:p>
          <a:p>
            <a:pPr algn="l"/>
            <a:r>
              <a:rPr lang="en-US" altLang="zh-CN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</a:rPr>
              <a:t>* </a:t>
            </a:r>
            <a:r>
              <a:rPr lang="zh-CN" altLang="en-US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Numerical Differentiation and</a:t>
            </a:r>
            <a:r>
              <a:rPr lang="en-US" altLang="zh-CN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 </a:t>
            </a:r>
            <a:r>
              <a:rPr lang="zh-CN" altLang="en-US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Numerical </a:t>
            </a:r>
            <a:r>
              <a:rPr lang="en-US" altLang="zh-CN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 </a:t>
            </a:r>
            <a:r>
              <a:rPr lang="zh-CN" altLang="en-US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Integration</a:t>
            </a:r>
            <a:endParaRPr lang="zh-CN" altLang="en-US" b="1">
              <a:ln w="12700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 charset="0"/>
              <a:ea typeface="Century" panose="02040604050505020304" charset="0"/>
              <a:sym typeface="+mn-ea"/>
            </a:endParaRPr>
          </a:p>
          <a:p>
            <a:pPr algn="l"/>
            <a:r>
              <a:rPr lang="en-US" altLang="zh-CN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*</a:t>
            </a:r>
            <a:r>
              <a:rPr lang="zh-CN" altLang="en-US" b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sym typeface="+mn-ea"/>
              </a:rPr>
              <a:t> Solutions of  Ordinary Differential Equations</a:t>
            </a:r>
            <a:endParaRPr lang="zh-CN" altLang="en-US" kern="10" dirty="0">
              <a:ln w="12700">
                <a:solidFill>
                  <a:srgbClr val="FFCC00"/>
                </a:solidFill>
                <a:round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/>
            </a:endParaRPr>
          </a:p>
          <a:p>
            <a:pPr algn="l"/>
            <a:endParaRPr lang="zh-CN" altLang="en-US" sz="3200" b="1">
              <a:ln w="12700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 charset="0"/>
              <a:ea typeface="Century" panose="02040604050505020304" charset="0"/>
            </a:endParaRPr>
          </a:p>
          <a:p>
            <a:pPr algn="l"/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sym typeface="+mn-ea"/>
            </a:endParaRPr>
          </a:p>
          <a:p>
            <a:pPr algn="ctr"/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sym typeface="+mn-ea"/>
            </a:endParaRPr>
          </a:p>
          <a:p>
            <a:pPr algn="ctr"/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4"/>
          <p:cNvSpPr/>
          <p:nvPr/>
        </p:nvSpPr>
        <p:spPr>
          <a:xfrm>
            <a:off x="2174875" y="487363"/>
            <a:ext cx="4333875" cy="538162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indent="152400"/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Machine Learning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sym typeface="宋体" panose="02010600030101010101" pitchFamily="2" charset="-122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683894" y="1802448"/>
            <a:ext cx="7698106" cy="3862070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10" cap="none" spc="0" normalizeH="0" baseline="0" noProof="1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ea typeface="Arial Unicode MS" pitchFamily="34" charset="-122"/>
                <a:cs typeface="+mn-cs"/>
                <a:sym typeface="+mn-ea"/>
              </a:rPr>
              <a:t>* linear classification and </a:t>
            </a:r>
            <a:r>
              <a:rPr kumimoji="0" lang="en-US" altLang="zh-CN" sz="3200" b="1" i="0" u="none" strike="noStrike" kern="10" cap="none" spc="0" normalizeH="0" baseline="0" noProof="1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ea typeface="Arial Unicode MS" pitchFamily="34" charset="-122"/>
                <a:cs typeface="+mn-cs"/>
                <a:sym typeface="+mn-ea"/>
              </a:rPr>
              <a:t>linear regression</a:t>
            </a:r>
            <a:endParaRPr kumimoji="0" lang="en-US" altLang="zh-CN" sz="3200" b="1" i="0" u="none" strike="noStrike" kern="10" cap="none" spc="0" normalizeH="0" baseline="0" noProof="1" dirty="0">
              <a:ln w="12700">
                <a:solidFill>
                  <a:srgbClr val="FFCC00"/>
                </a:solidFill>
                <a:round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1200" cap="none" spc="0" normalizeH="0" baseline="0" noProof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cs typeface="+mn-cs"/>
                <a:sym typeface="+mn-ea"/>
              </a:rPr>
              <a:t>* decision tree</a:t>
            </a:r>
            <a:endParaRPr kumimoji="0" lang="en-US" altLang="zh-CN" sz="3200" b="1" i="0" u="none" strike="noStrike" kern="1200" cap="none" spc="0" normalizeH="0" baseline="0" noProof="1">
              <a:ln w="12700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 charset="0"/>
              <a:ea typeface="Century" panose="02040604050505020304" charset="0"/>
              <a:cs typeface="+mn-cs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1200" cap="none" spc="0" normalizeH="0" baseline="0" noProof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cs typeface="+mn-cs"/>
                <a:sym typeface="+mn-ea"/>
              </a:rPr>
              <a:t>* naive Bayes </a:t>
            </a:r>
            <a:r>
              <a:rPr kumimoji="0" lang="en-US" altLang="zh-CN" sz="3200" b="1" i="0" u="none" strike="noStrike" kern="10" cap="none" spc="0" normalizeH="0" baseline="0" noProof="1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ea typeface="Arial Unicode MS" pitchFamily="34" charset="-122"/>
                <a:cs typeface="+mn-cs"/>
                <a:sym typeface="+mn-ea"/>
              </a:rPr>
              <a:t>classification</a:t>
            </a:r>
            <a:endParaRPr kumimoji="0" lang="en-US" altLang="zh-CN" sz="3200" b="1" i="0" u="none" strike="noStrike" kern="10" cap="none" spc="0" normalizeH="0" baseline="0" noProof="1" dirty="0">
              <a:ln w="12700">
                <a:solidFill>
                  <a:srgbClr val="FFCC00"/>
                </a:solidFill>
                <a:round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10" cap="none" spc="0" normalizeH="0" baseline="0" noProof="1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ea typeface="Arial Unicode MS" pitchFamily="34" charset="-122"/>
                <a:cs typeface="+mn-cs"/>
                <a:sym typeface="+mn-ea"/>
              </a:rPr>
              <a:t>*</a:t>
            </a:r>
            <a:r>
              <a:rPr kumimoji="0" lang="en-US" altLang="zh-CN" sz="3200" b="1" i="0" u="none" strike="noStrike" kern="1200" cap="none" spc="0" normalizeH="0" baseline="0" noProof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cs typeface="+mn-cs"/>
                <a:sym typeface="+mn-ea"/>
              </a:rPr>
              <a:t> K-means cluster</a:t>
            </a:r>
            <a:endParaRPr kumimoji="0" lang="zh-CN" altLang="en-US" sz="3200" b="1" i="0" u="none" strike="noStrike" kern="1200" cap="none" spc="0" normalizeH="0" baseline="0" noProof="1">
              <a:ln w="12700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 charset="0"/>
              <a:ea typeface="Century" panose="02040604050505020304" charset="0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1200" cap="none" spc="0" normalizeH="0" baseline="0" noProof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cs typeface="+mn-cs"/>
              </a:rPr>
              <a:t>* </a:t>
            </a:r>
            <a:r>
              <a:rPr kumimoji="0" lang="zh-CN" altLang="en-US" sz="3200" b="1" i="0" u="none" strike="noStrike" kern="1200" cap="none" spc="0" normalizeH="0" baseline="0" noProof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cs typeface="+mn-cs"/>
                <a:sym typeface="+mn-ea"/>
              </a:rPr>
              <a:t>N</a:t>
            </a:r>
            <a:r>
              <a:rPr kumimoji="0" lang="en-US" altLang="zh-CN" sz="3200" b="1" i="0" u="none" strike="noStrike" kern="1200" cap="none" spc="0" normalizeH="0" baseline="0" noProof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cs typeface="+mn-cs"/>
                <a:sym typeface="+mn-ea"/>
              </a:rPr>
              <a:t>erual Net Work</a:t>
            </a:r>
            <a:endParaRPr kumimoji="0" lang="en-US" altLang="zh-CN" sz="3200" b="1" i="0" u="none" strike="noStrike" kern="1200" cap="none" spc="0" normalizeH="0" baseline="0" noProof="1">
              <a:ln w="12700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 charset="0"/>
              <a:ea typeface="Century" panose="02040604050505020304" charset="0"/>
              <a:cs typeface="+mn-cs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1200" cap="none" spc="0" normalizeH="0" baseline="0" noProof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cs typeface="+mn-cs"/>
                <a:sym typeface="+mn-ea"/>
              </a:rPr>
              <a:t>*</a:t>
            </a:r>
            <a:r>
              <a:rPr kumimoji="0" lang="zh-CN" altLang="en-US" sz="3200" b="1" i="0" u="none" strike="noStrike" kern="1200" cap="none" spc="0" normalizeH="0" baseline="0" noProof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cs typeface="+mn-cs"/>
                <a:sym typeface="+mn-ea"/>
              </a:rPr>
              <a:t> </a:t>
            </a:r>
            <a:r>
              <a:rPr kumimoji="0" lang="en-US" altLang="zh-CN" sz="3200" b="1" i="0" u="none" strike="noStrike" kern="1200" cap="none" spc="0" normalizeH="0" baseline="0" noProof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cs typeface="+mn-cs"/>
                <a:sym typeface="+mn-ea"/>
              </a:rPr>
              <a:t>Convolutional </a:t>
            </a:r>
            <a:r>
              <a:rPr kumimoji="0" lang="zh-CN" altLang="en-US" sz="3200" b="1" i="0" u="none" strike="noStrike" kern="1200" cap="none" spc="0" normalizeH="0" baseline="0" noProof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cs typeface="+mn-cs"/>
                <a:sym typeface="+mn-ea"/>
              </a:rPr>
              <a:t>N</a:t>
            </a:r>
            <a:r>
              <a:rPr kumimoji="0" lang="en-US" altLang="zh-CN" sz="3200" b="1" i="0" u="none" strike="noStrike" kern="1200" cap="none" spc="0" normalizeH="0" baseline="0" noProof="1">
                <a:ln w="12700" cap="flat" cmpd="sng">
                  <a:solidFill>
                    <a:srgbClr val="FFCC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  <a:cs typeface="+mn-cs"/>
                <a:sym typeface="+mn-ea"/>
              </a:rPr>
              <a:t>erual Net Work</a:t>
            </a:r>
            <a:endParaRPr kumimoji="0" lang="zh-CN" altLang="en-US" sz="3200" b="1" i="0" u="none" strike="noStrike" kern="1200" cap="none" spc="0" normalizeH="0" baseline="0" noProof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kern="1200" cap="none" spc="0" normalizeH="0" baseline="0" noProof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kern="1200" cap="none" spc="0" normalizeH="0" baseline="0" noProof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4"/>
          <p:cNvSpPr/>
          <p:nvPr/>
        </p:nvSpPr>
        <p:spPr>
          <a:xfrm>
            <a:off x="684213" y="446088"/>
            <a:ext cx="6413500" cy="598487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indent="152400"/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The following tools are needed </a:t>
            </a:r>
            <a:endParaRPr lang="zh-CN" altLang="en-US" sz="3600" b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sym typeface="宋体" panose="02010600030101010101" pitchFamily="2" charset="-122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1229360" y="2943860"/>
            <a:ext cx="5663565" cy="1399540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10" cap="none" spc="0" normalizeH="0" baseline="0" noProof="1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ea typeface="Arial Unicode MS" pitchFamily="34" charset="-122"/>
                <a:cs typeface="+mn-cs"/>
                <a:sym typeface="+mn-ea"/>
              </a:rPr>
              <a:t>python</a:t>
            </a:r>
            <a:r>
              <a:rPr kumimoji="0" lang="zh-CN" altLang="en-US" sz="3200" b="1" i="0" u="none" strike="noStrike" kern="10" cap="none" spc="0" normalizeH="0" baseline="0" noProof="1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ea typeface="Arial Unicode MS" pitchFamily="34" charset="-122"/>
                <a:cs typeface="+mn-cs"/>
                <a:sym typeface="+mn-ea"/>
              </a:rPr>
              <a:t>，</a:t>
            </a:r>
            <a:r>
              <a:rPr kumimoji="0" lang="en-US" altLang="zh-CN" sz="3200" b="1" i="0" u="none" strike="noStrike" kern="10" cap="none" spc="0" normalizeH="0" baseline="0" noProof="1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ea typeface="Arial Unicode MS" pitchFamily="34" charset="-122"/>
                <a:cs typeface="+mn-cs"/>
                <a:sym typeface="+mn-ea"/>
              </a:rPr>
              <a:t> MATLAB</a:t>
            </a:r>
            <a:r>
              <a:rPr kumimoji="0" lang="zh-CN" altLang="en-US" sz="3200" b="1" i="0" u="none" strike="noStrike" kern="10" cap="none" spc="0" normalizeH="0" baseline="0" noProof="1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ea typeface="Arial Unicode MS" pitchFamily="34" charset="-122"/>
                <a:cs typeface="+mn-cs"/>
                <a:sym typeface="+mn-ea"/>
              </a:rPr>
              <a:t>，</a:t>
            </a:r>
            <a:r>
              <a:rPr kumimoji="0" lang="en-US" altLang="zh-CN" sz="3200" b="1" i="0" u="none" strike="noStrike" kern="10" cap="none" spc="0" normalizeH="0" baseline="0" noProof="1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ea typeface="Arial Unicode MS" pitchFamily="34" charset="-122"/>
                <a:cs typeface="+mn-cs"/>
                <a:sym typeface="+mn-ea"/>
              </a:rPr>
              <a:t> Octave</a:t>
            </a:r>
            <a:endParaRPr kumimoji="0" lang="en-US" altLang="zh-CN" sz="3200" b="1" i="0" u="none" strike="noStrike" kern="10" cap="none" spc="0" normalizeH="0" baseline="0" noProof="1" dirty="0">
              <a:ln w="12700">
                <a:solidFill>
                  <a:srgbClr val="FFCC00"/>
                </a:solidFill>
                <a:round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kern="1200" cap="none" spc="0" normalizeH="0" baseline="0" noProof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kern="1200" cap="none" spc="0" normalizeH="0" baseline="0" noProof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cs typeface="+mn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010" y="4305935"/>
            <a:ext cx="8362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2"/>
                </a:solidFill>
              </a:rPr>
              <a:t>问题（</a:t>
            </a:r>
            <a:r>
              <a:rPr lang="en-US" altLang="zh-CN" b="1">
                <a:solidFill>
                  <a:schemeClr val="bg2"/>
                </a:solidFill>
              </a:rPr>
              <a:t>problem)--  </a:t>
            </a:r>
            <a:r>
              <a:rPr lang="zh-CN" altLang="en-US" b="1">
                <a:solidFill>
                  <a:schemeClr val="bg2"/>
                </a:solidFill>
              </a:rPr>
              <a:t>算法</a:t>
            </a:r>
            <a:r>
              <a:rPr lang="en-US" altLang="zh-CN" b="1">
                <a:solidFill>
                  <a:schemeClr val="bg2"/>
                </a:solidFill>
              </a:rPr>
              <a:t>(algorithm)---</a:t>
            </a:r>
            <a:r>
              <a:rPr lang="zh-CN" altLang="en-US" b="1">
                <a:solidFill>
                  <a:schemeClr val="bg2"/>
                </a:solidFill>
              </a:rPr>
              <a:t>方案（</a:t>
            </a:r>
            <a:r>
              <a:rPr lang="en-US" altLang="zh-CN" b="1">
                <a:solidFill>
                  <a:schemeClr val="bg2"/>
                </a:solidFill>
              </a:rPr>
              <a:t>solution</a:t>
            </a:r>
            <a:r>
              <a:rPr lang="zh-CN" altLang="en-US" b="1">
                <a:solidFill>
                  <a:schemeClr val="bg2"/>
                </a:solidFill>
              </a:rPr>
              <a:t>）</a:t>
            </a:r>
            <a:endParaRPr lang="zh-CN" altLang="en-US" b="1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4"/>
          <p:cNvSpPr/>
          <p:nvPr/>
        </p:nvSpPr>
        <p:spPr>
          <a:xfrm>
            <a:off x="2174875" y="487363"/>
            <a:ext cx="4333875" cy="538162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indent="152400"/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sym typeface="宋体" panose="02010600030101010101" pitchFamily="2" charset="-122"/>
              </a:rPr>
              <a:t>How to install Python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sym typeface="宋体" panose="02010600030101010101" pitchFamily="2" charset="-122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440055" y="1220153"/>
            <a:ext cx="8256906" cy="4846955"/>
          </a:xfrm>
          <a:prstGeom prst="rect">
            <a:avLst/>
          </a:prstGeom>
          <a:noFill/>
          <a:ln w="12700">
            <a:noFill/>
          </a:ln>
        </p:spPr>
        <p:txBody>
          <a:bodyPr wrap="square" bIns="0" anchor="ctr" anchorCtr="0">
            <a:spAutoFit/>
          </a:bodyPr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10" cap="none" spc="0" normalizeH="0" baseline="0" noProof="1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ea typeface="Arial Unicode MS" pitchFamily="34" charset="-122"/>
                <a:cs typeface="+mn-cs"/>
                <a:sym typeface="+mn-ea"/>
              </a:rPr>
              <a:t>STEP 1: log in to the website: </a:t>
            </a:r>
            <a:endParaRPr kumimoji="0" lang="en-US" altLang="zh-CN" sz="3200" b="1" i="0" u="none" strike="noStrike" kern="10" cap="none" spc="0" normalizeH="0" baseline="0" noProof="1" dirty="0">
              <a:ln w="12700">
                <a:solidFill>
                  <a:srgbClr val="FFCC00"/>
                </a:solidFill>
                <a:round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10" cap="none" spc="0" normalizeH="0" baseline="0" noProof="1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ea typeface="Arial Unicode MS" pitchFamily="34" charset="-122"/>
                <a:cs typeface="+mn-cs"/>
                <a:sym typeface="+mn-ea"/>
              </a:rPr>
              <a:t>http: //www.python.org</a:t>
            </a:r>
            <a:endParaRPr kumimoji="0" lang="en-US" altLang="zh-CN" sz="3200" b="1" i="0" u="none" strike="noStrike" kern="10" cap="none" spc="0" normalizeH="0" baseline="0" noProof="1" dirty="0">
              <a:ln w="12700">
                <a:solidFill>
                  <a:srgbClr val="FFCC00"/>
                </a:solidFill>
                <a:round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3200" b="1" i="0" u="none" strike="noStrike" kern="10" cap="none" spc="0" normalizeH="0" baseline="0" noProof="1" dirty="0">
              <a:ln w="12700">
                <a:solidFill>
                  <a:srgbClr val="FFCC00"/>
                </a:solidFill>
                <a:round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10" cap="none" spc="0" normalizeH="0" baseline="0" noProof="1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ea typeface="Arial Unicode MS" pitchFamily="34" charset="-122"/>
                <a:cs typeface="+mn-cs"/>
                <a:sym typeface="+mn-ea"/>
              </a:rPr>
              <a:t>STEP 2: click on downloads</a:t>
            </a:r>
            <a:endParaRPr kumimoji="0" lang="en-US" altLang="zh-CN" sz="3200" b="1" i="0" u="none" strike="noStrike" kern="10" cap="none" spc="0" normalizeH="0" baseline="0" noProof="1" dirty="0">
              <a:ln w="12700">
                <a:solidFill>
                  <a:srgbClr val="FFCC00"/>
                </a:solidFill>
                <a:round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1200" cap="none" spc="0" normalizeH="0" baseline="0" noProof="1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cs typeface="+mn-cs"/>
                <a:sym typeface="+mn-ea"/>
              </a:rPr>
              <a:t>          </a:t>
            </a:r>
            <a:r>
              <a:rPr kumimoji="0" lang="zh-CN" altLang="en-US" sz="3200" b="1" i="0" u="none" strike="noStrike" kern="1200" cap="none" spc="0" normalizeH="0" baseline="0" noProof="1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cs typeface="+mn-cs"/>
                <a:sym typeface="+mn-ea"/>
              </a:rPr>
              <a:t>python-3.9.6</a:t>
            </a:r>
            <a:r>
              <a:rPr kumimoji="0" lang="en-US" altLang="zh-CN" sz="3200" b="1" i="0" u="none" strike="noStrike" kern="1200" cap="none" spc="0" normalizeH="0" baseline="0" noProof="1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cs typeface="+mn-cs"/>
                <a:sym typeface="+mn-ea"/>
              </a:rPr>
              <a:t> for windows</a:t>
            </a:r>
            <a:endParaRPr kumimoji="0" lang="en-US" altLang="zh-CN" sz="3200" b="1" i="0" u="none" strike="noStrike" kern="1200" cap="none" spc="0" normalizeH="0" baseline="0" noProof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3200" b="1" i="0" u="none" strike="noStrike" kern="1200" cap="none" spc="0" normalizeH="0" baseline="0" noProof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10" cap="none" spc="0" normalizeH="0" baseline="0" noProof="1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  <a:ea typeface="Arial Unicode MS" pitchFamily="34" charset="-122"/>
                <a:cs typeface="+mn-cs"/>
                <a:sym typeface="+mn-ea"/>
              </a:rPr>
              <a:t>STEP 3: install  python on your laptop by follwing the defaut  options</a:t>
            </a:r>
            <a:endParaRPr kumimoji="0" lang="zh-CN" altLang="en-US" sz="3200" b="1" i="0" u="none" strike="noStrike" kern="1200" cap="none" spc="0" normalizeH="0" baseline="0" noProof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kern="1200" cap="none" spc="0" normalizeH="0" baseline="0" noProof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cs typeface="+mn-cs"/>
              <a:sym typeface="+mn-ea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kern="1200" cap="none" spc="0" normalizeH="0" baseline="0" noProof="1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126979" name="Group 3"/>
          <p:cNvGrpSpPr/>
          <p:nvPr/>
        </p:nvGrpSpPr>
        <p:grpSpPr>
          <a:xfrm>
            <a:off x="711200" y="2946400"/>
            <a:ext cx="7162800" cy="2768600"/>
            <a:chOff x="1008" y="1776"/>
            <a:chExt cx="3936" cy="1920"/>
          </a:xfrm>
        </p:grpSpPr>
        <p:sp>
          <p:nvSpPr>
            <p:cNvPr id="12290" name="Line 4"/>
            <p:cNvSpPr/>
            <p:nvPr/>
          </p:nvSpPr>
          <p:spPr>
            <a:xfrm>
              <a:off x="1008" y="1776"/>
              <a:ext cx="3936" cy="0"/>
            </a:xfrm>
            <a:prstGeom prst="line">
              <a:avLst/>
            </a:prstGeom>
            <a:ln w="57150" cap="flat" cmpd="sng">
              <a:solidFill>
                <a:srgbClr val="800000"/>
              </a:solidFill>
              <a:prstDash val="dash"/>
              <a:round/>
              <a:headEnd type="none" w="sm" len="sm"/>
              <a:tailEnd type="none" w="sm" len="sm"/>
            </a:ln>
          </p:spPr>
        </p:sp>
        <p:sp>
          <p:nvSpPr>
            <p:cNvPr id="12291" name="Line 5"/>
            <p:cNvSpPr/>
            <p:nvPr/>
          </p:nvSpPr>
          <p:spPr>
            <a:xfrm>
              <a:off x="4944" y="1776"/>
              <a:ext cx="0" cy="1920"/>
            </a:xfrm>
            <a:prstGeom prst="line">
              <a:avLst/>
            </a:prstGeom>
            <a:ln w="57150" cap="flat" cmpd="sng">
              <a:solidFill>
                <a:srgbClr val="800000"/>
              </a:solidFill>
              <a:prstDash val="dash"/>
              <a:round/>
              <a:headEnd type="none" w="sm" len="sm"/>
              <a:tailEnd type="none" w="sm" len="sm"/>
            </a:ln>
          </p:spPr>
        </p:sp>
        <p:sp>
          <p:nvSpPr>
            <p:cNvPr id="12292" name="Line 6"/>
            <p:cNvSpPr/>
            <p:nvPr/>
          </p:nvSpPr>
          <p:spPr>
            <a:xfrm flipH="1">
              <a:off x="1008" y="3696"/>
              <a:ext cx="3936" cy="0"/>
            </a:xfrm>
            <a:prstGeom prst="line">
              <a:avLst/>
            </a:prstGeom>
            <a:ln w="57150" cap="flat" cmpd="sng">
              <a:solidFill>
                <a:srgbClr val="800000"/>
              </a:solidFill>
              <a:prstDash val="dash"/>
              <a:round/>
              <a:headEnd type="none" w="sm" len="sm"/>
              <a:tailEnd type="none" w="sm" len="sm"/>
            </a:ln>
          </p:spPr>
        </p:sp>
        <p:sp>
          <p:nvSpPr>
            <p:cNvPr id="12293" name="Line 7"/>
            <p:cNvSpPr/>
            <p:nvPr/>
          </p:nvSpPr>
          <p:spPr>
            <a:xfrm>
              <a:off x="1008" y="1776"/>
              <a:ext cx="0" cy="1920"/>
            </a:xfrm>
            <a:prstGeom prst="line">
              <a:avLst/>
            </a:prstGeom>
            <a:ln w="57150" cap="flat" cmpd="sng">
              <a:solidFill>
                <a:srgbClr val="800000"/>
              </a:solidFill>
              <a:prstDash val="dash"/>
              <a:round/>
              <a:headEnd type="none" w="sm" len="sm"/>
              <a:tailEnd type="none" w="sm" len="sm"/>
            </a:ln>
          </p:spPr>
        </p:sp>
      </p:grpSp>
      <p:grpSp>
        <p:nvGrpSpPr>
          <p:cNvPr id="12294" name="Group 30"/>
          <p:cNvGrpSpPr/>
          <p:nvPr/>
        </p:nvGrpSpPr>
        <p:grpSpPr>
          <a:xfrm>
            <a:off x="647700" y="981075"/>
            <a:ext cx="7226300" cy="4391025"/>
            <a:chOff x="400" y="704"/>
            <a:chExt cx="4552" cy="2766"/>
          </a:xfrm>
        </p:grpSpPr>
        <p:grpSp>
          <p:nvGrpSpPr>
            <p:cNvPr id="12295" name="Group 28"/>
            <p:cNvGrpSpPr/>
            <p:nvPr/>
          </p:nvGrpSpPr>
          <p:grpSpPr>
            <a:xfrm>
              <a:off x="400" y="704"/>
              <a:ext cx="4552" cy="2766"/>
              <a:chOff x="400" y="704"/>
              <a:chExt cx="4552" cy="2766"/>
            </a:xfrm>
          </p:grpSpPr>
          <p:sp>
            <p:nvSpPr>
              <p:cNvPr id="12296" name="Text Box 9"/>
              <p:cNvSpPr txBox="1"/>
              <p:nvPr/>
            </p:nvSpPr>
            <p:spPr>
              <a:xfrm>
                <a:off x="2008" y="704"/>
                <a:ext cx="1008" cy="84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3333CC"/>
                    </a:solidFill>
                    <a:latin typeface="Times New Roman" panose="02020603050405020304" pitchFamily="18" charset="0"/>
                    <a:ea typeface="Arial Unicode MS" pitchFamily="34" charset="-122"/>
                  </a:rPr>
                  <a:t>simplify</a:t>
                </a:r>
                <a:endParaRPr lang="en-US" altLang="zh-CN" b="1" dirty="0">
                  <a:solidFill>
                    <a:srgbClr val="3333CC"/>
                  </a:solidFill>
                  <a:latin typeface="Times New Roman" panose="02020603050405020304" pitchFamily="18" charset="0"/>
                  <a:ea typeface="Arial Unicode MS" pitchFamily="34" charset="-122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800" b="1" dirty="0">
                  <a:solidFill>
                    <a:srgbClr val="3333CC"/>
                  </a:solidFill>
                  <a:latin typeface="Times New Roman" panose="02020603050405020304" pitchFamily="18" charset="0"/>
                  <a:ea typeface="Arial Unicode MS" pitchFamily="34" charset="-122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3333CC"/>
                    </a:solidFill>
                    <a:latin typeface="Times New Roman" panose="02020603050405020304" pitchFamily="18" charset="0"/>
                    <a:ea typeface="Arial Unicode MS" pitchFamily="34" charset="-122"/>
                  </a:rPr>
                  <a:t>abstract </a:t>
                </a:r>
                <a:endParaRPr lang="en-US" altLang="zh-CN" b="1" dirty="0">
                  <a:solidFill>
                    <a:srgbClr val="3333CC"/>
                  </a:solidFill>
                  <a:latin typeface="Times New Roman" panose="02020603050405020304" pitchFamily="18" charset="0"/>
                  <a:ea typeface="Arial Unicode MS" pitchFamily="34" charset="-122"/>
                </a:endParaRPr>
              </a:p>
            </p:txBody>
          </p:sp>
          <p:sp>
            <p:nvSpPr>
              <p:cNvPr id="12297" name="Text Box 10"/>
              <p:cNvSpPr txBox="1"/>
              <p:nvPr/>
            </p:nvSpPr>
            <p:spPr>
              <a:xfrm>
                <a:off x="3120" y="1992"/>
                <a:ext cx="1456" cy="620"/>
              </a:xfrm>
              <a:prstGeom prst="rect">
                <a:avLst/>
              </a:prstGeom>
              <a:noFill/>
              <a:ln w="38100" cap="sq" cmpd="sng">
                <a:solidFill>
                  <a:srgbClr val="66FF33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3300"/>
                    </a:solidFill>
                    <a:latin typeface="Century Gothic" panose="020B0502020202020204" pitchFamily="34" charset="0"/>
                    <a:ea typeface="Arial Unicode MS" pitchFamily="34" charset="-122"/>
                  </a:rPr>
                  <a:t>numerical methods</a:t>
                </a:r>
                <a:endParaRPr lang="en-US" altLang="zh-CN" b="1" dirty="0">
                  <a:solidFill>
                    <a:srgbClr val="FF3300"/>
                  </a:solidFill>
                  <a:latin typeface="Century Gothic" panose="020B0502020202020204" pitchFamily="34" charset="0"/>
                  <a:ea typeface="Arial Unicode MS" pitchFamily="34" charset="-122"/>
                </a:endParaRPr>
              </a:p>
            </p:txBody>
          </p:sp>
          <p:sp>
            <p:nvSpPr>
              <p:cNvPr id="12298" name="Line 11"/>
              <p:cNvSpPr/>
              <p:nvPr/>
            </p:nvSpPr>
            <p:spPr>
              <a:xfrm>
                <a:off x="3792" y="1464"/>
                <a:ext cx="0" cy="384"/>
              </a:xfrm>
              <a:prstGeom prst="line">
                <a:avLst/>
              </a:prstGeom>
              <a:ln w="139700" cap="sq" cmpd="sng">
                <a:solidFill>
                  <a:srgbClr val="00FF00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sp>
          <p:sp>
            <p:nvSpPr>
              <p:cNvPr id="12299" name="Text Box 12"/>
              <p:cNvSpPr txBox="1"/>
              <p:nvPr/>
            </p:nvSpPr>
            <p:spPr>
              <a:xfrm>
                <a:off x="1872" y="2904"/>
                <a:ext cx="1389" cy="566"/>
              </a:xfrm>
              <a:prstGeom prst="rect">
                <a:avLst/>
              </a:prstGeom>
              <a:noFill/>
              <a:ln w="38100" cap="sq" cmpd="sng">
                <a:solidFill>
                  <a:srgbClr val="66FF33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>
                  <a:lnSpc>
                    <a:spcPct val="90000"/>
                  </a:lnSpc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</a:pPr>
                <a:r>
                  <a:rPr lang="en-US" altLang="zh-CN" b="1" dirty="0">
                    <a:solidFill>
                      <a:srgbClr val="FF3300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rPr>
                  <a:t>computer models</a:t>
                </a:r>
                <a:endParaRPr lang="en-US" altLang="zh-CN" sz="2400" b="1" dirty="0">
                  <a:solidFill>
                    <a:srgbClr val="FF3300"/>
                  </a:solidFill>
                  <a:latin typeface="Century Gothic" panose="020B0502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00" name="Text Box 13"/>
              <p:cNvSpPr txBox="1"/>
              <p:nvPr/>
            </p:nvSpPr>
            <p:spPr>
              <a:xfrm>
                <a:off x="688" y="2032"/>
                <a:ext cx="1680" cy="351"/>
              </a:xfrm>
              <a:prstGeom prst="rect">
                <a:avLst/>
              </a:prstGeom>
              <a:noFill/>
              <a:ln w="38100" cap="sq" cmpd="sng">
                <a:solidFill>
                  <a:srgbClr val="66FF33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3300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rPr>
                  <a:t>conclusions</a:t>
                </a:r>
                <a:endParaRPr lang="en-US" altLang="zh-CN" b="1" dirty="0">
                  <a:solidFill>
                    <a:srgbClr val="FF3300"/>
                  </a:solidFill>
                  <a:latin typeface="Century Gothic" panose="020B0502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01" name="Rectangle 14"/>
              <p:cNvSpPr/>
              <p:nvPr/>
            </p:nvSpPr>
            <p:spPr>
              <a:xfrm>
                <a:off x="496" y="784"/>
                <a:ext cx="1488" cy="620"/>
              </a:xfrm>
              <a:prstGeom prst="rect">
                <a:avLst/>
              </a:prstGeom>
              <a:noFill/>
              <a:ln w="38100" cap="sq" cmpd="sng">
                <a:solidFill>
                  <a:srgbClr val="66FF33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/>
                <a:r>
                  <a:rPr lang="en-US" altLang="zh-CN" b="1" dirty="0">
                    <a:solidFill>
                      <a:srgbClr val="FF3300"/>
                    </a:solidFill>
                    <a:latin typeface="Century Gothic" panose="020B0502020202020204" pitchFamily="34" charset="0"/>
                    <a:ea typeface="Arial Unicode MS" pitchFamily="34" charset="-122"/>
                  </a:rPr>
                  <a:t>real world problems</a:t>
                </a:r>
                <a:endParaRPr lang="en-US" altLang="zh-CN" b="1" dirty="0">
                  <a:solidFill>
                    <a:srgbClr val="FF3300"/>
                  </a:solidFill>
                  <a:latin typeface="Century Gothic" panose="020B0502020202020204" pitchFamily="34" charset="0"/>
                  <a:ea typeface="Arial Unicode MS" pitchFamily="34" charset="-122"/>
                </a:endParaRPr>
              </a:p>
            </p:txBody>
          </p:sp>
          <p:sp>
            <p:nvSpPr>
              <p:cNvPr id="12302" name="Line 15"/>
              <p:cNvSpPr/>
              <p:nvPr/>
            </p:nvSpPr>
            <p:spPr>
              <a:xfrm>
                <a:off x="2256" y="1128"/>
                <a:ext cx="384" cy="0"/>
              </a:xfrm>
              <a:prstGeom prst="line">
                <a:avLst/>
              </a:prstGeom>
              <a:ln w="139700" cap="sq" cmpd="sng">
                <a:solidFill>
                  <a:srgbClr val="00FF00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sp>
          <p:sp>
            <p:nvSpPr>
              <p:cNvPr id="12303" name="Rectangle 16"/>
              <p:cNvSpPr/>
              <p:nvPr/>
            </p:nvSpPr>
            <p:spPr>
              <a:xfrm>
                <a:off x="2976" y="792"/>
                <a:ext cx="1776" cy="620"/>
              </a:xfrm>
              <a:prstGeom prst="rect">
                <a:avLst/>
              </a:prstGeom>
              <a:noFill/>
              <a:ln w="38100" cap="sq" cmpd="sng">
                <a:solidFill>
                  <a:srgbClr val="66FF33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/>
                <a:r>
                  <a:rPr lang="en-US" altLang="zh-CN" b="1" dirty="0">
                    <a:solidFill>
                      <a:srgbClr val="FF3300"/>
                    </a:solidFill>
                    <a:latin typeface="Century Gothic" panose="020B0502020202020204" pitchFamily="34" charset="0"/>
                    <a:ea typeface="Arial Unicode MS" pitchFamily="34" charset="-122"/>
                  </a:rPr>
                  <a:t>mathematical models</a:t>
                </a:r>
                <a:endParaRPr lang="en-US" altLang="zh-CN" b="1" dirty="0">
                  <a:solidFill>
                    <a:srgbClr val="FF3300"/>
                  </a:solidFill>
                  <a:latin typeface="Century Gothic" panose="020B0502020202020204" pitchFamily="34" charset="0"/>
                  <a:ea typeface="Arial Unicode MS" pitchFamily="34" charset="-122"/>
                </a:endParaRPr>
              </a:p>
            </p:txBody>
          </p:sp>
          <p:sp>
            <p:nvSpPr>
              <p:cNvPr id="12304" name="Rectangle 17"/>
              <p:cNvSpPr/>
              <p:nvPr/>
            </p:nvSpPr>
            <p:spPr>
              <a:xfrm>
                <a:off x="2854" y="2586"/>
                <a:ext cx="962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3333CC"/>
                    </a:solidFill>
                    <a:latin typeface="Times New Roman" panose="02020603050405020304" pitchFamily="18" charset="0"/>
                    <a:ea typeface="Arial Unicode MS" pitchFamily="34" charset="-122"/>
                  </a:rPr>
                  <a:t>program</a:t>
                </a:r>
                <a:endParaRPr lang="en-US" altLang="zh-CN" b="1" dirty="0">
                  <a:solidFill>
                    <a:srgbClr val="3333CC"/>
                  </a:solidFill>
                  <a:latin typeface="Times New Roman" panose="02020603050405020304" pitchFamily="18" charset="0"/>
                  <a:ea typeface="Arial Unicode MS" pitchFamily="34" charset="-122"/>
                </a:endParaRPr>
              </a:p>
            </p:txBody>
          </p:sp>
          <p:sp>
            <p:nvSpPr>
              <p:cNvPr id="12305" name="AutoShape 18"/>
              <p:cNvSpPr/>
              <p:nvPr/>
            </p:nvSpPr>
            <p:spPr>
              <a:xfrm rot="10037117">
                <a:off x="3408" y="2808"/>
                <a:ext cx="528" cy="282"/>
              </a:xfrm>
              <a:custGeom>
                <a:avLst/>
                <a:gdLst/>
                <a:ahLst/>
                <a:cxnLst>
                  <a:cxn ang="17694720">
                    <a:pos x="0" y="0"/>
                  </a:cxn>
                  <a:cxn ang="5898240">
                    <a:pos x="0" y="0"/>
                  </a:cxn>
                  <a:cxn ang="5898240">
                    <a:pos x="0" y="0"/>
                  </a:cxn>
                  <a:cxn ang="0">
                    <a:pos x="0" y="0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4930" y="0"/>
                    </a:lnTo>
                    <a:lnTo>
                      <a:pt x="14930" y="3644"/>
                    </a:lnTo>
                    <a:lnTo>
                      <a:pt x="12427" y="3644"/>
                    </a:lnTo>
                    <a:cubicBezTo>
                      <a:pt x="5564" y="3644"/>
                      <a:pt x="0" y="7456"/>
                      <a:pt x="0" y="12158"/>
                    </a:cubicBezTo>
                    <a:lnTo>
                      <a:pt x="0" y="21600"/>
                    </a:lnTo>
                    <a:lnTo>
                      <a:pt x="4978" y="21600"/>
                    </a:lnTo>
                    <a:lnTo>
                      <a:pt x="4978" y="12158"/>
                    </a:lnTo>
                    <a:cubicBezTo>
                      <a:pt x="4978" y="10145"/>
                      <a:pt x="8313" y="8514"/>
                      <a:pt x="12427" y="8514"/>
                    </a:cubicBezTo>
                    <a:lnTo>
                      <a:pt x="14930" y="8514"/>
                    </a:lnTo>
                    <a:lnTo>
                      <a:pt x="14930" y="12158"/>
                    </a:lnTo>
                    <a:lnTo>
                      <a:pt x="21600" y="6079"/>
                    </a:lnTo>
                    <a:close/>
                  </a:path>
                </a:pathLst>
              </a:custGeom>
              <a:solidFill>
                <a:srgbClr val="00FF00"/>
              </a:solidFill>
              <a:ln w="1270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306" name="AutoShape 19"/>
              <p:cNvSpPr/>
              <p:nvPr/>
            </p:nvSpPr>
            <p:spPr>
              <a:xfrm rot="-6040714">
                <a:off x="1344" y="2568"/>
                <a:ext cx="528" cy="240"/>
              </a:xfrm>
              <a:custGeom>
                <a:avLst/>
                <a:gdLst/>
                <a:ahLst/>
                <a:cxnLst>
                  <a:cxn ang="17694720">
                    <a:pos x="0" y="0"/>
                  </a:cxn>
                  <a:cxn ang="5898240">
                    <a:pos x="0" y="0"/>
                  </a:cxn>
                  <a:cxn ang="5898240">
                    <a:pos x="0" y="0"/>
                  </a:cxn>
                  <a:cxn ang="0">
                    <a:pos x="0" y="0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3930" y="0"/>
                    </a:lnTo>
                    <a:lnTo>
                      <a:pt x="13930" y="2751"/>
                    </a:lnTo>
                    <a:lnTo>
                      <a:pt x="12427" y="2751"/>
                    </a:lnTo>
                    <a:cubicBezTo>
                      <a:pt x="5564" y="2751"/>
                      <a:pt x="0" y="6963"/>
                      <a:pt x="0" y="12158"/>
                    </a:cubicBezTo>
                    <a:lnTo>
                      <a:pt x="0" y="21600"/>
                    </a:lnTo>
                    <a:lnTo>
                      <a:pt x="6803" y="21600"/>
                    </a:lnTo>
                    <a:lnTo>
                      <a:pt x="6803" y="12158"/>
                    </a:lnTo>
                    <a:cubicBezTo>
                      <a:pt x="6803" y="10639"/>
                      <a:pt x="9321" y="9407"/>
                      <a:pt x="12427" y="9407"/>
                    </a:cubicBezTo>
                    <a:lnTo>
                      <a:pt x="13930" y="9407"/>
                    </a:lnTo>
                    <a:lnTo>
                      <a:pt x="13930" y="12158"/>
                    </a:lnTo>
                    <a:lnTo>
                      <a:pt x="21600" y="6079"/>
                    </a:lnTo>
                    <a:close/>
                  </a:path>
                </a:pathLst>
              </a:custGeom>
              <a:solidFill>
                <a:srgbClr val="00FF00"/>
              </a:solidFill>
              <a:ln w="1270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307" name="Line 20"/>
              <p:cNvSpPr/>
              <p:nvPr/>
            </p:nvSpPr>
            <p:spPr>
              <a:xfrm rot="10800000">
                <a:off x="1416" y="1400"/>
                <a:ext cx="1" cy="384"/>
              </a:xfrm>
              <a:prstGeom prst="line">
                <a:avLst/>
              </a:prstGeom>
              <a:ln w="139700" cap="sq" cmpd="sng">
                <a:solidFill>
                  <a:srgbClr val="00FF00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sp>
          <p:sp>
            <p:nvSpPr>
              <p:cNvPr id="12308" name="Text Box 22"/>
              <p:cNvSpPr txBox="1"/>
              <p:nvPr/>
            </p:nvSpPr>
            <p:spPr>
              <a:xfrm>
                <a:off x="3944" y="1432"/>
                <a:ext cx="1008" cy="3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3333CC"/>
                    </a:solidFill>
                    <a:latin typeface="Times New Roman" panose="02020603050405020304" pitchFamily="18" charset="0"/>
                    <a:ea typeface="Arial Unicode MS" pitchFamily="34" charset="-122"/>
                  </a:rPr>
                  <a:t>analyze</a:t>
                </a:r>
                <a:endParaRPr lang="en-US" altLang="zh-CN" sz="800" b="1" dirty="0">
                  <a:solidFill>
                    <a:srgbClr val="3333CC"/>
                  </a:solidFill>
                  <a:latin typeface="Times New Roman" panose="02020603050405020304" pitchFamily="18" charset="0"/>
                  <a:ea typeface="Arial Unicode MS" pitchFamily="34" charset="-122"/>
                </a:endParaRPr>
              </a:p>
            </p:txBody>
          </p:sp>
          <p:sp>
            <p:nvSpPr>
              <p:cNvPr id="12309" name="Rectangle 23"/>
              <p:cNvSpPr/>
              <p:nvPr/>
            </p:nvSpPr>
            <p:spPr>
              <a:xfrm>
                <a:off x="576" y="2616"/>
                <a:ext cx="925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3333CC"/>
                    </a:solidFill>
                    <a:latin typeface="Times New Roman" panose="02020603050405020304" pitchFamily="18" charset="0"/>
                    <a:ea typeface="Arial Unicode MS" pitchFamily="34" charset="-122"/>
                  </a:rPr>
                  <a:t>simulate</a:t>
                </a:r>
                <a:endParaRPr lang="en-US" altLang="zh-CN" b="1" dirty="0">
                  <a:solidFill>
                    <a:srgbClr val="3333CC"/>
                  </a:solidFill>
                  <a:latin typeface="Times New Roman" panose="02020603050405020304" pitchFamily="18" charset="0"/>
                  <a:ea typeface="Arial Unicode MS" pitchFamily="34" charset="-122"/>
                </a:endParaRPr>
              </a:p>
            </p:txBody>
          </p:sp>
          <p:sp>
            <p:nvSpPr>
              <p:cNvPr id="12310" name="Rectangle 24"/>
              <p:cNvSpPr/>
              <p:nvPr/>
            </p:nvSpPr>
            <p:spPr>
              <a:xfrm>
                <a:off x="400" y="1488"/>
                <a:ext cx="974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3333CC"/>
                    </a:solidFill>
                    <a:latin typeface="Times New Roman" panose="02020603050405020304" pitchFamily="18" charset="0"/>
                    <a:ea typeface="Arial Unicode MS" pitchFamily="34" charset="-122"/>
                  </a:rPr>
                  <a:t>interpret</a:t>
                </a:r>
                <a:endParaRPr lang="en-US" altLang="zh-CN" b="1" dirty="0">
                  <a:solidFill>
                    <a:srgbClr val="3333CC"/>
                  </a:solidFill>
                  <a:latin typeface="Times New Roman" panose="02020603050405020304" pitchFamily="18" charset="0"/>
                  <a:ea typeface="Arial Unicode MS" pitchFamily="34" charset="-122"/>
                </a:endParaRPr>
              </a:p>
            </p:txBody>
          </p:sp>
        </p:grpSp>
        <p:sp>
          <p:nvSpPr>
            <p:cNvPr id="12313" name="Rectangle 25"/>
            <p:cNvSpPr/>
            <p:nvPr/>
          </p:nvSpPr>
          <p:spPr>
            <a:xfrm>
              <a:off x="2208" y="1560"/>
              <a:ext cx="113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endPara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</p:grpSp>
      <p:sp>
        <p:nvSpPr>
          <p:cNvPr id="5124" name="WordArt 33"/>
          <p:cNvSpPr>
            <a:spLocks noTextEdit="1"/>
          </p:cNvSpPr>
          <p:nvPr/>
        </p:nvSpPr>
        <p:spPr>
          <a:xfrm>
            <a:off x="1177925" y="333375"/>
            <a:ext cx="5553075" cy="6556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324"/>
              </a:avLst>
            </a:prstTxWarp>
            <a:normAutofit fontScale="60000"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400" b="1" i="0" u="none" strike="noStrike" kern="1200" cap="none" spc="0" normalizeH="0" baseline="0" noProof="1">
                <a:ln w="19050" cap="sq" cmpd="sng">
                  <a:solidFill>
                    <a:srgbClr val="FF99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TECHMath" charset="0"/>
                <a:ea typeface="TECHMath" charset="0"/>
                <a:cs typeface="+mn-cs"/>
              </a:rPr>
              <a:t>numerical analysis is important</a:t>
            </a:r>
            <a:endParaRPr kumimoji="0" lang="en-US" altLang="zh-CN" sz="4400" b="1" i="0" u="none" strike="noStrike" kern="1200" cap="none" spc="0" normalizeH="0" baseline="0" noProof="1">
              <a:ln w="1905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35921" dir="2699999" algn="ctr" rotWithShape="0">
                  <a:srgbClr val="990000"/>
                </a:outerShdw>
              </a:effectLst>
              <a:latin typeface="TECHMath" charset="0"/>
              <a:ea typeface="TECHMath" charset="0"/>
              <a:cs typeface="+mn-cs"/>
            </a:endParaRPr>
          </a:p>
        </p:txBody>
      </p:sp>
      <p:sp>
        <p:nvSpPr>
          <p:cNvPr id="127011" name="Text Box 35"/>
          <p:cNvSpPr txBox="1">
            <a:spLocks noChangeArrowheads="1"/>
          </p:cNvSpPr>
          <p:nvPr/>
        </p:nvSpPr>
        <p:spPr bwMode="auto">
          <a:xfrm>
            <a:off x="5343778" y="4403076"/>
            <a:ext cx="3617309" cy="521970"/>
          </a:xfrm>
          <a:prstGeom prst="rect">
            <a:avLst/>
          </a:prstGeom>
          <a:solidFill>
            <a:srgbClr val="99FF99"/>
          </a:solidFill>
          <a:ln w="38100" cap="sq" cmpd="dbl">
            <a:solidFill>
              <a:schemeClr val="hlink"/>
            </a:solidFill>
            <a:miter lim="800000"/>
          </a:ln>
          <a:effectLst/>
          <a:scene3d>
            <a:camera prst="perspectiveRelaxedModerately"/>
            <a:lightRig rig="threePt" dir="t"/>
          </a:scene3d>
          <a:sp3d>
            <a:bevelT prst="relaxedInset"/>
          </a:sp3d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Arial Unicode MS" pitchFamily="34" charset="-122"/>
              </a:rPr>
              <a:t>Algorithm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74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09600" y="1600200"/>
            <a:ext cx="8066088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★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To give an introduction to modern approximating  techniques;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★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To explain how, why, and when algorithm can be expected to work; 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★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To provide a firm basis for future study of  numerical analysis and computing science .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147" name="WordArt 3"/>
          <p:cNvSpPr>
            <a:spLocks noTextEdit="1"/>
          </p:cNvSpPr>
          <p:nvPr/>
        </p:nvSpPr>
        <p:spPr>
          <a:xfrm>
            <a:off x="1512888" y="514350"/>
            <a:ext cx="5834063" cy="5889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509"/>
              </a:avLst>
            </a:prstTxWarp>
            <a:normAutofit fontScale="60000"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kern="1200" cap="none" spc="0" normalizeH="0" baseline="0" noProof="1">
                <a:ln w="19050" cap="sq" cmpd="sng">
                  <a:solidFill>
                    <a:srgbClr val="FF99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TECHMath" charset="0"/>
                <a:ea typeface="TECHMath" charset="0"/>
                <a:cs typeface="+mn-cs"/>
              </a:rPr>
              <a:t>Purpose</a:t>
            </a:r>
            <a:r>
              <a:rPr kumimoji="0" lang="en-US" altLang="zh-CN" sz="4400" b="1" i="0" u="none" strike="noStrike" kern="1200" cap="none" spc="0" normalizeH="0" baseline="0" noProof="1">
                <a:ln w="19050" cap="sq" cmpd="sng">
                  <a:solidFill>
                    <a:srgbClr val="FF99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TECHMath" charset="0"/>
                <a:ea typeface="TECHMath" charset="0"/>
                <a:cs typeface="+mn-cs"/>
              </a:rPr>
              <a:t> of numerical annalysis</a:t>
            </a:r>
            <a:endParaRPr kumimoji="0" lang="en-US" altLang="zh-CN" sz="4400" b="1" i="0" u="none" strike="noStrike" kern="1200" cap="none" spc="0" normalizeH="0" baseline="0" noProof="1">
              <a:ln w="1905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35921" dir="2699999" algn="ctr" rotWithShape="0">
                  <a:srgbClr val="990000"/>
                </a:outerShdw>
              </a:effectLst>
              <a:latin typeface="TECHMath" charset="0"/>
              <a:ea typeface="TECHMath" charset="0"/>
              <a:cs typeface="+mn-cs"/>
            </a:endParaRPr>
          </a:p>
        </p:txBody>
      </p:sp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14337" name="Object 1043"/>
          <p:cNvGraphicFramePr>
            <a:graphicFrameLocks noChangeAspect="1"/>
          </p:cNvGraphicFramePr>
          <p:nvPr/>
        </p:nvGraphicFramePr>
        <p:xfrm>
          <a:off x="3884613" y="103188"/>
          <a:ext cx="155098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962025" imgH="733425" progId="MS_ClipArt_Gallery.2">
                  <p:embed/>
                </p:oleObj>
              </mc:Choice>
              <mc:Fallback>
                <p:oleObj name="" r:id="rId1" imgW="962025" imgH="733425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84613" y="103188"/>
                        <a:ext cx="1550987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8" name="Text Box 1045"/>
          <p:cNvSpPr txBox="1"/>
          <p:nvPr/>
        </p:nvSpPr>
        <p:spPr>
          <a:xfrm>
            <a:off x="138113" y="1268413"/>
            <a:ext cx="8610600" cy="489426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《</a:t>
            </a:r>
            <a:r>
              <a:rPr lang="zh-CN" altLang="en-US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数值分析</a:t>
            </a: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》  </a:t>
            </a: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李庆扬，王能超等，华中科技大学出版社</a:t>
            </a:r>
            <a:endParaRPr lang="zh-CN" altLang="en-US" sz="2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8121D"/>
                </a:solidFill>
                <a:latin typeface="Franklin Gothic Medium" panose="020B0603020102020204" pitchFamily="34" charset="0"/>
                <a:ea typeface="黑体" panose="02010609060101010101" pitchFamily="49" charset="-122"/>
              </a:rPr>
              <a:t>《</a:t>
            </a:r>
            <a:r>
              <a:rPr lang="zh-CN" altLang="en-US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数值计算引论</a:t>
            </a: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》</a:t>
            </a: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白峰杉，高等教育出版社</a:t>
            </a:r>
            <a:endParaRPr lang="zh-CN" altLang="en-US" sz="2400" b="1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《</a:t>
            </a:r>
            <a:r>
              <a:rPr lang="zh-CN" altLang="en-US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计算方法</a:t>
            </a: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》</a:t>
            </a: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王能超，高等教育出版社</a:t>
            </a:r>
            <a:endParaRPr lang="zh-CN" altLang="en-US" sz="2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《</a:t>
            </a:r>
            <a:r>
              <a:rPr lang="zh-CN" altLang="en-US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数值分析</a:t>
            </a: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》  </a:t>
            </a: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孙志忠，袁慰平等，东南大学出版社</a:t>
            </a:r>
            <a:endParaRPr lang="zh-CN" altLang="en-US" sz="2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《</a:t>
            </a:r>
            <a:r>
              <a:rPr lang="zh-CN" altLang="en-US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数值分析与实验学习指导</a:t>
            </a: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》</a:t>
            </a: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蔡大用，清华大学出版社</a:t>
            </a:r>
            <a:endParaRPr lang="zh-CN" altLang="en-US" sz="2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《</a:t>
            </a:r>
            <a:r>
              <a:rPr lang="zh-CN" altLang="en-US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数值分析及其</a:t>
            </a: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MATLAB</a:t>
            </a:r>
            <a:r>
              <a:rPr lang="zh-CN" altLang="en-US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实验</a:t>
            </a: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》</a:t>
            </a: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姜建飞等，科学出版社</a:t>
            </a:r>
            <a:endParaRPr lang="zh-CN" altLang="en-US" sz="2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《Numeical Analysis》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Richard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L. Bursen</a:t>
            </a: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高等教育出版社</a:t>
            </a:r>
            <a:endParaRPr lang="en-US" altLang="zh-CN" sz="2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8121D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《Numerical Methods Using MATLAB》 </a:t>
            </a:r>
            <a:r>
              <a:rPr lang="en-US" altLang="zh-CN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英文版</a:t>
            </a:r>
            <a:r>
              <a:rPr lang="en-US" altLang="zh-CN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</a:t>
            </a: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（美</a:t>
            </a:r>
            <a:r>
              <a:rPr lang="en-US" altLang="zh-CN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John H. Mathews, </a:t>
            </a: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黄仿伦</a:t>
            </a:r>
            <a:endParaRPr lang="zh-CN" altLang="en-US" sz="2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9" name="WordArt 1049"/>
          <p:cNvSpPr>
            <a:spLocks noTextEdit="1"/>
          </p:cNvSpPr>
          <p:nvPr/>
        </p:nvSpPr>
        <p:spPr>
          <a:xfrm>
            <a:off x="815975" y="333375"/>
            <a:ext cx="2798763" cy="4921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000"/>
              </a:avLst>
            </a:prstTxWarp>
            <a:normAutofit/>
          </a:bodyPr>
          <a:p>
            <a:pPr algn="ctr"/>
            <a:r>
              <a:rPr lang="zh-CN" altLang="en-US" sz="4400" b="1">
                <a:ln w="19050" cap="sq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TECHMath" charset="0"/>
                <a:ea typeface="TECHMath" charset="0"/>
              </a:rPr>
              <a:t>References</a:t>
            </a:r>
            <a:endParaRPr lang="zh-CN" altLang="en-US" sz="4400" b="1">
              <a:ln w="1905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35921" dir="2699999" algn="ctr" rotWithShape="0">
                  <a:srgbClr val="990000"/>
                </a:outerShdw>
              </a:effectLst>
              <a:latin typeface="TECHMath" charset="0"/>
              <a:ea typeface="TECHMath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9" name="WordArt 1049"/>
          <p:cNvSpPr>
            <a:spLocks noTextEdit="1"/>
          </p:cNvSpPr>
          <p:nvPr/>
        </p:nvSpPr>
        <p:spPr>
          <a:xfrm>
            <a:off x="815975" y="333375"/>
            <a:ext cx="2798763" cy="4921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000"/>
              </a:avLst>
            </a:prstTxWarp>
            <a:normAutofit/>
          </a:bodyPr>
          <a:p>
            <a:pPr algn="ctr"/>
            <a:r>
              <a:rPr lang="zh-CN" altLang="en-US" sz="4400" b="1">
                <a:ln w="19050" cap="sq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TECHMath" charset="0"/>
                <a:ea typeface="TECHMath" charset="0"/>
              </a:rPr>
              <a:t>Reference</a:t>
            </a:r>
            <a:endParaRPr lang="zh-CN" altLang="en-US" sz="4400" b="1">
              <a:ln w="1905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35921" dir="2699999" algn="ctr" rotWithShape="0">
                  <a:srgbClr val="990000"/>
                </a:outerShdw>
              </a:effectLst>
              <a:latin typeface="TECHMath" charset="0"/>
              <a:ea typeface="TECHMath" charset="0"/>
            </a:endParaRPr>
          </a:p>
        </p:txBody>
      </p:sp>
      <p:pic>
        <p:nvPicPr>
          <p:cNvPr id="2" name="图片 1" descr="C:/Users/gaofe/AppData/Local/Temp/picturecompress_20220828103148/output_1.pn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980440"/>
            <a:ext cx="6728460" cy="571436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WordArt 3"/>
          <p:cNvSpPr>
            <a:spLocks noTextEdit="1"/>
          </p:cNvSpPr>
          <p:nvPr/>
        </p:nvSpPr>
        <p:spPr>
          <a:xfrm>
            <a:off x="2041525" y="369888"/>
            <a:ext cx="5768975" cy="1239837"/>
          </a:xfrm>
          <a:prstGeom prst="rect">
            <a:avLst/>
          </a:prstGeom>
        </p:spPr>
        <p:txBody>
          <a:bodyPr wrap="none" fromWordArt="1">
            <a:prstTxWarp prst="textArchUp">
              <a:avLst>
                <a:gd name="adj" fmla="val 10413965"/>
              </a:avLst>
            </a:prstTxWarp>
            <a:normAutofit/>
          </a:bodyPr>
          <a:p>
            <a:pPr algn="ctr"/>
            <a:r>
              <a:rPr lang="zh-CN" altLang="en-US" sz="4400" b="1">
                <a:ln w="9525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Chapter 1</a:t>
            </a:r>
            <a:endParaRPr lang="zh-CN" altLang="en-US" sz="4400" b="1">
              <a:ln w="952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362" name="WordArt 4"/>
          <p:cNvSpPr>
            <a:spLocks noTextEdit="1"/>
          </p:cNvSpPr>
          <p:nvPr/>
        </p:nvSpPr>
        <p:spPr>
          <a:xfrm>
            <a:off x="539750" y="1989138"/>
            <a:ext cx="8135938" cy="3527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718"/>
              </a:avLst>
            </a:prstTxWarp>
            <a:normAutofit/>
          </a:bodyPr>
          <a:p>
            <a:pPr algn="ctr"/>
            <a:r>
              <a:rPr lang="zh-CN" altLang="en-US" sz="4800" b="1">
                <a:ln w="12700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 charset="0"/>
                <a:ea typeface="Century" panose="02040604050505020304" charset="0"/>
              </a:rPr>
              <a:t>Some Basics for Calculus</a:t>
            </a:r>
            <a:endParaRPr lang="zh-CN" altLang="en-US" sz="4800" b="1">
              <a:ln w="12700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 charset="0"/>
              <a:ea typeface="Century" panose="02040604050505020304" charset="0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2" name="文本框 2051"/>
          <p:cNvSpPr txBox="1"/>
          <p:nvPr/>
        </p:nvSpPr>
        <p:spPr>
          <a:xfrm>
            <a:off x="827088" y="1339850"/>
            <a:ext cx="80645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let 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f(x) be a function on [a,b], and satisfies</a:t>
            </a:r>
            <a:endParaRPr lang="en-US" altLang="zh-CN" sz="2400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1" name="文本框 2050"/>
          <p:cNvSpPr txBox="1"/>
          <p:nvPr/>
        </p:nvSpPr>
        <p:spPr>
          <a:xfrm>
            <a:off x="596900" y="606425"/>
            <a:ext cx="71786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400" dirty="0">
                <a:solidFill>
                  <a:srgbClr val="E1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Theorem1</a:t>
            </a:r>
            <a:r>
              <a:rPr lang="en-US" altLang="zh-CN" sz="2400">
                <a:solidFill>
                  <a:srgbClr val="E1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.1 </a:t>
            </a:r>
            <a:r>
              <a:rPr lang="en-US" altLang="zh-CN" sz="24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(Lagrange mean value Theorem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40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6" name="文本框 2055"/>
          <p:cNvSpPr txBox="1"/>
          <p:nvPr/>
        </p:nvSpPr>
        <p:spPr>
          <a:xfrm>
            <a:off x="914400" y="1981200"/>
            <a:ext cx="5181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(i)  </a:t>
            </a:r>
            <a:r>
              <a:rPr lang="en-US" altLang="zh-CN" sz="2400" i="1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is continuous on </a:t>
            </a:r>
            <a:r>
              <a:rPr lang="zh-CN" altLang="en-US" sz="2400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400" i="1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 b</a:t>
            </a:r>
            <a:r>
              <a:rPr lang="en-US" altLang="zh-CN" sz="2400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 </a:t>
            </a:r>
            <a:endParaRPr lang="en-US" altLang="zh-CN" sz="2400" dirty="0">
              <a:solidFill>
                <a:srgbClr val="10062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60" name="文本框 2059"/>
          <p:cNvSpPr txBox="1"/>
          <p:nvPr/>
        </p:nvSpPr>
        <p:spPr>
          <a:xfrm>
            <a:off x="914400" y="2622550"/>
            <a:ext cx="5257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(ii)  </a:t>
            </a:r>
            <a:r>
              <a:rPr lang="en-US" altLang="zh-CN" sz="2400" i="1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is differentiable on </a:t>
            </a: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 b</a:t>
            </a:r>
            <a:r>
              <a:rPr lang="en-US" altLang="zh-CN" sz="2400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400" dirty="0">
              <a:solidFill>
                <a:srgbClr val="10062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70" name="对象 2069"/>
          <p:cNvGraphicFramePr/>
          <p:nvPr/>
        </p:nvGraphicFramePr>
        <p:xfrm>
          <a:off x="1403350" y="3500438"/>
          <a:ext cx="366077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098800" imgH="838200" progId="Equation.3">
                  <p:embed/>
                </p:oleObj>
              </mc:Choice>
              <mc:Fallback>
                <p:oleObj name="" r:id="rId1" imgW="3098800" imgH="838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03350" y="3500438"/>
                        <a:ext cx="3660775" cy="744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23850" y="2997200"/>
            <a:ext cx="6181725" cy="1014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Then there exists               </a:t>
            </a:r>
            <a:r>
              <a:rPr lang="en-US" altLang="zh-CN" sz="2400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such that </a:t>
            </a: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endParaRPr lang="en-US" altLang="zh-CN" sz="2400">
              <a:solidFill>
                <a:srgbClr val="10062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endParaRPr lang="en-US" altLang="zh-CN" sz="2400" dirty="0">
              <a:solidFill>
                <a:srgbClr val="10062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对象 6"/>
          <p:cNvGraphicFramePr/>
          <p:nvPr/>
        </p:nvGraphicFramePr>
        <p:xfrm>
          <a:off x="2555875" y="3089275"/>
          <a:ext cx="10604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596900" imgH="203200" progId="Equation.3">
                  <p:embed/>
                </p:oleObj>
              </mc:Choice>
              <mc:Fallback>
                <p:oleObj name="" r:id="rId3" imgW="596900" imgH="203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5875" y="3089275"/>
                        <a:ext cx="1060450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/>
      <p:bldP spid="2051" grpId="0"/>
      <p:bldP spid="2056" grpId="0"/>
      <p:bldP spid="2060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2" name="文本框 2051"/>
          <p:cNvSpPr txBox="1"/>
          <p:nvPr/>
        </p:nvSpPr>
        <p:spPr>
          <a:xfrm>
            <a:off x="827088" y="1339850"/>
            <a:ext cx="80645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let 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f(x) be a function on [a,b], and satisfies</a:t>
            </a:r>
            <a:endParaRPr lang="en-US" altLang="zh-CN" sz="2400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1" name="文本框 2050"/>
          <p:cNvSpPr txBox="1"/>
          <p:nvPr/>
        </p:nvSpPr>
        <p:spPr>
          <a:xfrm>
            <a:off x="596900" y="606425"/>
            <a:ext cx="71786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400" dirty="0">
                <a:solidFill>
                  <a:srgbClr val="E1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Theorem1</a:t>
            </a:r>
            <a:r>
              <a:rPr lang="en-US" altLang="zh-CN" sz="2400">
                <a:solidFill>
                  <a:srgbClr val="E1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.2 </a:t>
            </a:r>
            <a:r>
              <a:rPr lang="en-US" altLang="zh-CN" sz="24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(Rolle Theorem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40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6" name="文本框 2055"/>
          <p:cNvSpPr txBox="1"/>
          <p:nvPr/>
        </p:nvSpPr>
        <p:spPr>
          <a:xfrm>
            <a:off x="914400" y="1981200"/>
            <a:ext cx="61055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(i)  </a:t>
            </a:r>
            <a:r>
              <a:rPr lang="en-US" altLang="zh-CN" sz="2400" i="1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is continuous on </a:t>
            </a:r>
            <a:r>
              <a:rPr lang="zh-CN" altLang="en-US" sz="2400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400" i="1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 b</a:t>
            </a:r>
            <a:r>
              <a:rPr lang="en-US" altLang="zh-CN" sz="2400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 and </a:t>
            </a:r>
            <a:r>
              <a:rPr lang="en-US" altLang="zh-CN" sz="2400" i="1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f(a)=f(b)</a:t>
            </a:r>
            <a:r>
              <a:rPr lang="en-US" altLang="zh-CN" sz="2400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 dirty="0">
              <a:solidFill>
                <a:srgbClr val="10062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60" name="文本框 2059"/>
          <p:cNvSpPr txBox="1"/>
          <p:nvPr/>
        </p:nvSpPr>
        <p:spPr>
          <a:xfrm>
            <a:off x="900113" y="2492375"/>
            <a:ext cx="5257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(ii)  </a:t>
            </a:r>
            <a:r>
              <a:rPr lang="en-US" altLang="zh-CN" sz="2400" i="1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is differentiable on </a:t>
            </a: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 b</a:t>
            </a:r>
            <a:r>
              <a:rPr lang="en-US" altLang="zh-CN" sz="2400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400" dirty="0">
              <a:solidFill>
                <a:srgbClr val="10062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950" y="3114675"/>
            <a:ext cx="6451600" cy="1016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Then there exists               </a:t>
            </a:r>
            <a:r>
              <a:rPr lang="en-US" altLang="zh-CN" sz="2400" dirty="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such that </a:t>
            </a:r>
            <a:r>
              <a:rPr lang="en-US" altLang="zh-CN" sz="2400">
                <a:solidFill>
                  <a:srgbClr val="10062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endParaRPr lang="en-US" altLang="zh-CN" sz="2400">
              <a:solidFill>
                <a:srgbClr val="10062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endParaRPr lang="en-US" altLang="zh-CN" sz="2400" dirty="0">
              <a:solidFill>
                <a:srgbClr val="10062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对象 6"/>
          <p:cNvGraphicFramePr/>
          <p:nvPr/>
        </p:nvGraphicFramePr>
        <p:xfrm>
          <a:off x="2339975" y="3213100"/>
          <a:ext cx="106045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596900" imgH="203200" progId="Equation.3">
                  <p:embed/>
                </p:oleObj>
              </mc:Choice>
              <mc:Fallback>
                <p:oleObj name="" r:id="rId1" imgW="596900" imgH="2032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39975" y="3213100"/>
                        <a:ext cx="1060450" cy="334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4716463" y="3213100"/>
          <a:ext cx="1036637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584200" imgH="203200" progId="Equation.3">
                  <p:embed/>
                </p:oleObj>
              </mc:Choice>
              <mc:Fallback>
                <p:oleObj name="" r:id="rId3" imgW="584200" imgH="2032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16463" y="3213100"/>
                        <a:ext cx="1036637" cy="334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/>
      <p:bldP spid="2051" grpId="0"/>
      <p:bldP spid="2056" grpId="0"/>
      <p:bldP spid="2060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4" name="图片 2"/>
          <p:cNvPicPr>
            <a:picLocks noChangeAspect="1" noChangeArrowheads="1"/>
          </p:cNvPicPr>
          <p:nvPr/>
        </p:nvPicPr>
        <p:blipFill>
          <a:blip r:embed="rId1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74661" y="211138"/>
            <a:ext cx="4519613" cy="2620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994275" y="2392363"/>
            <a:ext cx="3787775" cy="3311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83" name="Object 7"/>
          <p:cNvGraphicFramePr>
            <a:graphicFrameLocks noChangeAspect="1"/>
          </p:cNvGraphicFramePr>
          <p:nvPr/>
        </p:nvGraphicFramePr>
        <p:xfrm>
          <a:off x="2033588" y="2157413"/>
          <a:ext cx="3238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114300" imgH="139700" progId="Equation.DSMT4">
                  <p:embed/>
                </p:oleObj>
              </mc:Choice>
              <mc:Fallback>
                <p:oleObj name="" r:id="rId3" imgW="114300" imgH="1397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33588" y="2157413"/>
                        <a:ext cx="323850" cy="471487"/>
                      </a:xfrm>
                      <a:prstGeom prst="rect">
                        <a:avLst/>
                      </a:prstGeom>
                      <a:solidFill>
                        <a:srgbClr val="F4F4F4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6283325" y="4703763"/>
          <a:ext cx="3270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114300" imgH="139700" progId="Equation.DSMT4">
                  <p:embed/>
                </p:oleObj>
              </mc:Choice>
              <mc:Fallback>
                <p:oleObj name="" r:id="rId5" imgW="114300" imgH="1397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83325" y="4703763"/>
                        <a:ext cx="327025" cy="476250"/>
                      </a:xfrm>
                      <a:prstGeom prst="rect">
                        <a:avLst/>
                      </a:prstGeom>
                      <a:solidFill>
                        <a:srgbClr val="F4F4F4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矩形 7"/>
          <p:cNvSpPr/>
          <p:nvPr/>
        </p:nvSpPr>
        <p:spPr>
          <a:xfrm>
            <a:off x="5148263" y="211138"/>
            <a:ext cx="1511300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itchFamily="34" charset="-122"/>
              </a:rPr>
              <a:t>Th 1.1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35375" y="3644900"/>
            <a:ext cx="1512888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itchFamily="34" charset="-122"/>
              </a:rPr>
              <a:t>Th 1.2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矩形 1"/>
          <p:cNvSpPr/>
          <p:nvPr/>
        </p:nvSpPr>
        <p:spPr>
          <a:xfrm>
            <a:off x="179388" y="115888"/>
            <a:ext cx="1512887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itchFamily="34" charset="-122"/>
              </a:rPr>
              <a:t>Th 1.3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1506" name="Object 11"/>
          <p:cNvGraphicFramePr>
            <a:graphicFrameLocks noChangeAspect="1"/>
          </p:cNvGraphicFramePr>
          <p:nvPr/>
        </p:nvGraphicFramePr>
        <p:xfrm>
          <a:off x="250825" y="639763"/>
          <a:ext cx="5937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302895" imgH="148590" progId="Equation.DSMT4">
                  <p:embed/>
                </p:oleObj>
              </mc:Choice>
              <mc:Fallback>
                <p:oleObj name="" r:id="rId1" imgW="302895" imgH="14859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825" y="639763"/>
                        <a:ext cx="593725" cy="352425"/>
                      </a:xfrm>
                      <a:prstGeom prst="rect">
                        <a:avLst/>
                      </a:prstGeom>
                      <a:solidFill>
                        <a:srgbClr val="FFEBC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1187450" y="212725"/>
          <a:ext cx="33845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752600" imgH="228600" progId="Equation.DSMT4">
                  <p:embed/>
                </p:oleObj>
              </mc:Choice>
              <mc:Fallback>
                <p:oleObj name="" r:id="rId3" imgW="1752600" imgH="2286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450" y="212725"/>
                        <a:ext cx="3384550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4992688" y="196850"/>
          <a:ext cx="13557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5" imgW="677545" imgH="193040" progId="Equation.DSMT4">
                  <p:embed/>
                </p:oleObj>
              </mc:Choice>
              <mc:Fallback>
                <p:oleObj name="" r:id="rId5" imgW="677545" imgH="19304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92688" y="196850"/>
                        <a:ext cx="135572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770688" y="209550"/>
          <a:ext cx="209391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7" imgW="1096010" imgH="170815" progId="Equation.DSMT4">
                  <p:embed/>
                </p:oleObj>
              </mc:Choice>
              <mc:Fallback>
                <p:oleObj name="" r:id="rId7" imgW="1096010" imgH="170815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70688" y="209550"/>
                        <a:ext cx="2093912" cy="357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168400" y="684213"/>
          <a:ext cx="6461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9" imgW="160020" imgH="127000" progId="Equation.DSMT4">
                  <p:embed/>
                </p:oleObj>
              </mc:Choice>
              <mc:Fallback>
                <p:oleObj name="" r:id="rId9" imgW="160020" imgH="1270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68400" y="684213"/>
                        <a:ext cx="646113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/>
        </p:nvGraphicFramePr>
        <p:xfrm>
          <a:off x="1763713" y="693738"/>
          <a:ext cx="26463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1" imgW="1162050" imgH="170815" progId="Equation.DSMT4">
                  <p:embed/>
                </p:oleObj>
              </mc:Choice>
              <mc:Fallback>
                <p:oleObj name="" r:id="rId11" imgW="1162050" imgH="170815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63713" y="693738"/>
                        <a:ext cx="2646362" cy="390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/>
          <p:cNvGraphicFramePr>
            <a:graphicFrameLocks noChangeAspect="1"/>
          </p:cNvGraphicFramePr>
          <p:nvPr/>
        </p:nvGraphicFramePr>
        <p:xfrm>
          <a:off x="1055688" y="1677988"/>
          <a:ext cx="72358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3" imgW="4787900" imgH="228600" progId="Equation.DSMT4">
                  <p:embed/>
                </p:oleObj>
              </mc:Choice>
              <mc:Fallback>
                <p:oleObj name="" r:id="rId13" imgW="4787900" imgH="2286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55688" y="1677988"/>
                        <a:ext cx="7235825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/>
          <p:cNvGraphicFramePr>
            <a:graphicFrameLocks noChangeAspect="1"/>
          </p:cNvGraphicFramePr>
          <p:nvPr/>
        </p:nvGraphicFramePr>
        <p:xfrm>
          <a:off x="2195513" y="2182813"/>
          <a:ext cx="29067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5" imgW="1459865" imgH="193040" progId="Equation.DSMT4">
                  <p:embed/>
                </p:oleObj>
              </mc:Choice>
              <mc:Fallback>
                <p:oleObj name="" r:id="rId15" imgW="1459865" imgH="19304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95513" y="2182813"/>
                        <a:ext cx="2906712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1"/>
          <p:cNvGraphicFramePr>
            <a:graphicFrameLocks noChangeAspect="1"/>
          </p:cNvGraphicFramePr>
          <p:nvPr/>
        </p:nvGraphicFramePr>
        <p:xfrm>
          <a:off x="984250" y="2689225"/>
          <a:ext cx="4241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7" imgW="2131695" imgH="193040" progId="Equation.DSMT4">
                  <p:embed/>
                </p:oleObj>
              </mc:Choice>
              <mc:Fallback>
                <p:oleObj name="" r:id="rId17" imgW="2131695" imgH="19304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84250" y="2689225"/>
                        <a:ext cx="42418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1"/>
          <p:cNvGraphicFramePr>
            <a:graphicFrameLocks noChangeAspect="1"/>
          </p:cNvGraphicFramePr>
          <p:nvPr/>
        </p:nvGraphicFramePr>
        <p:xfrm>
          <a:off x="6288088" y="241300"/>
          <a:ext cx="4826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9" imgW="236855" imgH="170815" progId="Equation.DSMT4">
                  <p:embed/>
                </p:oleObj>
              </mc:Choice>
              <mc:Fallback>
                <p:oleObj name="" r:id="rId19" imgW="236855" imgH="170815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288088" y="241300"/>
                        <a:ext cx="4826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/>
          <p:cNvGraphicFramePr>
            <a:graphicFrameLocks noChangeAspect="1"/>
          </p:cNvGraphicFramePr>
          <p:nvPr/>
        </p:nvGraphicFramePr>
        <p:xfrm>
          <a:off x="4554538" y="312738"/>
          <a:ext cx="438150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21" imgW="214630" imgH="137795" progId="Equation.DSMT4">
                  <p:embed/>
                </p:oleObj>
              </mc:Choice>
              <mc:Fallback>
                <p:oleObj name="" r:id="rId21" imgW="214630" imgH="137795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54538" y="312738"/>
                        <a:ext cx="438150" cy="303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/>
          <p:cNvGraphicFramePr>
            <a:graphicFrameLocks noChangeAspect="1"/>
          </p:cNvGraphicFramePr>
          <p:nvPr/>
        </p:nvGraphicFramePr>
        <p:xfrm>
          <a:off x="179388" y="3213100"/>
          <a:ext cx="55768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23" imgW="2803525" imgH="193040" progId="Equation.DSMT4">
                  <p:embed/>
                </p:oleObj>
              </mc:Choice>
              <mc:Fallback>
                <p:oleObj name="" r:id="rId23" imgW="2803525" imgH="19304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79388" y="3213100"/>
                        <a:ext cx="5576887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1"/>
          <p:cNvGraphicFramePr>
            <a:graphicFrameLocks noChangeAspect="1"/>
          </p:cNvGraphicFramePr>
          <p:nvPr/>
        </p:nvGraphicFramePr>
        <p:xfrm>
          <a:off x="2605088" y="3825875"/>
          <a:ext cx="13525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25" imgW="634365" imgH="203200" progId="Equation.DSMT4">
                  <p:embed/>
                </p:oleObj>
              </mc:Choice>
              <mc:Fallback>
                <p:oleObj name="" r:id="rId25" imgW="634365" imgH="2032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605088" y="3825875"/>
                        <a:ext cx="135255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1"/>
          <p:cNvGraphicFramePr>
            <a:graphicFrameLocks noChangeAspect="1"/>
          </p:cNvGraphicFramePr>
          <p:nvPr/>
        </p:nvGraphicFramePr>
        <p:xfrm>
          <a:off x="984250" y="4305300"/>
          <a:ext cx="30829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27" imgW="1548130" imgH="193040" progId="Equation.DSMT4">
                  <p:embed/>
                </p:oleObj>
              </mc:Choice>
              <mc:Fallback>
                <p:oleObj name="" r:id="rId27" imgW="1548130" imgH="19304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84250" y="4305300"/>
                        <a:ext cx="308292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0" name="Object 11"/>
          <p:cNvGraphicFramePr>
            <a:graphicFrameLocks noChangeAspect="1"/>
          </p:cNvGraphicFramePr>
          <p:nvPr/>
        </p:nvGraphicFramePr>
        <p:xfrm>
          <a:off x="107950" y="1196975"/>
          <a:ext cx="965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29" imgW="391160" imgH="148590" progId="Equation.DSMT4">
                  <p:embed/>
                </p:oleObj>
              </mc:Choice>
              <mc:Fallback>
                <p:oleObj name="" r:id="rId29" imgW="391160" imgH="14859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7950" y="1196975"/>
                        <a:ext cx="965200" cy="400050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1" name="文本框 1"/>
          <p:cNvSpPr txBox="1"/>
          <p:nvPr/>
        </p:nvSpPr>
        <p:spPr>
          <a:xfrm>
            <a:off x="595313" y="5064125"/>
            <a:ext cx="7504112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>
                <a:solidFill>
                  <a:srgbClr val="000000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Genaralized Rolle Theroem</a:t>
            </a:r>
            <a:endParaRPr lang="en-US" altLang="zh-CN">
              <a:solidFill>
                <a:srgbClr val="000000"/>
              </a:solidFill>
              <a:latin typeface="Franklin Gothic Medium" panose="020B0603020102020204" pitchFamily="34" charset="0"/>
              <a:ea typeface="Arial Unicode MS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矩形 8"/>
          <p:cNvSpPr/>
          <p:nvPr/>
        </p:nvSpPr>
        <p:spPr>
          <a:xfrm>
            <a:off x="250825" y="133350"/>
            <a:ext cx="15113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itchFamily="34" charset="-122"/>
              </a:rPr>
              <a:t>Th 1.7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" name="Object 11"/>
          <p:cNvGraphicFramePr>
            <a:graphicFrameLocks noChangeAspect="1"/>
          </p:cNvGraphicFramePr>
          <p:nvPr/>
        </p:nvGraphicFramePr>
        <p:xfrm>
          <a:off x="1619250" y="257175"/>
          <a:ext cx="624046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3467100" imgH="241300" progId="Equation.DSMT4">
                  <p:embed/>
                </p:oleObj>
              </mc:Choice>
              <mc:Fallback>
                <p:oleObj name="" r:id="rId1" imgW="3467100" imgH="2413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9250" y="257175"/>
                        <a:ext cx="6240463" cy="446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/>
          <p:cNvGraphicFramePr>
            <a:graphicFrameLocks noChangeAspect="1"/>
          </p:cNvGraphicFramePr>
          <p:nvPr/>
        </p:nvGraphicFramePr>
        <p:xfrm>
          <a:off x="433388" y="742950"/>
          <a:ext cx="5519737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3073400" imgH="203200" progId="Equation.DSMT4">
                  <p:embed/>
                </p:oleObj>
              </mc:Choice>
              <mc:Fallback>
                <p:oleObj name="" r:id="rId3" imgW="3073400" imgH="2032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3388" y="742950"/>
                        <a:ext cx="5519737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747713" y="1211263"/>
          <a:ext cx="24812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5" imgW="1200785" imgH="198120" progId="Equation.DSMT4">
                  <p:embed/>
                </p:oleObj>
              </mc:Choice>
              <mc:Fallback>
                <p:oleObj name="" r:id="rId5" imgW="1200785" imgH="19812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7713" y="1211263"/>
                        <a:ext cx="2481262" cy="419100"/>
                      </a:xfrm>
                      <a:prstGeom prst="rect">
                        <a:avLst/>
                      </a:prstGeom>
                      <a:solidFill>
                        <a:srgbClr val="FFF5E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3340100" y="1235075"/>
          <a:ext cx="211613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7" imgW="1024255" imgH="176530" progId="Equation.DSMT4">
                  <p:embed/>
                </p:oleObj>
              </mc:Choice>
              <mc:Fallback>
                <p:oleObj name="" r:id="rId7" imgW="1024255" imgH="17653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40100" y="1235075"/>
                        <a:ext cx="2116138" cy="373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/>
          <p:cNvGraphicFramePr>
            <a:graphicFrameLocks noChangeAspect="1"/>
          </p:cNvGraphicFramePr>
          <p:nvPr/>
        </p:nvGraphicFramePr>
        <p:xfrm>
          <a:off x="276225" y="1846263"/>
          <a:ext cx="8128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9" imgW="451485" imgH="176530" progId="Equation.DSMT4">
                  <p:embed/>
                </p:oleObj>
              </mc:Choice>
              <mc:Fallback>
                <p:oleObj name="" r:id="rId9" imgW="451485" imgH="17653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6225" y="1846263"/>
                        <a:ext cx="812800" cy="325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/>
        </p:nvGraphicFramePr>
        <p:xfrm>
          <a:off x="1323975" y="1630363"/>
          <a:ext cx="7262813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1" imgW="4043045" imgH="363855" progId="Equation.DSMT4">
                  <p:embed/>
                </p:oleObj>
              </mc:Choice>
              <mc:Fallback>
                <p:oleObj name="" r:id="rId11" imgW="4043045" imgH="363855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23975" y="1630363"/>
                        <a:ext cx="7262813" cy="668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/>
        </p:nvGraphicFramePr>
        <p:xfrm>
          <a:off x="1331913" y="2278063"/>
          <a:ext cx="3008312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3" imgW="1674495" imgH="385445" progId="Equation.DSMT4">
                  <p:embed/>
                </p:oleObj>
              </mc:Choice>
              <mc:Fallback>
                <p:oleObj name="" r:id="rId13" imgW="1674495" imgH="385445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31913" y="2278063"/>
                        <a:ext cx="3008312" cy="708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427038" y="2428875"/>
          <a:ext cx="522287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5" imgW="253365" imgH="154305" progId="Equation.DSMT4">
                  <p:embed/>
                </p:oleObj>
              </mc:Choice>
              <mc:Fallback>
                <p:oleObj name="" r:id="rId15" imgW="253365" imgH="154305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7038" y="2428875"/>
                        <a:ext cx="522287" cy="325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66725" y="3289300"/>
          <a:ext cx="370014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7" imgW="2451100" imgH="444500" progId="Equation.DSMT4">
                  <p:embed/>
                </p:oleObj>
              </mc:Choice>
              <mc:Fallback>
                <p:oleObj name="" r:id="rId17" imgW="2451100" imgH="4445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6725" y="3289300"/>
                        <a:ext cx="3700145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439738" y="4322763"/>
          <a:ext cx="25320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9" imgW="1778000" imgH="419100" progId="Equation.DSMT4">
                  <p:embed/>
                </p:oleObj>
              </mc:Choice>
              <mc:Fallback>
                <p:oleObj name="" r:id="rId19" imgW="1778000" imgH="4191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9738" y="4322763"/>
                        <a:ext cx="2532062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3606800" y="4303713"/>
          <a:ext cx="15843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21" imgW="1040765" imgH="444500" progId="Equation.DSMT4">
                  <p:embed/>
                </p:oleObj>
              </mc:Choice>
              <mc:Fallback>
                <p:oleObj name="" r:id="rId21" imgW="1040765" imgH="4445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06800" y="4303713"/>
                        <a:ext cx="1584325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2" name="Object 11"/>
          <p:cNvGraphicFramePr>
            <a:graphicFrameLocks noChangeAspect="1"/>
          </p:cNvGraphicFramePr>
          <p:nvPr/>
        </p:nvGraphicFramePr>
        <p:xfrm>
          <a:off x="1787525" y="5159375"/>
          <a:ext cx="2424113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1218565" imgH="203200" progId="Equation.DSMT4">
                  <p:embed/>
                </p:oleObj>
              </mc:Choice>
              <mc:Fallback>
                <p:oleObj name="" r:id="rId1" imgW="1218565" imgH="2032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87525" y="5159375"/>
                        <a:ext cx="2424113" cy="3413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8"/>
          <p:cNvSpPr>
            <a:spLocks noChangeArrowheads="1"/>
          </p:cNvSpPr>
          <p:nvPr/>
        </p:nvSpPr>
        <p:spPr bwMode="auto">
          <a:xfrm>
            <a:off x="109538" y="25400"/>
            <a:ext cx="3497263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Truncation Error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8"/>
          <p:cNvSpPr>
            <a:spLocks noChangeArrowheads="1"/>
          </p:cNvSpPr>
          <p:nvPr/>
        </p:nvSpPr>
        <p:spPr bwMode="auto">
          <a:xfrm>
            <a:off x="109538" y="2470150"/>
            <a:ext cx="3497263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Round-Off Error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11"/>
          <p:cNvGraphicFramePr>
            <a:graphicFrameLocks noChangeAspect="1"/>
          </p:cNvGraphicFramePr>
          <p:nvPr/>
        </p:nvGraphicFramePr>
        <p:xfrm>
          <a:off x="314325" y="444500"/>
          <a:ext cx="31083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2184400" imgH="444500" progId="Equation.DSMT4">
                  <p:embed/>
                </p:oleObj>
              </mc:Choice>
              <mc:Fallback>
                <p:oleObj name="" r:id="rId3" imgW="2184400" imgH="4445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325" y="444500"/>
                        <a:ext cx="3108325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3629025" y="463550"/>
          <a:ext cx="25320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5" imgW="1778000" imgH="419100" progId="Equation.DSMT4">
                  <p:embed/>
                </p:oleObj>
              </mc:Choice>
              <mc:Fallback>
                <p:oleObj name="" r:id="rId5" imgW="1778000" imgH="4191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29025" y="463550"/>
                        <a:ext cx="2532063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6573838" y="550863"/>
          <a:ext cx="19335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7" imgW="1358265" imgH="444500" progId="Equation.DSMT4">
                  <p:embed/>
                </p:oleObj>
              </mc:Choice>
              <mc:Fallback>
                <p:oleObj name="" r:id="rId7" imgW="1358265" imgH="4445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73838" y="550863"/>
                        <a:ext cx="1933575" cy="647700"/>
                      </a:xfrm>
                      <a:prstGeom prst="rect">
                        <a:avLst/>
                      </a:prstGeom>
                      <a:solidFill>
                        <a:srgbClr val="FFF5E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/>
          <p:cNvGraphicFramePr>
            <a:graphicFrameLocks noChangeAspect="1"/>
          </p:cNvGraphicFramePr>
          <p:nvPr/>
        </p:nvGraphicFramePr>
        <p:xfrm>
          <a:off x="249238" y="1114425"/>
          <a:ext cx="3546475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9" imgW="2462530" imgH="406400" progId="Equation.DSMT4">
                  <p:embed/>
                </p:oleObj>
              </mc:Choice>
              <mc:Fallback>
                <p:oleObj name="" r:id="rId9" imgW="2462530" imgH="4064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9238" y="1114425"/>
                        <a:ext cx="3546475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/>
        </p:nvGraphicFramePr>
        <p:xfrm>
          <a:off x="279400" y="1797050"/>
          <a:ext cx="33274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1" imgW="2311400" imgH="406400" progId="Equation.DSMT4">
                  <p:embed/>
                </p:oleObj>
              </mc:Choice>
              <mc:Fallback>
                <p:oleObj name="" r:id="rId11" imgW="2311400" imgH="4064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9400" y="1797050"/>
                        <a:ext cx="3327400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/>
        </p:nvGraphicFramePr>
        <p:xfrm>
          <a:off x="3841750" y="1760538"/>
          <a:ext cx="2324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3" imgW="1586865" imgH="406400" progId="Equation.DSMT4">
                  <p:embed/>
                </p:oleObj>
              </mc:Choice>
              <mc:Fallback>
                <p:oleObj name="" r:id="rId13" imgW="1586865" imgH="4064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41750" y="1760538"/>
                        <a:ext cx="23241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6550025" y="1797050"/>
          <a:ext cx="2449513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5" imgW="1752600" imgH="419100" progId="Equation.DSMT4">
                  <p:embed/>
                </p:oleObj>
              </mc:Choice>
              <mc:Fallback>
                <p:oleObj name="" r:id="rId15" imgW="1752600" imgH="4191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50025" y="1797050"/>
                        <a:ext cx="2449513" cy="598488"/>
                      </a:xfrm>
                      <a:prstGeom prst="rect">
                        <a:avLst/>
                      </a:prstGeom>
                      <a:solidFill>
                        <a:srgbClr val="FFF5E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970213" y="2890838"/>
          <a:ext cx="482441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7" imgW="2387600" imgH="241300" progId="Equation.DSMT4">
                  <p:embed/>
                </p:oleObj>
              </mc:Choice>
              <mc:Fallback>
                <p:oleObj name="" r:id="rId17" imgW="2387600" imgH="2413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70213" y="2890838"/>
                        <a:ext cx="4824412" cy="433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8"/>
          <p:cNvSpPr/>
          <p:nvPr/>
        </p:nvSpPr>
        <p:spPr>
          <a:xfrm>
            <a:off x="2936875" y="2454275"/>
            <a:ext cx="5202238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ea typeface="Arial Unicode MS" pitchFamily="34" charset="-122"/>
              </a:rPr>
              <a:t>Normalized Decimal Real Number</a:t>
            </a:r>
            <a:endParaRPr lang="zh-CN" altLang="en-US" sz="2000" dirty="0">
              <a:solidFill>
                <a:srgbClr val="FF00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矩形 8"/>
          <p:cNvSpPr/>
          <p:nvPr/>
        </p:nvSpPr>
        <p:spPr>
          <a:xfrm>
            <a:off x="109538" y="3271838"/>
            <a:ext cx="1912937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ea typeface="Arial Unicode MS" pitchFamily="34" charset="-122"/>
              </a:rPr>
              <a:t>chopping</a:t>
            </a:r>
            <a:endParaRPr lang="zh-CN" altLang="en-US" sz="2400" dirty="0">
              <a:solidFill>
                <a:srgbClr val="FF00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4" name="Object 11"/>
          <p:cNvGraphicFramePr>
            <a:graphicFrameLocks noChangeAspect="1"/>
          </p:cNvGraphicFramePr>
          <p:nvPr/>
        </p:nvGraphicFramePr>
        <p:xfrm>
          <a:off x="1731963" y="3384550"/>
          <a:ext cx="42179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9" imgW="2247900" imgH="241300" progId="Equation.DSMT4">
                  <p:embed/>
                </p:oleObj>
              </mc:Choice>
              <mc:Fallback>
                <p:oleObj name="" r:id="rId19" imgW="2247900" imgH="2413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731963" y="3384550"/>
                        <a:ext cx="4217987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8"/>
          <p:cNvSpPr/>
          <p:nvPr/>
        </p:nvSpPr>
        <p:spPr>
          <a:xfrm>
            <a:off x="109538" y="4100513"/>
            <a:ext cx="1912937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ea typeface="Arial Unicode MS" pitchFamily="34" charset="-122"/>
              </a:rPr>
              <a:t>rounding</a:t>
            </a:r>
            <a:endParaRPr lang="zh-CN" altLang="en-US" sz="2400" dirty="0">
              <a:solidFill>
                <a:srgbClr val="FF00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9" name="Object 11"/>
          <p:cNvGraphicFramePr>
            <a:graphicFrameLocks noChangeAspect="1"/>
          </p:cNvGraphicFramePr>
          <p:nvPr/>
        </p:nvGraphicFramePr>
        <p:xfrm>
          <a:off x="1619250" y="3846513"/>
          <a:ext cx="5832475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21" imgW="2933700" imgH="685800" progId="Equation.DSMT4">
                  <p:embed/>
                </p:oleObj>
              </mc:Choice>
              <mc:Fallback>
                <p:oleObj name="" r:id="rId21" imgW="2933700" imgH="6858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619250" y="3846513"/>
                        <a:ext cx="5832475" cy="114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/>
          <p:cNvGraphicFramePr>
            <a:graphicFrameLocks noChangeAspect="1"/>
          </p:cNvGraphicFramePr>
          <p:nvPr/>
        </p:nvGraphicFramePr>
        <p:xfrm>
          <a:off x="730250" y="5176838"/>
          <a:ext cx="106045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23" imgW="533400" imgH="190500" progId="Equation.DSMT4">
                  <p:embed/>
                </p:oleObj>
              </mc:Choice>
              <mc:Fallback>
                <p:oleObj name="" r:id="rId23" imgW="533400" imgH="1905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0250" y="5176838"/>
                        <a:ext cx="1060450" cy="3190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/>
          <p:cNvGraphicFramePr>
            <a:graphicFrameLocks noChangeAspect="1"/>
          </p:cNvGraphicFramePr>
          <p:nvPr/>
        </p:nvGraphicFramePr>
        <p:xfrm>
          <a:off x="2243138" y="5157788"/>
          <a:ext cx="17922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25" imgW="901065" imgH="203200" progId="Equation.DSMT4">
                  <p:embed/>
                </p:oleObj>
              </mc:Choice>
              <mc:Fallback>
                <p:oleObj name="" r:id="rId25" imgW="901065" imgH="2032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243138" y="5157788"/>
                        <a:ext cx="1792287" cy="341312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8"/>
          <p:cNvSpPr>
            <a:spLocks noChangeArrowheads="1"/>
          </p:cNvSpPr>
          <p:nvPr/>
        </p:nvSpPr>
        <p:spPr bwMode="auto">
          <a:xfrm>
            <a:off x="3419475" y="88900"/>
            <a:ext cx="5054600" cy="5222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Error  Analysis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1505" y="836930"/>
            <a:ext cx="8393431" cy="1383665"/>
          </a:xfrm>
          <a:prstGeom prst="rect">
            <a:avLst/>
          </a:prstGeom>
          <a:blipFill rotWithShape="0">
            <a:blip r:embed="rId1"/>
            <a:stretch>
              <a:fillRect b="-964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3" name="文本框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3260" y="2492375"/>
            <a:ext cx="8393430" cy="1383665"/>
          </a:xfrm>
          <a:prstGeom prst="rect">
            <a:avLst/>
          </a:prstGeom>
          <a:blipFill rotWithShape="0">
            <a:blip r:embed="rId2"/>
            <a:stretch>
              <a:fillRect t="-3121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24579" name="文本框 3"/>
          <p:cNvSpPr txBox="1"/>
          <p:nvPr/>
        </p:nvSpPr>
        <p:spPr>
          <a:xfrm>
            <a:off x="539750" y="4292600"/>
            <a:ext cx="8393113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 b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Notice:  </a:t>
            </a:r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</a:rPr>
              <a:t>Some times </a:t>
            </a:r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the relative error is more accurate and meaningful than absolute error </a:t>
            </a:r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</a:rPr>
              <a:t> !</a:t>
            </a:r>
            <a:endParaRPr lang="en-US" altLang="zh-CN">
              <a:solidFill>
                <a:schemeClr val="bg2"/>
              </a:solidFill>
              <a:latin typeface="Cambria Math" panose="02040503050406030204" charset="0"/>
              <a:ea typeface="Arial Unicode MS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59230" y="209550"/>
            <a:ext cx="55594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Absolute Error and Relative Error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1505" y="548640"/>
            <a:ext cx="8393431" cy="1814829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25602" name="文本框 2"/>
          <p:cNvSpPr txBox="1"/>
          <p:nvPr/>
        </p:nvSpPr>
        <p:spPr>
          <a:xfrm>
            <a:off x="684213" y="2492375"/>
            <a:ext cx="8393112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|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*--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0.5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×</a:t>
            </a:r>
            <a:r>
              <a:rPr lang="en-US" altLang="zh-CN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10</a:t>
            </a:r>
            <a:r>
              <a:rPr lang="en-US" altLang="zh-CN" i="1" baseline="30000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m-n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, or</a:t>
            </a:r>
            <a:endParaRPr lang="en-US" altLang="zh-CN">
              <a:solidFill>
                <a:schemeClr val="bg2"/>
              </a:solidFill>
              <a:latin typeface="Franklin Gothic Medium" panose="020B0603020102020204" pitchFamily="3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|(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*--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P)/p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0.5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×</a:t>
            </a:r>
            <a:r>
              <a:rPr lang="en-US" altLang="zh-CN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10</a:t>
            </a:r>
            <a:r>
              <a:rPr lang="en-US" altLang="zh-CN" i="1" baseline="30000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-n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,</a:t>
            </a:r>
            <a:endParaRPr lang="en-US" altLang="zh-CN">
              <a:solidFill>
                <a:schemeClr val="bg2"/>
              </a:solidFill>
              <a:latin typeface="Franklin Gothic Medium" panose="020B0603020102020204" pitchFamily="34" charset="0"/>
              <a:ea typeface="Arial Unicode MS" pitchFamily="34" charset="-122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1505" y="548640"/>
            <a:ext cx="8393431" cy="1814829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26626" name="文本框 2"/>
          <p:cNvSpPr txBox="1"/>
          <p:nvPr/>
        </p:nvSpPr>
        <p:spPr>
          <a:xfrm>
            <a:off x="684213" y="2492375"/>
            <a:ext cx="8393112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|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*--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0.5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×</a:t>
            </a:r>
            <a:r>
              <a:rPr lang="en-US" altLang="zh-CN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10</a:t>
            </a:r>
            <a:r>
              <a:rPr lang="en-US" altLang="zh-CN" i="1" baseline="30000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m-n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, or</a:t>
            </a:r>
            <a:endParaRPr lang="en-US" altLang="zh-CN">
              <a:solidFill>
                <a:schemeClr val="bg2"/>
              </a:solidFill>
              <a:latin typeface="Franklin Gothic Medium" panose="020B0603020102020204" pitchFamily="3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|(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*--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P)/p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0.5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×</a:t>
            </a:r>
            <a:r>
              <a:rPr lang="en-US" altLang="zh-CN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10</a:t>
            </a:r>
            <a:r>
              <a:rPr lang="en-US" altLang="zh-CN" i="1" baseline="30000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-n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,</a:t>
            </a:r>
            <a:endParaRPr lang="en-US" altLang="zh-CN">
              <a:solidFill>
                <a:schemeClr val="bg2"/>
              </a:solidFill>
              <a:latin typeface="Franklin Gothic Medium" panose="020B0603020102020204" pitchFamily="34" charset="0"/>
              <a:ea typeface="Arial Unicode MS" pitchFamily="34" charset="-122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1505" y="548640"/>
            <a:ext cx="8393431" cy="2245360"/>
          </a:xfrm>
          <a:prstGeom prst="rect">
            <a:avLst/>
          </a:prstGeom>
          <a:blipFill rotWithShape="0">
            <a:blip r:embed="rId1"/>
            <a:stretch>
              <a:fillRect b="-226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27650" name="文本框 3"/>
          <p:cNvSpPr txBox="1"/>
          <p:nvPr/>
        </p:nvSpPr>
        <p:spPr>
          <a:xfrm>
            <a:off x="755650" y="3140075"/>
            <a:ext cx="6473825" cy="1663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Solution: It is easy to varify</a:t>
            </a:r>
            <a:endParaRPr lang="en-US" altLang="zh-CN">
              <a:solidFill>
                <a:schemeClr val="bg2"/>
              </a:solidFill>
              <a:latin typeface="Franklin Gothic Medium" panose="020B0603020102020204" pitchFamily="3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--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 i="1" baseline="-25000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1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0.5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×</a:t>
            </a:r>
            <a:r>
              <a:rPr lang="en-US" altLang="zh-CN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10</a:t>
            </a:r>
            <a:r>
              <a:rPr lang="en-US" altLang="zh-CN" i="1" baseline="30000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-2</a:t>
            </a:r>
            <a:r>
              <a:rPr lang="en-US" altLang="zh-CN" i="1" baseline="-25000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,  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--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 i="1" baseline="-25000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2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0.5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×</a:t>
            </a:r>
            <a:r>
              <a:rPr lang="en-US" altLang="zh-CN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10</a:t>
            </a:r>
            <a:r>
              <a:rPr lang="en-US" altLang="zh-CN" i="1" baseline="30000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-3</a:t>
            </a:r>
            <a:endParaRPr lang="en-US" altLang="zh-CN" i="1" baseline="30000">
              <a:solidFill>
                <a:schemeClr val="bg2"/>
              </a:solidFill>
              <a:latin typeface="Arial" panose="020B0604020202020204" pitchFamily="3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endParaRPr lang="en-US" altLang="zh-CN" i="1" baseline="30000">
              <a:solidFill>
                <a:schemeClr val="bg2"/>
              </a:solidFill>
              <a:latin typeface="Arial" panose="020B0604020202020204" pitchFamily="3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--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 i="1" baseline="-25000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3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0.5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×</a:t>
            </a:r>
            <a:r>
              <a:rPr lang="en-US" altLang="zh-CN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10</a:t>
            </a:r>
            <a:r>
              <a:rPr lang="en-US" altLang="zh-CN" i="1" baseline="30000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-4</a:t>
            </a:r>
            <a:r>
              <a:rPr lang="en-US" altLang="zh-CN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, 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--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 i="1" baseline="-25000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4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0.5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×</a:t>
            </a:r>
            <a:r>
              <a:rPr lang="en-US" altLang="zh-CN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10</a:t>
            </a:r>
            <a:r>
              <a:rPr lang="en-US" altLang="zh-CN" i="1" baseline="30000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-5</a:t>
            </a:r>
            <a:endParaRPr lang="en-US" altLang="zh-CN" i="1" baseline="30000">
              <a:solidFill>
                <a:schemeClr val="bg2"/>
              </a:solidFill>
              <a:latin typeface="Arial" panose="020B0604020202020204" pitchFamily="34" charset="0"/>
              <a:ea typeface="Arial Unicode MS" pitchFamily="34" charset="-122"/>
              <a:sym typeface="宋体" panose="02010600030101010101" pitchFamily="2" charset="-122"/>
            </a:endParaRPr>
          </a:p>
        </p:txBody>
      </p:sp>
      <p:sp>
        <p:nvSpPr>
          <p:cNvPr id="27651" name="文本框 4"/>
          <p:cNvSpPr txBox="1"/>
          <p:nvPr/>
        </p:nvSpPr>
        <p:spPr>
          <a:xfrm>
            <a:off x="898525" y="5013325"/>
            <a:ext cx="64738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So the number of significant digits for </a:t>
            </a:r>
            <a:endParaRPr lang="en-US" altLang="zh-CN">
              <a:solidFill>
                <a:schemeClr val="bg2"/>
              </a:solidFill>
              <a:latin typeface="Cambria Math" panose="02040503050406030204" charset="0"/>
              <a:ea typeface="Arial Unicode MS" pitchFamily="34" charset="-122"/>
            </a:endParaRPr>
          </a:p>
          <a:p>
            <a:pPr eaLnBrk="0" hangingPunct="0"/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 i="1" baseline="-25000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1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,</a:t>
            </a:r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 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 i="1" baseline="-25000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2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, 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 i="1" baseline="-25000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3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, 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 i="1" baseline="-25000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4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are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 2,3,4,5 </a:t>
            </a:r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respectively.</a:t>
            </a:r>
            <a:endParaRPr lang="en-US" altLang="zh-CN">
              <a:solidFill>
                <a:schemeClr val="bg2"/>
              </a:solidFill>
              <a:latin typeface="Cambria Math" panose="02040503050406030204" charset="0"/>
              <a:ea typeface="Arial Unicode MS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2140" y="548640"/>
            <a:ext cx="8393431" cy="2676525"/>
          </a:xfrm>
          <a:prstGeom prst="rect">
            <a:avLst/>
          </a:prstGeom>
          <a:blipFill rotWithShape="0">
            <a:blip r:embed="rId1"/>
            <a:stretch>
              <a:fillRect b="-24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28674" name="文本框 3"/>
          <p:cNvSpPr txBox="1"/>
          <p:nvPr/>
        </p:nvSpPr>
        <p:spPr>
          <a:xfrm>
            <a:off x="539750" y="3500438"/>
            <a:ext cx="8393113" cy="267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 b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Proof: </a:t>
            </a:r>
            <a:r>
              <a:rPr lang="en-US" altLang="zh-CN" b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(a) </a:t>
            </a:r>
            <a:r>
              <a:rPr lang="en-US" altLang="zh-CN" b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since 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 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 </a:t>
            </a:r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has </a:t>
            </a:r>
            <a:r>
              <a:rPr lang="en-US" altLang="zh-CN" i="1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n</a:t>
            </a:r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 significant digits. </a:t>
            </a:r>
            <a:endParaRPr lang="en-US" altLang="zh-CN">
              <a:solidFill>
                <a:schemeClr val="bg2"/>
              </a:solidFill>
              <a:latin typeface="Cambria Math" panose="0204050305040603020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                   </a:t>
            </a:r>
            <a:r>
              <a:rPr lang="en-US" altLang="zh-CN" b="1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Thererfore,</a:t>
            </a:r>
            <a:endParaRPr lang="en-US" altLang="zh-CN">
              <a:solidFill>
                <a:schemeClr val="bg2"/>
              </a:solidFill>
              <a:latin typeface="Franklin Gothic Medium" panose="020B0603020102020204" pitchFamily="34" charset="0"/>
              <a:ea typeface="Arial Unicode MS" pitchFamily="34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|(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*--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P)/p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 [</a:t>
            </a:r>
            <a:r>
              <a:rPr lang="en-US" altLang="zh-CN" b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(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1/2)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×</a:t>
            </a:r>
            <a:r>
              <a:rPr lang="en-US" altLang="zh-CN" b="1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10</a:t>
            </a:r>
            <a:r>
              <a:rPr lang="en-US" altLang="zh-CN" b="1" i="1" baseline="30000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-n+m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]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/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(d</a:t>
            </a:r>
            <a:r>
              <a:rPr lang="en-US" altLang="zh-CN" baseline="-25000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1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×</a:t>
            </a:r>
            <a:r>
              <a:rPr lang="en-US" altLang="zh-CN" b="1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10</a:t>
            </a:r>
            <a:r>
              <a:rPr lang="en-US" altLang="zh-CN" b="1" i="1" baseline="30000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m-1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)</a:t>
            </a:r>
            <a:endParaRPr lang="en-US" altLang="zh-CN" b="1">
              <a:solidFill>
                <a:schemeClr val="bg2"/>
              </a:solidFill>
              <a:latin typeface="Arial" panose="020B0604020202020204" pitchFamily="3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 [</a:t>
            </a:r>
            <a:r>
              <a:rPr lang="en-US" altLang="zh-CN" b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(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1/2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d</a:t>
            </a:r>
            <a:r>
              <a:rPr lang="en-US" altLang="zh-CN" baseline="-25000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1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]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/</a:t>
            </a:r>
            <a:r>
              <a:rPr lang="en-US" altLang="zh-CN" b="1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10</a:t>
            </a:r>
            <a:r>
              <a:rPr lang="en-US" altLang="zh-CN" b="1" i="1" baseline="30000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-n+1</a:t>
            </a:r>
            <a:r>
              <a:rPr lang="en-US" altLang="zh-CN" b="1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.</a:t>
            </a:r>
            <a:endParaRPr lang="en-US" altLang="zh-CN" b="1" i="1">
              <a:solidFill>
                <a:schemeClr val="bg2"/>
              </a:solidFill>
              <a:latin typeface="Arial" panose="020B0604020202020204" pitchFamily="3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endParaRPr lang="en-US" altLang="zh-CN" b="1">
              <a:solidFill>
                <a:schemeClr val="bg2"/>
              </a:solidFill>
              <a:latin typeface="Arial" panose="020B0604020202020204" pitchFamily="3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endParaRPr lang="en-US" altLang="zh-CN">
              <a:solidFill>
                <a:schemeClr val="bg2"/>
              </a:solidFill>
              <a:latin typeface="Cambria Math" panose="02040503050406030204" charset="0"/>
              <a:ea typeface="Arial Unicode MS" pitchFamily="34" charset="-122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文本框 3"/>
          <p:cNvSpPr txBox="1"/>
          <p:nvPr/>
        </p:nvSpPr>
        <p:spPr>
          <a:xfrm>
            <a:off x="611505" y="692468"/>
            <a:ext cx="8393113" cy="38176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 b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(b) </a:t>
            </a:r>
            <a:r>
              <a:rPr lang="en-US" altLang="zh-CN" b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since 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 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 </a:t>
            </a:r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has </a:t>
            </a:r>
            <a:r>
              <a:rPr lang="en-US" altLang="zh-CN" i="1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n</a:t>
            </a:r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 significant digits. </a:t>
            </a:r>
            <a:endParaRPr lang="en-US" altLang="zh-CN">
              <a:solidFill>
                <a:schemeClr val="bg2"/>
              </a:solidFill>
              <a:latin typeface="Cambria Math" panose="0204050305040603020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                   </a:t>
            </a:r>
            <a:r>
              <a:rPr lang="en-US" altLang="zh-CN" b="1">
                <a:solidFill>
                  <a:schemeClr val="bg2"/>
                </a:solidFill>
                <a:latin typeface="Cambria Math" panose="02040503050406030204" charset="0"/>
                <a:ea typeface="Arial Unicode MS" pitchFamily="34" charset="-122"/>
                <a:sym typeface="宋体" panose="02010600030101010101" pitchFamily="2" charset="-122"/>
              </a:rPr>
              <a:t>Thererfore,</a:t>
            </a:r>
            <a:endParaRPr lang="en-US" altLang="zh-CN">
              <a:solidFill>
                <a:schemeClr val="bg2"/>
              </a:solidFill>
              <a:latin typeface="Franklin Gothic Medium" panose="020B0603020102020204" pitchFamily="34" charset="0"/>
              <a:ea typeface="Arial Unicode MS" pitchFamily="34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|(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*--</a:t>
            </a:r>
            <a:r>
              <a:rPr lang="en-US" altLang="zh-CN" i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P)/p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|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sym typeface="宋体" panose="02010600030101010101" pitchFamily="2" charset="-122"/>
              </a:rPr>
              <a:t>|(</a:t>
            </a:r>
            <a:r>
              <a:rPr lang="en-US" altLang="zh-CN" i="1">
                <a:solidFill>
                  <a:schemeClr val="bg2"/>
                </a:solidFill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sym typeface="宋体" panose="02010600030101010101" pitchFamily="2" charset="-122"/>
              </a:rPr>
              <a:t>*--</a:t>
            </a:r>
            <a:r>
              <a:rPr lang="en-US" altLang="zh-CN" i="1">
                <a:solidFill>
                  <a:schemeClr val="bg2"/>
                </a:solidFill>
                <a:sym typeface="宋体" panose="02010600030101010101" pitchFamily="2" charset="-122"/>
              </a:rPr>
              <a:t>P)/p</a:t>
            </a:r>
            <a:r>
              <a:rPr lang="en-US" altLang="zh-CN">
                <a:solidFill>
                  <a:schemeClr val="bg2"/>
                </a:solidFill>
                <a:sym typeface="宋体" panose="02010600030101010101" pitchFamily="2" charset="-122"/>
              </a:rPr>
              <a:t>|*|</a:t>
            </a:r>
            <a:r>
              <a:rPr lang="en-US" altLang="zh-CN" i="1">
                <a:solidFill>
                  <a:schemeClr val="bg2"/>
                </a:solidFill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sym typeface="宋体" panose="02010600030101010101" pitchFamily="2" charset="-122"/>
              </a:rPr>
              <a:t>|</a:t>
            </a:r>
            <a:endParaRPr lang="en-US" altLang="zh-CN">
              <a:solidFill>
                <a:schemeClr val="bg2"/>
              </a:solidFill>
              <a:sym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 [</a:t>
            </a:r>
            <a:r>
              <a:rPr lang="en-US" altLang="zh-CN" b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(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1/2(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d</a:t>
            </a:r>
            <a:r>
              <a:rPr lang="en-US" altLang="zh-CN" baseline="-25000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1</a:t>
            </a:r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+1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]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×</a:t>
            </a:r>
            <a:r>
              <a:rPr lang="en-US" altLang="zh-CN" b="1" i="1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10</a:t>
            </a:r>
            <a:r>
              <a:rPr lang="en-US" altLang="zh-CN" b="1" i="1" baseline="30000">
                <a:solidFill>
                  <a:schemeClr val="bg2"/>
                </a:solidFill>
                <a:latin typeface="Arial" panose="020B0604020202020204" pitchFamily="34" charset="0"/>
                <a:ea typeface="Arial Unicode MS" pitchFamily="34" charset="-122"/>
                <a:sym typeface="宋体" panose="02010600030101010101" pitchFamily="2" charset="-122"/>
              </a:rPr>
              <a:t>-n+1 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×</a:t>
            </a:r>
            <a:r>
              <a:rPr lang="en-US" altLang="zh-CN">
                <a:solidFill>
                  <a:schemeClr val="bg2"/>
                </a:solidFill>
                <a:sym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(d</a:t>
            </a:r>
            <a:r>
              <a:rPr lang="en-US" altLang="zh-CN" baseline="-2500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+1)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×</a:t>
            </a:r>
            <a:r>
              <a:rPr lang="en-US" altLang="zh-CN" b="1" i="1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10</a:t>
            </a:r>
            <a:r>
              <a:rPr lang="en-US" altLang="zh-CN" b="1" i="1" baseline="30000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m-1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)</a:t>
            </a:r>
            <a:endParaRPr lang="en-US" altLang="zh-CN" b="1">
              <a:solidFill>
                <a:schemeClr val="bg2"/>
              </a:solidFill>
              <a:latin typeface="Arial" panose="020B0604020202020204" pitchFamily="34" charset="0"/>
              <a:sym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sym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1/2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×</a:t>
            </a:r>
            <a:r>
              <a:rPr lang="en-US" altLang="zh-CN">
                <a:solidFill>
                  <a:schemeClr val="bg2"/>
                </a:solidFill>
                <a:sym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10</a:t>
            </a:r>
            <a:r>
              <a:rPr lang="en-US" altLang="zh-CN" b="1" i="1" baseline="30000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-n+m</a:t>
            </a:r>
            <a:endParaRPr lang="en-US" altLang="zh-CN" b="1" i="1" baseline="30000">
              <a:solidFill>
                <a:schemeClr val="bg2"/>
              </a:solidFill>
              <a:latin typeface="Arial" panose="020B0604020202020204" pitchFamily="34" charset="0"/>
              <a:sym typeface="宋体" panose="02010600030101010101" pitchFamily="2" charset="-122"/>
            </a:endParaRPr>
          </a:p>
          <a:p>
            <a:pPr eaLnBrk="0" hangingPunct="0"/>
            <a:endParaRPr lang="en-US" altLang="zh-CN" b="1" i="1" baseline="30000">
              <a:solidFill>
                <a:schemeClr val="bg2"/>
              </a:solidFill>
              <a:latin typeface="Arial" panose="020B0604020202020204" pitchFamily="34" charset="0"/>
              <a:sym typeface="宋体" panose="02010600030101010101" pitchFamily="2" charset="-122"/>
            </a:endParaRPr>
          </a:p>
          <a:p>
            <a:pPr eaLnBrk="0" hangingPunct="0"/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Therefore, </a:t>
            </a:r>
            <a:r>
              <a:rPr lang="en-US" altLang="zh-CN" i="1">
                <a:solidFill>
                  <a:schemeClr val="bg2"/>
                </a:solidFill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sym typeface="宋体" panose="02010600030101010101" pitchFamily="2" charset="-122"/>
              </a:rPr>
              <a:t>* </a:t>
            </a:r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sym typeface="宋体" panose="02010600030101010101" pitchFamily="2" charset="-122"/>
              </a:rPr>
              <a:t>has </a:t>
            </a:r>
            <a:r>
              <a:rPr lang="en-US" altLang="zh-CN" i="1">
                <a:solidFill>
                  <a:schemeClr val="bg2"/>
                </a:solidFill>
                <a:latin typeface="Cambria Math" panose="02040503050406030204" charset="0"/>
                <a:sym typeface="宋体" panose="02010600030101010101" pitchFamily="2" charset="-122"/>
              </a:rPr>
              <a:t>n</a:t>
            </a:r>
            <a:r>
              <a:rPr lang="en-US" altLang="zh-CN">
                <a:solidFill>
                  <a:schemeClr val="bg2"/>
                </a:solidFill>
                <a:latin typeface="Cambria Math" panose="02040503050406030204" charset="0"/>
                <a:sym typeface="宋体" panose="02010600030101010101" pitchFamily="2" charset="-122"/>
              </a:rPr>
              <a:t> significant digits. </a:t>
            </a:r>
            <a:endParaRPr lang="en-US" altLang="zh-CN" b="1">
              <a:solidFill>
                <a:schemeClr val="bg2"/>
              </a:solidFill>
              <a:latin typeface="Arial" panose="020B0604020202020204" pitchFamily="34" charset="0"/>
              <a:sym typeface="宋体" panose="02010600030101010101" pitchFamily="2" charset="-122"/>
            </a:endParaRPr>
          </a:p>
          <a:p>
            <a:pPr eaLnBrk="0" hangingPunct="0"/>
            <a:endParaRPr lang="en-US" altLang="zh-CN" b="1">
              <a:solidFill>
                <a:schemeClr val="bg2"/>
              </a:solidFill>
              <a:latin typeface="Arial" panose="020B0604020202020204" pitchFamily="3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endParaRPr lang="en-US" altLang="zh-CN">
              <a:solidFill>
                <a:schemeClr val="bg2"/>
              </a:solidFill>
              <a:latin typeface="Cambria Math" panose="02040503050406030204" charset="0"/>
              <a:ea typeface="Arial Unicode MS" pitchFamily="34" charset="-122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矩形 8"/>
          <p:cNvSpPr/>
          <p:nvPr/>
        </p:nvSpPr>
        <p:spPr>
          <a:xfrm>
            <a:off x="107950" y="115888"/>
            <a:ext cx="1511300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itchFamily="34" charset="-122"/>
              </a:rPr>
              <a:t>Th 1.8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" name="Object 11"/>
          <p:cNvGraphicFramePr>
            <a:graphicFrameLocks noChangeAspect="1"/>
          </p:cNvGraphicFramePr>
          <p:nvPr/>
        </p:nvGraphicFramePr>
        <p:xfrm>
          <a:off x="1187450" y="176213"/>
          <a:ext cx="7416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" imgW="4762500" imgH="241300" progId="Equation.DSMT4">
                  <p:embed/>
                </p:oleObj>
              </mc:Choice>
              <mc:Fallback>
                <p:oleObj name="" r:id="rId1" imgW="4762500" imgH="2413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7450" y="176213"/>
                        <a:ext cx="74168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/>
          <p:cNvGraphicFramePr>
            <a:graphicFrameLocks noChangeAspect="1"/>
          </p:cNvGraphicFramePr>
          <p:nvPr/>
        </p:nvGraphicFramePr>
        <p:xfrm>
          <a:off x="1187450" y="549275"/>
          <a:ext cx="280828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3" imgW="1981200" imgH="508000" progId="Equation.DSMT4">
                  <p:embed/>
                </p:oleObj>
              </mc:Choice>
              <mc:Fallback>
                <p:oleObj name="" r:id="rId3" imgW="1981200" imgH="5080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450" y="549275"/>
                        <a:ext cx="2808288" cy="752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225425" y="1196975"/>
          <a:ext cx="3027363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5" imgW="2019300" imgH="508000" progId="Equation.DSMT4">
                  <p:embed/>
                </p:oleObj>
              </mc:Choice>
              <mc:Fallback>
                <p:oleObj name="" r:id="rId5" imgW="2019300" imgH="5080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5425" y="1196975"/>
                        <a:ext cx="3027363" cy="795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3348038" y="1436688"/>
          <a:ext cx="54737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7" imgW="3594100" imgH="241300" progId="Equation.DSMT4">
                  <p:embed/>
                </p:oleObj>
              </mc:Choice>
              <mc:Fallback>
                <p:oleObj name="" r:id="rId7" imgW="3594100" imgH="2413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48038" y="1436688"/>
                        <a:ext cx="5473700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8"/>
          <p:cNvSpPr/>
          <p:nvPr/>
        </p:nvSpPr>
        <p:spPr>
          <a:xfrm>
            <a:off x="107950" y="2074863"/>
            <a:ext cx="1511300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2400" b="1" dirty="0">
                <a:solidFill>
                  <a:srgbClr val="360AF0"/>
                </a:solidFill>
                <a:latin typeface="Times New Roman" panose="02020603050405020304" pitchFamily="18" charset="0"/>
                <a:ea typeface="Arial Unicode MS" pitchFamily="34" charset="-122"/>
              </a:rPr>
              <a:t>Proof </a:t>
            </a:r>
            <a:endParaRPr lang="zh-CN" altLang="en-US" sz="2400" dirty="0">
              <a:solidFill>
                <a:srgbClr val="360A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8" name="Object 11"/>
          <p:cNvGraphicFramePr>
            <a:graphicFrameLocks noChangeAspect="1"/>
          </p:cNvGraphicFramePr>
          <p:nvPr/>
        </p:nvGraphicFramePr>
        <p:xfrm>
          <a:off x="1116013" y="2141538"/>
          <a:ext cx="367982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9" imgW="2362200" imgH="228600" progId="Equation.DSMT4">
                  <p:embed/>
                </p:oleObj>
              </mc:Choice>
              <mc:Fallback>
                <p:oleObj name="" r:id="rId9" imgW="2362200" imgH="2286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16013" y="2141538"/>
                        <a:ext cx="3679825" cy="373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/>
        </p:nvGraphicFramePr>
        <p:xfrm>
          <a:off x="4821238" y="1989138"/>
          <a:ext cx="20891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1" imgW="1269365" imgH="406400" progId="Equation.DSMT4">
                  <p:embed/>
                </p:oleObj>
              </mc:Choice>
              <mc:Fallback>
                <p:oleObj name="" r:id="rId11" imgW="1269365" imgH="4064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21238" y="1989138"/>
                        <a:ext cx="2089150" cy="679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1608138" y="2711450"/>
          <a:ext cx="77311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3" imgW="546100" imgH="508000" progId="Equation.DSMT4">
                  <p:embed/>
                </p:oleObj>
              </mc:Choice>
              <mc:Fallback>
                <p:oleObj name="" r:id="rId13" imgW="546100" imgH="5080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08138" y="2711450"/>
                        <a:ext cx="773112" cy="752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408238" y="2565400"/>
          <a:ext cx="14573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5" imgW="1028700" imgH="596900" progId="Equation.DSMT4">
                  <p:embed/>
                </p:oleObj>
              </mc:Choice>
              <mc:Fallback>
                <p:oleObj name="" r:id="rId15" imgW="1028700" imgH="5969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08238" y="2565400"/>
                        <a:ext cx="1457325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844800" y="3216275"/>
          <a:ext cx="935038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7" imgW="660400" imgH="241300" progId="Equation.DSMT4">
                  <p:embed/>
                </p:oleObj>
              </mc:Choice>
              <mc:Fallback>
                <p:oleObj name="" r:id="rId17" imgW="660400" imgH="2413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44800" y="3216275"/>
                        <a:ext cx="935038" cy="357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3951288" y="2778125"/>
          <a:ext cx="1241425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9" imgW="875665" imgH="444500" progId="Equation.DSMT4">
                  <p:embed/>
                </p:oleObj>
              </mc:Choice>
              <mc:Fallback>
                <p:oleObj name="" r:id="rId19" imgW="875665" imgH="4445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51288" y="2778125"/>
                        <a:ext cx="1241425" cy="658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/>
        </p:nvGraphicFramePr>
        <p:xfrm>
          <a:off x="206375" y="3448050"/>
          <a:ext cx="354171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21" imgW="2362200" imgH="508000" progId="Equation.DSMT4">
                  <p:embed/>
                </p:oleObj>
              </mc:Choice>
              <mc:Fallback>
                <p:oleObj name="" r:id="rId21" imgW="2362200" imgH="5080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06375" y="3448050"/>
                        <a:ext cx="3541713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/>
          <p:cNvGraphicFramePr>
            <a:graphicFrameLocks noChangeAspect="1"/>
          </p:cNvGraphicFramePr>
          <p:nvPr/>
        </p:nvGraphicFramePr>
        <p:xfrm>
          <a:off x="557213" y="4510088"/>
          <a:ext cx="85883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23" imgW="520700" imgH="279400" progId="Equation.DSMT4">
                  <p:embed/>
                </p:oleObj>
              </mc:Choice>
              <mc:Fallback>
                <p:oleObj name="" r:id="rId23" imgW="520700" imgH="2794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57213" y="4510088"/>
                        <a:ext cx="858837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1"/>
          <p:cNvGraphicFramePr>
            <a:graphicFrameLocks noChangeAspect="1"/>
          </p:cNvGraphicFramePr>
          <p:nvPr/>
        </p:nvGraphicFramePr>
        <p:xfrm>
          <a:off x="1470025" y="4360863"/>
          <a:ext cx="15621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25" imgW="1041400" imgH="508000" progId="Equation.DSMT4">
                  <p:embed/>
                </p:oleObj>
              </mc:Choice>
              <mc:Fallback>
                <p:oleObj name="" r:id="rId25" imgW="1041400" imgH="5080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70025" y="4360863"/>
                        <a:ext cx="1562100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/>
          <p:cNvGraphicFramePr>
            <a:graphicFrameLocks noChangeAspect="1"/>
          </p:cNvGraphicFramePr>
          <p:nvPr/>
        </p:nvGraphicFramePr>
        <p:xfrm>
          <a:off x="3136900" y="4419600"/>
          <a:ext cx="184785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27" imgW="1231265" imgH="444500" progId="Equation.DSMT4">
                  <p:embed/>
                </p:oleObj>
              </mc:Choice>
              <mc:Fallback>
                <p:oleObj name="" r:id="rId27" imgW="1231265" imgH="4445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136900" y="4419600"/>
                        <a:ext cx="1847850" cy="696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/>
          <p:cNvGraphicFramePr>
            <a:graphicFrameLocks noChangeAspect="1"/>
          </p:cNvGraphicFramePr>
          <p:nvPr/>
        </p:nvGraphicFramePr>
        <p:xfrm>
          <a:off x="5159375" y="4430713"/>
          <a:ext cx="1906588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29" imgW="1040765" imgH="406400" progId="Equation.DSMT4">
                  <p:embed/>
                </p:oleObj>
              </mc:Choice>
              <mc:Fallback>
                <p:oleObj name="" r:id="rId29" imgW="1040765" imgH="4064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159375" y="4430713"/>
                        <a:ext cx="1906588" cy="623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1"/>
          <p:cNvGraphicFramePr>
            <a:graphicFrameLocks noChangeAspect="1"/>
          </p:cNvGraphicFramePr>
          <p:nvPr/>
        </p:nvGraphicFramePr>
        <p:xfrm>
          <a:off x="7097713" y="4427538"/>
          <a:ext cx="125412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31" imgW="761365" imgH="406400" progId="Equation.DSMT4">
                  <p:embed/>
                </p:oleObj>
              </mc:Choice>
              <mc:Fallback>
                <p:oleObj name="" r:id="rId31" imgW="761365" imgH="4064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097713" y="4427538"/>
                        <a:ext cx="1254125" cy="679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21335" y="1597025"/>
            <a:ext cx="7038340" cy="1383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j-lt"/>
                <a:ea typeface="Arial Unicode MS" pitchFamily="34" charset="-122"/>
                <a:cs typeface="Arial Unicode MS" pitchFamily="34" charset="-122"/>
              </a:rPr>
              <a:t>Conclusion: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j-lt"/>
              <a:ea typeface="Arial Unicode MS" pitchFamily="34" charset="-122"/>
              <a:cs typeface="Arial Unicode MS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j-lt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j-lt"/>
                <a:ea typeface="Arial Unicode MS" pitchFamily="34" charset="-122"/>
                <a:cs typeface="Arial Unicode MS" pitchFamily="34" charset="-122"/>
              </a:rPr>
              <a:t>The number of significant digits can be used to evaluate the ralative error and vice versa.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521335" y="3644900"/>
            <a:ext cx="7038340" cy="10147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j-lt"/>
                <a:ea typeface="Arial Unicode MS" pitchFamily="34" charset="-122"/>
                <a:cs typeface="Arial Unicode MS" pitchFamily="34" charset="-122"/>
              </a:rPr>
              <a:t>结论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j-lt"/>
                <a:ea typeface="Arial Unicode MS" pitchFamily="34" charset="-122"/>
                <a:cs typeface="Arial Unicode MS" pitchFamily="34" charset="-122"/>
              </a:rPr>
              <a:t>: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j-lt"/>
              <a:ea typeface="Arial Unicode MS" pitchFamily="34" charset="-122"/>
              <a:cs typeface="Arial Unicode MS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j-lt"/>
                <a:ea typeface="Arial Unicode MS" pitchFamily="34" charset="-122"/>
                <a:cs typeface="Arial Unicode MS" pitchFamily="34" charset="-122"/>
              </a:rPr>
              <a:t>有效数字位数可用来估计相对误差反过来也对。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4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14300" y="217488"/>
            <a:ext cx="2592388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60AF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 Unicode MS" pitchFamily="34" charset="-122"/>
              </a:rPr>
              <a:t>Ex. 1.5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 Unicode MS" pitchFamily="34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206500" y="230505"/>
            <a:ext cx="7383145" cy="11988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j-lt"/>
                <a:ea typeface="Arial Unicode MS" pitchFamily="34" charset="-122"/>
                <a:cs typeface="Arial Unicode MS" pitchFamily="34" charset="-122"/>
              </a:rPr>
              <a:t>Let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j-lt"/>
                <a:ea typeface="Arial Unicode MS" pitchFamily="34" charset="-122"/>
                <a:cs typeface="Arial Unicode MS" pitchFamily="34" charset="-122"/>
              </a:rPr>
              <a:t>P* </a:t>
            </a:r>
            <a:r>
              <a:rPr kumimoji="1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j-lt"/>
                <a:ea typeface="Arial Unicode MS" pitchFamily="34" charset="-122"/>
                <a:cs typeface="Arial Unicode MS" pitchFamily="34" charset="-122"/>
              </a:rPr>
              <a:t>be an approximation to            , determine the least number of siginificant digits of </a:t>
            </a:r>
            <a:r>
              <a:rPr lang="en-US" altLang="zh-CN" sz="2400" b="1" i="1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j-lt"/>
                <a:sym typeface="+mn-ea"/>
              </a:rPr>
              <a:t>P</a:t>
            </a:r>
            <a:r>
              <a:rPr lang="en-US" altLang="zh-CN" sz="2400" b="1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j-lt"/>
                <a:sym typeface="+mn-ea"/>
              </a:rPr>
              <a:t>* such that the relative error bound is </a:t>
            </a:r>
            <a:endParaRPr kumimoji="1" lang="en-US" altLang="zh-CN" sz="2400" b="1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graphicFrame>
        <p:nvGraphicFramePr>
          <p:cNvPr id="18" name="对象 1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92090" y="230505"/>
          <a:ext cx="792480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316865" imgH="228600" progId="Equation.KSEE3">
                  <p:embed/>
                </p:oleObj>
              </mc:Choice>
              <mc:Fallback>
                <p:oleObj name="" r:id="rId1" imgW="3168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92090" y="230505"/>
                        <a:ext cx="792480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56100" y="908685"/>
          <a:ext cx="789305" cy="775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215900" imgH="215900" progId="Equation.KSEE3">
                  <p:embed/>
                </p:oleObj>
              </mc:Choice>
              <mc:Fallback>
                <p:oleObj name="" r:id="rId3" imgW="2159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56100" y="908685"/>
                        <a:ext cx="789305" cy="775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318135" y="1875155"/>
            <a:ext cx="78289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en-US" altLang="zh-CN">
                <a:solidFill>
                  <a:schemeClr val="bg2"/>
                </a:solidFill>
                <a:sym typeface="宋体" panose="02010600030101010101" pitchFamily="2" charset="-122"/>
              </a:rPr>
              <a:t>Note:    |(</a:t>
            </a:r>
            <a:r>
              <a:rPr lang="en-US" altLang="zh-CN" i="1">
                <a:solidFill>
                  <a:schemeClr val="bg2"/>
                </a:solidFill>
                <a:sym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bg2"/>
                </a:solidFill>
                <a:sym typeface="宋体" panose="02010600030101010101" pitchFamily="2" charset="-122"/>
              </a:rPr>
              <a:t>*--</a:t>
            </a:r>
            <a:r>
              <a:rPr lang="en-US" altLang="zh-CN" i="1">
                <a:solidFill>
                  <a:schemeClr val="bg2"/>
                </a:solidFill>
                <a:sym typeface="宋体" panose="02010600030101010101" pitchFamily="2" charset="-122"/>
              </a:rPr>
              <a:t>P)/p</a:t>
            </a:r>
            <a:r>
              <a:rPr lang="en-US" altLang="zh-CN">
                <a:solidFill>
                  <a:schemeClr val="bg2"/>
                </a:solidFill>
                <a:sym typeface="宋体" panose="02010600030101010101" pitchFamily="2" charset="-122"/>
              </a:rPr>
              <a:t>|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≦</a:t>
            </a:r>
            <a:r>
              <a:rPr lang="en-US" altLang="zh-CN">
                <a:solidFill>
                  <a:schemeClr val="bg2"/>
                </a:solidFill>
                <a:sym typeface="宋体" panose="02010600030101010101" pitchFamily="2" charset="-122"/>
              </a:rPr>
              <a:t> [</a:t>
            </a:r>
            <a:r>
              <a:rPr lang="en-US" altLang="zh-CN" b="1">
                <a:solidFill>
                  <a:schemeClr val="bg2"/>
                </a:solidFill>
                <a:sym typeface="宋体" panose="02010600030101010101" pitchFamily="2" charset="-122"/>
              </a:rPr>
              <a:t>(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1/2</a:t>
            </a:r>
            <a:r>
              <a:rPr lang="en-US" altLang="zh-CN">
                <a:solidFill>
                  <a:schemeClr val="bg2"/>
                </a:solidFill>
                <a:sym typeface="宋体" panose="02010600030101010101" pitchFamily="2" charset="-122"/>
              </a:rPr>
              <a:t>d</a:t>
            </a:r>
            <a:r>
              <a:rPr lang="en-US" altLang="zh-CN" baseline="-25000">
                <a:solidFill>
                  <a:schemeClr val="bg2"/>
                </a:solidFill>
                <a:sym typeface="宋体" panose="02010600030101010101" pitchFamily="2" charset="-122"/>
              </a:rPr>
              <a:t>1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]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X</a:t>
            </a:r>
            <a:r>
              <a:rPr lang="en-US" altLang="zh-CN" b="1" i="1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10</a:t>
            </a:r>
            <a:r>
              <a:rPr lang="en-US" altLang="zh-CN" b="1" i="1" baseline="30000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-n+1</a:t>
            </a:r>
            <a:r>
              <a:rPr lang="en-US" altLang="zh-CN" b="1" i="1">
                <a:solidFill>
                  <a:schemeClr val="bg2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.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14300" y="217488"/>
            <a:ext cx="2592388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60AF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 Unicode MS" pitchFamily="34" charset="-122"/>
              </a:rPr>
              <a:t>Ex. 1.5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 Unicode MS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7245350" y="103188"/>
          <a:ext cx="9906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" imgW="609600" imgH="241300" progId="Equation.DSMT4">
                  <p:embed/>
                </p:oleObj>
              </mc:Choice>
              <mc:Fallback>
                <p:oleObj name="" r:id="rId1" imgW="609600" imgH="2413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45350" y="103188"/>
                        <a:ext cx="990600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215188" y="687388"/>
          <a:ext cx="1630362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3" imgW="1079500" imgH="508000" progId="Equation.DSMT4">
                  <p:embed/>
                </p:oleObj>
              </mc:Choice>
              <mc:Fallback>
                <p:oleObj name="" r:id="rId3" imgW="1079500" imgH="5080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15188" y="687388"/>
                        <a:ext cx="1630362" cy="766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740650" y="1646238"/>
          <a:ext cx="57785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5" imgW="354965" imgH="177800" progId="Equation.DSMT4">
                  <p:embed/>
                </p:oleObj>
              </mc:Choice>
              <mc:Fallback>
                <p:oleObj name="" r:id="rId5" imgW="354965" imgH="1778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40650" y="1646238"/>
                        <a:ext cx="577850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206500" y="230188"/>
            <a:ext cx="2592388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j-lt"/>
                <a:ea typeface="Arial Unicode MS" pitchFamily="34" charset="-122"/>
                <a:cs typeface="Arial Unicode MS" pitchFamily="34" charset="-122"/>
              </a:rPr>
              <a:t>Solution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 Unicode MS" pitchFamily="34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21121" y="274796"/>
          <a:ext cx="1630045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7" imgW="1002665" imgH="228600" progId="Equation.DSMT4">
                  <p:embed/>
                </p:oleObj>
              </mc:Choice>
              <mc:Fallback>
                <p:oleObj name="" r:id="rId7" imgW="1002665" imgH="2286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21121" y="274796"/>
                        <a:ext cx="1630045" cy="3695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723573" y="315913"/>
          <a:ext cx="109378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9" imgW="673100" imgH="203200" progId="Equation.DSMT4">
                  <p:embed/>
                </p:oleObj>
              </mc:Choice>
              <mc:Fallback>
                <p:oleObj name="" r:id="rId9" imgW="673100" imgH="2032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23573" y="315913"/>
                        <a:ext cx="1093787" cy="328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760663" y="942975"/>
          <a:ext cx="20224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1" imgW="1244600" imgH="228600" progId="Equation.DSMT4">
                  <p:embed/>
                </p:oleObj>
              </mc:Choice>
              <mc:Fallback>
                <p:oleObj name="" r:id="rId11" imgW="1244600" imgH="2286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60663" y="942975"/>
                        <a:ext cx="2022475" cy="371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931988" y="1885950"/>
          <a:ext cx="241458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3" imgW="1485900" imgH="508000" progId="Equation.DSMT4">
                  <p:embed/>
                </p:oleObj>
              </mc:Choice>
              <mc:Fallback>
                <p:oleObj name="" r:id="rId13" imgW="1485900" imgH="5080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31988" y="1885950"/>
                        <a:ext cx="2414587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225550" y="1403350"/>
          <a:ext cx="63976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5" imgW="393065" imgH="177800" progId="Equation.DSMT4">
                  <p:embed/>
                </p:oleObj>
              </mc:Choice>
              <mc:Fallback>
                <p:oleObj name="" r:id="rId15" imgW="393065" imgH="1778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25550" y="1403350"/>
                        <a:ext cx="639763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448175" y="1935163"/>
          <a:ext cx="144462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7" imgW="888365" imgH="406400" progId="Equation.DSMT4">
                  <p:embed/>
                </p:oleObj>
              </mc:Choice>
              <mc:Fallback>
                <p:oleObj name="" r:id="rId17" imgW="888365" imgH="4064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48175" y="1935163"/>
                        <a:ext cx="1444625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892800" y="2112963"/>
          <a:ext cx="76358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9" imgW="469900" imgH="228600" progId="Equation.DSMT4">
                  <p:embed/>
                </p:oleObj>
              </mc:Choice>
              <mc:Fallback>
                <p:oleObj name="" r:id="rId19" imgW="469900" imgH="2286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92800" y="2112963"/>
                        <a:ext cx="763588" cy="371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278" name="直接连接符 14"/>
          <p:cNvCxnSpPr/>
          <p:nvPr/>
        </p:nvCxnSpPr>
        <p:spPr>
          <a:xfrm>
            <a:off x="4660900" y="2709863"/>
            <a:ext cx="1858963" cy="0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574925" y="3462338"/>
          <a:ext cx="119697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21" imgW="735965" imgH="177800" progId="Equation.DSMT4">
                  <p:embed/>
                </p:oleObj>
              </mc:Choice>
              <mc:Fallback>
                <p:oleObj name="" r:id="rId21" imgW="735965" imgH="17780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74925" y="3462338"/>
                        <a:ext cx="119697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225550" y="3114675"/>
          <a:ext cx="53657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23" imgW="330200" imgH="177800" progId="Equation.DSMT4">
                  <p:embed/>
                </p:oleObj>
              </mc:Choice>
              <mc:Fallback>
                <p:oleObj name="" r:id="rId23" imgW="330200" imgH="1778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25550" y="3114675"/>
                        <a:ext cx="53657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151630" y="230505"/>
            <a:ext cx="924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0000"/>
                </a:solidFill>
              </a:rPr>
              <a:t>......</a:t>
            </a: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文本框 1"/>
          <p:cNvSpPr txBox="1"/>
          <p:nvPr/>
        </p:nvSpPr>
        <p:spPr>
          <a:xfrm>
            <a:off x="611188" y="549275"/>
            <a:ext cx="8393112" cy="267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 b="1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4 rules must followed when caculations are performed</a:t>
            </a:r>
            <a:endParaRPr lang="en-US" altLang="zh-CN">
              <a:solidFill>
                <a:schemeClr val="bg2"/>
              </a:solidFill>
              <a:latin typeface="Franklin Gothic Medium" panose="020B0603020102020204" pitchFamily="34" charset="0"/>
              <a:ea typeface="Arial Unicode MS" pitchFamily="34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(1) Aviod subtraction of nearly equal numbers. </a:t>
            </a:r>
            <a:endParaRPr lang="en-US" altLang="zh-CN">
              <a:solidFill>
                <a:schemeClr val="bg2"/>
              </a:solidFill>
              <a:latin typeface="Franklin Gothic Medium" panose="020B0603020102020204" pitchFamily="34" charset="0"/>
              <a:ea typeface="Arial Unicode MS" pitchFamily="34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(2) Aviod division by numbers with small magnitude.</a:t>
            </a:r>
            <a:endParaRPr lang="en-US" altLang="zh-CN">
              <a:solidFill>
                <a:schemeClr val="bg2"/>
              </a:solidFill>
              <a:latin typeface="Franklin Gothic Medium" panose="020B0603020102020204" pitchFamily="3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  <a:sym typeface="宋体" panose="02010600030101010101" pitchFamily="2" charset="-122"/>
              </a:rPr>
              <a:t>(3) Aviod big number “swallowing” small numbers.</a:t>
            </a:r>
            <a:endParaRPr lang="en-US" altLang="zh-CN">
              <a:solidFill>
                <a:schemeClr val="bg2"/>
              </a:solidFill>
              <a:latin typeface="Franklin Gothic Medium" panose="020B0603020102020204" pitchFamily="3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bg2"/>
                </a:solidFill>
                <a:latin typeface="Franklin Gothic Medium" panose="020B0603020102020204" pitchFamily="34" charset="0"/>
                <a:ea typeface="Arial Unicode MS" pitchFamily="34" charset="-122"/>
              </a:rPr>
              <a:t>(4)Reduce the number of calculations</a:t>
            </a:r>
            <a:endParaRPr lang="en-US" altLang="zh-CN">
              <a:solidFill>
                <a:schemeClr val="bg2"/>
              </a:solidFill>
              <a:latin typeface="Franklin Gothic Medium" panose="020B0603020102020204" pitchFamily="34" charset="0"/>
              <a:ea typeface="Arial Unicode MS" pitchFamily="34" charset="-122"/>
            </a:endParaRPr>
          </a:p>
        </p:txBody>
      </p:sp>
      <p:sp>
        <p:nvSpPr>
          <p:cNvPr id="31746" name="文本框 3"/>
          <p:cNvSpPr txBox="1"/>
          <p:nvPr/>
        </p:nvSpPr>
        <p:spPr>
          <a:xfrm>
            <a:off x="611188" y="3500438"/>
            <a:ext cx="8393112" cy="9540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endParaRPr lang="en-US" altLang="zh-CN" b="1">
              <a:solidFill>
                <a:schemeClr val="bg2"/>
              </a:solidFill>
              <a:latin typeface="Arial" panose="020B0604020202020204" pitchFamily="34" charset="0"/>
              <a:ea typeface="Arial Unicode MS" pitchFamily="34" charset="-122"/>
              <a:sym typeface="宋体" panose="02010600030101010101" pitchFamily="2" charset="-122"/>
            </a:endParaRPr>
          </a:p>
          <a:p>
            <a:pPr eaLnBrk="0" hangingPunct="0"/>
            <a:endParaRPr lang="en-US" altLang="zh-CN">
              <a:solidFill>
                <a:schemeClr val="bg2"/>
              </a:solidFill>
              <a:latin typeface="Cambria Math" panose="02040503050406030204" charset="0"/>
              <a:ea typeface="Arial Unicode MS" pitchFamily="34" charset="-122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Lock And Key">
  <a:themeElements>
    <a:clrScheme name="Lock And Key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Lock And Key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ranklin Gothic Medium" panose="020B0603020102020204" pitchFamily="34" charset="0"/>
            <a:ea typeface="Arial Unicode MS" pitchFamily="34" charset="-122"/>
            <a:cs typeface="Arial Unicode MS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ranklin Gothic Medium" panose="020B0603020102020204" pitchFamily="34" charset="0"/>
            <a:ea typeface="Arial Unicode MS" pitchFamily="34" charset="-122"/>
            <a:cs typeface="Arial Unicode MS" pitchFamily="34" charset="-122"/>
          </a:defRPr>
        </a:defPPr>
      </a:lstStyle>
    </a:lnDef>
  </a:objectDefaults>
  <a:extraClrSchemeLst>
    <a:extraClrScheme>
      <a:clrScheme name="Lock And Key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ock And Key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ock And Key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ock And Key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ock And Key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ock And Key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Designs\Lock And Key.pot</Template>
  <TotalTime>0</TotalTime>
  <Words>3780</Words>
  <Application>WPS 演示</Application>
  <PresentationFormat>全屏显示(4:3)</PresentationFormat>
  <Paragraphs>243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76</vt:i4>
      </vt:variant>
      <vt:variant>
        <vt:lpstr>幻灯片标题</vt:lpstr>
      </vt:variant>
      <vt:variant>
        <vt:i4>30</vt:i4>
      </vt:variant>
    </vt:vector>
  </HeadingPairs>
  <TitlesOfParts>
    <vt:vector size="124" baseType="lpstr">
      <vt:lpstr>Arial</vt:lpstr>
      <vt:lpstr>宋体</vt:lpstr>
      <vt:lpstr>Wingdings</vt:lpstr>
      <vt:lpstr>Franklin Gothic Medium</vt:lpstr>
      <vt:lpstr>Arial Unicode MS</vt:lpstr>
      <vt:lpstr>Times New Roman</vt:lpstr>
      <vt:lpstr>Symbol</vt:lpstr>
      <vt:lpstr>TECHMath</vt:lpstr>
      <vt:lpstr>Segoe Print</vt:lpstr>
      <vt:lpstr>Century</vt:lpstr>
      <vt:lpstr>Century</vt:lpstr>
      <vt:lpstr>Century Gothic</vt:lpstr>
      <vt:lpstr>微软雅黑</vt:lpstr>
      <vt:lpstr>Arial Unicode MS</vt:lpstr>
      <vt:lpstr>Calibri</vt:lpstr>
      <vt:lpstr>黑体</vt:lpstr>
      <vt:lpstr>Cambria Math</vt:lpstr>
      <vt:lpstr>Lock And Key</vt:lpstr>
      <vt:lpstr>MS_ClipArt_Gallery.2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dtkj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analysis</dc:title>
  <dc:creator>gzk</dc:creator>
  <cp:lastModifiedBy>gaofe</cp:lastModifiedBy>
  <cp:revision>507</cp:revision>
  <cp:lastPrinted>2020-09-13T23:25:00Z</cp:lastPrinted>
  <dcterms:created xsi:type="dcterms:W3CDTF">2003-07-15T03:20:00Z</dcterms:created>
  <dcterms:modified xsi:type="dcterms:W3CDTF">2022-08-28T09:23:42Z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D8A3803115EE47B5B353A4ADAFFCD427</vt:lpwstr>
  </property>
  <property fmtid="{D5CDD505-2E9C-101B-9397-08002B2CF9AE}" pid="3" name="KSOProductBuildVer">
    <vt:lpwstr>2052-11.1.0.11579</vt:lpwstr>
  </property>
</Properties>
</file>